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88" r:id="rId3"/>
    <p:sldMasterId id="2147483700" r:id="rId4"/>
    <p:sldMasterId id="2147483712" r:id="rId5"/>
  </p:sldMasterIdLst>
  <p:notesMasterIdLst>
    <p:notesMasterId r:id="rId62"/>
  </p:notesMasterIdLst>
  <p:sldIdLst>
    <p:sldId id="256" r:id="rId6"/>
    <p:sldId id="258" r:id="rId7"/>
    <p:sldId id="540" r:id="rId8"/>
    <p:sldId id="550" r:id="rId9"/>
    <p:sldId id="552" r:id="rId10"/>
    <p:sldId id="558" r:id="rId11"/>
    <p:sldId id="743" r:id="rId12"/>
    <p:sldId id="582" r:id="rId13"/>
    <p:sldId id="586" r:id="rId14"/>
    <p:sldId id="587" r:id="rId15"/>
    <p:sldId id="770" r:id="rId16"/>
    <p:sldId id="829" r:id="rId17"/>
    <p:sldId id="830" r:id="rId18"/>
    <p:sldId id="844" r:id="rId19"/>
    <p:sldId id="882" r:id="rId20"/>
    <p:sldId id="736" r:id="rId21"/>
    <p:sldId id="696" r:id="rId22"/>
    <p:sldId id="726" r:id="rId23"/>
    <p:sldId id="372" r:id="rId24"/>
    <p:sldId id="403" r:id="rId25"/>
    <p:sldId id="468" r:id="rId26"/>
    <p:sldId id="413" r:id="rId27"/>
    <p:sldId id="493" r:id="rId28"/>
    <p:sldId id="495" r:id="rId29"/>
    <p:sldId id="499" r:id="rId30"/>
    <p:sldId id="500" r:id="rId31"/>
    <p:sldId id="541" r:id="rId32"/>
    <p:sldId id="477" r:id="rId33"/>
    <p:sldId id="479" r:id="rId34"/>
    <p:sldId id="437" r:id="rId35"/>
    <p:sldId id="433" r:id="rId36"/>
    <p:sldId id="481" r:id="rId37"/>
    <p:sldId id="884" r:id="rId38"/>
    <p:sldId id="330" r:id="rId39"/>
    <p:sldId id="333" r:id="rId40"/>
    <p:sldId id="335" r:id="rId41"/>
    <p:sldId id="336" r:id="rId42"/>
    <p:sldId id="334" r:id="rId43"/>
    <p:sldId id="373" r:id="rId44"/>
    <p:sldId id="348" r:id="rId45"/>
    <p:sldId id="349" r:id="rId46"/>
    <p:sldId id="352" r:id="rId47"/>
    <p:sldId id="1080" r:id="rId48"/>
    <p:sldId id="1139" r:id="rId49"/>
    <p:sldId id="1156" r:id="rId50"/>
    <p:sldId id="1152" r:id="rId51"/>
    <p:sldId id="1119" r:id="rId52"/>
    <p:sldId id="1138" r:id="rId53"/>
    <p:sldId id="1179" r:id="rId54"/>
    <p:sldId id="864" r:id="rId55"/>
    <p:sldId id="1031" r:id="rId56"/>
    <p:sldId id="1072" r:id="rId57"/>
    <p:sldId id="725" r:id="rId58"/>
    <p:sldId id="701" r:id="rId59"/>
    <p:sldId id="758" r:id="rId60"/>
    <p:sldId id="763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45" d="100"/>
          <a:sy n="145" d="100"/>
        </p:scale>
        <p:origin x="124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4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.jpeg"/><Relationship Id="rId1" Type="http://schemas.openxmlformats.org/officeDocument/2006/relationships/image" Target="../media/image50.emf"/><Relationship Id="rId4" Type="http://schemas.openxmlformats.org/officeDocument/2006/relationships/image" Target="../media/image5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BCE3929-C282-43A5-B2EF-E240BCDBB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0CA2F0-B3AB-4569-BA9F-66B0E31A5ED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0888E5F-5923-4B07-AC5D-C12DCF1ED0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7C4E9C7-89D9-4543-B142-69A507A85A9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/>
              <a:t>该片是＜第一章＞的索引和简介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电流的参考方向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关联参考方向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0445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  <a:t>7</a:t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20</a:t>
            </a:fld>
            <a:endParaRPr lang="en-US" altLang="zh-CN" sz="1200" dirty="0"/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  <a:t>45</a:t>
            </a:fld>
            <a:endParaRPr lang="en-US" altLang="zh-CN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56054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76285"/>
      </p:ext>
    </p:extLst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952480"/>
      </p:ext>
    </p:extLst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675250"/>
      </p:ext>
    </p:extLst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498166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588421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751391"/>
      </p:ext>
    </p:extLst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933475"/>
      </p:ext>
    </p:extLst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144558"/>
      </p:ext>
    </p:extLst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28648"/>
      </p:ext>
    </p:extLst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99491"/>
      </p:ext>
    </p:extLst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12943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98695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835827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gradFill rotWithShape="1">
          <a:gsLst>
            <a:gs pos="0">
              <a:srgbClr val="D7D9E1">
                <a:alpha val="100000"/>
              </a:srgbClr>
            </a:gs>
            <a:gs pos="25999">
              <a:srgbClr val="EBECF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39885"/>
      </p:ext>
    </p:extLst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169232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8840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29694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32263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410716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76931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365381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484195"/>
      </p:ext>
    </p:extLst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335595"/>
      </p:ext>
    </p:extLst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491593"/>
      </p:ext>
    </p:extLst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1709"/>
      </p:ext>
    </p:extLst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31062692"/>
      </p:ext>
    </p:extLst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694400"/>
      </p:ext>
    </p:extLst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49712526"/>
      </p:ext>
    </p:extLst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9468689"/>
      </p:ext>
    </p:extLst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6656285"/>
      </p:ext>
    </p:extLst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93236215"/>
      </p:ext>
    </p:extLst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28082"/>
      </p:ext>
    </p:extLst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53367320"/>
      </p:ext>
    </p:extLst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05378229"/>
      </p:ext>
    </p:extLst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07623682"/>
      </p:ext>
    </p:extLst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2323077"/>
      </p:ext>
    </p:extLst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04148C-3FC5-430B-BA88-8042F1D6AB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AFDD3F-F5C6-4F3A-95A7-9E42C1569B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CD719D-C363-47FE-9555-418C2EDD2C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B344A-DA05-4CC5-A545-B54D279591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077667"/>
      </p:ext>
    </p:extLst>
  </p:cSld>
  <p:clrMapOvr>
    <a:masterClrMapping/>
  </p:clrMapOvr>
  <p:transition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02441D-526A-43E9-8955-B7748E626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CB6F34-2657-4C7A-85CE-DD96711F25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67E53D-2F38-441B-B2DA-71A72C89BB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91C5F-0C0B-4F4C-B29D-7F86B385B6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391661"/>
      </p:ext>
    </p:extLst>
  </p:cSld>
  <p:clrMapOvr>
    <a:masterClrMapping/>
  </p:clrMapOvr>
  <p:transition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26FDAA-9819-40E7-985F-EC2F7BD82D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FCF9F6-7C8A-4437-9DF4-C0B798DDFE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4AB49E-6C40-46C9-8144-A3F5BEAE7D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9B5E3-A23B-4F47-8BBC-43D0D3C39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961504"/>
      </p:ext>
    </p:extLst>
  </p:cSld>
  <p:clrMapOvr>
    <a:masterClrMapping/>
  </p:clrMapOvr>
  <p:transition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0C60B-2342-4469-88C8-EDE4DC348B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AC3EFC-BEC3-427C-820B-EFFC251134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C2704-1148-44F4-95FB-7545684F63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AD46E-8901-463C-9F07-DF20FDC50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878813"/>
      </p:ext>
    </p:extLst>
  </p:cSld>
  <p:clrMapOvr>
    <a:masterClrMapping/>
  </p:clrMapOvr>
  <p:transition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FBA16F8-AA62-46E0-AAE9-769172D920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FD91F9-AD0C-4268-8685-A109380664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87C55CB-958E-4C6D-ADAA-3F7796FCA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E3F8A-FA80-466C-AFF4-923677B80B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4953704"/>
      </p:ext>
    </p:extLst>
  </p:cSld>
  <p:clrMapOvr>
    <a:masterClrMapping/>
  </p:clrMapOvr>
  <p:transition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57B4CE-8AFF-4077-BCBA-707110430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5CB4F0-5CC4-4CAA-9987-54CA03EE98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B265F5-6B7B-48C3-A6ED-BCCB2BDC54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5ED2E-1B98-4D1A-A6C6-8889E704E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770948"/>
      </p:ext>
    </p:extLst>
  </p:cSld>
  <p:clrMapOvr>
    <a:masterClrMapping/>
  </p:clrMapOvr>
  <p:transition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311C98-D8CE-4010-87D7-803721CD60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70C16F-C939-46A0-8008-56CBF6B170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297AF9-4171-4D62-81F5-2C6367FA48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2B66-3231-4AE8-9C52-48FBF2467B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5512232"/>
      </p:ext>
    </p:extLst>
  </p:cSld>
  <p:clrMapOvr>
    <a:masterClrMapping/>
  </p:clrMapOvr>
  <p:transition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9DA16-C90E-4896-AF47-B8ED1FD478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574D74-3B9A-406C-83D4-87C612448B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E4BE63-FCEB-4217-8E29-5EFB37D60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9A168-E119-4E5F-A6D6-3E45B4638B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864968"/>
      </p:ext>
    </p:extLst>
  </p:cSld>
  <p:clrMapOvr>
    <a:masterClrMapping/>
  </p:clrMapOvr>
  <p:transition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89A2A3-462B-473C-9058-DDF6580A0A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082833-AF0D-47DE-A7BF-11B333765B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37920-728F-488B-A01F-4286B656C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58337-A367-4FF1-991E-F4A5D25036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9665928"/>
      </p:ext>
    </p:extLst>
  </p:cSld>
  <p:clrMapOvr>
    <a:masterClrMapping/>
  </p:clrMapOvr>
  <p:transition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4A41AE-F394-4027-8ED7-306263CC43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F7C6AB-5FB4-4A0D-8A0F-F103C4176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CA8CDA-01C8-48B2-AE0E-7B431EE20B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1B29F-F014-4D12-AB90-8FB69E550E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30358"/>
      </p:ext>
    </p:extLst>
  </p:cSld>
  <p:clrMapOvr>
    <a:masterClrMapping/>
  </p:clrMapOvr>
  <p:transition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9FE518-1F14-47EC-83C0-C01868C32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062672-070B-4712-A0F9-A26AAC5A62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62FACD-F528-4E28-8F7C-719DE77A5F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1F8A0-0609-45BC-98BF-199416033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4497395"/>
      </p:ext>
    </p:extLst>
  </p:cSld>
  <p:clrMapOvr>
    <a:masterClrMapping/>
  </p:clrMapOvr>
  <p:transition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46C9878-AFCC-457C-94E6-5CB46497ED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13872F-E2E7-4D43-AFA4-0F40B98E22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A800EEF-BEF5-4FE6-B6D4-BD1FC2DCB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51422-628E-4CEC-92CA-B007BFEA1E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114044"/>
      </p:ext>
    </p:extLst>
  </p:cSld>
  <p:clrMapOvr>
    <a:masterClrMapping/>
  </p:clrMapOvr>
  <p:transition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C1FC5A5-A73A-40B0-9944-0E0DB4174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3621CB5-6E50-42B3-83A6-0DB8D664BF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6DD30A4-431E-4261-8F41-9E0ED425D9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D193C-8C48-4E84-8568-77C8D4B32F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9257587"/>
      </p:ext>
    </p:extLst>
  </p:cSld>
  <p:clrMapOvr>
    <a:masterClrMapping/>
  </p:clrMapOvr>
  <p:transition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0815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gradFill rotWithShape="1">
          <a:gsLst>
            <a:gs pos="0">
              <a:srgbClr val="D7D9E1"/>
            </a:gs>
            <a:gs pos="25999">
              <a:srgbClr val="EBECF0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393400"/>
      </p:ext>
    </p:extLst>
  </p:cSld>
  <p:clrMapOvr>
    <a:masterClrMapping/>
  </p:clrMapOvr>
  <p:transition spd="slow" advClick="0" advTm="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50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17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7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DE6FF"/>
            </a:gs>
            <a:gs pos="50000">
              <a:srgbClr val="FFFFFF"/>
            </a:gs>
            <a:gs pos="100000">
              <a:srgbClr val="BDE6FF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11" descr="大纸屑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0363200" y="6578600"/>
            <a:ext cx="508000" cy="228600"/>
          </a:xfrm>
          <a:prstGeom prst="actionButtonBeginning">
            <a:avLst/>
          </a:prstGeom>
          <a:blipFill dpi="0" rotWithShape="0">
            <a:blip r:embed="rId1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tailEnd type="none" w="sm" len="lg"/>
          </a:ln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AutoShape 12" descr="大纸屑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582400" y="6578600"/>
            <a:ext cx="508000" cy="228600"/>
          </a:xfrm>
          <a:prstGeom prst="actionButtonForwardNext">
            <a:avLst/>
          </a:prstGeom>
          <a:blipFill dpi="0" rotWithShape="0">
            <a:blip r:embed="rId1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13" descr="大纸屑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972800" y="6578600"/>
            <a:ext cx="508000" cy="228600"/>
          </a:xfrm>
          <a:prstGeom prst="actionButtonBackPrevious">
            <a:avLst/>
          </a:prstGeom>
          <a:blipFill dpi="0" rotWithShape="0">
            <a:blip r:embed="rId1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55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E96032-4DAC-4B6B-AD19-DF6E3F2EF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AC1CD0E-6B1B-4755-8D3D-28D5474DC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3A800A-71CB-48BC-AD8C-12C7F79E1B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5B0F93-FCE3-4273-81A6-412D6111CC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EFAAA9-5147-491E-9752-811166DF8A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/>
            </a:lvl1pPr>
          </a:lstStyle>
          <a:p>
            <a:pPr>
              <a:defRPr/>
            </a:pPr>
            <a:fld id="{5E5D11B9-DD17-4EDB-843A-A9AF6D9C77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118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slide" Target="slide2.xml"/><Relationship Id="rId7" Type="http://schemas.openxmlformats.org/officeDocument/2006/relationships/slide" Target="slide2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Relationship Id="rId6" Type="http://schemas.openxmlformats.org/officeDocument/2006/relationships/slide" Target="slide17.xml"/><Relationship Id="rId11" Type="http://schemas.openxmlformats.org/officeDocument/2006/relationships/slide" Target="slide32.xml"/><Relationship Id="rId5" Type="http://schemas.openxmlformats.org/officeDocument/2006/relationships/slide" Target="slide10.xml"/><Relationship Id="rId10" Type="http://schemas.openxmlformats.org/officeDocument/2006/relationships/slide" Target="slide28.xml"/><Relationship Id="rId4" Type="http://schemas.openxmlformats.org/officeDocument/2006/relationships/slide" Target="slide5.xml"/><Relationship Id="rId9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8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7.emf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7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emf"/><Relationship Id="rId9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5.emf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5.emf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4.emf"/><Relationship Id="rId4" Type="http://schemas.openxmlformats.org/officeDocument/2006/relationships/image" Target="../media/image41.e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6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7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oleObject" Target="../embeddings/oleObject45.bin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0.emf"/><Relationship Id="rId9" Type="http://schemas.openxmlformats.org/officeDocument/2006/relationships/image" Target="../media/image52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60.e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33.xml"/><Relationship Id="rId16" Type="http://schemas.openxmlformats.org/officeDocument/2006/relationships/image" Target="../media/image59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8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5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电路分析基础（上册）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5">
            <a:hlinkClick r:id="rId2" action="ppaction://hlinksldjump"/>
          </p:cNvPr>
          <p:cNvSpPr txBox="1"/>
          <p:nvPr/>
        </p:nvSpPr>
        <p:spPr>
          <a:xfrm>
            <a:off x="2722563" y="1925003"/>
            <a:ext cx="6929437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99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第一章   </a:t>
            </a:r>
            <a:r>
              <a:rPr lang="zh-CN" altLang="en-US" sz="2500" b="1" dirty="0">
                <a:solidFill>
                  <a:srgbClr val="99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集总参数电路中电压、电流的约束关系</a:t>
            </a:r>
          </a:p>
        </p:txBody>
      </p:sp>
      <p:sp>
        <p:nvSpPr>
          <p:cNvPr id="20483" name="Text Box 6">
            <a:hlinkClick r:id="rId2" action="ppaction://hlinksldjump"/>
          </p:cNvPr>
          <p:cNvSpPr txBox="1"/>
          <p:nvPr/>
        </p:nvSpPr>
        <p:spPr>
          <a:xfrm>
            <a:off x="2709863" y="2367915"/>
            <a:ext cx="508635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99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第二章   网孔分析和节点分析</a:t>
            </a:r>
          </a:p>
        </p:txBody>
      </p:sp>
      <p:sp>
        <p:nvSpPr>
          <p:cNvPr id="20484" name="Rectangle 7">
            <a:hlinkClick r:id="rId2" action="ppaction://hlinksldjump"/>
          </p:cNvPr>
          <p:cNvSpPr/>
          <p:nvPr/>
        </p:nvSpPr>
        <p:spPr>
          <a:xfrm>
            <a:off x="2709863" y="3279140"/>
            <a:ext cx="61245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99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第四章   分解方法及单、双口网络</a:t>
            </a:r>
          </a:p>
        </p:txBody>
      </p:sp>
      <p:sp>
        <p:nvSpPr>
          <p:cNvPr id="20485" name="Rectangle 8">
            <a:hlinkClick r:id="rId2" action="ppaction://hlinksldjump"/>
          </p:cNvPr>
          <p:cNvSpPr/>
          <p:nvPr/>
        </p:nvSpPr>
        <p:spPr>
          <a:xfrm>
            <a:off x="2633663" y="4214178"/>
            <a:ext cx="5083175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CC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第五章   电容元件和电感元件</a:t>
            </a:r>
          </a:p>
        </p:txBody>
      </p:sp>
      <p:sp>
        <p:nvSpPr>
          <p:cNvPr id="20486" name="Rectangle 9">
            <a:hlinkClick r:id="rId2" action="ppaction://hlinksldjump"/>
          </p:cNvPr>
          <p:cNvSpPr/>
          <p:nvPr/>
        </p:nvSpPr>
        <p:spPr>
          <a:xfrm>
            <a:off x="2635250" y="4633278"/>
            <a:ext cx="3306763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CC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第六章   一阶电路</a:t>
            </a:r>
          </a:p>
        </p:txBody>
      </p:sp>
      <p:sp>
        <p:nvSpPr>
          <p:cNvPr id="20487" name="Rectangle 10">
            <a:hlinkClick r:id="rId2" action="ppaction://hlinksldjump"/>
          </p:cNvPr>
          <p:cNvSpPr/>
          <p:nvPr/>
        </p:nvSpPr>
        <p:spPr>
          <a:xfrm>
            <a:off x="2630488" y="5071428"/>
            <a:ext cx="3306762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CC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第七章   二阶电路</a:t>
            </a:r>
          </a:p>
        </p:txBody>
      </p:sp>
      <p:sp>
        <p:nvSpPr>
          <p:cNvPr id="20490" name="Rectangle 13">
            <a:hlinkClick r:id="rId2" action="ppaction://hlinksldjump"/>
          </p:cNvPr>
          <p:cNvSpPr/>
          <p:nvPr/>
        </p:nvSpPr>
        <p:spPr>
          <a:xfrm>
            <a:off x="2722563" y="2845753"/>
            <a:ext cx="5113337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600" b="1" dirty="0">
                <a:solidFill>
                  <a:srgbClr val="99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第三章   叠加方法与网络函数</a:t>
            </a:r>
          </a:p>
        </p:txBody>
      </p:sp>
      <p:sp>
        <p:nvSpPr>
          <p:cNvPr id="20493" name="Text Box 4"/>
          <p:cNvSpPr txBox="1"/>
          <p:nvPr/>
        </p:nvSpPr>
        <p:spPr>
          <a:xfrm>
            <a:off x="1027113" y="1436053"/>
            <a:ext cx="799306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第一篇 总论和电阻电路的分析</a:t>
            </a:r>
          </a:p>
        </p:txBody>
      </p:sp>
      <p:sp>
        <p:nvSpPr>
          <p:cNvPr id="20494" name="Text Box 2"/>
          <p:cNvSpPr txBox="1"/>
          <p:nvPr/>
        </p:nvSpPr>
        <p:spPr>
          <a:xfrm>
            <a:off x="1003300" y="3683953"/>
            <a:ext cx="79930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2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第二篇 动态电路的时域分析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99BD3801-49A3-4B6E-BB4C-E1AADC7BC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213" y="933450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A7DE688B-6A56-430D-A8DB-F0B22689E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3" y="47625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B0C3C652-D91D-4979-8DA0-7CF0F714D2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5050" y="-3175"/>
            <a:ext cx="8970963" cy="852488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第一章   集总参数电路中电压、电流的约束关系</a:t>
            </a:r>
          </a:p>
        </p:txBody>
      </p:sp>
      <p:sp>
        <p:nvSpPr>
          <p:cNvPr id="21509" name="Text Box 7">
            <a:hlinkClick r:id="rId3" action="ppaction://hlinksldjump"/>
            <a:extLst>
              <a:ext uri="{FF2B5EF4-FFF2-40B4-BE49-F238E27FC236}">
                <a16:creationId xmlns:a16="http://schemas.microsoft.com/office/drawing/2014/main" id="{C2E47F6D-2BA4-461A-9644-0A2B18AA3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774700"/>
            <a:ext cx="6789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1.1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电路及集总电路模型 </a:t>
            </a:r>
          </a:p>
        </p:txBody>
      </p:sp>
      <p:sp>
        <p:nvSpPr>
          <p:cNvPr id="21510" name="Text Box 8">
            <a:hlinkClick r:id="rId4" action="ppaction://hlinksldjump"/>
            <a:extLst>
              <a:ext uri="{FF2B5EF4-FFF2-40B4-BE49-F238E27FC236}">
                <a16:creationId xmlns:a16="http://schemas.microsoft.com/office/drawing/2014/main" id="{E6F2CC25-D1F8-4704-86CB-AEFA4EEE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1274763"/>
            <a:ext cx="741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1.2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电路变量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电流、电压及功率 </a:t>
            </a:r>
          </a:p>
        </p:txBody>
      </p:sp>
      <p:sp>
        <p:nvSpPr>
          <p:cNvPr id="21511" name="Text Box 9">
            <a:hlinkClick r:id="rId5" action="ppaction://hlinksldjump"/>
            <a:extLst>
              <a:ext uri="{FF2B5EF4-FFF2-40B4-BE49-F238E27FC236}">
                <a16:creationId xmlns:a16="http://schemas.microsoft.com/office/drawing/2014/main" id="{2FD8FD11-BE86-4A2F-BC39-921E17A51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1797050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1.3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基尔霍夫定律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2" name="Text Box 10">
            <a:hlinkClick r:id="rId6" action="ppaction://hlinksldjump"/>
            <a:extLst>
              <a:ext uri="{FF2B5EF4-FFF2-40B4-BE49-F238E27FC236}">
                <a16:creationId xmlns:a16="http://schemas.microsoft.com/office/drawing/2014/main" id="{190F4B29-91F6-41BB-A692-572A57762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2312988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1.4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电阻元件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3" name="Text Box 11">
            <a:extLst>
              <a:ext uri="{FF2B5EF4-FFF2-40B4-BE49-F238E27FC236}">
                <a16:creationId xmlns:a16="http://schemas.microsoft.com/office/drawing/2014/main" id="{44436CD6-4704-448B-8A01-1DB9C3F76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3335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4" name="Text Box 12">
            <a:hlinkClick r:id="rId7" action="ppaction://hlinksldjump"/>
            <a:extLst>
              <a:ext uri="{FF2B5EF4-FFF2-40B4-BE49-F238E27FC236}">
                <a16:creationId xmlns:a16="http://schemas.microsoft.com/office/drawing/2014/main" id="{AC79EB9C-E8DF-4BDE-99F4-670ACCE5E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286226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1.5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电压源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5" name="Text Box 13">
            <a:hlinkClick r:id="rId8" action="ppaction://hlinksldjump"/>
            <a:extLst>
              <a:ext uri="{FF2B5EF4-FFF2-40B4-BE49-F238E27FC236}">
                <a16:creationId xmlns:a16="http://schemas.microsoft.com/office/drawing/2014/main" id="{B9B0F38D-0CD0-4C71-8832-FBF178955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3402013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1.6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电流源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6" name="Text Box 14">
            <a:hlinkClick r:id="rId9" action="ppaction://hlinksldjump"/>
            <a:extLst>
              <a:ext uri="{FF2B5EF4-FFF2-40B4-BE49-F238E27FC236}">
                <a16:creationId xmlns:a16="http://schemas.microsoft.com/office/drawing/2014/main" id="{B4B64594-B8B2-4688-9893-75BB618A1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4394200"/>
            <a:ext cx="4859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1.8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分压公式和分流公式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7" name="Text Box 15">
            <a:hlinkClick r:id="rId10" action="ppaction://hlinksldjump"/>
            <a:extLst>
              <a:ext uri="{FF2B5EF4-FFF2-40B4-BE49-F238E27FC236}">
                <a16:creationId xmlns:a16="http://schemas.microsoft.com/office/drawing/2014/main" id="{91F9F535-DA5C-4641-A036-4758D39D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3902075"/>
            <a:ext cx="2755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1.7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受控源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5" name="Text Box 16">
            <a:hlinkClick r:id="rId11" action="ppaction://hlinksldjump"/>
            <a:extLst>
              <a:ext uri="{FF2B5EF4-FFF2-40B4-BE49-F238E27FC236}">
                <a16:creationId xmlns:a16="http://schemas.microsoft.com/office/drawing/2014/main" id="{A83F6F75-3A5C-4C4C-858D-DC3B72E95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4903788"/>
            <a:ext cx="77866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rPr>
              <a:t>1.9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rPr>
              <a:t>两类约束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 pitchFamily="2" charset="-122"/>
                <a:cs typeface="+mn-cs"/>
              </a:rPr>
              <a:t>KCL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 pitchFamily="2" charset="-122"/>
                <a:cs typeface="+mn-cs"/>
              </a:rPr>
              <a:t>KVL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rPr>
              <a:t>方程的独立性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itchFamily="34" charset="0"/>
              <a:ea typeface="宋体" pitchFamily="2" charset="-122"/>
              <a:cs typeface="+mn-cs"/>
            </a:endParaRPr>
          </a:p>
        </p:txBody>
      </p:sp>
      <p:sp>
        <p:nvSpPr>
          <p:cNvPr id="21519" name="AutoShape 1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727B7BD-3C6B-41AE-9A21-2657411EC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53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378E0BD-C547-4DF4-AC6A-0BA93F19F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16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1" name="AutoShape 1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A855D98-6028-48C7-BF79-C3764F8FA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1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2" name="Text Box 22">
            <a:hlinkClick r:id="rId11" action="ppaction://hlinksldjump"/>
            <a:extLst>
              <a:ext uri="{FF2B5EF4-FFF2-40B4-BE49-F238E27FC236}">
                <a16:creationId xmlns:a16="http://schemas.microsoft.com/office/drawing/2014/main" id="{1DA3BA01-FA55-4DF9-940E-32F44B169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5426075"/>
            <a:ext cx="5773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1.10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支路分析</a:t>
            </a:r>
          </a:p>
        </p:txBody>
      </p:sp>
      <p:sp>
        <p:nvSpPr>
          <p:cNvPr id="384023" name="Line 23">
            <a:extLst>
              <a:ext uri="{FF2B5EF4-FFF2-40B4-BE49-F238E27FC236}">
                <a16:creationId xmlns:a16="http://schemas.microsoft.com/office/drawing/2014/main" id="{07A25BA4-6F98-4FC3-9BA9-A13FD56855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96413" y="6534150"/>
            <a:ext cx="1157287" cy="158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Text Box 22">
            <a:hlinkClick r:id="rId11" action="ppaction://hlinksldjump"/>
            <a:extLst>
              <a:ext uri="{FF2B5EF4-FFF2-40B4-BE49-F238E27FC236}">
                <a16:creationId xmlns:a16="http://schemas.microsoft.com/office/drawing/2014/main" id="{3C6DA626-4B47-4545-BFA7-AAD1255A7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5938838"/>
            <a:ext cx="75326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rPr>
              <a:t>*1.11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rPr>
              <a:t>建模的两种方法    二极管模型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231485" y="1019189"/>
            <a:ext cx="46243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一、电流的参考方向</a:t>
            </a:r>
          </a:p>
        </p:txBody>
      </p:sp>
      <p:sp>
        <p:nvSpPr>
          <p:cNvPr id="39939" name="Text Box 3"/>
          <p:cNvSpPr txBox="1"/>
          <p:nvPr/>
        </p:nvSpPr>
        <p:spPr>
          <a:xfrm>
            <a:off x="2424113" y="1989138"/>
            <a:ext cx="597693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401414" name="Text Box 6"/>
          <p:cNvSpPr txBox="1"/>
          <p:nvPr/>
        </p:nvSpPr>
        <p:spPr>
          <a:xfrm>
            <a:off x="168436" y="2123786"/>
            <a:ext cx="11579225" cy="138499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&lt;1&gt;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在电路分析中，电路中标出的电流方向都是参考方向。</a:t>
            </a:r>
            <a:endParaRPr kumimoji="1" lang="zh-CN" altLang="en-US" sz="2800" b="0" i="0" u="sng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&lt;2&gt;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算得结果的正负号配合参考方向就可确定真实方向，但不要把参考方向改为真实方向。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39943" name="Rectangle 8"/>
          <p:cNvSpPr/>
          <p:nvPr/>
        </p:nvSpPr>
        <p:spPr>
          <a:xfrm rot="5400000">
            <a:off x="4501860" y="1652602"/>
            <a:ext cx="184150" cy="523875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9944" name="Line 9"/>
          <p:cNvSpPr/>
          <p:nvPr/>
        </p:nvSpPr>
        <p:spPr>
          <a:xfrm>
            <a:off x="3098510" y="1919301"/>
            <a:ext cx="1223962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9945" name="Line 10"/>
          <p:cNvSpPr/>
          <p:nvPr/>
        </p:nvSpPr>
        <p:spPr>
          <a:xfrm>
            <a:off x="4863810" y="1917714"/>
            <a:ext cx="1008062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39946" name="Text Box 11"/>
          <p:cNvSpPr txBox="1"/>
          <p:nvPr/>
        </p:nvSpPr>
        <p:spPr>
          <a:xfrm>
            <a:off x="3620797" y="1504965"/>
            <a:ext cx="431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</a:p>
        </p:txBody>
      </p:sp>
      <p:sp>
        <p:nvSpPr>
          <p:cNvPr id="39947" name="AutoShape 14">
            <a:hlinkClick r:id="" action="ppaction://hlinkshowjump?jump=firstslide"/>
          </p:cNvPr>
          <p:cNvSpPr/>
          <p:nvPr/>
        </p:nvSpPr>
        <p:spPr>
          <a:xfrm>
            <a:off x="9353550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9948" name="AutoShape 15">
            <a:hlinkClick r:id="" action="ppaction://hlinkshowjump?jump=nextslide"/>
          </p:cNvPr>
          <p:cNvSpPr/>
          <p:nvPr/>
        </p:nvSpPr>
        <p:spPr>
          <a:xfrm>
            <a:off x="10267950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9949" name="AutoShape 16">
            <a:hlinkClick r:id="" action="ppaction://hlinkshowjump?jump=previousslide"/>
          </p:cNvPr>
          <p:cNvSpPr/>
          <p:nvPr/>
        </p:nvSpPr>
        <p:spPr>
          <a:xfrm>
            <a:off x="9810750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01426" name="Line 18"/>
          <p:cNvSpPr/>
          <p:nvPr/>
        </p:nvSpPr>
        <p:spPr>
          <a:xfrm flipV="1">
            <a:off x="9396413" y="6534150"/>
            <a:ext cx="1157287" cy="158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1" name="Text Box 19">
            <a:hlinkClick r:id="" action="ppaction://noaction"/>
          </p:cNvPr>
          <p:cNvSpPr txBox="1"/>
          <p:nvPr/>
        </p:nvSpPr>
        <p:spPr>
          <a:xfrm>
            <a:off x="674688" y="258763"/>
            <a:ext cx="80549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§1-2 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电路变量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--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电流，电压及功率 </a:t>
            </a:r>
          </a:p>
        </p:txBody>
      </p:sp>
      <p:sp>
        <p:nvSpPr>
          <p:cNvPr id="39952" name="Oval 12"/>
          <p:cNvSpPr/>
          <p:nvPr/>
        </p:nvSpPr>
        <p:spPr>
          <a:xfrm>
            <a:off x="5882985" y="1855801"/>
            <a:ext cx="122237" cy="122238"/>
          </a:xfrm>
          <a:prstGeom prst="ellipse">
            <a:avLst/>
          </a:prstGeom>
          <a:solidFill>
            <a:srgbClr val="FFFF99">
              <a:alpha val="20000"/>
            </a:srgbClr>
          </a:solidFill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9953" name="Oval 12"/>
          <p:cNvSpPr/>
          <p:nvPr/>
        </p:nvSpPr>
        <p:spPr>
          <a:xfrm>
            <a:off x="2981035" y="1855802"/>
            <a:ext cx="122237" cy="122238"/>
          </a:xfrm>
          <a:prstGeom prst="ellipse">
            <a:avLst/>
          </a:prstGeom>
          <a:solidFill>
            <a:srgbClr val="FFFF99">
              <a:alpha val="20000"/>
            </a:srgbClr>
          </a:solidFill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7135AE86-435D-4D34-9A47-6C3D660A3FA4}"/>
              </a:ext>
            </a:extLst>
          </p:cNvPr>
          <p:cNvSpPr txBox="1"/>
          <p:nvPr/>
        </p:nvSpPr>
        <p:spPr>
          <a:xfrm>
            <a:off x="177962" y="4376791"/>
            <a:ext cx="9594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zh-CN" altLang="en-US" sz="2800" b="1" dirty="0">
                <a:latin typeface="Tahoma" panose="020B0604030504040204" pitchFamily="34" charset="0"/>
              </a:rPr>
              <a:t>电压参考方向：与电流一样，电压也需要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参考方向</a:t>
            </a:r>
            <a:r>
              <a:rPr lang="zh-CN" altLang="en-US" sz="2800" b="1" dirty="0">
                <a:latin typeface="Tahoma" panose="020B0604030504040204" pitchFamily="34" charset="0"/>
              </a:rPr>
              <a:t>：</a:t>
            </a:r>
            <a:r>
              <a:rPr lang="zh-CN" altLang="en-US" sz="28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1335D0DC-5040-4916-AE98-968FDE52F30F}"/>
              </a:ext>
            </a:extLst>
          </p:cNvPr>
          <p:cNvSpPr txBox="1"/>
          <p:nvPr/>
        </p:nvSpPr>
        <p:spPr>
          <a:xfrm>
            <a:off x="9275924" y="3686717"/>
            <a:ext cx="184150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895C549F-3ECC-4FBF-880C-383ECA3B46BE}"/>
              </a:ext>
            </a:extLst>
          </p:cNvPr>
          <p:cNvSpPr txBox="1"/>
          <p:nvPr/>
        </p:nvSpPr>
        <p:spPr>
          <a:xfrm>
            <a:off x="1720742" y="6876682"/>
            <a:ext cx="770413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A0AC83C1-2C35-4FC4-AC45-CD656C51C75A}"/>
              </a:ext>
            </a:extLst>
          </p:cNvPr>
          <p:cNvSpPr txBox="1"/>
          <p:nvPr/>
        </p:nvSpPr>
        <p:spPr>
          <a:xfrm>
            <a:off x="6446999" y="3439067"/>
            <a:ext cx="1249363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800" b="1" i="1" dirty="0"/>
              <a:t>u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3CC3BBD0-8916-4323-A2A7-9F2AEEB42EF7}"/>
              </a:ext>
            </a:extLst>
          </p:cNvPr>
          <p:cNvSpPr txBox="1"/>
          <p:nvPr/>
        </p:nvSpPr>
        <p:spPr>
          <a:xfrm>
            <a:off x="1792180" y="7268795"/>
            <a:ext cx="76327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1B5C24A1-9D61-4242-8B95-12BA5217434C}"/>
              </a:ext>
            </a:extLst>
          </p:cNvPr>
          <p:cNvSpPr txBox="1"/>
          <p:nvPr/>
        </p:nvSpPr>
        <p:spPr>
          <a:xfrm>
            <a:off x="2223980" y="9330957"/>
            <a:ext cx="662463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85C70D68-0BC0-4CF5-8C6E-B05E9C23DD58}"/>
              </a:ext>
            </a:extLst>
          </p:cNvPr>
          <p:cNvSpPr txBox="1"/>
          <p:nvPr/>
        </p:nvSpPr>
        <p:spPr>
          <a:xfrm>
            <a:off x="378511" y="5099592"/>
            <a:ext cx="9469437" cy="138588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电压参考方向也称为参考极性，按所设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参考方向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进行计算</a:t>
            </a:r>
            <a:endParaRPr lang="zh-CN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如果求出 </a:t>
            </a:r>
            <a:r>
              <a:rPr lang="en-US" altLang="zh-CN" sz="2800" b="1" i="1" dirty="0">
                <a:solidFill>
                  <a:srgbClr val="FF0066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FF0066"/>
                </a:solidFill>
              </a:rPr>
              <a:t>ab</a:t>
            </a:r>
            <a:r>
              <a:rPr lang="en-US" altLang="zh-CN" sz="2800" b="1" dirty="0">
                <a:solidFill>
                  <a:srgbClr val="FF0066"/>
                </a:solidFill>
              </a:rPr>
              <a:t>&gt;0 </a:t>
            </a:r>
            <a:r>
              <a:rPr lang="en-US" altLang="zh-CN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 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，则</a:t>
            </a:r>
            <a:r>
              <a:rPr lang="zh-CN" altLang="en-US" sz="2800" b="1" dirty="0">
                <a:solidFill>
                  <a:schemeClr val="accent2"/>
                </a:solidFill>
              </a:rPr>
              <a:t> 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真实方向与参考方向一致。</a:t>
            </a:r>
            <a:endParaRPr lang="zh-CN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如果求出 </a:t>
            </a:r>
            <a:r>
              <a:rPr lang="en-US" altLang="zh-CN" sz="2800" b="1" i="1" dirty="0">
                <a:solidFill>
                  <a:srgbClr val="FF0066"/>
                </a:solidFill>
              </a:rPr>
              <a:t>u</a:t>
            </a:r>
            <a:r>
              <a:rPr lang="en-US" altLang="zh-CN" sz="2800" b="1" i="1" baseline="-25000" dirty="0">
                <a:solidFill>
                  <a:srgbClr val="FF0066"/>
                </a:solidFill>
              </a:rPr>
              <a:t>ab</a:t>
            </a:r>
            <a:r>
              <a:rPr lang="en-US" altLang="zh-CN" sz="2800" b="1" i="1" dirty="0">
                <a:solidFill>
                  <a:srgbClr val="FF0066"/>
                </a:solidFill>
              </a:rPr>
              <a:t>&lt;</a:t>
            </a:r>
            <a:r>
              <a:rPr lang="en-US" altLang="zh-CN" sz="2800" b="1" dirty="0">
                <a:solidFill>
                  <a:srgbClr val="FF0066"/>
                </a:solidFill>
              </a:rPr>
              <a:t>0</a:t>
            </a:r>
            <a:r>
              <a:rPr lang="en-US" altLang="zh-CN" sz="2800" b="1" dirty="0">
                <a:solidFill>
                  <a:schemeClr val="accent2"/>
                </a:solidFill>
              </a:rPr>
              <a:t> </a:t>
            </a:r>
            <a:r>
              <a:rPr lang="en-US" altLang="zh-CN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，则</a:t>
            </a:r>
            <a:r>
              <a:rPr lang="zh-CN" altLang="en-US" sz="2800" b="1" dirty="0">
                <a:solidFill>
                  <a:schemeClr val="accent2"/>
                </a:solidFill>
              </a:rPr>
              <a:t>  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真实极性与参考极性相反。</a:t>
            </a:r>
          </a:p>
        </p:txBody>
      </p:sp>
      <p:sp>
        <p:nvSpPr>
          <p:cNvPr id="27" name="Line 15">
            <a:extLst>
              <a:ext uri="{FF2B5EF4-FFF2-40B4-BE49-F238E27FC236}">
                <a16:creationId xmlns:a16="http://schemas.microsoft.com/office/drawing/2014/main" id="{9811A833-4A76-4C90-88CC-C391248B114A}"/>
              </a:ext>
            </a:extLst>
          </p:cNvPr>
          <p:cNvSpPr/>
          <p:nvPr/>
        </p:nvSpPr>
        <p:spPr>
          <a:xfrm>
            <a:off x="5262724" y="3354930"/>
            <a:ext cx="1223963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8" name="Line 16">
            <a:extLst>
              <a:ext uri="{FF2B5EF4-FFF2-40B4-BE49-F238E27FC236}">
                <a16:creationId xmlns:a16="http://schemas.microsoft.com/office/drawing/2014/main" id="{C44E4B56-D7B8-49D7-BCDB-CB87EB8AE027}"/>
              </a:ext>
            </a:extLst>
          </p:cNvPr>
          <p:cNvSpPr/>
          <p:nvPr/>
        </p:nvSpPr>
        <p:spPr>
          <a:xfrm>
            <a:off x="7135974" y="3340642"/>
            <a:ext cx="1008063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D2DAA3A6-139A-474F-9D5A-50300F92FD08}"/>
              </a:ext>
            </a:extLst>
          </p:cNvPr>
          <p:cNvSpPr txBox="1"/>
          <p:nvPr/>
        </p:nvSpPr>
        <p:spPr>
          <a:xfrm>
            <a:off x="4975387" y="3356517"/>
            <a:ext cx="431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+</a:t>
            </a:r>
          </a:p>
        </p:txBody>
      </p:sp>
      <p:sp>
        <p:nvSpPr>
          <p:cNvPr id="30" name="Text Box 18">
            <a:extLst>
              <a:ext uri="{FF2B5EF4-FFF2-40B4-BE49-F238E27FC236}">
                <a16:creationId xmlns:a16="http://schemas.microsoft.com/office/drawing/2014/main" id="{B2846403-5EE0-472E-97E1-C5E45B1A121D}"/>
              </a:ext>
            </a:extLst>
          </p:cNvPr>
          <p:cNvSpPr txBox="1"/>
          <p:nvPr/>
        </p:nvSpPr>
        <p:spPr>
          <a:xfrm>
            <a:off x="7939249" y="3369217"/>
            <a:ext cx="431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－</a:t>
            </a:r>
            <a:endParaRPr lang="en-US" altLang="zh-CN" sz="2400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091AC01D-5360-448C-B9EF-E500A0CEFDB8}"/>
              </a:ext>
            </a:extLst>
          </p:cNvPr>
          <p:cNvSpPr/>
          <p:nvPr/>
        </p:nvSpPr>
        <p:spPr>
          <a:xfrm>
            <a:off x="8934612" y="3354930"/>
            <a:ext cx="1228725" cy="15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022EC3EE-83AC-46C3-80C1-5712BCFDA96D}"/>
              </a:ext>
            </a:extLst>
          </p:cNvPr>
          <p:cNvSpPr/>
          <p:nvPr/>
        </p:nvSpPr>
        <p:spPr>
          <a:xfrm>
            <a:off x="10807862" y="3340642"/>
            <a:ext cx="1011237" cy="15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33" name="Text Box 25">
            <a:extLst>
              <a:ext uri="{FF2B5EF4-FFF2-40B4-BE49-F238E27FC236}">
                <a16:creationId xmlns:a16="http://schemas.microsoft.com/office/drawing/2014/main" id="{35047DF5-D7A7-45A5-84A7-97F8279A1A9A}"/>
              </a:ext>
            </a:extLst>
          </p:cNvPr>
          <p:cNvSpPr txBox="1"/>
          <p:nvPr/>
        </p:nvSpPr>
        <p:spPr>
          <a:xfrm>
            <a:off x="8685374" y="3369217"/>
            <a:ext cx="43338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4" name="Text Box 26">
            <a:extLst>
              <a:ext uri="{FF2B5EF4-FFF2-40B4-BE49-F238E27FC236}">
                <a16:creationId xmlns:a16="http://schemas.microsoft.com/office/drawing/2014/main" id="{8592368A-4AE6-4531-A310-8CC15CC5DB68}"/>
              </a:ext>
            </a:extLst>
          </p:cNvPr>
          <p:cNvSpPr txBox="1"/>
          <p:nvPr/>
        </p:nvSpPr>
        <p:spPr>
          <a:xfrm>
            <a:off x="11869899" y="3356517"/>
            <a:ext cx="43338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5" name="Text Box 27">
            <a:extLst>
              <a:ext uri="{FF2B5EF4-FFF2-40B4-BE49-F238E27FC236}">
                <a16:creationId xmlns:a16="http://schemas.microsoft.com/office/drawing/2014/main" id="{0BEB510E-4AD0-4D75-8D33-1B09F1D95C26}"/>
              </a:ext>
            </a:extLst>
          </p:cNvPr>
          <p:cNvSpPr txBox="1"/>
          <p:nvPr/>
        </p:nvSpPr>
        <p:spPr>
          <a:xfrm>
            <a:off x="10303037" y="3399380"/>
            <a:ext cx="6508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i="1" dirty="0"/>
              <a:t>u</a:t>
            </a:r>
            <a:r>
              <a:rPr lang="en-US" altLang="zh-CN" sz="2400" i="1" baseline="-25000" dirty="0"/>
              <a:t>ab</a:t>
            </a:r>
          </a:p>
        </p:txBody>
      </p:sp>
      <p:sp>
        <p:nvSpPr>
          <p:cNvPr id="36" name="Text Box 28">
            <a:extLst>
              <a:ext uri="{FF2B5EF4-FFF2-40B4-BE49-F238E27FC236}">
                <a16:creationId xmlns:a16="http://schemas.microsoft.com/office/drawing/2014/main" id="{E19EE5E6-6022-4F20-BC65-A182ABE1E4A7}"/>
              </a:ext>
            </a:extLst>
          </p:cNvPr>
          <p:cNvSpPr txBox="1"/>
          <p:nvPr/>
        </p:nvSpPr>
        <p:spPr>
          <a:xfrm>
            <a:off x="9799799" y="3399380"/>
            <a:ext cx="360363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+</a:t>
            </a:r>
          </a:p>
        </p:txBody>
      </p:sp>
      <p:sp>
        <p:nvSpPr>
          <p:cNvPr id="37" name="Text Box 29">
            <a:extLst>
              <a:ext uri="{FF2B5EF4-FFF2-40B4-BE49-F238E27FC236}">
                <a16:creationId xmlns:a16="http://schemas.microsoft.com/office/drawing/2014/main" id="{D5243C10-4BB0-411D-9540-BE13895E8464}"/>
              </a:ext>
            </a:extLst>
          </p:cNvPr>
          <p:cNvSpPr txBox="1"/>
          <p:nvPr/>
        </p:nvSpPr>
        <p:spPr>
          <a:xfrm>
            <a:off x="10734837" y="3399380"/>
            <a:ext cx="3619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-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6D1FD6-7F3B-401F-8EF4-8F170B55FFD2}"/>
              </a:ext>
            </a:extLst>
          </p:cNvPr>
          <p:cNvSpPr/>
          <p:nvPr/>
        </p:nvSpPr>
        <p:spPr>
          <a:xfrm>
            <a:off x="273212" y="3645679"/>
            <a:ext cx="4486275" cy="584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Tahoma" panose="020B0604030504040204" pitchFamily="34" charset="0"/>
                <a:cs typeface="Times New Roman" panose="02020603050405020304" pitchFamily="18" charset="0"/>
              </a:rPr>
              <a:t>二</a:t>
            </a:r>
            <a:r>
              <a:rPr lang="zh-CN" altLang="en-US" b="1" dirty="0">
                <a:latin typeface="Tahoma" panose="020B0604030504040204" pitchFamily="34" charset="0"/>
              </a:rPr>
              <a:t>、</a:t>
            </a:r>
            <a:r>
              <a:rPr lang="zh-CN" altLang="en-US" b="1" dirty="0">
                <a:latin typeface="Tahoma" panose="020B0604030504040204" pitchFamily="34" charset="0"/>
                <a:cs typeface="Times New Roman" panose="02020603050405020304" pitchFamily="18" charset="0"/>
              </a:rPr>
              <a:t>电压的参考方向</a:t>
            </a:r>
            <a:endParaRPr lang="zh-CN" altLang="en-US" b="1" dirty="0">
              <a:latin typeface="Tahoma" panose="020B060403050404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1D54AD78-9311-41D4-AC62-0F1F0D563E69}"/>
              </a:ext>
            </a:extLst>
          </p:cNvPr>
          <p:cNvSpPr/>
          <p:nvPr/>
        </p:nvSpPr>
        <p:spPr>
          <a:xfrm flipV="1">
            <a:off x="9269305" y="10970845"/>
            <a:ext cx="1157287" cy="1587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015C87-2B1F-4206-9814-1DD62E9BCB8D}"/>
              </a:ext>
            </a:extLst>
          </p:cNvPr>
          <p:cNvSpPr/>
          <p:nvPr/>
        </p:nvSpPr>
        <p:spPr>
          <a:xfrm>
            <a:off x="6472399" y="3254917"/>
            <a:ext cx="647700" cy="215900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1" name="Line 15">
            <a:extLst>
              <a:ext uri="{FF2B5EF4-FFF2-40B4-BE49-F238E27FC236}">
                <a16:creationId xmlns:a16="http://schemas.microsoft.com/office/drawing/2014/main" id="{D448E732-36E3-47C4-80CC-89CDC70885A0}"/>
              </a:ext>
            </a:extLst>
          </p:cNvPr>
          <p:cNvSpPr/>
          <p:nvPr/>
        </p:nvSpPr>
        <p:spPr>
          <a:xfrm>
            <a:off x="5246849" y="3354930"/>
            <a:ext cx="1223963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42" name="Line 16">
            <a:extLst>
              <a:ext uri="{FF2B5EF4-FFF2-40B4-BE49-F238E27FC236}">
                <a16:creationId xmlns:a16="http://schemas.microsoft.com/office/drawing/2014/main" id="{C204966F-5A56-4559-B626-2E11A3740951}"/>
              </a:ext>
            </a:extLst>
          </p:cNvPr>
          <p:cNvSpPr/>
          <p:nvPr/>
        </p:nvSpPr>
        <p:spPr>
          <a:xfrm>
            <a:off x="7120099" y="3340642"/>
            <a:ext cx="1008063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424C63-7C6C-437C-804E-59CEF660ECCA}"/>
              </a:ext>
            </a:extLst>
          </p:cNvPr>
          <p:cNvSpPr/>
          <p:nvPr/>
        </p:nvSpPr>
        <p:spPr>
          <a:xfrm>
            <a:off x="8128162" y="3297780"/>
            <a:ext cx="71437" cy="73025"/>
          </a:xfrm>
          <a:prstGeom prst="ellipse">
            <a:avLst/>
          </a:prstGeom>
          <a:solidFill>
            <a:srgbClr val="FFFF99">
              <a:alpha val="20000"/>
            </a:srgbClr>
          </a:solidFill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DF029FE-82DE-4D54-B440-7F39044BA518}"/>
              </a:ext>
            </a:extLst>
          </p:cNvPr>
          <p:cNvSpPr/>
          <p:nvPr/>
        </p:nvSpPr>
        <p:spPr>
          <a:xfrm>
            <a:off x="5175412" y="3312067"/>
            <a:ext cx="71437" cy="73025"/>
          </a:xfrm>
          <a:prstGeom prst="ellipse">
            <a:avLst/>
          </a:prstGeom>
          <a:solidFill>
            <a:srgbClr val="FFFF99">
              <a:alpha val="20000"/>
            </a:srgbClr>
          </a:solidFill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3E90FE-EA7D-40C0-9588-1D3230CD3F39}"/>
              </a:ext>
            </a:extLst>
          </p:cNvPr>
          <p:cNvSpPr/>
          <p:nvPr/>
        </p:nvSpPr>
        <p:spPr>
          <a:xfrm>
            <a:off x="10144287" y="3254917"/>
            <a:ext cx="650875" cy="215900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6" name="Line 23">
            <a:extLst>
              <a:ext uri="{FF2B5EF4-FFF2-40B4-BE49-F238E27FC236}">
                <a16:creationId xmlns:a16="http://schemas.microsoft.com/office/drawing/2014/main" id="{F8F6254B-8027-43A5-9A56-279FDBB7C4F9}"/>
              </a:ext>
            </a:extLst>
          </p:cNvPr>
          <p:cNvSpPr/>
          <p:nvPr/>
        </p:nvSpPr>
        <p:spPr>
          <a:xfrm>
            <a:off x="8918737" y="3354930"/>
            <a:ext cx="1228725" cy="15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47" name="Line 24">
            <a:extLst>
              <a:ext uri="{FF2B5EF4-FFF2-40B4-BE49-F238E27FC236}">
                <a16:creationId xmlns:a16="http://schemas.microsoft.com/office/drawing/2014/main" id="{948EADC2-D5AE-4297-B7F2-8E87827BC640}"/>
              </a:ext>
            </a:extLst>
          </p:cNvPr>
          <p:cNvSpPr/>
          <p:nvPr/>
        </p:nvSpPr>
        <p:spPr>
          <a:xfrm>
            <a:off x="10791987" y="3340642"/>
            <a:ext cx="1011237" cy="158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A9EBD58-65BE-4A49-9010-36B7E9C5C5D8}"/>
              </a:ext>
            </a:extLst>
          </p:cNvPr>
          <p:cNvSpPr/>
          <p:nvPr/>
        </p:nvSpPr>
        <p:spPr>
          <a:xfrm>
            <a:off x="11800049" y="3305717"/>
            <a:ext cx="71438" cy="71438"/>
          </a:xfrm>
          <a:prstGeom prst="ellipse">
            <a:avLst/>
          </a:prstGeom>
          <a:solidFill>
            <a:srgbClr val="FFFF99">
              <a:alpha val="20000"/>
            </a:srgbClr>
          </a:solidFill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8895D11-2D53-4614-9201-1B9DBCBBB507}"/>
              </a:ext>
            </a:extLst>
          </p:cNvPr>
          <p:cNvSpPr/>
          <p:nvPr/>
        </p:nvSpPr>
        <p:spPr>
          <a:xfrm>
            <a:off x="8847299" y="3326355"/>
            <a:ext cx="71438" cy="73025"/>
          </a:xfrm>
          <a:prstGeom prst="ellipse">
            <a:avLst/>
          </a:prstGeom>
          <a:solidFill>
            <a:srgbClr val="FFFF99">
              <a:alpha val="20000"/>
            </a:srgbClr>
          </a:solidFill>
          <a:ln w="25400" cap="flat" cmpd="sng">
            <a:solidFill>
              <a:schemeClr val="tx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Text Box 2"/>
          <p:cNvSpPr txBox="1"/>
          <p:nvPr/>
        </p:nvSpPr>
        <p:spPr>
          <a:xfrm>
            <a:off x="927100" y="354013"/>
            <a:ext cx="10440988" cy="56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三 、关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联参考方向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p:sp>
        <p:nvSpPr>
          <p:cNvPr id="405507" name="Rectangle 3"/>
          <p:cNvSpPr/>
          <p:nvPr/>
        </p:nvSpPr>
        <p:spPr>
          <a:xfrm>
            <a:off x="640991" y="1160219"/>
            <a:ext cx="8458200" cy="823912"/>
          </a:xfrm>
          <a:prstGeom prst="rect">
            <a:avLst/>
          </a:prstGeom>
          <a:solidFill>
            <a:schemeClr val="accent2">
              <a:alpha val="0"/>
            </a:scheme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关联参考方向的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规定：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电流由高电位流向低电位。</a:t>
            </a:r>
          </a:p>
        </p:txBody>
      </p:sp>
      <p:sp>
        <p:nvSpPr>
          <p:cNvPr id="44036" name="AutoShape 36">
            <a:hlinkClick r:id="" action="ppaction://hlinkshowjump?jump=firstslide"/>
          </p:cNvPr>
          <p:cNvSpPr/>
          <p:nvPr/>
        </p:nvSpPr>
        <p:spPr>
          <a:xfrm>
            <a:off x="9353550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4037" name="AutoShape 37">
            <a:hlinkClick r:id="" action="ppaction://hlinkshowjump?jump=nextslide"/>
          </p:cNvPr>
          <p:cNvSpPr/>
          <p:nvPr/>
        </p:nvSpPr>
        <p:spPr>
          <a:xfrm>
            <a:off x="10267950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4038" name="AutoShape 38">
            <a:hlinkClick r:id="" action="ppaction://hlinkshowjump?jump=previousslide"/>
          </p:cNvPr>
          <p:cNvSpPr/>
          <p:nvPr/>
        </p:nvSpPr>
        <p:spPr>
          <a:xfrm>
            <a:off x="9810750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05544" name="Line 40"/>
          <p:cNvSpPr/>
          <p:nvPr/>
        </p:nvSpPr>
        <p:spPr>
          <a:xfrm flipV="1">
            <a:off x="9440863" y="6546850"/>
            <a:ext cx="1157287" cy="158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5547" name="Rectangle 43"/>
          <p:cNvSpPr/>
          <p:nvPr/>
        </p:nvSpPr>
        <p:spPr>
          <a:xfrm>
            <a:off x="761206" y="1805040"/>
            <a:ext cx="8271476" cy="1041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关联参考方向：对某个元件而言，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电流参考方向与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电压参考方向一致。 </a:t>
            </a:r>
          </a:p>
        </p:txBody>
      </p:sp>
      <p:grpSp>
        <p:nvGrpSpPr>
          <p:cNvPr id="4" name="组合 4"/>
          <p:cNvGrpSpPr/>
          <p:nvPr/>
        </p:nvGrpSpPr>
        <p:grpSpPr>
          <a:xfrm>
            <a:off x="1099875" y="3293220"/>
            <a:ext cx="3311525" cy="1724025"/>
            <a:chOff x="287338" y="4692650"/>
            <a:chExt cx="3311526" cy="1723751"/>
          </a:xfrm>
        </p:grpSpPr>
        <p:sp>
          <p:nvSpPr>
            <p:cNvPr id="44057" name="Text Box 6"/>
            <p:cNvSpPr txBox="1"/>
            <p:nvPr/>
          </p:nvSpPr>
          <p:spPr>
            <a:xfrm>
              <a:off x="832262" y="5933801"/>
              <a:ext cx="2303463" cy="482600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关联参考方向</a:t>
              </a:r>
            </a:p>
          </p:txBody>
        </p:sp>
        <p:sp>
          <p:nvSpPr>
            <p:cNvPr id="44058" name="Rectangle 9"/>
            <p:cNvSpPr/>
            <p:nvPr/>
          </p:nvSpPr>
          <p:spPr>
            <a:xfrm flipH="1">
              <a:off x="1643668" y="4880742"/>
              <a:ext cx="683048" cy="473699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4059" name="Line 10"/>
            <p:cNvSpPr/>
            <p:nvPr/>
          </p:nvSpPr>
          <p:spPr>
            <a:xfrm>
              <a:off x="430213" y="5124450"/>
              <a:ext cx="1223963" cy="0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4060" name="Line 11"/>
            <p:cNvSpPr/>
            <p:nvPr/>
          </p:nvSpPr>
          <p:spPr>
            <a:xfrm flipH="1">
              <a:off x="2331744" y="5110163"/>
              <a:ext cx="1008063" cy="0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4061" name="Text Box 12"/>
            <p:cNvSpPr txBox="1"/>
            <p:nvPr/>
          </p:nvSpPr>
          <p:spPr>
            <a:xfrm flipH="1">
              <a:off x="1042194" y="4692650"/>
              <a:ext cx="431800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1</a:t>
              </a:r>
            </a:p>
          </p:txBody>
        </p:sp>
        <p:sp>
          <p:nvSpPr>
            <p:cNvPr id="44062" name="Text Box 13"/>
            <p:cNvSpPr txBox="1"/>
            <p:nvPr/>
          </p:nvSpPr>
          <p:spPr>
            <a:xfrm>
              <a:off x="1798638" y="5344133"/>
              <a:ext cx="649288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u</a:t>
              </a:r>
              <a:endPara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4063" name="Text Box 14"/>
            <p:cNvSpPr txBox="1"/>
            <p:nvPr/>
          </p:nvSpPr>
          <p:spPr>
            <a:xfrm>
              <a:off x="1206579" y="5344133"/>
              <a:ext cx="358775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+</a:t>
              </a:r>
            </a:p>
          </p:txBody>
        </p:sp>
        <p:sp>
          <p:nvSpPr>
            <p:cNvPr id="44064" name="Text Box 15"/>
            <p:cNvSpPr txBox="1"/>
            <p:nvPr/>
          </p:nvSpPr>
          <p:spPr>
            <a:xfrm>
              <a:off x="2400124" y="5344133"/>
              <a:ext cx="360363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-</a:t>
              </a:r>
            </a:p>
          </p:txBody>
        </p:sp>
        <p:sp>
          <p:nvSpPr>
            <p:cNvPr id="44065" name="Text Box 16"/>
            <p:cNvSpPr txBox="1"/>
            <p:nvPr/>
          </p:nvSpPr>
          <p:spPr>
            <a:xfrm>
              <a:off x="287338" y="5010150"/>
              <a:ext cx="360363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a</a:t>
              </a:r>
            </a:p>
          </p:txBody>
        </p:sp>
        <p:sp>
          <p:nvSpPr>
            <p:cNvPr id="44066" name="Text Box 17"/>
            <p:cNvSpPr txBox="1"/>
            <p:nvPr/>
          </p:nvSpPr>
          <p:spPr>
            <a:xfrm>
              <a:off x="3238501" y="5105400"/>
              <a:ext cx="360363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b</a:t>
              </a:r>
            </a:p>
          </p:txBody>
        </p:sp>
        <p:sp>
          <p:nvSpPr>
            <p:cNvPr id="44067" name="Oval 18"/>
            <p:cNvSpPr/>
            <p:nvPr/>
          </p:nvSpPr>
          <p:spPr>
            <a:xfrm>
              <a:off x="3320659" y="5060950"/>
              <a:ext cx="71438" cy="74613"/>
            </a:xfrm>
            <a:prstGeom prst="ellipse">
              <a:avLst/>
            </a:prstGeom>
            <a:solidFill>
              <a:srgbClr val="FFFF99">
                <a:alpha val="20000"/>
              </a:srgbClr>
            </a:solidFill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4068" name="Oval 19"/>
            <p:cNvSpPr/>
            <p:nvPr/>
          </p:nvSpPr>
          <p:spPr>
            <a:xfrm>
              <a:off x="381001" y="5092700"/>
              <a:ext cx="71438" cy="71438"/>
            </a:xfrm>
            <a:prstGeom prst="ellipse">
              <a:avLst/>
            </a:prstGeom>
            <a:solidFill>
              <a:srgbClr val="FFFF99">
                <a:alpha val="20000"/>
              </a:srgbClr>
            </a:solidFill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grpSp>
        <p:nvGrpSpPr>
          <p:cNvPr id="17" name="组合 6"/>
          <p:cNvGrpSpPr/>
          <p:nvPr/>
        </p:nvGrpSpPr>
        <p:grpSpPr>
          <a:xfrm>
            <a:off x="5400413" y="3323383"/>
            <a:ext cx="3313112" cy="1746250"/>
            <a:chOff x="4587092" y="4723205"/>
            <a:chExt cx="3313112" cy="1745681"/>
          </a:xfrm>
        </p:grpSpPr>
        <p:sp>
          <p:nvSpPr>
            <p:cNvPr id="44043" name="Text Box 21"/>
            <p:cNvSpPr txBox="1"/>
            <p:nvPr/>
          </p:nvSpPr>
          <p:spPr>
            <a:xfrm>
              <a:off x="4868079" y="5986286"/>
              <a:ext cx="2449512" cy="482600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非关联参考方向</a:t>
              </a:r>
            </a:p>
          </p:txBody>
        </p:sp>
        <p:sp>
          <p:nvSpPr>
            <p:cNvPr id="44044" name="Rectangle 23"/>
            <p:cNvSpPr/>
            <p:nvPr/>
          </p:nvSpPr>
          <p:spPr>
            <a:xfrm>
              <a:off x="5739616" y="4920802"/>
              <a:ext cx="649288" cy="467683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4045" name="Line 24"/>
            <p:cNvSpPr/>
            <p:nvPr/>
          </p:nvSpPr>
          <p:spPr>
            <a:xfrm flipH="1">
              <a:off x="6388904" y="5170488"/>
              <a:ext cx="1223962" cy="0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4046" name="Line 25"/>
            <p:cNvSpPr/>
            <p:nvPr/>
          </p:nvSpPr>
          <p:spPr>
            <a:xfrm>
              <a:off x="4731554" y="5156200"/>
              <a:ext cx="1008062" cy="0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4047" name="Text Box 26"/>
            <p:cNvSpPr txBox="1"/>
            <p:nvPr/>
          </p:nvSpPr>
          <p:spPr>
            <a:xfrm>
              <a:off x="6595377" y="4723205"/>
              <a:ext cx="431800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2</a:t>
              </a:r>
            </a:p>
          </p:txBody>
        </p:sp>
        <p:sp>
          <p:nvSpPr>
            <p:cNvPr id="44048" name="Text Box 27"/>
            <p:cNvSpPr txBox="1"/>
            <p:nvPr/>
          </p:nvSpPr>
          <p:spPr>
            <a:xfrm>
              <a:off x="4587092" y="5094288"/>
              <a:ext cx="360362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a</a:t>
              </a:r>
            </a:p>
          </p:txBody>
        </p:sp>
        <p:sp>
          <p:nvSpPr>
            <p:cNvPr id="44049" name="Text Box 28"/>
            <p:cNvSpPr txBox="1"/>
            <p:nvPr/>
          </p:nvSpPr>
          <p:spPr>
            <a:xfrm>
              <a:off x="5955517" y="5396814"/>
              <a:ext cx="647700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u</a:t>
              </a:r>
            </a:p>
          </p:txBody>
        </p:sp>
        <p:sp>
          <p:nvSpPr>
            <p:cNvPr id="44050" name="Text Box 29"/>
            <p:cNvSpPr txBox="1"/>
            <p:nvPr/>
          </p:nvSpPr>
          <p:spPr>
            <a:xfrm>
              <a:off x="5328144" y="5348112"/>
              <a:ext cx="358775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+</a:t>
              </a:r>
            </a:p>
          </p:txBody>
        </p:sp>
        <p:sp>
          <p:nvSpPr>
            <p:cNvPr id="44051" name="Text Box 30"/>
            <p:cNvSpPr txBox="1"/>
            <p:nvPr/>
          </p:nvSpPr>
          <p:spPr>
            <a:xfrm>
              <a:off x="6567498" y="5354441"/>
              <a:ext cx="360362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宋体"/>
                  <a:cs typeface="+mn-cs"/>
                </a:rPr>
                <a:t>-</a:t>
              </a:r>
            </a:p>
          </p:txBody>
        </p:sp>
        <p:sp>
          <p:nvSpPr>
            <p:cNvPr id="44052" name="Text Box 31"/>
            <p:cNvSpPr txBox="1"/>
            <p:nvPr/>
          </p:nvSpPr>
          <p:spPr>
            <a:xfrm>
              <a:off x="4626779" y="5094288"/>
              <a:ext cx="209550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endParaRPr>
            </a:p>
          </p:txBody>
        </p:sp>
        <p:sp>
          <p:nvSpPr>
            <p:cNvPr id="44053" name="Text Box 32"/>
            <p:cNvSpPr txBox="1"/>
            <p:nvPr/>
          </p:nvSpPr>
          <p:spPr>
            <a:xfrm>
              <a:off x="4790292" y="5164138"/>
              <a:ext cx="209550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endParaRPr>
            </a:p>
          </p:txBody>
        </p:sp>
        <p:sp>
          <p:nvSpPr>
            <p:cNvPr id="44054" name="Oval 33"/>
            <p:cNvSpPr/>
            <p:nvPr/>
          </p:nvSpPr>
          <p:spPr>
            <a:xfrm>
              <a:off x="7611279" y="5138738"/>
              <a:ext cx="71437" cy="71437"/>
            </a:xfrm>
            <a:prstGeom prst="ellipse">
              <a:avLst/>
            </a:prstGeom>
            <a:solidFill>
              <a:srgbClr val="FFFF99">
                <a:alpha val="20000"/>
              </a:srgbClr>
            </a:solidFill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4055" name="Oval 34"/>
            <p:cNvSpPr/>
            <p:nvPr/>
          </p:nvSpPr>
          <p:spPr>
            <a:xfrm>
              <a:off x="4653767" y="5121275"/>
              <a:ext cx="71437" cy="71437"/>
            </a:xfrm>
            <a:prstGeom prst="ellipse">
              <a:avLst/>
            </a:prstGeom>
            <a:solidFill>
              <a:srgbClr val="FFFF99">
                <a:alpha val="20000"/>
              </a:srgbClr>
            </a:solidFill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44056" name="Text Box 35"/>
            <p:cNvSpPr txBox="1"/>
            <p:nvPr/>
          </p:nvSpPr>
          <p:spPr>
            <a:xfrm>
              <a:off x="7539842" y="5187950"/>
              <a:ext cx="360362" cy="45720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b</a:t>
              </a:r>
            </a:p>
          </p:txBody>
        </p:sp>
      </p:grpSp>
      <p:sp>
        <p:nvSpPr>
          <p:cNvPr id="37" name="Text Box 61">
            <a:extLst>
              <a:ext uri="{FF2B5EF4-FFF2-40B4-BE49-F238E27FC236}">
                <a16:creationId xmlns:a16="http://schemas.microsoft.com/office/drawing/2014/main" id="{21820786-FE4A-4DA5-9760-BDE5B7F38028}"/>
              </a:ext>
            </a:extLst>
          </p:cNvPr>
          <p:cNvSpPr txBox="1"/>
          <p:nvPr/>
        </p:nvSpPr>
        <p:spPr>
          <a:xfrm>
            <a:off x="994790" y="5303636"/>
            <a:ext cx="10293350" cy="95567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注意</a:t>
            </a:r>
            <a:r>
              <a:rPr lang="en-US" altLang="zh-CN" sz="2800" b="1" dirty="0"/>
              <a:t>:</a:t>
            </a:r>
            <a:r>
              <a:rPr lang="zh-CN" altLang="en-US" sz="2800" b="1" dirty="0"/>
              <a:t>电路理论的定律和公式是在规定参考方向下得到的，参考方向改变，公式也要作相应变化。例如</a:t>
            </a:r>
            <a:r>
              <a:rPr lang="zh-CN" altLang="en-US" sz="2800" b="1" dirty="0">
                <a:solidFill>
                  <a:srgbClr val="FF0000"/>
                </a:solidFill>
              </a:rPr>
              <a:t>欧姆定律，功率计算等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/>
      <p:bldP spid="405507" grpId="0" animBg="1"/>
      <p:bldP spid="4055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/>
          <p:cNvSpPr txBox="1"/>
          <p:nvPr/>
        </p:nvSpPr>
        <p:spPr>
          <a:xfrm>
            <a:off x="1219200" y="308223"/>
            <a:ext cx="5639685" cy="769441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</a:rPr>
              <a:t>§ </a:t>
            </a:r>
            <a:r>
              <a:rPr lang="en-US" altLang="zh-CN" sz="4400" b="1" dirty="0">
                <a:solidFill>
                  <a:schemeClr val="accent6">
                    <a:lumMod val="75000"/>
                  </a:schemeClr>
                </a:solidFill>
                <a:latin typeface="长城行楷体" pitchFamily="49" charset="-122"/>
                <a:ea typeface="长城行楷体" pitchFamily="49" charset="-122"/>
              </a:rPr>
              <a:t>1.3   </a:t>
            </a:r>
            <a:r>
              <a:rPr lang="zh-CN" altLang="en-US" sz="4400" b="1" dirty="0">
                <a:solidFill>
                  <a:schemeClr val="accent6">
                    <a:lumMod val="75000"/>
                  </a:schemeClr>
                </a:solidFill>
                <a:latin typeface="长城行楷体" pitchFamily="49" charset="-122"/>
                <a:ea typeface="长城行楷体" pitchFamily="49" charset="-122"/>
              </a:rPr>
              <a:t>基尔霍夫定律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长城行楷体" pitchFamily="49" charset="-122"/>
              <a:ea typeface="长城行楷体" pitchFamily="49" charset="-122"/>
            </a:endParaRPr>
          </a:p>
        </p:txBody>
      </p:sp>
      <p:sp>
        <p:nvSpPr>
          <p:cNvPr id="53252" name="AutoShape 6">
            <a:hlinkClick r:id="" action="ppaction://hlinkshowjump?jump=firstslide"/>
          </p:cNvPr>
          <p:cNvSpPr/>
          <p:nvPr/>
        </p:nvSpPr>
        <p:spPr>
          <a:xfrm>
            <a:off x="92964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53253" name="AutoShape 7">
            <a:hlinkClick r:id="" action="ppaction://hlinkshowjump?jump=nextslide"/>
          </p:cNvPr>
          <p:cNvSpPr/>
          <p:nvPr/>
        </p:nvSpPr>
        <p:spPr>
          <a:xfrm>
            <a:off x="102108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53254" name="AutoShape 8">
            <a:hlinkClick r:id="" action="ppaction://hlinkshowjump?jump=previousslide"/>
          </p:cNvPr>
          <p:cNvSpPr/>
          <p:nvPr/>
        </p:nvSpPr>
        <p:spPr>
          <a:xfrm>
            <a:off x="9753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13707" name="Line 11"/>
          <p:cNvSpPr/>
          <p:nvPr/>
        </p:nvSpPr>
        <p:spPr>
          <a:xfrm flipV="1">
            <a:off x="9396413" y="6534150"/>
            <a:ext cx="1157287" cy="158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7" name="Rectangle 13"/>
          <p:cNvSpPr/>
          <p:nvPr/>
        </p:nvSpPr>
        <p:spPr>
          <a:xfrm>
            <a:off x="276860" y="1293812"/>
            <a:ext cx="11109325" cy="13031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6600FF"/>
                </a:solidFill>
              </a:rPr>
              <a:t>基尔霍夫定律包含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基尔霍夫电流定律和基尔霍夫电压定律</a:t>
            </a:r>
            <a:r>
              <a:rPr lang="zh-CN" altLang="en-US" sz="2800" b="1" dirty="0">
                <a:solidFill>
                  <a:srgbClr val="6600FF"/>
                </a:solidFill>
              </a:rPr>
              <a:t>。分别反映集总电路中电流和电压遵循的基本规律。</a:t>
            </a:r>
          </a:p>
        </p:txBody>
      </p:sp>
      <p:sp>
        <p:nvSpPr>
          <p:cNvPr id="11" name="Text Box 45">
            <a:extLst>
              <a:ext uri="{FF2B5EF4-FFF2-40B4-BE49-F238E27FC236}">
                <a16:creationId xmlns:a16="http://schemas.microsoft.com/office/drawing/2014/main" id="{4AA2C3C5-08C0-4426-A920-A87F6F0A68EF}"/>
              </a:ext>
            </a:extLst>
          </p:cNvPr>
          <p:cNvSpPr txBox="1"/>
          <p:nvPr/>
        </p:nvSpPr>
        <p:spPr>
          <a:xfrm>
            <a:off x="331498" y="2844621"/>
            <a:ext cx="9803102" cy="1384995"/>
          </a:xfrm>
          <a:prstGeom prst="rect">
            <a:avLst/>
          </a:prstGeom>
          <a:noFill/>
          <a:ln w="2857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由于电流的连续性，流入任一节点的电流之和必定等于流出该节点的电流之和。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u="sng" dirty="0">
                <a:solidFill>
                  <a:schemeClr val="accent2"/>
                </a:solidFill>
              </a:rPr>
              <a:t>注意电流的正负号！！！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38633-0014-4E52-A73D-319F8BAD203C}"/>
              </a:ext>
            </a:extLst>
          </p:cNvPr>
          <p:cNvSpPr/>
          <p:nvPr/>
        </p:nvSpPr>
        <p:spPr>
          <a:xfrm>
            <a:off x="276860" y="4605060"/>
            <a:ext cx="107436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对回路</a:t>
            </a:r>
            <a:r>
              <a:rPr kumimoji="1" lang="en-US" altLang="zh-CN" sz="2800" b="1" dirty="0" err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adbca</a:t>
            </a:r>
            <a:r>
              <a:rPr kumimoji="1" lang="zh-CN" altLang="en-US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而言</a:t>
            </a:r>
            <a:r>
              <a:rPr kumimoji="1" lang="en-US" altLang="zh-CN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</a:t>
            </a:r>
            <a:r>
              <a:rPr kumimoji="1"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电位的单值性</a:t>
            </a:r>
            <a:r>
              <a:rPr kumimoji="1" lang="en-US" altLang="zh-CN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若从</a:t>
            </a:r>
            <a:r>
              <a:rPr kumimoji="1" lang="en-US" altLang="zh-CN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点出发</a:t>
            </a:r>
            <a:r>
              <a:rPr kumimoji="1" lang="en-US" altLang="zh-CN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沿回路环行一周又回到</a:t>
            </a:r>
            <a:r>
              <a:rPr kumimoji="1" lang="en-US" altLang="zh-CN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点</a:t>
            </a:r>
            <a:r>
              <a:rPr kumimoji="1" lang="en-US" altLang="zh-CN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电位的变化应等于零。</a:t>
            </a:r>
            <a:endParaRPr kumimoji="1" lang="en-US" altLang="zh-CN" sz="2800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kumimoji="1" lang="zh-CN" altLang="en-US" sz="2800" b="1" u="sng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注意电压的正负号！！！</a:t>
            </a:r>
            <a:endParaRPr lang="zh-CN" altLang="en-US" u="sng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AutoShape 5">
            <a:hlinkClick r:id="" action="ppaction://hlinkshowjump?jump=firstslide"/>
          </p:cNvPr>
          <p:cNvSpPr/>
          <p:nvPr/>
        </p:nvSpPr>
        <p:spPr>
          <a:xfrm>
            <a:off x="92964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3429" name="AutoShape 6">
            <a:hlinkClick r:id="" action="ppaction://hlinkshowjump?jump=nextslide"/>
          </p:cNvPr>
          <p:cNvSpPr/>
          <p:nvPr/>
        </p:nvSpPr>
        <p:spPr>
          <a:xfrm>
            <a:off x="102108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3430" name="AutoShape 7">
            <a:hlinkClick r:id="" action="ppaction://hlinkshowjump?jump=previousslide"/>
          </p:cNvPr>
          <p:cNvSpPr/>
          <p:nvPr/>
        </p:nvSpPr>
        <p:spPr>
          <a:xfrm>
            <a:off x="9753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666632" name="Line 8"/>
          <p:cNvSpPr/>
          <p:nvPr/>
        </p:nvSpPr>
        <p:spPr>
          <a:xfrm>
            <a:off x="9302750" y="6523038"/>
            <a:ext cx="1293813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32" name="Text Box 127"/>
          <p:cNvSpPr txBox="1"/>
          <p:nvPr/>
        </p:nvSpPr>
        <p:spPr>
          <a:xfrm>
            <a:off x="908050" y="122238"/>
            <a:ext cx="5818188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金长城美黑体"/>
              </a:rPr>
              <a:t>§1.7 </a:t>
            </a:r>
            <a:r>
              <a:rPr lang="zh-CN" altLang="en-US" b="1" dirty="0">
                <a:solidFill>
                  <a:schemeClr val="accent2"/>
                </a:solidFill>
                <a:latin typeface="金长城美黑体"/>
              </a:rPr>
              <a:t>四种</a:t>
            </a:r>
            <a:r>
              <a:rPr lang="zh-CN" altLang="en-US" b="1" dirty="0">
                <a:solidFill>
                  <a:srgbClr val="9900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受控源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8CFE287-D81C-4400-8FFA-584DFDEF8857}"/>
              </a:ext>
            </a:extLst>
          </p:cNvPr>
          <p:cNvSpPr/>
          <p:nvPr/>
        </p:nvSpPr>
        <p:spPr>
          <a:xfrm>
            <a:off x="188231" y="1832879"/>
            <a:ext cx="3509578" cy="1309687"/>
          </a:xfrm>
          <a:prstGeom prst="rect">
            <a:avLst/>
          </a:prstGeom>
          <a:solidFill>
            <a:srgbClr val="AEFEFA">
              <a:alpha val="0"/>
            </a:srgb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受控电压源的端口电压、</a:t>
            </a:r>
            <a:r>
              <a:rPr lang="zh-CN" altLang="en-US" sz="2800" b="1" dirty="0">
                <a:solidFill>
                  <a:schemeClr val="tx2"/>
                </a:solidFill>
              </a:rPr>
              <a:t>受控电流源的端口电流</a:t>
            </a:r>
            <a:r>
              <a:rPr lang="zh-CN" altLang="en-US" sz="2800" b="1" dirty="0">
                <a:solidFill>
                  <a:schemeClr val="accent2"/>
                </a:solidFill>
              </a:rPr>
              <a:t>不是定值，而是受其它支路电压或电流的控制，即是与控制电路电压，电流相关的。</a:t>
            </a:r>
            <a:r>
              <a:rPr lang="zh-CN" altLang="en-US" sz="28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6DBDA7-8483-4041-A459-84508B5B4FA7}"/>
              </a:ext>
            </a:extLst>
          </p:cNvPr>
          <p:cNvSpPr/>
          <p:nvPr/>
        </p:nvSpPr>
        <p:spPr>
          <a:xfrm>
            <a:off x="3448211" y="3808523"/>
            <a:ext cx="9144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1" name="Line 120">
            <a:extLst>
              <a:ext uri="{FF2B5EF4-FFF2-40B4-BE49-F238E27FC236}">
                <a16:creationId xmlns:a16="http://schemas.microsoft.com/office/drawing/2014/main" id="{BFADE1C9-370E-4917-A556-025E0B645302}"/>
              </a:ext>
            </a:extLst>
          </p:cNvPr>
          <p:cNvSpPr/>
          <p:nvPr/>
        </p:nvSpPr>
        <p:spPr>
          <a:xfrm flipV="1">
            <a:off x="6281898" y="4535598"/>
            <a:ext cx="1588" cy="417512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32" name="Text Box 11">
            <a:extLst>
              <a:ext uri="{FF2B5EF4-FFF2-40B4-BE49-F238E27FC236}">
                <a16:creationId xmlns:a16="http://schemas.microsoft.com/office/drawing/2014/main" id="{9AAF8E0F-90F0-42C2-8A6A-4A04A59805C5}"/>
              </a:ext>
            </a:extLst>
          </p:cNvPr>
          <p:cNvSpPr txBox="1"/>
          <p:nvPr/>
        </p:nvSpPr>
        <p:spPr>
          <a:xfrm>
            <a:off x="4195923" y="2990960"/>
            <a:ext cx="3273425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电压控制电压源</a:t>
            </a:r>
            <a:r>
              <a:rPr lang="zh-CN" altLang="en-US" sz="2200" dirty="0">
                <a:solidFill>
                  <a:schemeClr val="accent2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VCVS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4996F82-A582-4371-9A87-C7F860213ABA}"/>
              </a:ext>
            </a:extLst>
          </p:cNvPr>
          <p:cNvSpPr/>
          <p:nvPr/>
        </p:nvSpPr>
        <p:spPr>
          <a:xfrm>
            <a:off x="4807111" y="1616185"/>
            <a:ext cx="1795462" cy="1287463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dash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4" name="Line 13">
            <a:extLst>
              <a:ext uri="{FF2B5EF4-FFF2-40B4-BE49-F238E27FC236}">
                <a16:creationId xmlns:a16="http://schemas.microsoft.com/office/drawing/2014/main" id="{8831C585-F2D1-4FFA-AF97-C487673F33C6}"/>
              </a:ext>
            </a:extLst>
          </p:cNvPr>
          <p:cNvSpPr/>
          <p:nvPr/>
        </p:nvSpPr>
        <p:spPr>
          <a:xfrm>
            <a:off x="4486436" y="193686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35" name="Line 14">
            <a:extLst>
              <a:ext uri="{FF2B5EF4-FFF2-40B4-BE49-F238E27FC236}">
                <a16:creationId xmlns:a16="http://schemas.microsoft.com/office/drawing/2014/main" id="{2E9316C7-6507-4747-B496-D270142D43C2}"/>
              </a:ext>
            </a:extLst>
          </p:cNvPr>
          <p:cNvSpPr/>
          <p:nvPr/>
        </p:nvSpPr>
        <p:spPr>
          <a:xfrm>
            <a:off x="4486436" y="2665523"/>
            <a:ext cx="639762" cy="0"/>
          </a:xfrm>
          <a:prstGeom prst="line">
            <a:avLst/>
          </a:prstGeom>
          <a:ln w="25400" cap="flat" cmpd="sng">
            <a:solidFill>
              <a:srgbClr val="66FFFF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36" name="Line 15">
            <a:extLst>
              <a:ext uri="{FF2B5EF4-FFF2-40B4-BE49-F238E27FC236}">
                <a16:creationId xmlns:a16="http://schemas.microsoft.com/office/drawing/2014/main" id="{0076D8B3-D246-4514-A7DC-7FA4E1A5FE88}"/>
              </a:ext>
            </a:extLst>
          </p:cNvPr>
          <p:cNvSpPr/>
          <p:nvPr/>
        </p:nvSpPr>
        <p:spPr>
          <a:xfrm>
            <a:off x="6535898" y="2665523"/>
            <a:ext cx="449263" cy="0"/>
          </a:xfrm>
          <a:prstGeom prst="line">
            <a:avLst/>
          </a:prstGeom>
          <a:ln w="25400" cap="flat" cmpd="sng">
            <a:solidFill>
              <a:srgbClr val="66FFFF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1375659D-6F86-47E1-BCE6-C66AEC3E06D3}"/>
              </a:ext>
            </a:extLst>
          </p:cNvPr>
          <p:cNvSpPr/>
          <p:nvPr/>
        </p:nvSpPr>
        <p:spPr>
          <a:xfrm>
            <a:off x="4410236" y="1889235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0EC59104-8034-447D-B9C3-A929DFB51647}"/>
              </a:ext>
            </a:extLst>
          </p:cNvPr>
          <p:cNvSpPr/>
          <p:nvPr/>
        </p:nvSpPr>
        <p:spPr>
          <a:xfrm>
            <a:off x="4422936" y="2632185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A2376F3-C815-475C-AB89-FA99E450979F}"/>
              </a:ext>
            </a:extLst>
          </p:cNvPr>
          <p:cNvSpPr/>
          <p:nvPr/>
        </p:nvSpPr>
        <p:spPr>
          <a:xfrm>
            <a:off x="6991511" y="2622660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FA8F7384-4688-49BB-A773-D50E9081FA0E}"/>
              </a:ext>
            </a:extLst>
          </p:cNvPr>
          <p:cNvSpPr/>
          <p:nvPr/>
        </p:nvSpPr>
        <p:spPr>
          <a:xfrm>
            <a:off x="6985161" y="1865423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41" name="Text Box 20">
            <a:extLst>
              <a:ext uri="{FF2B5EF4-FFF2-40B4-BE49-F238E27FC236}">
                <a16:creationId xmlns:a16="http://schemas.microsoft.com/office/drawing/2014/main" id="{6A3EC5E6-9FCF-41ED-8F31-6A4C9EE05A91}"/>
              </a:ext>
            </a:extLst>
          </p:cNvPr>
          <p:cNvSpPr txBox="1"/>
          <p:nvPr/>
        </p:nvSpPr>
        <p:spPr>
          <a:xfrm>
            <a:off x="4037173" y="17257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42" name="Text Box 21">
            <a:extLst>
              <a:ext uri="{FF2B5EF4-FFF2-40B4-BE49-F238E27FC236}">
                <a16:creationId xmlns:a16="http://schemas.microsoft.com/office/drawing/2014/main" id="{F9AD461B-5A04-49C0-87D1-CF73C63F284D}"/>
              </a:ext>
            </a:extLst>
          </p:cNvPr>
          <p:cNvSpPr txBox="1"/>
          <p:nvPr/>
        </p:nvSpPr>
        <p:spPr>
          <a:xfrm>
            <a:off x="4037173" y="2030523"/>
            <a:ext cx="7207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43" name="Text Box 22">
            <a:extLst>
              <a:ext uri="{FF2B5EF4-FFF2-40B4-BE49-F238E27FC236}">
                <a16:creationId xmlns:a16="http://schemas.microsoft.com/office/drawing/2014/main" id="{51A3C4F3-5951-41D7-B671-08E5D6407B4D}"/>
              </a:ext>
            </a:extLst>
          </p:cNvPr>
          <p:cNvSpPr txBox="1"/>
          <p:nvPr/>
        </p:nvSpPr>
        <p:spPr>
          <a:xfrm>
            <a:off x="4076861" y="23861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44" name="Text Box 23">
            <a:extLst>
              <a:ext uri="{FF2B5EF4-FFF2-40B4-BE49-F238E27FC236}">
                <a16:creationId xmlns:a16="http://schemas.microsoft.com/office/drawing/2014/main" id="{7660695E-0FFC-420D-B060-F0AFB56DDEC2}"/>
              </a:ext>
            </a:extLst>
          </p:cNvPr>
          <p:cNvSpPr txBox="1"/>
          <p:nvPr/>
        </p:nvSpPr>
        <p:spPr>
          <a:xfrm>
            <a:off x="7055011" y="1654285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45" name="Text Box 24">
            <a:extLst>
              <a:ext uri="{FF2B5EF4-FFF2-40B4-BE49-F238E27FC236}">
                <a16:creationId xmlns:a16="http://schemas.microsoft.com/office/drawing/2014/main" id="{52B8533A-0044-4662-BE98-7AFC8ADDB13A}"/>
              </a:ext>
            </a:extLst>
          </p:cNvPr>
          <p:cNvSpPr txBox="1"/>
          <p:nvPr/>
        </p:nvSpPr>
        <p:spPr>
          <a:xfrm>
            <a:off x="7101048" y="23861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46" name="Line 25">
            <a:extLst>
              <a:ext uri="{FF2B5EF4-FFF2-40B4-BE49-F238E27FC236}">
                <a16:creationId xmlns:a16="http://schemas.microsoft.com/office/drawing/2014/main" id="{6505F4DF-64ED-4606-92BA-022A87A88DC7}"/>
              </a:ext>
            </a:extLst>
          </p:cNvPr>
          <p:cNvSpPr/>
          <p:nvPr/>
        </p:nvSpPr>
        <p:spPr>
          <a:xfrm>
            <a:off x="4486436" y="2665523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47" name="Line 26">
            <a:extLst>
              <a:ext uri="{FF2B5EF4-FFF2-40B4-BE49-F238E27FC236}">
                <a16:creationId xmlns:a16="http://schemas.microsoft.com/office/drawing/2014/main" id="{F87D53F9-2773-45B4-8221-02DA58C9C88C}"/>
              </a:ext>
            </a:extLst>
          </p:cNvPr>
          <p:cNvSpPr/>
          <p:nvPr/>
        </p:nvSpPr>
        <p:spPr>
          <a:xfrm>
            <a:off x="6280311" y="2665523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48" name="Line 27">
            <a:extLst>
              <a:ext uri="{FF2B5EF4-FFF2-40B4-BE49-F238E27FC236}">
                <a16:creationId xmlns:a16="http://schemas.microsoft.com/office/drawing/2014/main" id="{49830885-380E-46BB-9257-CB4B6E3AD75D}"/>
              </a:ext>
            </a:extLst>
          </p:cNvPr>
          <p:cNvSpPr/>
          <p:nvPr/>
        </p:nvSpPr>
        <p:spPr>
          <a:xfrm>
            <a:off x="6280311" y="189876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E2F0664-A492-43CE-A1DC-FAB11844AA36}"/>
              </a:ext>
            </a:extLst>
          </p:cNvPr>
          <p:cNvSpPr/>
          <p:nvPr/>
        </p:nvSpPr>
        <p:spPr>
          <a:xfrm>
            <a:off x="5191286" y="2619485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C9EB7365-8FFE-40C0-AF0E-D44DBAA74431}"/>
              </a:ext>
            </a:extLst>
          </p:cNvPr>
          <p:cNvSpPr/>
          <p:nvPr/>
        </p:nvSpPr>
        <p:spPr>
          <a:xfrm>
            <a:off x="5191286" y="1901935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CB3FE6F-4B08-482C-B43E-62AAA945FDBA}"/>
              </a:ext>
            </a:extLst>
          </p:cNvPr>
          <p:cNvSpPr/>
          <p:nvPr/>
        </p:nvSpPr>
        <p:spPr>
          <a:xfrm rot="2718993">
            <a:off x="6150136" y="2160698"/>
            <a:ext cx="254000" cy="265112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52" name="Line 31">
            <a:extLst>
              <a:ext uri="{FF2B5EF4-FFF2-40B4-BE49-F238E27FC236}">
                <a16:creationId xmlns:a16="http://schemas.microsoft.com/office/drawing/2014/main" id="{A54C09AA-825E-4D16-AFA0-90CA8BF17F2F}"/>
              </a:ext>
            </a:extLst>
          </p:cNvPr>
          <p:cNvSpPr/>
          <p:nvPr/>
        </p:nvSpPr>
        <p:spPr>
          <a:xfrm>
            <a:off x="6269198" y="1897173"/>
            <a:ext cx="1588" cy="763587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53" name="Text Box 32">
            <a:extLst>
              <a:ext uri="{FF2B5EF4-FFF2-40B4-BE49-F238E27FC236}">
                <a16:creationId xmlns:a16="http://schemas.microsoft.com/office/drawing/2014/main" id="{6F52200A-9BDA-4EA7-A946-2052E6EDD998}"/>
              </a:ext>
            </a:extLst>
          </p:cNvPr>
          <p:cNvSpPr txBox="1"/>
          <p:nvPr/>
        </p:nvSpPr>
        <p:spPr>
          <a:xfrm>
            <a:off x="5526248" y="2019410"/>
            <a:ext cx="71755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l-GR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μ</a:t>
            </a: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154" name="Line 33">
            <a:extLst>
              <a:ext uri="{FF2B5EF4-FFF2-40B4-BE49-F238E27FC236}">
                <a16:creationId xmlns:a16="http://schemas.microsoft.com/office/drawing/2014/main" id="{95FF9CBA-94EE-419B-B2E5-E5409887E308}"/>
              </a:ext>
            </a:extLst>
          </p:cNvPr>
          <p:cNvSpPr/>
          <p:nvPr/>
        </p:nvSpPr>
        <p:spPr>
          <a:xfrm>
            <a:off x="4553111" y="1940035"/>
            <a:ext cx="217487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55" name="Text Box 34">
            <a:extLst>
              <a:ext uri="{FF2B5EF4-FFF2-40B4-BE49-F238E27FC236}">
                <a16:creationId xmlns:a16="http://schemas.microsoft.com/office/drawing/2014/main" id="{C549F00C-61C5-44A0-93B5-C8DA2E33B8E0}"/>
              </a:ext>
            </a:extLst>
          </p:cNvPr>
          <p:cNvSpPr txBox="1"/>
          <p:nvPr/>
        </p:nvSpPr>
        <p:spPr>
          <a:xfrm>
            <a:off x="4434048" y="1366948"/>
            <a:ext cx="508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6" name="Line 35">
            <a:extLst>
              <a:ext uri="{FF2B5EF4-FFF2-40B4-BE49-F238E27FC236}">
                <a16:creationId xmlns:a16="http://schemas.microsoft.com/office/drawing/2014/main" id="{7324842D-D73A-4FA3-BBA7-3D03F97E0E58}"/>
              </a:ext>
            </a:extLst>
          </p:cNvPr>
          <p:cNvSpPr/>
          <p:nvPr/>
        </p:nvSpPr>
        <p:spPr>
          <a:xfrm flipH="1">
            <a:off x="6623211" y="1889235"/>
            <a:ext cx="217487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57" name="Text Box 36">
            <a:extLst>
              <a:ext uri="{FF2B5EF4-FFF2-40B4-BE49-F238E27FC236}">
                <a16:creationId xmlns:a16="http://schemas.microsoft.com/office/drawing/2014/main" id="{7A6B0F94-4A5F-46C4-A58E-0B4A298DEA55}"/>
              </a:ext>
            </a:extLst>
          </p:cNvPr>
          <p:cNvSpPr txBox="1"/>
          <p:nvPr/>
        </p:nvSpPr>
        <p:spPr>
          <a:xfrm>
            <a:off x="6653373" y="1343135"/>
            <a:ext cx="508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58" name="Text Box 37">
            <a:extLst>
              <a:ext uri="{FF2B5EF4-FFF2-40B4-BE49-F238E27FC236}">
                <a16:creationId xmlns:a16="http://schemas.microsoft.com/office/drawing/2014/main" id="{6687B05B-29B3-4B16-BA8B-434DB94EC2DB}"/>
              </a:ext>
            </a:extLst>
          </p:cNvPr>
          <p:cNvSpPr txBox="1"/>
          <p:nvPr/>
        </p:nvSpPr>
        <p:spPr>
          <a:xfrm>
            <a:off x="7023261" y="2006710"/>
            <a:ext cx="57943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159" name="Text Box 38">
            <a:extLst>
              <a:ext uri="{FF2B5EF4-FFF2-40B4-BE49-F238E27FC236}">
                <a16:creationId xmlns:a16="http://schemas.microsoft.com/office/drawing/2014/main" id="{6BF52B23-4D57-4024-A427-B5A1AB522705}"/>
              </a:ext>
            </a:extLst>
          </p:cNvPr>
          <p:cNvSpPr txBox="1"/>
          <p:nvPr/>
        </p:nvSpPr>
        <p:spPr>
          <a:xfrm>
            <a:off x="5892961" y="18273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60" name="Text Box 39">
            <a:extLst>
              <a:ext uri="{FF2B5EF4-FFF2-40B4-BE49-F238E27FC236}">
                <a16:creationId xmlns:a16="http://schemas.microsoft.com/office/drawing/2014/main" id="{ABF09572-4E91-49DB-BCC3-9FEA30D3D63E}"/>
              </a:ext>
            </a:extLst>
          </p:cNvPr>
          <p:cNvSpPr txBox="1"/>
          <p:nvPr/>
        </p:nvSpPr>
        <p:spPr>
          <a:xfrm>
            <a:off x="5919948" y="23607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61" name="Text Box 41">
            <a:extLst>
              <a:ext uri="{FF2B5EF4-FFF2-40B4-BE49-F238E27FC236}">
                <a16:creationId xmlns:a16="http://schemas.microsoft.com/office/drawing/2014/main" id="{081D19AD-CFA5-4D50-A338-9681E67A186D}"/>
              </a:ext>
            </a:extLst>
          </p:cNvPr>
          <p:cNvSpPr txBox="1"/>
          <p:nvPr/>
        </p:nvSpPr>
        <p:spPr>
          <a:xfrm>
            <a:off x="8383748" y="2957623"/>
            <a:ext cx="3254375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电流控制电压源</a:t>
            </a:r>
            <a:r>
              <a:rPr lang="zh-CN" altLang="en-US" sz="2200" dirty="0">
                <a:solidFill>
                  <a:schemeClr val="accent2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CCVS</a:t>
            </a:r>
            <a:r>
              <a:rPr lang="en-US" altLang="zh-CN" sz="22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F8955D7-1755-45EA-BB05-314D092114F0}"/>
              </a:ext>
            </a:extLst>
          </p:cNvPr>
          <p:cNvSpPr/>
          <p:nvPr/>
        </p:nvSpPr>
        <p:spPr>
          <a:xfrm>
            <a:off x="9071136" y="1670160"/>
            <a:ext cx="1774825" cy="1222375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dash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63" name="Line 43">
            <a:extLst>
              <a:ext uri="{FF2B5EF4-FFF2-40B4-BE49-F238E27FC236}">
                <a16:creationId xmlns:a16="http://schemas.microsoft.com/office/drawing/2014/main" id="{A3588C17-E7AF-445F-A8D7-2A3A14B403AE}"/>
              </a:ext>
            </a:extLst>
          </p:cNvPr>
          <p:cNvSpPr/>
          <p:nvPr/>
        </p:nvSpPr>
        <p:spPr>
          <a:xfrm>
            <a:off x="8663148" y="1900348"/>
            <a:ext cx="692150" cy="1587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64" name="Line 44">
            <a:extLst>
              <a:ext uri="{FF2B5EF4-FFF2-40B4-BE49-F238E27FC236}">
                <a16:creationId xmlns:a16="http://schemas.microsoft.com/office/drawing/2014/main" id="{21C660FF-D9E1-416D-AC98-1B20FA9EA34C}"/>
              </a:ext>
            </a:extLst>
          </p:cNvPr>
          <p:cNvSpPr/>
          <p:nvPr/>
        </p:nvSpPr>
        <p:spPr>
          <a:xfrm>
            <a:off x="8663148" y="2629010"/>
            <a:ext cx="628650" cy="1588"/>
          </a:xfrm>
          <a:prstGeom prst="line">
            <a:avLst/>
          </a:prstGeom>
          <a:ln w="25400" cap="flat" cmpd="sng">
            <a:solidFill>
              <a:srgbClr val="66FFFF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65" name="Line 45">
            <a:extLst>
              <a:ext uri="{FF2B5EF4-FFF2-40B4-BE49-F238E27FC236}">
                <a16:creationId xmlns:a16="http://schemas.microsoft.com/office/drawing/2014/main" id="{DFBA9C2F-096F-444A-BB80-44F94A4525A2}"/>
              </a:ext>
            </a:extLst>
          </p:cNvPr>
          <p:cNvSpPr/>
          <p:nvPr/>
        </p:nvSpPr>
        <p:spPr>
          <a:xfrm>
            <a:off x="10714198" y="1900348"/>
            <a:ext cx="441325" cy="1587"/>
          </a:xfrm>
          <a:prstGeom prst="line">
            <a:avLst/>
          </a:prstGeom>
          <a:ln w="25400" cap="flat" cmpd="sng">
            <a:solidFill>
              <a:srgbClr val="66FFFF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66" name="Line 46">
            <a:extLst>
              <a:ext uri="{FF2B5EF4-FFF2-40B4-BE49-F238E27FC236}">
                <a16:creationId xmlns:a16="http://schemas.microsoft.com/office/drawing/2014/main" id="{79E2BD69-AFB2-470F-BFCB-CAF2FF07780F}"/>
              </a:ext>
            </a:extLst>
          </p:cNvPr>
          <p:cNvSpPr/>
          <p:nvPr/>
        </p:nvSpPr>
        <p:spPr>
          <a:xfrm>
            <a:off x="10712611" y="2629010"/>
            <a:ext cx="441325" cy="1588"/>
          </a:xfrm>
          <a:prstGeom prst="line">
            <a:avLst/>
          </a:prstGeom>
          <a:ln w="25400" cap="flat" cmpd="sng">
            <a:solidFill>
              <a:srgbClr val="66FFFF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E19F038-4966-4663-9091-156F19425ED5}"/>
              </a:ext>
            </a:extLst>
          </p:cNvPr>
          <p:cNvSpPr/>
          <p:nvPr/>
        </p:nvSpPr>
        <p:spPr>
          <a:xfrm>
            <a:off x="8599648" y="1852723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3401C3C-C6BE-4B8F-8C21-5780D5875713}"/>
              </a:ext>
            </a:extLst>
          </p:cNvPr>
          <p:cNvSpPr/>
          <p:nvPr/>
        </p:nvSpPr>
        <p:spPr>
          <a:xfrm>
            <a:off x="8601236" y="2595673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A15B319E-1B92-44E8-807B-FEB8949D37F1}"/>
              </a:ext>
            </a:extLst>
          </p:cNvPr>
          <p:cNvSpPr/>
          <p:nvPr/>
        </p:nvSpPr>
        <p:spPr>
          <a:xfrm>
            <a:off x="11161873" y="2608373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30D0A7F-64F7-4458-AD8B-544C9D0E0891}"/>
              </a:ext>
            </a:extLst>
          </p:cNvPr>
          <p:cNvSpPr/>
          <p:nvPr/>
        </p:nvSpPr>
        <p:spPr>
          <a:xfrm>
            <a:off x="11161873" y="1854310"/>
            <a:ext cx="69850" cy="69850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71" name="Text Box 51">
            <a:extLst>
              <a:ext uri="{FF2B5EF4-FFF2-40B4-BE49-F238E27FC236}">
                <a16:creationId xmlns:a16="http://schemas.microsoft.com/office/drawing/2014/main" id="{53BEC6B5-A4D4-438A-8745-C8AC682747EF}"/>
              </a:ext>
            </a:extLst>
          </p:cNvPr>
          <p:cNvSpPr txBox="1"/>
          <p:nvPr/>
        </p:nvSpPr>
        <p:spPr>
          <a:xfrm>
            <a:off x="8213886" y="1733660"/>
            <a:ext cx="3143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72" name="Text Box 52">
            <a:extLst>
              <a:ext uri="{FF2B5EF4-FFF2-40B4-BE49-F238E27FC236}">
                <a16:creationId xmlns:a16="http://schemas.microsoft.com/office/drawing/2014/main" id="{4C8B27B8-E122-4C80-8CD3-8C4B5B691FA5}"/>
              </a:ext>
            </a:extLst>
          </p:cNvPr>
          <p:cNvSpPr txBox="1"/>
          <p:nvPr/>
        </p:nvSpPr>
        <p:spPr>
          <a:xfrm>
            <a:off x="8213886" y="2038460"/>
            <a:ext cx="7080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73" name="Text Box 53">
            <a:extLst>
              <a:ext uri="{FF2B5EF4-FFF2-40B4-BE49-F238E27FC236}">
                <a16:creationId xmlns:a16="http://schemas.microsoft.com/office/drawing/2014/main" id="{B45AE64E-258E-4DF3-8087-53959E5B4703}"/>
              </a:ext>
            </a:extLst>
          </p:cNvPr>
          <p:cNvSpPr txBox="1"/>
          <p:nvPr/>
        </p:nvSpPr>
        <p:spPr>
          <a:xfrm>
            <a:off x="8266273" y="2330560"/>
            <a:ext cx="3143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74" name="Text Box 54">
            <a:extLst>
              <a:ext uri="{FF2B5EF4-FFF2-40B4-BE49-F238E27FC236}">
                <a16:creationId xmlns:a16="http://schemas.microsoft.com/office/drawing/2014/main" id="{0CC4C41E-AB36-4291-93AE-7F7E7C1899AA}"/>
              </a:ext>
            </a:extLst>
          </p:cNvPr>
          <p:cNvSpPr txBox="1"/>
          <p:nvPr/>
        </p:nvSpPr>
        <p:spPr>
          <a:xfrm>
            <a:off x="11226961" y="1670160"/>
            <a:ext cx="3143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75" name="Text Box 55">
            <a:extLst>
              <a:ext uri="{FF2B5EF4-FFF2-40B4-BE49-F238E27FC236}">
                <a16:creationId xmlns:a16="http://schemas.microsoft.com/office/drawing/2014/main" id="{AF061369-E853-4FB6-BBEA-12E3CB554C59}"/>
              </a:ext>
            </a:extLst>
          </p:cNvPr>
          <p:cNvSpPr txBox="1"/>
          <p:nvPr/>
        </p:nvSpPr>
        <p:spPr>
          <a:xfrm>
            <a:off x="11252361" y="2381360"/>
            <a:ext cx="3143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76" name="Line 56">
            <a:extLst>
              <a:ext uri="{FF2B5EF4-FFF2-40B4-BE49-F238E27FC236}">
                <a16:creationId xmlns:a16="http://schemas.microsoft.com/office/drawing/2014/main" id="{C435109B-B112-4BDC-A808-B63535986824}"/>
              </a:ext>
            </a:extLst>
          </p:cNvPr>
          <p:cNvSpPr/>
          <p:nvPr/>
        </p:nvSpPr>
        <p:spPr>
          <a:xfrm>
            <a:off x="8663148" y="2629010"/>
            <a:ext cx="692150" cy="1588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77" name="Line 57">
            <a:extLst>
              <a:ext uri="{FF2B5EF4-FFF2-40B4-BE49-F238E27FC236}">
                <a16:creationId xmlns:a16="http://schemas.microsoft.com/office/drawing/2014/main" id="{465885D3-8F20-4C15-B703-4CD9509EE13B}"/>
              </a:ext>
            </a:extLst>
          </p:cNvPr>
          <p:cNvSpPr/>
          <p:nvPr/>
        </p:nvSpPr>
        <p:spPr>
          <a:xfrm>
            <a:off x="10457023" y="2629010"/>
            <a:ext cx="692150" cy="1588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78" name="Line 58">
            <a:extLst>
              <a:ext uri="{FF2B5EF4-FFF2-40B4-BE49-F238E27FC236}">
                <a16:creationId xmlns:a16="http://schemas.microsoft.com/office/drawing/2014/main" id="{9658BA8D-CE78-4B44-B15C-60CF0F9AAB76}"/>
              </a:ext>
            </a:extLst>
          </p:cNvPr>
          <p:cNvSpPr/>
          <p:nvPr/>
        </p:nvSpPr>
        <p:spPr>
          <a:xfrm>
            <a:off x="10457023" y="1900348"/>
            <a:ext cx="692150" cy="1587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7B7D062-8A73-4015-8C65-C39EA76806E1}"/>
              </a:ext>
            </a:extLst>
          </p:cNvPr>
          <p:cNvSpPr/>
          <p:nvPr/>
        </p:nvSpPr>
        <p:spPr>
          <a:xfrm rot="2718993">
            <a:off x="10331611" y="2146410"/>
            <a:ext cx="239712" cy="244475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80" name="Line 60">
            <a:extLst>
              <a:ext uri="{FF2B5EF4-FFF2-40B4-BE49-F238E27FC236}">
                <a16:creationId xmlns:a16="http://schemas.microsoft.com/office/drawing/2014/main" id="{36174391-3A65-4288-B619-305FC9EED62A}"/>
              </a:ext>
            </a:extLst>
          </p:cNvPr>
          <p:cNvSpPr/>
          <p:nvPr/>
        </p:nvSpPr>
        <p:spPr>
          <a:xfrm>
            <a:off x="10471311" y="1905110"/>
            <a:ext cx="1587" cy="731838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81" name="Text Box 61">
            <a:extLst>
              <a:ext uri="{FF2B5EF4-FFF2-40B4-BE49-F238E27FC236}">
                <a16:creationId xmlns:a16="http://schemas.microsoft.com/office/drawing/2014/main" id="{8967FAFE-FE70-448B-8D85-4CBE55E869FF}"/>
              </a:ext>
            </a:extLst>
          </p:cNvPr>
          <p:cNvSpPr txBox="1"/>
          <p:nvPr/>
        </p:nvSpPr>
        <p:spPr>
          <a:xfrm>
            <a:off x="9831548" y="1989248"/>
            <a:ext cx="63658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182" name="Line 62">
            <a:extLst>
              <a:ext uri="{FF2B5EF4-FFF2-40B4-BE49-F238E27FC236}">
                <a16:creationId xmlns:a16="http://schemas.microsoft.com/office/drawing/2014/main" id="{C4B90512-6016-4BEF-8921-9B7C8B273D75}"/>
              </a:ext>
            </a:extLst>
          </p:cNvPr>
          <p:cNvSpPr/>
          <p:nvPr/>
        </p:nvSpPr>
        <p:spPr>
          <a:xfrm>
            <a:off x="8717123" y="1882885"/>
            <a:ext cx="214313" cy="1588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83" name="Text Box 63">
            <a:extLst>
              <a:ext uri="{FF2B5EF4-FFF2-40B4-BE49-F238E27FC236}">
                <a16:creationId xmlns:a16="http://schemas.microsoft.com/office/drawing/2014/main" id="{3EEC428A-03D5-4D85-B2B2-2D1DFE3BFDF7}"/>
              </a:ext>
            </a:extLst>
          </p:cNvPr>
          <p:cNvSpPr txBox="1"/>
          <p:nvPr/>
        </p:nvSpPr>
        <p:spPr>
          <a:xfrm>
            <a:off x="8572661" y="1311385"/>
            <a:ext cx="482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84" name="Line 64">
            <a:extLst>
              <a:ext uri="{FF2B5EF4-FFF2-40B4-BE49-F238E27FC236}">
                <a16:creationId xmlns:a16="http://schemas.microsoft.com/office/drawing/2014/main" id="{A5D6FE51-F911-4D16-80AE-5CC56D91EECA}"/>
              </a:ext>
            </a:extLst>
          </p:cNvPr>
          <p:cNvSpPr/>
          <p:nvPr/>
        </p:nvSpPr>
        <p:spPr>
          <a:xfrm>
            <a:off x="9366411" y="1892410"/>
            <a:ext cx="1587" cy="731838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85" name="Line 65">
            <a:extLst>
              <a:ext uri="{FF2B5EF4-FFF2-40B4-BE49-F238E27FC236}">
                <a16:creationId xmlns:a16="http://schemas.microsoft.com/office/drawing/2014/main" id="{D660C424-9D58-47EB-A6B4-74E76765B680}"/>
              </a:ext>
            </a:extLst>
          </p:cNvPr>
          <p:cNvSpPr/>
          <p:nvPr/>
        </p:nvSpPr>
        <p:spPr>
          <a:xfrm flipH="1">
            <a:off x="10788811" y="1901935"/>
            <a:ext cx="217487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86" name="Text Box 66">
            <a:extLst>
              <a:ext uri="{FF2B5EF4-FFF2-40B4-BE49-F238E27FC236}">
                <a16:creationId xmlns:a16="http://schemas.microsoft.com/office/drawing/2014/main" id="{E79D90C5-6D9F-4BF9-B545-1FF2E9CA6218}"/>
              </a:ext>
            </a:extLst>
          </p:cNvPr>
          <p:cNvSpPr txBox="1"/>
          <p:nvPr/>
        </p:nvSpPr>
        <p:spPr>
          <a:xfrm>
            <a:off x="10083961" y="18019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87" name="Text Box 67">
            <a:extLst>
              <a:ext uri="{FF2B5EF4-FFF2-40B4-BE49-F238E27FC236}">
                <a16:creationId xmlns:a16="http://schemas.microsoft.com/office/drawing/2014/main" id="{649FFAF4-A04D-4CDE-B261-50A9786DC1CD}"/>
              </a:ext>
            </a:extLst>
          </p:cNvPr>
          <p:cNvSpPr txBox="1"/>
          <p:nvPr/>
        </p:nvSpPr>
        <p:spPr>
          <a:xfrm>
            <a:off x="11226961" y="1981310"/>
            <a:ext cx="57943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188" name="Text Box 68">
            <a:extLst>
              <a:ext uri="{FF2B5EF4-FFF2-40B4-BE49-F238E27FC236}">
                <a16:creationId xmlns:a16="http://schemas.microsoft.com/office/drawing/2014/main" id="{A0E19613-744D-4BC0-B876-0AF555A3D6E4}"/>
              </a:ext>
            </a:extLst>
          </p:cNvPr>
          <p:cNvSpPr txBox="1"/>
          <p:nvPr/>
        </p:nvSpPr>
        <p:spPr>
          <a:xfrm>
            <a:off x="10831673" y="1343135"/>
            <a:ext cx="508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89" name="Text Box 69">
            <a:extLst>
              <a:ext uri="{FF2B5EF4-FFF2-40B4-BE49-F238E27FC236}">
                <a16:creationId xmlns:a16="http://schemas.microsoft.com/office/drawing/2014/main" id="{DFE26924-8284-451B-B51F-45A38AD0222E}"/>
              </a:ext>
            </a:extLst>
          </p:cNvPr>
          <p:cNvSpPr txBox="1"/>
          <p:nvPr/>
        </p:nvSpPr>
        <p:spPr>
          <a:xfrm>
            <a:off x="10110948" y="23099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90" name="Text Box 71">
            <a:extLst>
              <a:ext uri="{FF2B5EF4-FFF2-40B4-BE49-F238E27FC236}">
                <a16:creationId xmlns:a16="http://schemas.microsoft.com/office/drawing/2014/main" id="{12564C9B-5A17-47F4-B516-92E51C2D9AA9}"/>
              </a:ext>
            </a:extLst>
          </p:cNvPr>
          <p:cNvSpPr txBox="1"/>
          <p:nvPr/>
        </p:nvSpPr>
        <p:spPr>
          <a:xfrm>
            <a:off x="8372636" y="5132498"/>
            <a:ext cx="3370262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电流控制电流源 </a:t>
            </a:r>
            <a:r>
              <a:rPr lang="zh-CN" altLang="en-US" sz="22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CCCS</a:t>
            </a:r>
            <a:r>
              <a:rPr lang="en-US" altLang="zh-CN" sz="22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A0FFC9A-6DDC-4668-94A3-7EDC0499F991}"/>
              </a:ext>
            </a:extLst>
          </p:cNvPr>
          <p:cNvSpPr/>
          <p:nvPr/>
        </p:nvSpPr>
        <p:spPr>
          <a:xfrm>
            <a:off x="8985411" y="3813285"/>
            <a:ext cx="1793875" cy="1220788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dash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92" name="Line 73">
            <a:extLst>
              <a:ext uri="{FF2B5EF4-FFF2-40B4-BE49-F238E27FC236}">
                <a16:creationId xmlns:a16="http://schemas.microsoft.com/office/drawing/2014/main" id="{861B9681-3654-490A-AD01-DB6103ECAF8B}"/>
              </a:ext>
            </a:extLst>
          </p:cNvPr>
          <p:cNvSpPr/>
          <p:nvPr/>
        </p:nvSpPr>
        <p:spPr>
          <a:xfrm>
            <a:off x="8590123" y="4078398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93" name="Line 74">
            <a:extLst>
              <a:ext uri="{FF2B5EF4-FFF2-40B4-BE49-F238E27FC236}">
                <a16:creationId xmlns:a16="http://schemas.microsoft.com/office/drawing/2014/main" id="{2ACEED1A-55A5-460A-9BFB-C9B37E41E433}"/>
              </a:ext>
            </a:extLst>
          </p:cNvPr>
          <p:cNvSpPr/>
          <p:nvPr/>
        </p:nvSpPr>
        <p:spPr>
          <a:xfrm>
            <a:off x="8590123" y="4807060"/>
            <a:ext cx="639763" cy="0"/>
          </a:xfrm>
          <a:prstGeom prst="line">
            <a:avLst/>
          </a:prstGeom>
          <a:ln w="25400" cap="flat" cmpd="sng">
            <a:solidFill>
              <a:srgbClr val="66FFFF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B649736D-0F52-4F86-B0A6-7BF741FEDF92}"/>
              </a:ext>
            </a:extLst>
          </p:cNvPr>
          <p:cNvSpPr/>
          <p:nvPr/>
        </p:nvSpPr>
        <p:spPr>
          <a:xfrm>
            <a:off x="8513923" y="404029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A38CE5B4-114E-49FF-BD82-77F832FAB61A}"/>
              </a:ext>
            </a:extLst>
          </p:cNvPr>
          <p:cNvSpPr/>
          <p:nvPr/>
        </p:nvSpPr>
        <p:spPr>
          <a:xfrm>
            <a:off x="8526623" y="478324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96" name="Text Box 77">
            <a:extLst>
              <a:ext uri="{FF2B5EF4-FFF2-40B4-BE49-F238E27FC236}">
                <a16:creationId xmlns:a16="http://schemas.microsoft.com/office/drawing/2014/main" id="{A65DFAE1-C0A9-4B50-B79F-FC2FC3663231}"/>
              </a:ext>
            </a:extLst>
          </p:cNvPr>
          <p:cNvSpPr txBox="1"/>
          <p:nvPr/>
        </p:nvSpPr>
        <p:spPr>
          <a:xfrm>
            <a:off x="8140861" y="3894248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97" name="Text Box 78">
            <a:extLst>
              <a:ext uri="{FF2B5EF4-FFF2-40B4-BE49-F238E27FC236}">
                <a16:creationId xmlns:a16="http://schemas.microsoft.com/office/drawing/2014/main" id="{AEBC5B86-4242-40C1-909F-0841E100A3B5}"/>
              </a:ext>
            </a:extLst>
          </p:cNvPr>
          <p:cNvSpPr txBox="1"/>
          <p:nvPr/>
        </p:nvSpPr>
        <p:spPr>
          <a:xfrm>
            <a:off x="8140861" y="4199048"/>
            <a:ext cx="7207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98" name="Text Box 79">
            <a:extLst>
              <a:ext uri="{FF2B5EF4-FFF2-40B4-BE49-F238E27FC236}">
                <a16:creationId xmlns:a16="http://schemas.microsoft.com/office/drawing/2014/main" id="{A7B30A78-86F1-43F5-8C59-1372507026F8}"/>
              </a:ext>
            </a:extLst>
          </p:cNvPr>
          <p:cNvSpPr txBox="1"/>
          <p:nvPr/>
        </p:nvSpPr>
        <p:spPr>
          <a:xfrm>
            <a:off x="8193248" y="4491148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199" name="Line 80">
            <a:extLst>
              <a:ext uri="{FF2B5EF4-FFF2-40B4-BE49-F238E27FC236}">
                <a16:creationId xmlns:a16="http://schemas.microsoft.com/office/drawing/2014/main" id="{A47001AA-B60C-49EE-B36D-3124AEF60DCB}"/>
              </a:ext>
            </a:extLst>
          </p:cNvPr>
          <p:cNvSpPr/>
          <p:nvPr/>
        </p:nvSpPr>
        <p:spPr>
          <a:xfrm>
            <a:off x="8590123" y="480706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00" name="Text Box 81">
            <a:extLst>
              <a:ext uri="{FF2B5EF4-FFF2-40B4-BE49-F238E27FC236}">
                <a16:creationId xmlns:a16="http://schemas.microsoft.com/office/drawing/2014/main" id="{F0532AEB-0404-448F-8549-8CD66B290A72}"/>
              </a:ext>
            </a:extLst>
          </p:cNvPr>
          <p:cNvSpPr txBox="1"/>
          <p:nvPr/>
        </p:nvSpPr>
        <p:spPr>
          <a:xfrm>
            <a:off x="9793448" y="4153010"/>
            <a:ext cx="57943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201" name="Line 82">
            <a:extLst>
              <a:ext uri="{FF2B5EF4-FFF2-40B4-BE49-F238E27FC236}">
                <a16:creationId xmlns:a16="http://schemas.microsoft.com/office/drawing/2014/main" id="{9BC3AD9C-87EC-409A-B018-F57394A74257}"/>
              </a:ext>
            </a:extLst>
          </p:cNvPr>
          <p:cNvSpPr/>
          <p:nvPr/>
        </p:nvSpPr>
        <p:spPr>
          <a:xfrm>
            <a:off x="8694898" y="4059348"/>
            <a:ext cx="217488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02" name="Line 83">
            <a:extLst>
              <a:ext uri="{FF2B5EF4-FFF2-40B4-BE49-F238E27FC236}">
                <a16:creationId xmlns:a16="http://schemas.microsoft.com/office/drawing/2014/main" id="{A779A2D0-59B0-4303-AE67-BAB6CCC4885F}"/>
              </a:ext>
            </a:extLst>
          </p:cNvPr>
          <p:cNvSpPr/>
          <p:nvPr/>
        </p:nvSpPr>
        <p:spPr>
          <a:xfrm>
            <a:off x="9293386" y="4081573"/>
            <a:ext cx="0" cy="720725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0B1AF180-F59E-4FA9-A9A2-6C546F0B9A04}"/>
              </a:ext>
            </a:extLst>
          </p:cNvPr>
          <p:cNvSpPr/>
          <p:nvPr/>
        </p:nvSpPr>
        <p:spPr>
          <a:xfrm>
            <a:off x="11112661" y="488484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953C691E-3290-4235-81A9-48643F506B8B}"/>
              </a:ext>
            </a:extLst>
          </p:cNvPr>
          <p:cNvSpPr/>
          <p:nvPr/>
        </p:nvSpPr>
        <p:spPr>
          <a:xfrm>
            <a:off x="11112661" y="3927585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05" name="Line 86">
            <a:extLst>
              <a:ext uri="{FF2B5EF4-FFF2-40B4-BE49-F238E27FC236}">
                <a16:creationId xmlns:a16="http://schemas.microsoft.com/office/drawing/2014/main" id="{07398BA3-3AD4-47CA-8AEB-390AF02705F3}"/>
              </a:ext>
            </a:extLst>
          </p:cNvPr>
          <p:cNvSpPr/>
          <p:nvPr/>
        </p:nvSpPr>
        <p:spPr>
          <a:xfrm>
            <a:off x="10407811" y="490866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06" name="Line 87">
            <a:extLst>
              <a:ext uri="{FF2B5EF4-FFF2-40B4-BE49-F238E27FC236}">
                <a16:creationId xmlns:a16="http://schemas.microsoft.com/office/drawing/2014/main" id="{E642EF69-A352-4263-85B6-C680F79795F9}"/>
              </a:ext>
            </a:extLst>
          </p:cNvPr>
          <p:cNvSpPr/>
          <p:nvPr/>
        </p:nvSpPr>
        <p:spPr>
          <a:xfrm flipV="1">
            <a:off x="10396698" y="3962510"/>
            <a:ext cx="741363" cy="1270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ED9FBD5-B8B8-469B-856D-846A68FAC76F}"/>
              </a:ext>
            </a:extLst>
          </p:cNvPr>
          <p:cNvSpPr/>
          <p:nvPr/>
        </p:nvSpPr>
        <p:spPr>
          <a:xfrm rot="2718993">
            <a:off x="10285573" y="4200635"/>
            <a:ext cx="242888" cy="255588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08" name="Line 91">
            <a:extLst>
              <a:ext uri="{FF2B5EF4-FFF2-40B4-BE49-F238E27FC236}">
                <a16:creationId xmlns:a16="http://schemas.microsoft.com/office/drawing/2014/main" id="{5C03A1EB-887B-4CCE-8B0C-EF7371A237A2}"/>
              </a:ext>
            </a:extLst>
          </p:cNvPr>
          <p:cNvSpPr/>
          <p:nvPr/>
        </p:nvSpPr>
        <p:spPr>
          <a:xfrm flipV="1">
            <a:off x="10409398" y="4484798"/>
            <a:ext cx="1588" cy="417512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09" name="Line 92">
            <a:extLst>
              <a:ext uri="{FF2B5EF4-FFF2-40B4-BE49-F238E27FC236}">
                <a16:creationId xmlns:a16="http://schemas.microsoft.com/office/drawing/2014/main" id="{8A61E8AD-1BF5-4576-85E1-53AC4BA9EBF2}"/>
              </a:ext>
            </a:extLst>
          </p:cNvPr>
          <p:cNvSpPr/>
          <p:nvPr/>
        </p:nvSpPr>
        <p:spPr>
          <a:xfrm>
            <a:off x="10264936" y="4327635"/>
            <a:ext cx="288925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10" name="Text Box 94">
            <a:extLst>
              <a:ext uri="{FF2B5EF4-FFF2-40B4-BE49-F238E27FC236}">
                <a16:creationId xmlns:a16="http://schemas.microsoft.com/office/drawing/2014/main" id="{E4C19B53-3F80-40B1-90F6-7BF44368C21A}"/>
              </a:ext>
            </a:extLst>
          </p:cNvPr>
          <p:cNvSpPr txBox="1"/>
          <p:nvPr/>
        </p:nvSpPr>
        <p:spPr>
          <a:xfrm>
            <a:off x="11190448" y="46594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211" name="Line 95">
            <a:extLst>
              <a:ext uri="{FF2B5EF4-FFF2-40B4-BE49-F238E27FC236}">
                <a16:creationId xmlns:a16="http://schemas.microsoft.com/office/drawing/2014/main" id="{26A12359-E2A7-4B6A-929C-5BDC7620FFC8}"/>
              </a:ext>
            </a:extLst>
          </p:cNvPr>
          <p:cNvSpPr/>
          <p:nvPr/>
        </p:nvSpPr>
        <p:spPr>
          <a:xfrm flipV="1">
            <a:off x="10409398" y="3962510"/>
            <a:ext cx="3175" cy="22860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12" name="Line 96">
            <a:extLst>
              <a:ext uri="{FF2B5EF4-FFF2-40B4-BE49-F238E27FC236}">
                <a16:creationId xmlns:a16="http://schemas.microsoft.com/office/drawing/2014/main" id="{C85BF2F5-643B-4067-9437-458FB42F9BCF}"/>
              </a:ext>
            </a:extLst>
          </p:cNvPr>
          <p:cNvSpPr/>
          <p:nvPr/>
        </p:nvSpPr>
        <p:spPr>
          <a:xfrm flipH="1">
            <a:off x="10803098" y="3957748"/>
            <a:ext cx="217488" cy="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13" name="Text Box 97">
            <a:extLst>
              <a:ext uri="{FF2B5EF4-FFF2-40B4-BE49-F238E27FC236}">
                <a16:creationId xmlns:a16="http://schemas.microsoft.com/office/drawing/2014/main" id="{405B4625-61E2-411D-B812-D5A10240899B}"/>
              </a:ext>
            </a:extLst>
          </p:cNvPr>
          <p:cNvSpPr txBox="1"/>
          <p:nvPr/>
        </p:nvSpPr>
        <p:spPr>
          <a:xfrm>
            <a:off x="8574248" y="3541823"/>
            <a:ext cx="482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14" name="Text Box 98">
            <a:extLst>
              <a:ext uri="{FF2B5EF4-FFF2-40B4-BE49-F238E27FC236}">
                <a16:creationId xmlns:a16="http://schemas.microsoft.com/office/drawing/2014/main" id="{976865E1-638C-4F96-8C64-090B4E0D7BFD}"/>
              </a:ext>
            </a:extLst>
          </p:cNvPr>
          <p:cNvSpPr txBox="1"/>
          <p:nvPr/>
        </p:nvSpPr>
        <p:spPr>
          <a:xfrm>
            <a:off x="10809448" y="3406885"/>
            <a:ext cx="508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15" name="Text Box 100">
            <a:extLst>
              <a:ext uri="{FF2B5EF4-FFF2-40B4-BE49-F238E27FC236}">
                <a16:creationId xmlns:a16="http://schemas.microsoft.com/office/drawing/2014/main" id="{09E78C97-9E87-47B2-9546-6AC8B3539D27}"/>
              </a:ext>
            </a:extLst>
          </p:cNvPr>
          <p:cNvSpPr txBox="1"/>
          <p:nvPr/>
        </p:nvSpPr>
        <p:spPr>
          <a:xfrm>
            <a:off x="4119723" y="5246798"/>
            <a:ext cx="3225800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电压控制电流源   </a:t>
            </a:r>
            <a:r>
              <a:rPr lang="en-US" altLang="zh-CN" sz="2200" b="1" dirty="0">
                <a:solidFill>
                  <a:schemeClr val="accent2"/>
                </a:solidFill>
                <a:latin typeface="Arial" panose="020B0604020202020204" pitchFamily="34" charset="0"/>
              </a:rPr>
              <a:t>VCCS </a:t>
            </a:r>
            <a:endParaRPr lang="en-US" altLang="zh-CN" sz="22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D56A91-58DA-4A4E-BA87-FE31E771015D}"/>
              </a:ext>
            </a:extLst>
          </p:cNvPr>
          <p:cNvSpPr/>
          <p:nvPr/>
        </p:nvSpPr>
        <p:spPr>
          <a:xfrm>
            <a:off x="4807111" y="3825985"/>
            <a:ext cx="1846262" cy="1344613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dash"/>
            <a:miter/>
            <a:headEnd type="none" w="med" len="med"/>
            <a:tailEnd type="none" w="lg" len="lg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17" name="Line 102">
            <a:extLst>
              <a:ext uri="{FF2B5EF4-FFF2-40B4-BE49-F238E27FC236}">
                <a16:creationId xmlns:a16="http://schemas.microsoft.com/office/drawing/2014/main" id="{4070E574-BE8E-4C47-AF07-EFF84E3BF06C}"/>
              </a:ext>
            </a:extLst>
          </p:cNvPr>
          <p:cNvSpPr/>
          <p:nvPr/>
        </p:nvSpPr>
        <p:spPr>
          <a:xfrm>
            <a:off x="4486436" y="4103798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549C5078-A75F-4CBF-9B4D-E4C217DF7DF5}"/>
              </a:ext>
            </a:extLst>
          </p:cNvPr>
          <p:cNvSpPr/>
          <p:nvPr/>
        </p:nvSpPr>
        <p:spPr>
          <a:xfrm>
            <a:off x="4410236" y="406569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66CD4AC0-8E52-4229-95CC-2F6FD02DD27A}"/>
              </a:ext>
            </a:extLst>
          </p:cNvPr>
          <p:cNvSpPr/>
          <p:nvPr/>
        </p:nvSpPr>
        <p:spPr>
          <a:xfrm>
            <a:off x="4422936" y="485944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382B2B9B-B9EC-4E5C-983D-36CBBEEBBCA3}"/>
              </a:ext>
            </a:extLst>
          </p:cNvPr>
          <p:cNvSpPr/>
          <p:nvPr/>
        </p:nvSpPr>
        <p:spPr>
          <a:xfrm>
            <a:off x="6985161" y="493564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D6B0EEC0-63C4-4392-B42E-BC13BA071377}"/>
              </a:ext>
            </a:extLst>
          </p:cNvPr>
          <p:cNvSpPr/>
          <p:nvPr/>
        </p:nvSpPr>
        <p:spPr>
          <a:xfrm>
            <a:off x="6985161" y="3978385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22" name="Text Box 107">
            <a:extLst>
              <a:ext uri="{FF2B5EF4-FFF2-40B4-BE49-F238E27FC236}">
                <a16:creationId xmlns:a16="http://schemas.microsoft.com/office/drawing/2014/main" id="{B2FFB586-2158-432D-8F9C-EC7A5592E9D6}"/>
              </a:ext>
            </a:extLst>
          </p:cNvPr>
          <p:cNvSpPr txBox="1"/>
          <p:nvPr/>
        </p:nvSpPr>
        <p:spPr>
          <a:xfrm>
            <a:off x="4037173" y="3919648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223" name="Text Box 108">
            <a:extLst>
              <a:ext uri="{FF2B5EF4-FFF2-40B4-BE49-F238E27FC236}">
                <a16:creationId xmlns:a16="http://schemas.microsoft.com/office/drawing/2014/main" id="{F7C44BFE-C184-437B-BF3E-DCD11A1160BB}"/>
              </a:ext>
            </a:extLst>
          </p:cNvPr>
          <p:cNvSpPr txBox="1"/>
          <p:nvPr/>
        </p:nvSpPr>
        <p:spPr>
          <a:xfrm>
            <a:off x="4037173" y="4249848"/>
            <a:ext cx="533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24" name="Text Box 109">
            <a:extLst>
              <a:ext uri="{FF2B5EF4-FFF2-40B4-BE49-F238E27FC236}">
                <a16:creationId xmlns:a16="http://schemas.microsoft.com/office/drawing/2014/main" id="{94DD83D5-2384-4AB5-A4A4-2D61DBDD621E}"/>
              </a:ext>
            </a:extLst>
          </p:cNvPr>
          <p:cNvSpPr txBox="1"/>
          <p:nvPr/>
        </p:nvSpPr>
        <p:spPr>
          <a:xfrm>
            <a:off x="4089561" y="4643548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225" name="Line 110">
            <a:extLst>
              <a:ext uri="{FF2B5EF4-FFF2-40B4-BE49-F238E27FC236}">
                <a16:creationId xmlns:a16="http://schemas.microsoft.com/office/drawing/2014/main" id="{7EFA092A-4854-4777-B226-41518420BF49}"/>
              </a:ext>
            </a:extLst>
          </p:cNvPr>
          <p:cNvSpPr/>
          <p:nvPr/>
        </p:nvSpPr>
        <p:spPr>
          <a:xfrm>
            <a:off x="4486436" y="489596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26" name="Line 111">
            <a:extLst>
              <a:ext uri="{FF2B5EF4-FFF2-40B4-BE49-F238E27FC236}">
                <a16:creationId xmlns:a16="http://schemas.microsoft.com/office/drawing/2014/main" id="{A5015076-1D60-4F01-872A-45A8A98A3313}"/>
              </a:ext>
            </a:extLst>
          </p:cNvPr>
          <p:cNvSpPr/>
          <p:nvPr/>
        </p:nvSpPr>
        <p:spPr>
          <a:xfrm>
            <a:off x="6280311" y="495946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27" name="Line 112">
            <a:extLst>
              <a:ext uri="{FF2B5EF4-FFF2-40B4-BE49-F238E27FC236}">
                <a16:creationId xmlns:a16="http://schemas.microsoft.com/office/drawing/2014/main" id="{B674FE08-B063-4254-9F84-EA7BF0C6733F}"/>
              </a:ext>
            </a:extLst>
          </p:cNvPr>
          <p:cNvSpPr/>
          <p:nvPr/>
        </p:nvSpPr>
        <p:spPr>
          <a:xfrm>
            <a:off x="6305711" y="4013310"/>
            <a:ext cx="704850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D8DB6524-3602-4FB5-AF70-0FA853E1707F}"/>
              </a:ext>
            </a:extLst>
          </p:cNvPr>
          <p:cNvSpPr/>
          <p:nvPr/>
        </p:nvSpPr>
        <p:spPr>
          <a:xfrm>
            <a:off x="5191286" y="485944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F82EC8DB-A1B0-40E6-9085-29D08A593F61}"/>
              </a:ext>
            </a:extLst>
          </p:cNvPr>
          <p:cNvSpPr/>
          <p:nvPr/>
        </p:nvSpPr>
        <p:spPr>
          <a:xfrm>
            <a:off x="5191286" y="4078398"/>
            <a:ext cx="63500" cy="60325"/>
          </a:xfrm>
          <a:prstGeom prst="ellipse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489A53A7-5FF8-4BAB-BD81-0809BB399A0A}"/>
              </a:ext>
            </a:extLst>
          </p:cNvPr>
          <p:cNvSpPr/>
          <p:nvPr/>
        </p:nvSpPr>
        <p:spPr>
          <a:xfrm rot="2718993">
            <a:off x="6158073" y="4251435"/>
            <a:ext cx="242888" cy="255588"/>
          </a:xfrm>
          <a:prstGeom prst="rect">
            <a:avLst/>
          </a:prstGeom>
          <a:solidFill>
            <a:srgbClr val="FFFF99">
              <a:alpha val="0"/>
            </a:srgbClr>
          </a:solidFill>
          <a:ln w="25400" cap="flat" cmpd="sng">
            <a:solidFill>
              <a:schemeClr val="accent2"/>
            </a:solidFill>
            <a:prstDash val="solid"/>
            <a:miter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31" name="Text Box 116">
            <a:extLst>
              <a:ext uri="{FF2B5EF4-FFF2-40B4-BE49-F238E27FC236}">
                <a16:creationId xmlns:a16="http://schemas.microsoft.com/office/drawing/2014/main" id="{0C18530C-2A1C-46C0-86FE-7A1771517A2C}"/>
              </a:ext>
            </a:extLst>
          </p:cNvPr>
          <p:cNvSpPr txBox="1"/>
          <p:nvPr/>
        </p:nvSpPr>
        <p:spPr>
          <a:xfrm>
            <a:off x="5577048" y="4135548"/>
            <a:ext cx="6921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g</a:t>
            </a:r>
            <a:r>
              <a:rPr lang="en-US" altLang="zh-CN" sz="2400" b="1" i="1" dirty="0">
                <a:solidFill>
                  <a:schemeClr val="accent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232" name="Line 117">
            <a:extLst>
              <a:ext uri="{FF2B5EF4-FFF2-40B4-BE49-F238E27FC236}">
                <a16:creationId xmlns:a16="http://schemas.microsoft.com/office/drawing/2014/main" id="{B7E95060-9DBF-4C22-9DC8-29FECC18E1BA}"/>
              </a:ext>
            </a:extLst>
          </p:cNvPr>
          <p:cNvSpPr/>
          <p:nvPr/>
        </p:nvSpPr>
        <p:spPr>
          <a:xfrm>
            <a:off x="4540411" y="4095860"/>
            <a:ext cx="217487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33" name="Text Box 118">
            <a:extLst>
              <a:ext uri="{FF2B5EF4-FFF2-40B4-BE49-F238E27FC236}">
                <a16:creationId xmlns:a16="http://schemas.microsoft.com/office/drawing/2014/main" id="{BDB763A3-AF45-425C-A0CB-8DA4EA2EC613}"/>
              </a:ext>
            </a:extLst>
          </p:cNvPr>
          <p:cNvSpPr txBox="1"/>
          <p:nvPr/>
        </p:nvSpPr>
        <p:spPr>
          <a:xfrm>
            <a:off x="4459448" y="3573573"/>
            <a:ext cx="43338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34" name="Line 119">
            <a:extLst>
              <a:ext uri="{FF2B5EF4-FFF2-40B4-BE49-F238E27FC236}">
                <a16:creationId xmlns:a16="http://schemas.microsoft.com/office/drawing/2014/main" id="{A309C437-F9DC-4E5E-BE75-38783E943641}"/>
              </a:ext>
            </a:extLst>
          </p:cNvPr>
          <p:cNvSpPr/>
          <p:nvPr/>
        </p:nvSpPr>
        <p:spPr>
          <a:xfrm rot="5400000" flipV="1">
            <a:off x="6159661" y="4727685"/>
            <a:ext cx="217487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35" name="Line 121">
            <a:extLst>
              <a:ext uri="{FF2B5EF4-FFF2-40B4-BE49-F238E27FC236}">
                <a16:creationId xmlns:a16="http://schemas.microsoft.com/office/drawing/2014/main" id="{B7193B43-C409-47DF-B9C3-4D89B8C00BCA}"/>
              </a:ext>
            </a:extLst>
          </p:cNvPr>
          <p:cNvSpPr/>
          <p:nvPr/>
        </p:nvSpPr>
        <p:spPr>
          <a:xfrm>
            <a:off x="6137436" y="4378435"/>
            <a:ext cx="288925" cy="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36" name="Text Box 122">
            <a:extLst>
              <a:ext uri="{FF2B5EF4-FFF2-40B4-BE49-F238E27FC236}">
                <a16:creationId xmlns:a16="http://schemas.microsoft.com/office/drawing/2014/main" id="{CEA8EFCA-0E20-4AB4-8D01-C48D27F41C98}"/>
              </a:ext>
            </a:extLst>
          </p:cNvPr>
          <p:cNvSpPr txBox="1"/>
          <p:nvPr/>
        </p:nvSpPr>
        <p:spPr>
          <a:xfrm>
            <a:off x="7088348" y="3730735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237" name="Text Box 123">
            <a:extLst>
              <a:ext uri="{FF2B5EF4-FFF2-40B4-BE49-F238E27FC236}">
                <a16:creationId xmlns:a16="http://schemas.microsoft.com/office/drawing/2014/main" id="{B4A9E846-CEBE-4B1E-9CF7-F9EFC7EC6566}"/>
              </a:ext>
            </a:extLst>
          </p:cNvPr>
          <p:cNvSpPr txBox="1"/>
          <p:nvPr/>
        </p:nvSpPr>
        <p:spPr>
          <a:xfrm>
            <a:off x="7062948" y="4710223"/>
            <a:ext cx="3206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-</a:t>
            </a:r>
          </a:p>
        </p:txBody>
      </p:sp>
      <p:sp>
        <p:nvSpPr>
          <p:cNvPr id="238" name="Line 124">
            <a:extLst>
              <a:ext uri="{FF2B5EF4-FFF2-40B4-BE49-F238E27FC236}">
                <a16:creationId xmlns:a16="http://schemas.microsoft.com/office/drawing/2014/main" id="{8C0A8D93-6E07-4F3F-9BDF-E39104E74D6B}"/>
              </a:ext>
            </a:extLst>
          </p:cNvPr>
          <p:cNvSpPr/>
          <p:nvPr/>
        </p:nvSpPr>
        <p:spPr>
          <a:xfrm flipV="1">
            <a:off x="6281898" y="4013310"/>
            <a:ext cx="3175" cy="22860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239" name="Line 125">
            <a:extLst>
              <a:ext uri="{FF2B5EF4-FFF2-40B4-BE49-F238E27FC236}">
                <a16:creationId xmlns:a16="http://schemas.microsoft.com/office/drawing/2014/main" id="{70584DF3-E9BA-4097-9EFB-0AED79CDD2C3}"/>
              </a:ext>
            </a:extLst>
          </p:cNvPr>
          <p:cNvSpPr/>
          <p:nvPr/>
        </p:nvSpPr>
        <p:spPr>
          <a:xfrm flipH="1">
            <a:off x="6675598" y="3997435"/>
            <a:ext cx="217488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40" name="Text Box 126">
            <a:extLst>
              <a:ext uri="{FF2B5EF4-FFF2-40B4-BE49-F238E27FC236}">
                <a16:creationId xmlns:a16="http://schemas.microsoft.com/office/drawing/2014/main" id="{918F70F0-FE53-44D3-B6B4-8CF3BBD43BA4}"/>
              </a:ext>
            </a:extLst>
          </p:cNvPr>
          <p:cNvSpPr txBox="1"/>
          <p:nvPr/>
        </p:nvSpPr>
        <p:spPr>
          <a:xfrm>
            <a:off x="6637498" y="3471973"/>
            <a:ext cx="508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41" name="Text Box 127">
            <a:extLst>
              <a:ext uri="{FF2B5EF4-FFF2-40B4-BE49-F238E27FC236}">
                <a16:creationId xmlns:a16="http://schemas.microsoft.com/office/drawing/2014/main" id="{1097E1BD-DFE3-4428-B37F-239DE1ED8035}"/>
              </a:ext>
            </a:extLst>
          </p:cNvPr>
          <p:cNvSpPr txBox="1"/>
          <p:nvPr/>
        </p:nvSpPr>
        <p:spPr>
          <a:xfrm>
            <a:off x="7018498" y="4186348"/>
            <a:ext cx="6921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  <p:sp>
        <p:nvSpPr>
          <p:cNvPr id="242" name="Line 90">
            <a:extLst>
              <a:ext uri="{FF2B5EF4-FFF2-40B4-BE49-F238E27FC236}">
                <a16:creationId xmlns:a16="http://schemas.microsoft.com/office/drawing/2014/main" id="{22447FD9-3DB0-42C4-AFD0-4B490D8D2555}"/>
              </a:ext>
            </a:extLst>
          </p:cNvPr>
          <p:cNvSpPr/>
          <p:nvPr/>
        </p:nvSpPr>
        <p:spPr>
          <a:xfrm rot="5400000" flipV="1">
            <a:off x="10287161" y="4676885"/>
            <a:ext cx="217487" cy="0"/>
          </a:xfrm>
          <a:prstGeom prst="line">
            <a:avLst/>
          </a:prstGeom>
          <a:ln w="25400" cap="flat" cmpd="sng">
            <a:solidFill>
              <a:srgbClr val="FF99CC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43" name="Text Box 54">
            <a:extLst>
              <a:ext uri="{FF2B5EF4-FFF2-40B4-BE49-F238E27FC236}">
                <a16:creationId xmlns:a16="http://schemas.microsoft.com/office/drawing/2014/main" id="{AF411401-A476-4128-B442-D45E060FA946}"/>
              </a:ext>
            </a:extLst>
          </p:cNvPr>
          <p:cNvSpPr txBox="1"/>
          <p:nvPr/>
        </p:nvSpPr>
        <p:spPr>
          <a:xfrm>
            <a:off x="11130123" y="3732323"/>
            <a:ext cx="3143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244" name="Text Box 67">
            <a:extLst>
              <a:ext uri="{FF2B5EF4-FFF2-40B4-BE49-F238E27FC236}">
                <a16:creationId xmlns:a16="http://schemas.microsoft.com/office/drawing/2014/main" id="{4E2BC420-ED70-49B6-B4C2-CF4CF8C0DC30}"/>
              </a:ext>
            </a:extLst>
          </p:cNvPr>
          <p:cNvSpPr txBox="1"/>
          <p:nvPr/>
        </p:nvSpPr>
        <p:spPr>
          <a:xfrm>
            <a:off x="11134886" y="4105385"/>
            <a:ext cx="57943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2</a:t>
            </a:r>
            <a:endParaRPr lang="el-GR" altLang="zh-CN" sz="2400" b="1" baseline="-25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/>
          </p:cNvSpPr>
          <p:nvPr>
            <p:ph type="title" idx="4294967295"/>
          </p:nvPr>
        </p:nvSpPr>
        <p:spPr>
          <a:xfrm>
            <a:off x="1836738" y="25400"/>
            <a:ext cx="8429625" cy="641350"/>
          </a:xfrm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200" b="1" dirty="0">
                <a:solidFill>
                  <a:schemeClr val="accent2"/>
                </a:solidFill>
                <a:latin typeface="金长城美黑体"/>
              </a:rPr>
              <a:t>§1-8</a:t>
            </a:r>
            <a:r>
              <a:rPr lang="en-US" altLang="zh-CN" sz="3200" b="1" dirty="0">
                <a:solidFill>
                  <a:schemeClr val="accent2"/>
                </a:solidFill>
              </a:rPr>
              <a:t> </a:t>
            </a:r>
            <a:r>
              <a:rPr lang="en-US" altLang="zh-CN" sz="3200" b="1" dirty="0">
                <a:solidFill>
                  <a:schemeClr val="accent2"/>
                </a:solidFill>
                <a:latin typeface="金长城美黑体"/>
              </a:rPr>
              <a:t>  </a:t>
            </a:r>
            <a:r>
              <a:rPr lang="zh-CN" altLang="en-US" sz="3200" b="1" dirty="0">
                <a:solidFill>
                  <a:schemeClr val="accent2"/>
                </a:solidFill>
                <a:latin typeface="金长城美黑体"/>
              </a:rPr>
              <a:t>两类约束，</a:t>
            </a:r>
            <a:r>
              <a:rPr lang="en-US" altLang="zh-CN" sz="3200" b="1" dirty="0">
                <a:solidFill>
                  <a:schemeClr val="accent2"/>
                </a:solidFill>
              </a:rPr>
              <a:t>KCL</a:t>
            </a:r>
            <a:r>
              <a:rPr lang="zh-CN" altLang="en-US" sz="3200" b="1" dirty="0">
                <a:solidFill>
                  <a:schemeClr val="accent2"/>
                </a:solidFill>
              </a:rPr>
              <a:t>与</a:t>
            </a:r>
            <a:r>
              <a:rPr lang="en-US" altLang="zh-CN" sz="3200" b="1" dirty="0">
                <a:solidFill>
                  <a:schemeClr val="accent2"/>
                </a:solidFill>
              </a:rPr>
              <a:t>KVL</a:t>
            </a:r>
            <a:r>
              <a:rPr lang="zh-CN" altLang="en-US" sz="3200" b="1" dirty="0">
                <a:solidFill>
                  <a:schemeClr val="accent2"/>
                </a:solidFill>
              </a:rPr>
              <a:t>方程的独立性</a:t>
            </a:r>
          </a:p>
        </p:txBody>
      </p:sp>
      <p:sp>
        <p:nvSpPr>
          <p:cNvPr id="438275" name="Rectangle 3"/>
          <p:cNvSpPr/>
          <p:nvPr/>
        </p:nvSpPr>
        <p:spPr>
          <a:xfrm>
            <a:off x="722313" y="671513"/>
            <a:ext cx="31670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金长城美黑体"/>
              </a:rPr>
              <a:t>一</a:t>
            </a:r>
            <a:r>
              <a:rPr lang="en-US" altLang="zh-CN" sz="2800" b="1" dirty="0">
                <a:solidFill>
                  <a:srgbClr val="FF0000"/>
                </a:solidFill>
                <a:latin typeface="金长城美黑体"/>
              </a:rPr>
              <a:t>.  </a:t>
            </a:r>
            <a:r>
              <a:rPr lang="zh-CN" altLang="en-US" sz="2800" b="1" dirty="0">
                <a:solidFill>
                  <a:srgbClr val="FF0000"/>
                </a:solidFill>
                <a:latin typeface="金长城美黑体"/>
              </a:rPr>
              <a:t>两类约束：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25956" name="Rectangle 5"/>
          <p:cNvSpPr/>
          <p:nvPr/>
        </p:nvSpPr>
        <p:spPr>
          <a:xfrm>
            <a:off x="3127375" y="2174875"/>
            <a:ext cx="0" cy="554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36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2241550" y="1076325"/>
            <a:ext cx="5476875" cy="868363"/>
            <a:chOff x="428" y="1420"/>
            <a:chExt cx="3450" cy="547"/>
          </a:xfrm>
        </p:grpSpPr>
        <p:sp>
          <p:nvSpPr>
            <p:cNvPr id="125981" name="Rectangle 6"/>
            <p:cNvSpPr/>
            <p:nvPr/>
          </p:nvSpPr>
          <p:spPr>
            <a:xfrm>
              <a:off x="920" y="1552"/>
              <a:ext cx="5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dirty="0">
                  <a:solidFill>
                    <a:schemeClr val="accent2"/>
                  </a:solidFill>
                </a:rPr>
                <a:t>: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125982" name="Group 7"/>
            <p:cNvGrpSpPr/>
            <p:nvPr/>
          </p:nvGrpSpPr>
          <p:grpSpPr>
            <a:xfrm>
              <a:off x="1358" y="1420"/>
              <a:ext cx="693" cy="547"/>
              <a:chOff x="1358" y="1420"/>
              <a:chExt cx="693" cy="547"/>
            </a:xfrm>
          </p:grpSpPr>
          <p:sp>
            <p:nvSpPr>
              <p:cNvPr id="125985" name="Rectangle 8"/>
              <p:cNvSpPr/>
              <p:nvPr/>
            </p:nvSpPr>
            <p:spPr>
              <a:xfrm>
                <a:off x="1947" y="1552"/>
                <a:ext cx="10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600" b="1" dirty="0">
                    <a:solidFill>
                      <a:schemeClr val="accent2"/>
                    </a:solidFill>
                  </a:rPr>
                  <a:t>0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86" name="Rectangle 9"/>
              <p:cNvSpPr/>
              <p:nvPr/>
            </p:nvSpPr>
            <p:spPr>
              <a:xfrm>
                <a:off x="1514" y="1822"/>
                <a:ext cx="60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5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87" name="Rectangle 10"/>
              <p:cNvSpPr/>
              <p:nvPr/>
            </p:nvSpPr>
            <p:spPr>
              <a:xfrm>
                <a:off x="1765" y="1529"/>
                <a:ext cx="1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600" b="1" dirty="0">
                    <a:solidFill>
                      <a:schemeClr val="accent2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88" name="Rectangle 11"/>
              <p:cNvSpPr/>
              <p:nvPr/>
            </p:nvSpPr>
            <p:spPr>
              <a:xfrm>
                <a:off x="1358" y="1473"/>
                <a:ext cx="216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3800" b="1" dirty="0">
                    <a:solidFill>
                      <a:schemeClr val="accent2"/>
                    </a:solidFill>
                    <a:latin typeface="Symbol" panose="05050102010706020507" pitchFamily="18" charset="2"/>
                  </a:rPr>
                  <a:t>å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89" name="Rectangle 12"/>
              <p:cNvSpPr/>
              <p:nvPr/>
            </p:nvSpPr>
            <p:spPr>
              <a:xfrm>
                <a:off x="1445" y="1809"/>
                <a:ext cx="66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500" b="1" dirty="0">
                    <a:solidFill>
                      <a:schemeClr val="accent2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90" name="Rectangle 13"/>
              <p:cNvSpPr/>
              <p:nvPr/>
            </p:nvSpPr>
            <p:spPr>
              <a:xfrm>
                <a:off x="1450" y="1420"/>
                <a:ext cx="60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500" b="1" i="1" dirty="0">
                    <a:solidFill>
                      <a:schemeClr val="accent2"/>
                    </a:solidFill>
                  </a:rPr>
                  <a:t>n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91" name="Rectangle 14"/>
              <p:cNvSpPr/>
              <p:nvPr/>
            </p:nvSpPr>
            <p:spPr>
              <a:xfrm>
                <a:off x="1396" y="1823"/>
                <a:ext cx="44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500" b="1" i="1" dirty="0">
                    <a:solidFill>
                      <a:schemeClr val="accent2"/>
                    </a:solidFill>
                  </a:rPr>
                  <a:t>i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992" name="Rectangle 15"/>
              <p:cNvSpPr/>
              <p:nvPr/>
            </p:nvSpPr>
            <p:spPr>
              <a:xfrm>
                <a:off x="1638" y="1552"/>
                <a:ext cx="5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600" b="1" i="1" dirty="0">
                    <a:solidFill>
                      <a:schemeClr val="accent2"/>
                    </a:solidFill>
                  </a:rPr>
                  <a:t>i</a:t>
                </a:r>
                <a:endParaRPr lang="en-US" altLang="zh-CN" sz="3600" b="1" dirty="0">
                  <a:solidFill>
                    <a:schemeClr val="accent2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5983" name="Rectangle 16"/>
            <p:cNvSpPr/>
            <p:nvPr/>
          </p:nvSpPr>
          <p:spPr>
            <a:xfrm>
              <a:off x="428" y="1552"/>
              <a:ext cx="54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i="1" dirty="0">
                  <a:solidFill>
                    <a:schemeClr val="accent2"/>
                  </a:solidFill>
                </a:rPr>
                <a:t>KCL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84" name="Rectangle 17"/>
            <p:cNvSpPr/>
            <p:nvPr/>
          </p:nvSpPr>
          <p:spPr>
            <a:xfrm>
              <a:off x="2200" y="1480"/>
              <a:ext cx="16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accent2"/>
                  </a:solidFill>
                  <a:latin typeface="金长城美黑体"/>
                </a:rPr>
                <a:t>节点电流方程</a:t>
              </a:r>
              <a:endPara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2203450" y="1990725"/>
            <a:ext cx="5557838" cy="868363"/>
            <a:chOff x="428" y="2324"/>
            <a:chExt cx="3501" cy="547"/>
          </a:xfrm>
        </p:grpSpPr>
        <p:sp>
          <p:nvSpPr>
            <p:cNvPr id="125970" name="Rectangle 19"/>
            <p:cNvSpPr/>
            <p:nvPr/>
          </p:nvSpPr>
          <p:spPr>
            <a:xfrm>
              <a:off x="1988" y="2456"/>
              <a:ext cx="1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dirty="0">
                  <a:solidFill>
                    <a:schemeClr val="accent2"/>
                  </a:solidFill>
                </a:rPr>
                <a:t>0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1" name="Rectangle 20"/>
            <p:cNvSpPr/>
            <p:nvPr/>
          </p:nvSpPr>
          <p:spPr>
            <a:xfrm>
              <a:off x="906" y="2456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dirty="0">
                  <a:solidFill>
                    <a:schemeClr val="accent2"/>
                  </a:solidFill>
                </a:rPr>
                <a:t>: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2" name="Rectangle 21"/>
            <p:cNvSpPr/>
            <p:nvPr/>
          </p:nvSpPr>
          <p:spPr>
            <a:xfrm>
              <a:off x="1515" y="2726"/>
              <a:ext cx="60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500" b="1" dirty="0">
                  <a:solidFill>
                    <a:schemeClr val="accent2"/>
                  </a:solidFill>
                </a:rPr>
                <a:t>1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3" name="Rectangle 22"/>
            <p:cNvSpPr/>
            <p:nvPr/>
          </p:nvSpPr>
          <p:spPr>
            <a:xfrm>
              <a:off x="1806" y="2433"/>
              <a:ext cx="1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=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4" name="Rectangle 23"/>
            <p:cNvSpPr/>
            <p:nvPr/>
          </p:nvSpPr>
          <p:spPr>
            <a:xfrm>
              <a:off x="1343" y="2377"/>
              <a:ext cx="21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8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å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5" name="Rectangle 24"/>
            <p:cNvSpPr/>
            <p:nvPr/>
          </p:nvSpPr>
          <p:spPr>
            <a:xfrm>
              <a:off x="1447" y="2713"/>
              <a:ext cx="66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5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=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6" name="Rectangle 25"/>
            <p:cNvSpPr/>
            <p:nvPr/>
          </p:nvSpPr>
          <p:spPr>
            <a:xfrm>
              <a:off x="1435" y="2324"/>
              <a:ext cx="6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500" b="1" i="1" dirty="0">
                  <a:solidFill>
                    <a:schemeClr val="accent2"/>
                  </a:solidFill>
                </a:rPr>
                <a:t>n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7" name="Rectangle 26"/>
            <p:cNvSpPr/>
            <p:nvPr/>
          </p:nvSpPr>
          <p:spPr>
            <a:xfrm>
              <a:off x="1364" y="2727"/>
              <a:ext cx="67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500" b="1" i="1" dirty="0">
                  <a:solidFill>
                    <a:schemeClr val="accent2"/>
                  </a:solidFill>
                </a:rPr>
                <a:t>u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8" name="Rectangle 27"/>
            <p:cNvSpPr/>
            <p:nvPr/>
          </p:nvSpPr>
          <p:spPr>
            <a:xfrm>
              <a:off x="1623" y="2456"/>
              <a:ext cx="1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i="1" dirty="0">
                  <a:solidFill>
                    <a:schemeClr val="accent2"/>
                  </a:solidFill>
                </a:rPr>
                <a:t>u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79" name="Rectangle 28"/>
            <p:cNvSpPr/>
            <p:nvPr/>
          </p:nvSpPr>
          <p:spPr>
            <a:xfrm>
              <a:off x="428" y="2456"/>
              <a:ext cx="4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600" b="1" i="1" dirty="0">
                  <a:solidFill>
                    <a:schemeClr val="accent2"/>
                  </a:solidFill>
                </a:rPr>
                <a:t>KVL</a:t>
              </a:r>
              <a:endParaRPr lang="en-US" altLang="zh-CN" sz="3600" b="1" dirty="0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5980" name="Rectangle 29"/>
            <p:cNvSpPr/>
            <p:nvPr/>
          </p:nvSpPr>
          <p:spPr>
            <a:xfrm>
              <a:off x="2245" y="2387"/>
              <a:ext cx="16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accent2"/>
                  </a:solidFill>
                  <a:latin typeface="金长城美黑体"/>
                </a:rPr>
                <a:t>回路电压方程</a:t>
              </a:r>
              <a:endPara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组合 6"/>
          <p:cNvGrpSpPr/>
          <p:nvPr/>
        </p:nvGrpSpPr>
        <p:grpSpPr>
          <a:xfrm>
            <a:off x="7535863" y="1622425"/>
            <a:ext cx="2279650" cy="549275"/>
            <a:chOff x="6011863" y="1623278"/>
            <a:chExt cx="2279651" cy="547565"/>
          </a:xfrm>
        </p:grpSpPr>
        <p:sp>
          <p:nvSpPr>
            <p:cNvPr id="125968" name="AutoShape 31"/>
            <p:cNvSpPr/>
            <p:nvPr/>
          </p:nvSpPr>
          <p:spPr>
            <a:xfrm>
              <a:off x="6011863" y="1623278"/>
              <a:ext cx="393700" cy="547565"/>
            </a:xfrm>
            <a:prstGeom prst="rightBrace">
              <a:avLst>
                <a:gd name="adj1" fmla="val 11989"/>
                <a:gd name="adj2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lg" len="lg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25969" name="Rectangle 32"/>
            <p:cNvSpPr/>
            <p:nvPr/>
          </p:nvSpPr>
          <p:spPr>
            <a:xfrm>
              <a:off x="6607176" y="1635302"/>
              <a:ext cx="168433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金长城美黑体"/>
                </a:rPr>
                <a:t>拓扑约束</a:t>
              </a:r>
            </a:p>
          </p:txBody>
        </p:sp>
      </p:grpSp>
      <p:sp>
        <p:nvSpPr>
          <p:cNvPr id="438305" name="Rectangle 33"/>
          <p:cNvSpPr/>
          <p:nvPr/>
        </p:nvSpPr>
        <p:spPr>
          <a:xfrm>
            <a:off x="363538" y="3733800"/>
            <a:ext cx="10541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金长城美黑体"/>
              </a:rPr>
              <a:t>    </a:t>
            </a:r>
            <a:r>
              <a:rPr lang="zh-CN" altLang="en-US" sz="2800" b="1" dirty="0">
                <a:solidFill>
                  <a:schemeClr val="accent2"/>
                </a:solidFill>
                <a:latin typeface="金长城美黑体"/>
              </a:rPr>
              <a:t>根据两类约束可列出足够的方程，以求出所需的电压、电流。</a:t>
            </a:r>
            <a:endParaRPr lang="zh-CN" altLang="en-US" sz="2800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25961" name="Rectangle 35"/>
          <p:cNvSpPr/>
          <p:nvPr/>
        </p:nvSpPr>
        <p:spPr>
          <a:xfrm>
            <a:off x="2111375" y="2932113"/>
            <a:ext cx="77041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金长城美黑体"/>
              </a:rPr>
              <a:t>VCR ( </a:t>
            </a:r>
            <a:r>
              <a:rPr lang="zh-CN" altLang="en-US" sz="2800" b="1" dirty="0">
                <a:solidFill>
                  <a:schemeClr val="accent2"/>
                </a:solidFill>
                <a:latin typeface="金长城美黑体"/>
              </a:rPr>
              <a:t>元件的伏安特性 </a:t>
            </a:r>
            <a:r>
              <a:rPr lang="en-US" altLang="zh-CN" sz="2800" b="1" dirty="0">
                <a:solidFill>
                  <a:schemeClr val="accent2"/>
                </a:solidFill>
                <a:latin typeface="金长城美黑体"/>
              </a:rPr>
              <a:t>)     </a:t>
            </a:r>
            <a:r>
              <a:rPr lang="zh-CN" altLang="en-US" sz="2800" b="1" dirty="0">
                <a:solidFill>
                  <a:srgbClr val="FF0000"/>
                </a:solidFill>
                <a:latin typeface="金长城美黑体"/>
              </a:rPr>
              <a:t>元件约束</a:t>
            </a:r>
          </a:p>
        </p:txBody>
      </p:sp>
      <p:sp>
        <p:nvSpPr>
          <p:cNvPr id="125962" name="AutoShape 47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25963" name="AutoShape 48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25964" name="AutoShape 49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38322" name="Line 50"/>
          <p:cNvSpPr/>
          <p:nvPr/>
        </p:nvSpPr>
        <p:spPr>
          <a:xfrm flipV="1">
            <a:off x="9510713" y="6534150"/>
            <a:ext cx="1157287" cy="158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5822A2-166D-42B4-A75C-53A04725D514}"/>
              </a:ext>
            </a:extLst>
          </p:cNvPr>
          <p:cNvSpPr/>
          <p:nvPr/>
        </p:nvSpPr>
        <p:spPr>
          <a:xfrm>
            <a:off x="791369" y="4526092"/>
            <a:ext cx="22256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金长城美黑体"/>
              </a:rPr>
              <a:t>二</a:t>
            </a:r>
            <a:r>
              <a:rPr lang="en-US" altLang="zh-CN" b="1" dirty="0">
                <a:solidFill>
                  <a:srgbClr val="FF0000"/>
                </a:solidFill>
                <a:latin typeface="金长城美黑体"/>
              </a:rPr>
              <a:t>.  2b</a:t>
            </a:r>
            <a:r>
              <a:rPr lang="zh-CN" altLang="en-US" b="1" dirty="0">
                <a:solidFill>
                  <a:srgbClr val="FF0000"/>
                </a:solidFill>
                <a:latin typeface="金长城美黑体"/>
              </a:rPr>
              <a:t>法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DF5D3C-662E-40D3-B815-35F6C4C51630}"/>
              </a:ext>
            </a:extLst>
          </p:cNvPr>
          <p:cNvSpPr/>
          <p:nvPr/>
        </p:nvSpPr>
        <p:spPr>
          <a:xfrm>
            <a:off x="682625" y="5153026"/>
            <a:ext cx="9972675" cy="13849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设一个电路有</a:t>
            </a:r>
            <a:r>
              <a:rPr lang="en-US" altLang="zh-CN" sz="2800" b="1" i="1" dirty="0">
                <a:solidFill>
                  <a:schemeClr val="accent2"/>
                </a:solidFill>
                <a:latin typeface="Arial" panose="020B0604020202020204" pitchFamily="34" charset="0"/>
              </a:rPr>
              <a:t>b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条支路，</a:t>
            </a:r>
            <a:r>
              <a:rPr lang="en-US" altLang="zh-CN" sz="2800" b="1" i="1" dirty="0">
                <a:solidFill>
                  <a:schemeClr val="accent2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个节点，</a:t>
            </a:r>
            <a:r>
              <a:rPr lang="en-US" altLang="zh-CN" sz="2800" b="1" i="1" dirty="0">
                <a:solidFill>
                  <a:schemeClr val="accent2"/>
                </a:solidFill>
                <a:latin typeface="Arial" panose="020B0604020202020204" pitchFamily="34" charset="0"/>
              </a:rPr>
              <a:t>m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个网孔。如果以支路电流和支路电压为变量列方程组求解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,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理论上需要列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b="1" i="1" dirty="0">
                <a:solidFill>
                  <a:schemeClr val="accent2"/>
                </a:solidFill>
                <a:latin typeface="Arial" panose="020B0604020202020204" pitchFamily="34" charset="0"/>
              </a:rPr>
              <a:t>b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个方程。</a:t>
            </a:r>
            <a:endParaRPr lang="en-US" altLang="zh-CN" sz="2800" b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KCL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n-1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）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+KVL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m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）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+VCR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b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） 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3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4" grpId="0"/>
      <p:bldP spid="438275" grpId="0"/>
      <p:bldP spid="4383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28" name="Rectangle 60"/>
          <p:cNvSpPr/>
          <p:nvPr/>
        </p:nvSpPr>
        <p:spPr>
          <a:xfrm>
            <a:off x="930275" y="642938"/>
            <a:ext cx="33178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金长城美黑体"/>
              </a:rPr>
              <a:t>1.  </a:t>
            </a:r>
            <a:r>
              <a:rPr lang="zh-CN" altLang="en-US" sz="2800" b="1" dirty="0">
                <a:solidFill>
                  <a:srgbClr val="FF0000"/>
                </a:solidFill>
                <a:latin typeface="金长城美黑体"/>
              </a:rPr>
              <a:t>支路电流法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2429" name="Rectangle 61"/>
          <p:cNvSpPr/>
          <p:nvPr/>
        </p:nvSpPr>
        <p:spPr>
          <a:xfrm>
            <a:off x="1976438" y="1235075"/>
            <a:ext cx="914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以支路电流为求解变量列方程组求解称为支路电流法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chemeClr val="accent2"/>
              </a:solidFill>
              <a:latin typeface="Tahoma" panose="020B060403050404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42430" name="Rectangle 62"/>
          <p:cNvSpPr/>
          <p:nvPr/>
        </p:nvSpPr>
        <p:spPr>
          <a:xfrm>
            <a:off x="1282700" y="1768475"/>
            <a:ext cx="99631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       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如图所示，由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KCL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列出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个独立方程，而由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KVL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列出的</a:t>
            </a: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个回路电压方程，方程中的电压由电流表示</a:t>
            </a:r>
          </a:p>
        </p:txBody>
      </p:sp>
      <p:sp>
        <p:nvSpPr>
          <p:cNvPr id="442431" name="Text Box 63"/>
          <p:cNvSpPr txBox="1"/>
          <p:nvPr/>
        </p:nvSpPr>
        <p:spPr>
          <a:xfrm>
            <a:off x="2263775" y="2889250"/>
            <a:ext cx="23749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5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s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2432" name="Text Box 64"/>
          <p:cNvSpPr txBox="1"/>
          <p:nvPr/>
        </p:nvSpPr>
        <p:spPr>
          <a:xfrm>
            <a:off x="2263775" y="3378200"/>
            <a:ext cx="23749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-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2433" name="Text Box 65"/>
          <p:cNvSpPr txBox="1"/>
          <p:nvPr/>
        </p:nvSpPr>
        <p:spPr>
          <a:xfrm>
            <a:off x="2263775" y="3840163"/>
            <a:ext cx="23749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-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4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s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2434" name="Text Box 66"/>
          <p:cNvSpPr txBox="1"/>
          <p:nvPr/>
        </p:nvSpPr>
        <p:spPr>
          <a:xfrm>
            <a:off x="2263775" y="4257675"/>
            <a:ext cx="23749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s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2435" name="Text Box 67"/>
          <p:cNvSpPr txBox="1"/>
          <p:nvPr/>
        </p:nvSpPr>
        <p:spPr>
          <a:xfrm>
            <a:off x="2263775" y="5194300"/>
            <a:ext cx="23749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i="1" dirty="0">
                <a:solidFill>
                  <a:schemeClr val="tx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</a:t>
            </a:r>
            <a:r>
              <a:rPr lang="en-US" altLang="zh-CN" sz="2800" b="1" i="1" dirty="0">
                <a:solidFill>
                  <a:schemeClr val="tx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</a:rPr>
              <a:t>+</a:t>
            </a:r>
            <a:r>
              <a:rPr lang="en-US" altLang="zh-CN" sz="2800" b="1" i="1" dirty="0">
                <a:solidFill>
                  <a:schemeClr val="tx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2</a:t>
            </a:r>
            <a:r>
              <a:rPr lang="en-US" altLang="zh-CN" sz="2800" b="1" i="1" dirty="0">
                <a:solidFill>
                  <a:schemeClr val="tx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</a:rPr>
              <a:t>-</a:t>
            </a:r>
            <a:r>
              <a:rPr lang="en-US" altLang="zh-CN" sz="2800" b="1" i="1" dirty="0">
                <a:solidFill>
                  <a:schemeClr val="tx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6</a:t>
            </a:r>
            <a:r>
              <a:rPr lang="en-US" altLang="zh-CN" sz="2800" b="1" dirty="0">
                <a:solidFill>
                  <a:schemeClr val="tx2"/>
                </a:solidFill>
              </a:rPr>
              <a:t>=0</a:t>
            </a:r>
          </a:p>
        </p:txBody>
      </p:sp>
      <p:sp>
        <p:nvSpPr>
          <p:cNvPr id="442436" name="Text Box 68"/>
          <p:cNvSpPr txBox="1"/>
          <p:nvPr/>
        </p:nvSpPr>
        <p:spPr>
          <a:xfrm>
            <a:off x="2263775" y="4732338"/>
            <a:ext cx="28067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4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4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2438" name="Rectangle 70"/>
          <p:cNvSpPr/>
          <p:nvPr/>
        </p:nvSpPr>
        <p:spPr>
          <a:xfrm>
            <a:off x="1524000" y="5761038"/>
            <a:ext cx="9312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此例中</a:t>
            </a:r>
            <a:r>
              <a:rPr lang="en-US" altLang="zh-CN" sz="2800" b="1" i="1" dirty="0">
                <a:solidFill>
                  <a:schemeClr val="tx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s</a:t>
            </a:r>
            <a:r>
              <a:rPr lang="zh-CN" altLang="en-US" sz="2800" b="1" dirty="0">
                <a:solidFill>
                  <a:schemeClr val="tx2"/>
                </a:solidFill>
              </a:rPr>
              <a:t>已知，不需要第</a:t>
            </a:r>
            <a:r>
              <a:rPr lang="en-US" altLang="zh-CN" sz="2800" b="1" dirty="0">
                <a:solidFill>
                  <a:schemeClr val="tx2"/>
                </a:solidFill>
              </a:rPr>
              <a:t>6</a:t>
            </a:r>
            <a:r>
              <a:rPr lang="zh-CN" altLang="en-US" sz="2800" b="1" dirty="0">
                <a:solidFill>
                  <a:schemeClr val="tx2"/>
                </a:solidFill>
              </a:rPr>
              <a:t>个方程，且第</a:t>
            </a:r>
            <a:r>
              <a:rPr lang="en-US" altLang="zh-CN" sz="2800" b="1" dirty="0">
                <a:solidFill>
                  <a:schemeClr val="tx2"/>
                </a:solidFill>
              </a:rPr>
              <a:t>6</a:t>
            </a:r>
            <a:r>
              <a:rPr lang="zh-CN" altLang="en-US" sz="2800" b="1" dirty="0">
                <a:solidFill>
                  <a:schemeClr val="tx2"/>
                </a:solidFill>
              </a:rPr>
              <a:t>个方程中</a:t>
            </a:r>
            <a:r>
              <a:rPr lang="en-US" altLang="zh-CN" sz="2800" b="1" i="1" dirty="0">
                <a:solidFill>
                  <a:schemeClr val="tx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6</a:t>
            </a:r>
            <a:r>
              <a:rPr lang="zh-CN" altLang="en-US" sz="2800" b="1" dirty="0">
                <a:solidFill>
                  <a:schemeClr val="tx2"/>
                </a:solidFill>
              </a:rPr>
              <a:t>未知。</a:t>
            </a:r>
          </a:p>
        </p:txBody>
      </p:sp>
      <p:sp>
        <p:nvSpPr>
          <p:cNvPr id="442443" name="Rectangle 75"/>
          <p:cNvSpPr/>
          <p:nvPr/>
        </p:nvSpPr>
        <p:spPr>
          <a:xfrm>
            <a:off x="3532188" y="66675"/>
            <a:ext cx="8366125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金长城美黑体"/>
              </a:rPr>
              <a:t>§1-10  </a:t>
            </a:r>
            <a:r>
              <a:rPr lang="zh-CN" altLang="en-US" b="1" dirty="0">
                <a:solidFill>
                  <a:schemeClr val="accent2"/>
                </a:solidFill>
                <a:latin typeface="金长城美黑体"/>
              </a:rPr>
              <a:t>支路分析（</a:t>
            </a:r>
            <a:r>
              <a:rPr lang="en-US" altLang="zh-CN" b="1" dirty="0">
                <a:solidFill>
                  <a:schemeClr val="accent2"/>
                </a:solidFill>
                <a:latin typeface="金长城美黑体"/>
              </a:rPr>
              <a:t>1</a:t>
            </a:r>
            <a:r>
              <a:rPr lang="en-US" altLang="zh-CN" b="1" i="1" dirty="0">
                <a:solidFill>
                  <a:schemeClr val="accent2"/>
                </a:solidFill>
                <a:latin typeface="金长城美黑体"/>
              </a:rPr>
              <a:t>b</a:t>
            </a:r>
            <a:r>
              <a:rPr lang="zh-CN" altLang="en-US" b="1" i="1" dirty="0">
                <a:solidFill>
                  <a:schemeClr val="accent2"/>
                </a:solidFill>
                <a:latin typeface="金长城美黑体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金长城美黑体"/>
              </a:rPr>
              <a:t>法）</a:t>
            </a:r>
          </a:p>
        </p:txBody>
      </p:sp>
      <p:sp>
        <p:nvSpPr>
          <p:cNvPr id="135181" name="AutoShape 186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5182" name="AutoShape 187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5183" name="AutoShape 188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42557" name="Line 189"/>
          <p:cNvSpPr/>
          <p:nvPr/>
        </p:nvSpPr>
        <p:spPr>
          <a:xfrm flipV="1">
            <a:off x="9510713" y="6534150"/>
            <a:ext cx="1157287" cy="158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Rectangle 70"/>
          <p:cNvSpPr/>
          <p:nvPr/>
        </p:nvSpPr>
        <p:spPr>
          <a:xfrm>
            <a:off x="1501775" y="6215063"/>
            <a:ext cx="86312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由方程组可解出支路电流，进而求解支路电压。</a:t>
            </a:r>
          </a:p>
        </p:txBody>
      </p:sp>
      <p:sp>
        <p:nvSpPr>
          <p:cNvPr id="3" name="AutoShape 69"/>
          <p:cNvSpPr/>
          <p:nvPr/>
        </p:nvSpPr>
        <p:spPr>
          <a:xfrm>
            <a:off x="5565775" y="3128963"/>
            <a:ext cx="215900" cy="2520950"/>
          </a:xfrm>
          <a:prstGeom prst="rightBrace">
            <a:avLst>
              <a:gd name="adj1" fmla="val 97303"/>
              <a:gd name="adj2" fmla="val 50000"/>
            </a:avLst>
          </a:prstGeom>
          <a:noFill/>
          <a:ln w="25400" cap="flat" cmpd="sng">
            <a:solidFill>
              <a:srgbClr val="800000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135187" name="Group 300"/>
          <p:cNvGrpSpPr/>
          <p:nvPr/>
        </p:nvGrpSpPr>
        <p:grpSpPr>
          <a:xfrm>
            <a:off x="6724650" y="2832100"/>
            <a:ext cx="3689350" cy="2981325"/>
            <a:chOff x="3152" y="1751"/>
            <a:chExt cx="2324" cy="1878"/>
          </a:xfrm>
        </p:grpSpPr>
        <p:sp>
          <p:nvSpPr>
            <p:cNvPr id="135188" name="Text Box 246"/>
            <p:cNvSpPr txBox="1"/>
            <p:nvPr/>
          </p:nvSpPr>
          <p:spPr>
            <a:xfrm>
              <a:off x="4001" y="1751"/>
              <a:ext cx="66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  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6 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-</a:t>
              </a:r>
            </a:p>
          </p:txBody>
        </p:sp>
        <p:sp>
          <p:nvSpPr>
            <p:cNvPr id="135189" name="Oval 247"/>
            <p:cNvSpPr/>
            <p:nvPr/>
          </p:nvSpPr>
          <p:spPr>
            <a:xfrm>
              <a:off x="4150" y="2015"/>
              <a:ext cx="272" cy="272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5190" name="Rectangle 248"/>
            <p:cNvSpPr/>
            <p:nvPr/>
          </p:nvSpPr>
          <p:spPr>
            <a:xfrm>
              <a:off x="3561" y="2604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5191" name="Rectangle 249"/>
            <p:cNvSpPr/>
            <p:nvPr/>
          </p:nvSpPr>
          <p:spPr>
            <a:xfrm>
              <a:off x="4740" y="2604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5192" name="Line 250"/>
            <p:cNvSpPr/>
            <p:nvPr/>
          </p:nvSpPr>
          <p:spPr>
            <a:xfrm>
              <a:off x="3787" y="2650"/>
              <a:ext cx="95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193" name="Rectangle 251"/>
            <p:cNvSpPr/>
            <p:nvPr/>
          </p:nvSpPr>
          <p:spPr>
            <a:xfrm rot="-5400000">
              <a:off x="4127" y="2945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5194" name="Rectangle 252"/>
            <p:cNvSpPr/>
            <p:nvPr/>
          </p:nvSpPr>
          <p:spPr>
            <a:xfrm rot="-5400000">
              <a:off x="4989" y="2944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5195" name="Line 253"/>
            <p:cNvSpPr/>
            <p:nvPr/>
          </p:nvSpPr>
          <p:spPr>
            <a:xfrm>
              <a:off x="3424" y="2650"/>
              <a:ext cx="13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196" name="Line 254"/>
            <p:cNvSpPr/>
            <p:nvPr/>
          </p:nvSpPr>
          <p:spPr>
            <a:xfrm>
              <a:off x="4966" y="2650"/>
              <a:ext cx="13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197" name="Line 255"/>
            <p:cNvSpPr/>
            <p:nvPr/>
          </p:nvSpPr>
          <p:spPr>
            <a:xfrm>
              <a:off x="4240" y="2650"/>
              <a:ext cx="0" cy="22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198" name="Line 256"/>
            <p:cNvSpPr/>
            <p:nvPr/>
          </p:nvSpPr>
          <p:spPr>
            <a:xfrm>
              <a:off x="5102" y="2650"/>
              <a:ext cx="0" cy="22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199" name="Line 257"/>
            <p:cNvSpPr/>
            <p:nvPr/>
          </p:nvSpPr>
          <p:spPr>
            <a:xfrm>
              <a:off x="4240" y="3104"/>
              <a:ext cx="0" cy="27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0" name="Line 258"/>
            <p:cNvSpPr/>
            <p:nvPr/>
          </p:nvSpPr>
          <p:spPr>
            <a:xfrm>
              <a:off x="5102" y="3103"/>
              <a:ext cx="0" cy="273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1" name="Line 259"/>
            <p:cNvSpPr/>
            <p:nvPr/>
          </p:nvSpPr>
          <p:spPr>
            <a:xfrm rot="-5400000">
              <a:off x="4150" y="2151"/>
              <a:ext cx="27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2" name="Line 260"/>
            <p:cNvSpPr/>
            <p:nvPr/>
          </p:nvSpPr>
          <p:spPr>
            <a:xfrm flipV="1">
              <a:off x="3424" y="2151"/>
              <a:ext cx="0" cy="499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3" name="Line 261"/>
            <p:cNvSpPr/>
            <p:nvPr/>
          </p:nvSpPr>
          <p:spPr>
            <a:xfrm>
              <a:off x="3424" y="2151"/>
              <a:ext cx="72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4" name="Line 262"/>
            <p:cNvSpPr/>
            <p:nvPr/>
          </p:nvSpPr>
          <p:spPr>
            <a:xfrm>
              <a:off x="4422" y="2151"/>
              <a:ext cx="68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5" name="Line 263"/>
            <p:cNvSpPr/>
            <p:nvPr/>
          </p:nvSpPr>
          <p:spPr>
            <a:xfrm>
              <a:off x="5102" y="2151"/>
              <a:ext cx="0" cy="544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6" name="Oval 264"/>
            <p:cNvSpPr/>
            <p:nvPr/>
          </p:nvSpPr>
          <p:spPr>
            <a:xfrm>
              <a:off x="3288" y="2831"/>
              <a:ext cx="272" cy="272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5207" name="Line 265"/>
            <p:cNvSpPr/>
            <p:nvPr/>
          </p:nvSpPr>
          <p:spPr>
            <a:xfrm rot="-5400000">
              <a:off x="3288" y="2967"/>
              <a:ext cx="27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8" name="Line 266"/>
            <p:cNvSpPr/>
            <p:nvPr/>
          </p:nvSpPr>
          <p:spPr>
            <a:xfrm>
              <a:off x="3424" y="2605"/>
              <a:ext cx="0" cy="226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09" name="Line 267"/>
            <p:cNvSpPr/>
            <p:nvPr/>
          </p:nvSpPr>
          <p:spPr>
            <a:xfrm>
              <a:off x="3424" y="3104"/>
              <a:ext cx="0" cy="27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10" name="Line 268"/>
            <p:cNvSpPr/>
            <p:nvPr/>
          </p:nvSpPr>
          <p:spPr>
            <a:xfrm>
              <a:off x="3424" y="3376"/>
              <a:ext cx="1678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5211" name="Line 269"/>
            <p:cNvSpPr/>
            <p:nvPr/>
          </p:nvSpPr>
          <p:spPr>
            <a:xfrm flipV="1">
              <a:off x="3951" y="2642"/>
              <a:ext cx="155" cy="9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5212" name="Line 270"/>
            <p:cNvSpPr/>
            <p:nvPr/>
          </p:nvSpPr>
          <p:spPr>
            <a:xfrm>
              <a:off x="4558" y="2151"/>
              <a:ext cx="22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5213" name="Line 271"/>
            <p:cNvSpPr/>
            <p:nvPr/>
          </p:nvSpPr>
          <p:spPr>
            <a:xfrm flipV="1">
              <a:off x="4389" y="2642"/>
              <a:ext cx="196" cy="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5214" name="Line 272"/>
            <p:cNvSpPr/>
            <p:nvPr/>
          </p:nvSpPr>
          <p:spPr>
            <a:xfrm>
              <a:off x="4232" y="3226"/>
              <a:ext cx="0" cy="9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5215" name="Line 273"/>
            <p:cNvSpPr/>
            <p:nvPr/>
          </p:nvSpPr>
          <p:spPr>
            <a:xfrm>
              <a:off x="5094" y="3218"/>
              <a:ext cx="0" cy="9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5216" name="Line 274"/>
            <p:cNvSpPr/>
            <p:nvPr/>
          </p:nvSpPr>
          <p:spPr>
            <a:xfrm>
              <a:off x="3416" y="3194"/>
              <a:ext cx="0" cy="9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5217" name="Text Box 275"/>
            <p:cNvSpPr txBox="1"/>
            <p:nvPr/>
          </p:nvSpPr>
          <p:spPr>
            <a:xfrm>
              <a:off x="3197" y="2469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35218" name="Text Box 276"/>
            <p:cNvSpPr txBox="1"/>
            <p:nvPr/>
          </p:nvSpPr>
          <p:spPr>
            <a:xfrm>
              <a:off x="4152" y="2378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5219" name="Text Box 277"/>
            <p:cNvSpPr txBox="1"/>
            <p:nvPr/>
          </p:nvSpPr>
          <p:spPr>
            <a:xfrm>
              <a:off x="5153" y="2469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35220" name="Text Box 278"/>
            <p:cNvSpPr txBox="1"/>
            <p:nvPr/>
          </p:nvSpPr>
          <p:spPr>
            <a:xfrm>
              <a:off x="4115" y="3341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135221" name="Text Box 279"/>
            <p:cNvSpPr txBox="1"/>
            <p:nvPr/>
          </p:nvSpPr>
          <p:spPr>
            <a:xfrm>
              <a:off x="3152" y="3133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35222" name="Text Box 280"/>
            <p:cNvSpPr txBox="1"/>
            <p:nvPr/>
          </p:nvSpPr>
          <p:spPr>
            <a:xfrm>
              <a:off x="4280" y="3058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35223" name="Text Box 281"/>
            <p:cNvSpPr txBox="1"/>
            <p:nvPr/>
          </p:nvSpPr>
          <p:spPr>
            <a:xfrm>
              <a:off x="5159" y="3074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35224" name="Text Box 282"/>
            <p:cNvSpPr txBox="1"/>
            <p:nvPr/>
          </p:nvSpPr>
          <p:spPr>
            <a:xfrm>
              <a:off x="4400" y="2670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35225" name="Text Box 283"/>
            <p:cNvSpPr txBox="1"/>
            <p:nvPr/>
          </p:nvSpPr>
          <p:spPr>
            <a:xfrm>
              <a:off x="3970" y="2346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35226" name="Text Box 284"/>
            <p:cNvSpPr txBox="1"/>
            <p:nvPr/>
          </p:nvSpPr>
          <p:spPr>
            <a:xfrm>
              <a:off x="3418" y="2317"/>
              <a:ext cx="59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 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-</a:t>
              </a:r>
            </a:p>
          </p:txBody>
        </p:sp>
        <p:sp>
          <p:nvSpPr>
            <p:cNvPr id="135227" name="Text Box 285"/>
            <p:cNvSpPr txBox="1"/>
            <p:nvPr/>
          </p:nvSpPr>
          <p:spPr>
            <a:xfrm>
              <a:off x="4557" y="2309"/>
              <a:ext cx="59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 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2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-</a:t>
              </a:r>
            </a:p>
          </p:txBody>
        </p:sp>
        <p:sp>
          <p:nvSpPr>
            <p:cNvPr id="135228" name="Text Box 286"/>
            <p:cNvSpPr txBox="1"/>
            <p:nvPr/>
          </p:nvSpPr>
          <p:spPr>
            <a:xfrm>
              <a:off x="3559" y="2816"/>
              <a:ext cx="3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s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29" name="Text Box 287"/>
            <p:cNvSpPr txBox="1"/>
            <p:nvPr/>
          </p:nvSpPr>
          <p:spPr>
            <a:xfrm>
              <a:off x="3504" y="2685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0" name="Text Box 288"/>
            <p:cNvSpPr txBox="1"/>
            <p:nvPr/>
          </p:nvSpPr>
          <p:spPr>
            <a:xfrm>
              <a:off x="3533" y="2984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-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1" name="Text Box 289"/>
            <p:cNvSpPr txBox="1"/>
            <p:nvPr/>
          </p:nvSpPr>
          <p:spPr>
            <a:xfrm>
              <a:off x="3928" y="2885"/>
              <a:ext cx="3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3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2" name="Text Box 290"/>
            <p:cNvSpPr txBox="1"/>
            <p:nvPr/>
          </p:nvSpPr>
          <p:spPr>
            <a:xfrm>
              <a:off x="3969" y="2754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3" name="Text Box 291"/>
            <p:cNvSpPr txBox="1"/>
            <p:nvPr/>
          </p:nvSpPr>
          <p:spPr>
            <a:xfrm>
              <a:off x="4013" y="3058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-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4" name="Text Box 292"/>
            <p:cNvSpPr txBox="1"/>
            <p:nvPr/>
          </p:nvSpPr>
          <p:spPr>
            <a:xfrm>
              <a:off x="4797" y="2810"/>
              <a:ext cx="3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4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5" name="Text Box 293"/>
            <p:cNvSpPr txBox="1"/>
            <p:nvPr/>
          </p:nvSpPr>
          <p:spPr>
            <a:xfrm>
              <a:off x="4830" y="2695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6" name="Text Box 294"/>
            <p:cNvSpPr txBox="1"/>
            <p:nvPr/>
          </p:nvSpPr>
          <p:spPr>
            <a:xfrm>
              <a:off x="4859" y="2970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-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5237" name="Text Box 295"/>
            <p:cNvSpPr txBox="1"/>
            <p:nvPr/>
          </p:nvSpPr>
          <p:spPr>
            <a:xfrm>
              <a:off x="4699" y="1810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35238" name="Text Box 296"/>
            <p:cNvSpPr txBox="1"/>
            <p:nvPr/>
          </p:nvSpPr>
          <p:spPr>
            <a:xfrm>
              <a:off x="5147" y="2805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35239" name="Text Box 297"/>
            <p:cNvSpPr txBox="1"/>
            <p:nvPr/>
          </p:nvSpPr>
          <p:spPr>
            <a:xfrm>
              <a:off x="4272" y="285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35240" name="Text Box 298"/>
            <p:cNvSpPr txBox="1"/>
            <p:nvPr/>
          </p:nvSpPr>
          <p:spPr>
            <a:xfrm>
              <a:off x="3741" y="260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35241" name="Text Box 299"/>
            <p:cNvSpPr txBox="1"/>
            <p:nvPr/>
          </p:nvSpPr>
          <p:spPr>
            <a:xfrm>
              <a:off x="4603" y="266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2</a:t>
              </a:r>
            </a:p>
          </p:txBody>
        </p:sp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428" grpId="0"/>
      <p:bldP spid="442429" grpId="0"/>
      <p:bldP spid="442430" grpId="0"/>
      <p:bldP spid="442431" grpId="0"/>
      <p:bldP spid="442432" grpId="0"/>
      <p:bldP spid="442433" grpId="0"/>
      <p:bldP spid="442434" grpId="0"/>
      <p:bldP spid="442435" grpId="0"/>
      <p:bldP spid="442436" grpId="0"/>
      <p:bldP spid="442438" grpId="0"/>
      <p:bldP spid="442443" grpId="0"/>
      <p:bldP spid="2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/>
          <p:nvPr/>
        </p:nvSpPr>
        <p:spPr>
          <a:xfrm>
            <a:off x="1093788" y="18097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金长城美黑体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金长城美黑体"/>
              </a:rPr>
              <a:t>支路电压法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3395" name="Rectangle 3"/>
          <p:cNvSpPr/>
          <p:nvPr/>
        </p:nvSpPr>
        <p:spPr>
          <a:xfrm>
            <a:off x="1093788" y="817563"/>
            <a:ext cx="101314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        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以支路电压为求解变量列方程组求解，支路电流由支路电压表示。</a:t>
            </a:r>
          </a:p>
        </p:txBody>
      </p:sp>
      <p:sp>
        <p:nvSpPr>
          <p:cNvPr id="443452" name="Text Box 60"/>
          <p:cNvSpPr txBox="1"/>
          <p:nvPr/>
        </p:nvSpPr>
        <p:spPr>
          <a:xfrm>
            <a:off x="2209800" y="3789363"/>
            <a:ext cx="23749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s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3453" name="Text Box 61"/>
          <p:cNvSpPr txBox="1"/>
          <p:nvPr/>
        </p:nvSpPr>
        <p:spPr>
          <a:xfrm>
            <a:off x="2181225" y="4956175"/>
            <a:ext cx="23749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6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3454" name="Text Box 62"/>
          <p:cNvSpPr txBox="1"/>
          <p:nvPr/>
        </p:nvSpPr>
        <p:spPr>
          <a:xfrm>
            <a:off x="2195513" y="4379913"/>
            <a:ext cx="23749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4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3455" name="Text Box 63"/>
          <p:cNvSpPr txBox="1"/>
          <p:nvPr/>
        </p:nvSpPr>
        <p:spPr>
          <a:xfrm>
            <a:off x="2425700" y="1341438"/>
            <a:ext cx="2374900" cy="9461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     </a:t>
            </a:r>
            <a:r>
              <a:rPr lang="en-US" altLang="zh-CN" sz="2800" b="1" i="1" dirty="0">
                <a:solidFill>
                  <a:schemeClr val="tx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</a:rPr>
              <a:t>/</a:t>
            </a:r>
            <a:r>
              <a:rPr lang="en-US" altLang="zh-CN" sz="2800" b="1" i="1" dirty="0">
                <a:solidFill>
                  <a:schemeClr val="tx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</a:rPr>
              <a:t>+</a:t>
            </a:r>
            <a:r>
              <a:rPr lang="en-US" altLang="zh-CN" sz="2800" b="1" i="1" dirty="0">
                <a:solidFill>
                  <a:schemeClr val="tx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5</a:t>
            </a:r>
            <a:r>
              <a:rPr lang="en-US" altLang="zh-CN" sz="2800" b="1" dirty="0">
                <a:solidFill>
                  <a:schemeClr val="tx2"/>
                </a:solidFill>
              </a:rPr>
              <a:t>+</a:t>
            </a:r>
            <a:r>
              <a:rPr lang="en-US" altLang="zh-CN" sz="2800" b="1" i="1" dirty="0">
                <a:solidFill>
                  <a:schemeClr val="tx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s</a:t>
            </a:r>
            <a:r>
              <a:rPr lang="en-US" altLang="zh-CN" sz="2800" b="1" dirty="0">
                <a:solidFill>
                  <a:schemeClr val="tx2"/>
                </a:solidFill>
              </a:rPr>
              <a:t>=0</a:t>
            </a:r>
          </a:p>
        </p:txBody>
      </p:sp>
      <p:sp>
        <p:nvSpPr>
          <p:cNvPr id="443456" name="Text Box 64"/>
          <p:cNvSpPr txBox="1"/>
          <p:nvPr/>
        </p:nvSpPr>
        <p:spPr>
          <a:xfrm>
            <a:off x="1992313" y="2405063"/>
            <a:ext cx="3598862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/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/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/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3457" name="Text Box 65"/>
          <p:cNvSpPr txBox="1"/>
          <p:nvPr/>
        </p:nvSpPr>
        <p:spPr>
          <a:xfrm>
            <a:off x="1992313" y="3141663"/>
            <a:ext cx="3598862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/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4</a:t>
            </a:r>
            <a:r>
              <a:rPr lang="en-US" altLang="zh-CN" sz="2800" b="1" dirty="0">
                <a:solidFill>
                  <a:schemeClr val="accent2"/>
                </a:solidFill>
              </a:rPr>
              <a:t>/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4</a:t>
            </a:r>
            <a:r>
              <a:rPr lang="en-US" altLang="zh-CN" sz="2800" b="1" dirty="0">
                <a:solidFill>
                  <a:schemeClr val="accent2"/>
                </a:solidFill>
              </a:rPr>
              <a:t>-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S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</a:p>
        </p:txBody>
      </p:sp>
      <p:sp>
        <p:nvSpPr>
          <p:cNvPr id="443459" name="Rectangle 67"/>
          <p:cNvSpPr/>
          <p:nvPr/>
        </p:nvSpPr>
        <p:spPr>
          <a:xfrm>
            <a:off x="1760538" y="5711825"/>
            <a:ext cx="89074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由上述方程组可解出支路电压，进而求解支路电流。</a:t>
            </a:r>
          </a:p>
        </p:txBody>
      </p:sp>
      <p:sp>
        <p:nvSpPr>
          <p:cNvPr id="136203" name="AutoShape 128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6204" name="AutoShape 129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36205" name="AutoShape 130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43523" name="Line 131"/>
          <p:cNvSpPr/>
          <p:nvPr/>
        </p:nvSpPr>
        <p:spPr>
          <a:xfrm flipV="1">
            <a:off x="9485313" y="6534150"/>
            <a:ext cx="1157287" cy="158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AutoShape 66"/>
          <p:cNvSpPr/>
          <p:nvPr/>
        </p:nvSpPr>
        <p:spPr>
          <a:xfrm>
            <a:off x="5878513" y="1884363"/>
            <a:ext cx="217487" cy="3600450"/>
          </a:xfrm>
          <a:prstGeom prst="rightBrace">
            <a:avLst>
              <a:gd name="adj1" fmla="val 137956"/>
              <a:gd name="adj2" fmla="val 50000"/>
            </a:avLst>
          </a:prstGeom>
          <a:noFill/>
          <a:ln w="25400" cap="flat" cmpd="sng">
            <a:solidFill>
              <a:schemeClr val="accent2"/>
            </a:solidFill>
            <a:prstDash val="solid"/>
            <a:headEnd type="none" w="med" len="med"/>
            <a:tailEnd type="none" w="lg" len="lg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136208" name="Group 187"/>
          <p:cNvGrpSpPr/>
          <p:nvPr/>
        </p:nvGrpSpPr>
        <p:grpSpPr>
          <a:xfrm>
            <a:off x="6913563" y="2117725"/>
            <a:ext cx="3689350" cy="2981325"/>
            <a:chOff x="3152" y="1751"/>
            <a:chExt cx="2324" cy="1878"/>
          </a:xfrm>
        </p:grpSpPr>
        <p:sp>
          <p:nvSpPr>
            <p:cNvPr id="136209" name="Text Box 188"/>
            <p:cNvSpPr txBox="1"/>
            <p:nvPr/>
          </p:nvSpPr>
          <p:spPr>
            <a:xfrm>
              <a:off x="4001" y="1751"/>
              <a:ext cx="66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  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6 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-</a:t>
              </a:r>
            </a:p>
          </p:txBody>
        </p:sp>
        <p:sp>
          <p:nvSpPr>
            <p:cNvPr id="136210" name="Oval 189"/>
            <p:cNvSpPr/>
            <p:nvPr/>
          </p:nvSpPr>
          <p:spPr>
            <a:xfrm>
              <a:off x="4150" y="2015"/>
              <a:ext cx="272" cy="272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6211" name="Rectangle 190"/>
            <p:cNvSpPr/>
            <p:nvPr/>
          </p:nvSpPr>
          <p:spPr>
            <a:xfrm>
              <a:off x="3561" y="2604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6212" name="Rectangle 191"/>
            <p:cNvSpPr/>
            <p:nvPr/>
          </p:nvSpPr>
          <p:spPr>
            <a:xfrm>
              <a:off x="4740" y="2604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6213" name="Line 192"/>
            <p:cNvSpPr/>
            <p:nvPr/>
          </p:nvSpPr>
          <p:spPr>
            <a:xfrm>
              <a:off x="3787" y="2650"/>
              <a:ext cx="95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14" name="Rectangle 193"/>
            <p:cNvSpPr/>
            <p:nvPr/>
          </p:nvSpPr>
          <p:spPr>
            <a:xfrm rot="-5400000">
              <a:off x="4127" y="2945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6215" name="Rectangle 194"/>
            <p:cNvSpPr/>
            <p:nvPr/>
          </p:nvSpPr>
          <p:spPr>
            <a:xfrm rot="-5400000">
              <a:off x="4989" y="2944"/>
              <a:ext cx="226" cy="91"/>
            </a:xfrm>
            <a:prstGeom prst="rect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6216" name="Line 195"/>
            <p:cNvSpPr/>
            <p:nvPr/>
          </p:nvSpPr>
          <p:spPr>
            <a:xfrm>
              <a:off x="3424" y="2650"/>
              <a:ext cx="13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17" name="Line 196"/>
            <p:cNvSpPr/>
            <p:nvPr/>
          </p:nvSpPr>
          <p:spPr>
            <a:xfrm>
              <a:off x="4966" y="2650"/>
              <a:ext cx="13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18" name="Line 197"/>
            <p:cNvSpPr/>
            <p:nvPr/>
          </p:nvSpPr>
          <p:spPr>
            <a:xfrm>
              <a:off x="4240" y="2650"/>
              <a:ext cx="0" cy="22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19" name="Line 198"/>
            <p:cNvSpPr/>
            <p:nvPr/>
          </p:nvSpPr>
          <p:spPr>
            <a:xfrm>
              <a:off x="5102" y="2650"/>
              <a:ext cx="0" cy="22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0" name="Line 199"/>
            <p:cNvSpPr/>
            <p:nvPr/>
          </p:nvSpPr>
          <p:spPr>
            <a:xfrm>
              <a:off x="4240" y="3104"/>
              <a:ext cx="0" cy="27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1" name="Line 200"/>
            <p:cNvSpPr/>
            <p:nvPr/>
          </p:nvSpPr>
          <p:spPr>
            <a:xfrm>
              <a:off x="5102" y="3103"/>
              <a:ext cx="0" cy="273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2" name="Line 201"/>
            <p:cNvSpPr/>
            <p:nvPr/>
          </p:nvSpPr>
          <p:spPr>
            <a:xfrm rot="-5400000">
              <a:off x="4150" y="2151"/>
              <a:ext cx="27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3" name="Line 202"/>
            <p:cNvSpPr/>
            <p:nvPr/>
          </p:nvSpPr>
          <p:spPr>
            <a:xfrm flipV="1">
              <a:off x="3424" y="2151"/>
              <a:ext cx="0" cy="499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4" name="Line 203"/>
            <p:cNvSpPr/>
            <p:nvPr/>
          </p:nvSpPr>
          <p:spPr>
            <a:xfrm>
              <a:off x="3424" y="2151"/>
              <a:ext cx="72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5" name="Line 204"/>
            <p:cNvSpPr/>
            <p:nvPr/>
          </p:nvSpPr>
          <p:spPr>
            <a:xfrm>
              <a:off x="4422" y="2151"/>
              <a:ext cx="68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6" name="Line 205"/>
            <p:cNvSpPr/>
            <p:nvPr/>
          </p:nvSpPr>
          <p:spPr>
            <a:xfrm>
              <a:off x="5102" y="2151"/>
              <a:ext cx="0" cy="544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7" name="Oval 206"/>
            <p:cNvSpPr/>
            <p:nvPr/>
          </p:nvSpPr>
          <p:spPr>
            <a:xfrm>
              <a:off x="3288" y="2831"/>
              <a:ext cx="272" cy="272"/>
            </a:xfrm>
            <a:prstGeom prst="ellipse">
              <a:avLst/>
            </a:prstGeom>
            <a:solidFill>
              <a:srgbClr val="FFFF99">
                <a:alpha val="0"/>
              </a:srgbClr>
            </a:solidFill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36228" name="Line 207"/>
            <p:cNvSpPr/>
            <p:nvPr/>
          </p:nvSpPr>
          <p:spPr>
            <a:xfrm rot="-5400000">
              <a:off x="3288" y="2967"/>
              <a:ext cx="27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29" name="Line 208"/>
            <p:cNvSpPr/>
            <p:nvPr/>
          </p:nvSpPr>
          <p:spPr>
            <a:xfrm>
              <a:off x="3424" y="2605"/>
              <a:ext cx="0" cy="226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30" name="Line 209"/>
            <p:cNvSpPr/>
            <p:nvPr/>
          </p:nvSpPr>
          <p:spPr>
            <a:xfrm>
              <a:off x="3424" y="3104"/>
              <a:ext cx="0" cy="27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31" name="Line 210"/>
            <p:cNvSpPr/>
            <p:nvPr/>
          </p:nvSpPr>
          <p:spPr>
            <a:xfrm>
              <a:off x="3424" y="3376"/>
              <a:ext cx="1678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6232" name="Line 211"/>
            <p:cNvSpPr/>
            <p:nvPr/>
          </p:nvSpPr>
          <p:spPr>
            <a:xfrm flipV="1">
              <a:off x="3951" y="2642"/>
              <a:ext cx="155" cy="9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6233" name="Line 212"/>
            <p:cNvSpPr/>
            <p:nvPr/>
          </p:nvSpPr>
          <p:spPr>
            <a:xfrm>
              <a:off x="4558" y="2151"/>
              <a:ext cx="227" cy="0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6234" name="Line 213"/>
            <p:cNvSpPr/>
            <p:nvPr/>
          </p:nvSpPr>
          <p:spPr>
            <a:xfrm flipV="1">
              <a:off x="4389" y="2642"/>
              <a:ext cx="196" cy="7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6235" name="Line 214"/>
            <p:cNvSpPr/>
            <p:nvPr/>
          </p:nvSpPr>
          <p:spPr>
            <a:xfrm>
              <a:off x="4232" y="3226"/>
              <a:ext cx="0" cy="9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6236" name="Line 215"/>
            <p:cNvSpPr/>
            <p:nvPr/>
          </p:nvSpPr>
          <p:spPr>
            <a:xfrm>
              <a:off x="5094" y="3218"/>
              <a:ext cx="0" cy="9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6237" name="Line 216"/>
            <p:cNvSpPr/>
            <p:nvPr/>
          </p:nvSpPr>
          <p:spPr>
            <a:xfrm>
              <a:off x="3416" y="3194"/>
              <a:ext cx="0" cy="91"/>
            </a:xfrm>
            <a:prstGeom prst="line">
              <a:avLst/>
            </a:prstGeom>
            <a:ln w="25400" cap="flat" cmpd="sng">
              <a:solidFill>
                <a:srgbClr val="800000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36238" name="Text Box 217"/>
            <p:cNvSpPr txBox="1"/>
            <p:nvPr/>
          </p:nvSpPr>
          <p:spPr>
            <a:xfrm>
              <a:off x="3197" y="2469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36239" name="Text Box 218"/>
            <p:cNvSpPr txBox="1"/>
            <p:nvPr/>
          </p:nvSpPr>
          <p:spPr>
            <a:xfrm>
              <a:off x="4152" y="2378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6240" name="Text Box 219"/>
            <p:cNvSpPr txBox="1"/>
            <p:nvPr/>
          </p:nvSpPr>
          <p:spPr>
            <a:xfrm>
              <a:off x="5153" y="2469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36241" name="Text Box 220"/>
            <p:cNvSpPr txBox="1"/>
            <p:nvPr/>
          </p:nvSpPr>
          <p:spPr>
            <a:xfrm>
              <a:off x="4115" y="3341"/>
              <a:ext cx="22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136242" name="Text Box 221"/>
            <p:cNvSpPr txBox="1"/>
            <p:nvPr/>
          </p:nvSpPr>
          <p:spPr>
            <a:xfrm>
              <a:off x="3152" y="3133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136243" name="Text Box 222"/>
            <p:cNvSpPr txBox="1"/>
            <p:nvPr/>
          </p:nvSpPr>
          <p:spPr>
            <a:xfrm>
              <a:off x="4280" y="3058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36244" name="Text Box 223"/>
            <p:cNvSpPr txBox="1"/>
            <p:nvPr/>
          </p:nvSpPr>
          <p:spPr>
            <a:xfrm>
              <a:off x="5159" y="3074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36245" name="Text Box 224"/>
            <p:cNvSpPr txBox="1"/>
            <p:nvPr/>
          </p:nvSpPr>
          <p:spPr>
            <a:xfrm>
              <a:off x="4400" y="2670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136246" name="Text Box 225"/>
            <p:cNvSpPr txBox="1"/>
            <p:nvPr/>
          </p:nvSpPr>
          <p:spPr>
            <a:xfrm>
              <a:off x="3970" y="2346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36247" name="Text Box 226"/>
            <p:cNvSpPr txBox="1"/>
            <p:nvPr/>
          </p:nvSpPr>
          <p:spPr>
            <a:xfrm>
              <a:off x="3418" y="2317"/>
              <a:ext cx="59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 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-</a:t>
              </a:r>
            </a:p>
          </p:txBody>
        </p:sp>
        <p:sp>
          <p:nvSpPr>
            <p:cNvPr id="136248" name="Text Box 227"/>
            <p:cNvSpPr txBox="1"/>
            <p:nvPr/>
          </p:nvSpPr>
          <p:spPr>
            <a:xfrm>
              <a:off x="4557" y="2309"/>
              <a:ext cx="59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 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2 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-</a:t>
              </a:r>
            </a:p>
          </p:txBody>
        </p:sp>
        <p:sp>
          <p:nvSpPr>
            <p:cNvPr id="136249" name="Text Box 228"/>
            <p:cNvSpPr txBox="1"/>
            <p:nvPr/>
          </p:nvSpPr>
          <p:spPr>
            <a:xfrm>
              <a:off x="3559" y="2816"/>
              <a:ext cx="3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s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0" name="Text Box 229"/>
            <p:cNvSpPr txBox="1"/>
            <p:nvPr/>
          </p:nvSpPr>
          <p:spPr>
            <a:xfrm>
              <a:off x="3504" y="2685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1" name="Text Box 230"/>
            <p:cNvSpPr txBox="1"/>
            <p:nvPr/>
          </p:nvSpPr>
          <p:spPr>
            <a:xfrm>
              <a:off x="3533" y="2984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-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2" name="Text Box 231"/>
            <p:cNvSpPr txBox="1"/>
            <p:nvPr/>
          </p:nvSpPr>
          <p:spPr>
            <a:xfrm>
              <a:off x="3928" y="2885"/>
              <a:ext cx="3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3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3" name="Text Box 232"/>
            <p:cNvSpPr txBox="1"/>
            <p:nvPr/>
          </p:nvSpPr>
          <p:spPr>
            <a:xfrm>
              <a:off x="3969" y="2754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4" name="Text Box 233"/>
            <p:cNvSpPr txBox="1"/>
            <p:nvPr/>
          </p:nvSpPr>
          <p:spPr>
            <a:xfrm>
              <a:off x="4013" y="3058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-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5" name="Text Box 234"/>
            <p:cNvSpPr txBox="1"/>
            <p:nvPr/>
          </p:nvSpPr>
          <p:spPr>
            <a:xfrm>
              <a:off x="4797" y="2810"/>
              <a:ext cx="31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4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6" name="Text Box 235"/>
            <p:cNvSpPr txBox="1"/>
            <p:nvPr/>
          </p:nvSpPr>
          <p:spPr>
            <a:xfrm>
              <a:off x="4830" y="2695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+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7" name="Text Box 236"/>
            <p:cNvSpPr txBox="1"/>
            <p:nvPr/>
          </p:nvSpPr>
          <p:spPr>
            <a:xfrm>
              <a:off x="4859" y="2970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-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6258" name="Text Box 237"/>
            <p:cNvSpPr txBox="1"/>
            <p:nvPr/>
          </p:nvSpPr>
          <p:spPr>
            <a:xfrm>
              <a:off x="4699" y="1810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s</a:t>
              </a:r>
            </a:p>
          </p:txBody>
        </p:sp>
        <p:sp>
          <p:nvSpPr>
            <p:cNvPr id="136259" name="Text Box 238"/>
            <p:cNvSpPr txBox="1"/>
            <p:nvPr/>
          </p:nvSpPr>
          <p:spPr>
            <a:xfrm>
              <a:off x="5147" y="2805"/>
              <a:ext cx="317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136260" name="Text Box 239"/>
            <p:cNvSpPr txBox="1"/>
            <p:nvPr/>
          </p:nvSpPr>
          <p:spPr>
            <a:xfrm>
              <a:off x="4272" y="285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136261" name="Text Box 240"/>
            <p:cNvSpPr txBox="1"/>
            <p:nvPr/>
          </p:nvSpPr>
          <p:spPr>
            <a:xfrm>
              <a:off x="3741" y="2605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136262" name="Text Box 241"/>
            <p:cNvSpPr txBox="1"/>
            <p:nvPr/>
          </p:nvSpPr>
          <p:spPr>
            <a:xfrm>
              <a:off x="4603" y="2661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</a:rPr>
                <a:t>2</a:t>
              </a:r>
            </a:p>
          </p:txBody>
        </p:sp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4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4" grpId="0"/>
      <p:bldP spid="443395" grpId="0"/>
      <p:bldP spid="443452" grpId="0"/>
      <p:bldP spid="443453" grpId="0"/>
      <p:bldP spid="443454" grpId="0"/>
      <p:bldP spid="443455" grpId="0"/>
      <p:bldP spid="443456" grpId="0"/>
      <p:bldP spid="443457" grpId="0"/>
      <p:bldP spid="443459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3733800" y="641350"/>
            <a:ext cx="8458200" cy="541338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200" b="1" dirty="0">
                <a:solidFill>
                  <a:srgbClr val="80000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第二章    网孔分析和节点分析</a:t>
            </a:r>
          </a:p>
        </p:txBody>
      </p:sp>
      <p:sp>
        <p:nvSpPr>
          <p:cNvPr id="4099" name="Text Box 3">
            <a:hlinkClick r:id="" action="ppaction://noaction"/>
          </p:cNvPr>
          <p:cNvSpPr txBox="1"/>
          <p:nvPr/>
        </p:nvSpPr>
        <p:spPr>
          <a:xfrm>
            <a:off x="2295525" y="1709738"/>
            <a:ext cx="36147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2.1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网孔分析</a:t>
            </a:r>
          </a:p>
        </p:txBody>
      </p:sp>
      <p:sp>
        <p:nvSpPr>
          <p:cNvPr id="17412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295525" y="4419600"/>
            <a:ext cx="61991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*2.5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晶体管的大信号模型（选读）</a:t>
            </a:r>
          </a:p>
        </p:txBody>
      </p:sp>
      <p:sp>
        <p:nvSpPr>
          <p:cNvPr id="4101" name="Text Box 5">
            <a:hlinkClick r:id="" action="ppaction://noaction"/>
          </p:cNvPr>
          <p:cNvSpPr txBox="1"/>
          <p:nvPr/>
        </p:nvSpPr>
        <p:spPr>
          <a:xfrm>
            <a:off x="2295525" y="2392363"/>
            <a:ext cx="5638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2.2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节点分析</a:t>
            </a:r>
          </a:p>
        </p:txBody>
      </p:sp>
      <p:sp>
        <p:nvSpPr>
          <p:cNvPr id="4102" name="Text Box 6">
            <a:hlinkClick r:id="" action="ppaction://noaction"/>
          </p:cNvPr>
          <p:cNvSpPr txBox="1"/>
          <p:nvPr/>
        </p:nvSpPr>
        <p:spPr>
          <a:xfrm>
            <a:off x="2295525" y="3044825"/>
            <a:ext cx="57594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2.3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含运算放大器的电阻电路</a:t>
            </a:r>
          </a:p>
        </p:txBody>
      </p:sp>
      <p:sp>
        <p:nvSpPr>
          <p:cNvPr id="4103" name="Text Box 7">
            <a:hlinkClick r:id="" action="ppaction://noaction"/>
          </p:cNvPr>
          <p:cNvSpPr txBox="1"/>
          <p:nvPr/>
        </p:nvSpPr>
        <p:spPr>
          <a:xfrm>
            <a:off x="2295525" y="3727450"/>
            <a:ext cx="398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2.4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电路的对偶性</a:t>
            </a:r>
          </a:p>
        </p:txBody>
      </p:sp>
      <p:pic>
        <p:nvPicPr>
          <p:cNvPr id="4104" name="Picture 9" descr="FLWRV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5467350"/>
            <a:ext cx="1403350" cy="1252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/>
          <p:nvPr/>
        </p:nvSpPr>
        <p:spPr>
          <a:xfrm>
            <a:off x="598488" y="2194660"/>
            <a:ext cx="5045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求解量 </a:t>
            </a:r>
            <a:r>
              <a:rPr lang="en-US" altLang="zh-CN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未知数</a:t>
            </a:r>
            <a:r>
              <a:rPr lang="en-US" altLang="zh-CN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网孔电流</a:t>
            </a:r>
          </a:p>
        </p:txBody>
      </p:sp>
      <p:sp>
        <p:nvSpPr>
          <p:cNvPr id="5124" name="Rectangle 4"/>
          <p:cNvSpPr/>
          <p:nvPr/>
        </p:nvSpPr>
        <p:spPr>
          <a:xfrm>
            <a:off x="1030288" y="360363"/>
            <a:ext cx="4486275" cy="64135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800000"/>
                </a:solidFill>
                <a:ea typeface="华文行楷" panose="02010800040101010101" pitchFamily="2" charset="-122"/>
              </a:rPr>
              <a:t>§2-1  </a:t>
            </a:r>
            <a:r>
              <a:rPr lang="zh-CN" altLang="en-US" sz="3600" b="1" dirty="0">
                <a:solidFill>
                  <a:srgbClr val="800000"/>
                </a:solidFill>
                <a:ea typeface="华文行楷" panose="02010800040101010101" pitchFamily="2" charset="-122"/>
              </a:rPr>
              <a:t>网孔分析</a:t>
            </a:r>
          </a:p>
        </p:txBody>
      </p:sp>
      <p:sp>
        <p:nvSpPr>
          <p:cNvPr id="5125" name="Rectangle 5"/>
          <p:cNvSpPr/>
          <p:nvPr/>
        </p:nvSpPr>
        <p:spPr>
          <a:xfrm>
            <a:off x="598488" y="1131888"/>
            <a:ext cx="10995025" cy="96911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05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网孔分析法是以网孔电流为未知量，利用</a:t>
            </a:r>
            <a:r>
              <a:rPr lang="en-US" altLang="zh-CN" sz="2800" b="1" dirty="0">
                <a:solidFill>
                  <a:srgbClr val="FF00FF"/>
                </a:solidFill>
                <a:ea typeface="华文中宋" panose="02010600040101010101" pitchFamily="2" charset="-122"/>
              </a:rPr>
              <a:t>KVL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定律列出方程组，进而求得电路响应的分析方法。</a:t>
            </a:r>
          </a:p>
        </p:txBody>
      </p:sp>
      <p:sp>
        <p:nvSpPr>
          <p:cNvPr id="86022" name="Rectangle 6"/>
          <p:cNvSpPr/>
          <p:nvPr/>
        </p:nvSpPr>
        <p:spPr>
          <a:xfrm>
            <a:off x="584995" y="2734456"/>
            <a:ext cx="56403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求解量数目</a:t>
            </a:r>
            <a:r>
              <a:rPr lang="en-US" altLang="zh-CN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方程数</a:t>
            </a:r>
            <a:r>
              <a:rPr lang="en-US" altLang="zh-CN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网孔数 </a:t>
            </a:r>
            <a:r>
              <a:rPr lang="en-US" altLang="zh-CN" sz="2800" b="1" i="1" dirty="0">
                <a:solidFill>
                  <a:srgbClr val="0000FF"/>
                </a:solidFill>
                <a:ea typeface="华文中宋" panose="02010600040101010101" pitchFamily="2" charset="-122"/>
              </a:rPr>
              <a:t>m</a:t>
            </a:r>
          </a:p>
        </p:txBody>
      </p:sp>
      <p:sp>
        <p:nvSpPr>
          <p:cNvPr id="86023" name="Rectangle 7"/>
          <p:cNvSpPr/>
          <p:nvPr/>
        </p:nvSpPr>
        <p:spPr>
          <a:xfrm>
            <a:off x="500063" y="3924430"/>
            <a:ext cx="84423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求出网孔电流，即可方便地求得各支路电流。</a:t>
            </a:r>
            <a:r>
              <a:rPr lang="zh-CN" altLang="en-US" sz="28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86084" name="Rectangle 68"/>
          <p:cNvSpPr/>
          <p:nvPr/>
        </p:nvSpPr>
        <p:spPr>
          <a:xfrm>
            <a:off x="585790" y="3294118"/>
            <a:ext cx="4649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CC33"/>
                </a:solidFill>
                <a:ea typeface="黑体" panose="02010609060101010101" pitchFamily="49" charset="-122"/>
              </a:rPr>
              <a:t>列方程依据： </a:t>
            </a:r>
            <a:r>
              <a:rPr lang="en-US" altLang="zh-CN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KVL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定律</a:t>
            </a:r>
            <a:endParaRPr lang="zh-CN" altLang="en-US" sz="2800" b="1" i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5130" name="Group 8"/>
          <p:cNvGrpSpPr/>
          <p:nvPr/>
        </p:nvGrpSpPr>
        <p:grpSpPr>
          <a:xfrm>
            <a:off x="7161213" y="2290763"/>
            <a:ext cx="4565650" cy="2760662"/>
            <a:chOff x="2907" y="738"/>
            <a:chExt cx="2876" cy="1739"/>
          </a:xfrm>
        </p:grpSpPr>
        <p:grpSp>
          <p:nvGrpSpPr>
            <p:cNvPr id="5131" name="Group 9"/>
            <p:cNvGrpSpPr/>
            <p:nvPr/>
          </p:nvGrpSpPr>
          <p:grpSpPr>
            <a:xfrm>
              <a:off x="4094" y="1043"/>
              <a:ext cx="521" cy="511"/>
              <a:chOff x="3958" y="971"/>
              <a:chExt cx="498" cy="566"/>
            </a:xfrm>
          </p:grpSpPr>
          <p:sp>
            <p:nvSpPr>
              <p:cNvPr id="5187" name="Freeform 10"/>
              <p:cNvSpPr/>
              <p:nvPr/>
            </p:nvSpPr>
            <p:spPr>
              <a:xfrm>
                <a:off x="3958" y="971"/>
                <a:ext cx="498" cy="1"/>
              </a:xfrm>
              <a:custGeom>
                <a:avLst/>
                <a:gdLst>
                  <a:gd name="txL" fmla="*/ 0 w 498"/>
                  <a:gd name="txT" fmla="*/ 0 h 5"/>
                  <a:gd name="txR" fmla="*/ 498 w 498"/>
                  <a:gd name="txB" fmla="*/ 5 h 5"/>
                </a:gdLst>
                <a:ahLst/>
                <a:cxnLst>
                  <a:cxn ang="0">
                    <a:pos x="0" y="0"/>
                  </a:cxn>
                  <a:cxn ang="0">
                    <a:pos x="498" y="0"/>
                  </a:cxn>
                </a:cxnLst>
                <a:rect l="txL" t="txT" r="txR" b="txB"/>
                <a:pathLst>
                  <a:path w="498" h="5">
                    <a:moveTo>
                      <a:pt x="0" y="5"/>
                    </a:moveTo>
                    <a:lnTo>
                      <a:pt x="498" y="0"/>
                    </a:ln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8" name="Freeform 11"/>
              <p:cNvSpPr/>
              <p:nvPr/>
            </p:nvSpPr>
            <p:spPr>
              <a:xfrm>
                <a:off x="3970" y="1536"/>
                <a:ext cx="486" cy="1"/>
              </a:xfrm>
              <a:custGeom>
                <a:avLst/>
                <a:gdLst>
                  <a:gd name="txL" fmla="*/ 0 w 486"/>
                  <a:gd name="txT" fmla="*/ 0 h 6"/>
                  <a:gd name="txR" fmla="*/ 486 w 486"/>
                  <a:gd name="txB" fmla="*/ 6 h 6"/>
                </a:gdLst>
                <a:ahLst/>
                <a:cxnLst>
                  <a:cxn ang="0">
                    <a:pos x="0" y="0"/>
                  </a:cxn>
                  <a:cxn ang="0">
                    <a:pos x="486" y="0"/>
                  </a:cxn>
                </a:cxnLst>
                <a:rect l="txL" t="txT" r="txR" b="txB"/>
                <a:pathLst>
                  <a:path w="486" h="6">
                    <a:moveTo>
                      <a:pt x="0" y="6"/>
                    </a:moveTo>
                    <a:lnTo>
                      <a:pt x="486" y="0"/>
                    </a:ln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32" name="Oval 12"/>
            <p:cNvSpPr/>
            <p:nvPr/>
          </p:nvSpPr>
          <p:spPr>
            <a:xfrm>
              <a:off x="3234" y="1185"/>
              <a:ext cx="239" cy="23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33" name="Oval 13"/>
            <p:cNvSpPr/>
            <p:nvPr/>
          </p:nvSpPr>
          <p:spPr>
            <a:xfrm>
              <a:off x="3789" y="1998"/>
              <a:ext cx="225" cy="224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34" name="Text Box 14"/>
            <p:cNvSpPr txBox="1"/>
            <p:nvPr/>
          </p:nvSpPr>
          <p:spPr>
            <a:xfrm>
              <a:off x="5328" y="1048"/>
              <a:ext cx="368" cy="557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+</a:t>
              </a:r>
            </a:p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endParaRPr lang="en-US" altLang="zh-CN" sz="2400" b="1" baseline="-25000" dirty="0">
                <a:solidFill>
                  <a:srgbClr val="0000FF"/>
                </a:solidFill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–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135" name="Rectangle 15"/>
            <p:cNvSpPr/>
            <p:nvPr/>
          </p:nvSpPr>
          <p:spPr>
            <a:xfrm>
              <a:off x="3807" y="1002"/>
              <a:ext cx="288" cy="93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36" name="Rectangle 16"/>
            <p:cNvSpPr/>
            <p:nvPr/>
          </p:nvSpPr>
          <p:spPr>
            <a:xfrm>
              <a:off x="3816" y="1513"/>
              <a:ext cx="287" cy="93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37" name="Rectangle 17"/>
            <p:cNvSpPr/>
            <p:nvPr/>
          </p:nvSpPr>
          <p:spPr>
            <a:xfrm rot="-5400000">
              <a:off x="4202" y="1279"/>
              <a:ext cx="280" cy="96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38" name="Freeform 18"/>
            <p:cNvSpPr/>
            <p:nvPr/>
          </p:nvSpPr>
          <p:spPr>
            <a:xfrm>
              <a:off x="3365" y="1043"/>
              <a:ext cx="450" cy="1"/>
            </a:xfrm>
            <a:custGeom>
              <a:avLst/>
              <a:gdLst>
                <a:gd name="txL" fmla="*/ 0 w 499"/>
                <a:gd name="txT" fmla="*/ 0 h 1"/>
                <a:gd name="txR" fmla="*/ 499 w 49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8" y="0"/>
                </a:cxn>
              </a:cxnLst>
              <a:rect l="txL" t="txT" r="txR" b="txB"/>
              <a:pathLst>
                <a:path w="499" h="1">
                  <a:moveTo>
                    <a:pt x="0" y="0"/>
                  </a:moveTo>
                  <a:lnTo>
                    <a:pt x="499" y="0"/>
                  </a:ln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9" name="Freeform 19"/>
            <p:cNvSpPr/>
            <p:nvPr/>
          </p:nvSpPr>
          <p:spPr>
            <a:xfrm>
              <a:off x="3351" y="2113"/>
              <a:ext cx="1104" cy="1"/>
            </a:xfrm>
            <a:custGeom>
              <a:avLst/>
              <a:gdLst>
                <a:gd name="txL" fmla="*/ 0 w 916"/>
                <a:gd name="txT" fmla="*/ 0 h 8"/>
                <a:gd name="txR" fmla="*/ 916 w 916"/>
                <a:gd name="txB" fmla="*/ 8 h 8"/>
              </a:gdLst>
              <a:ahLst/>
              <a:cxnLst>
                <a:cxn ang="0">
                  <a:pos x="0" y="0"/>
                </a:cxn>
                <a:cxn ang="0">
                  <a:pos x="26383" y="0"/>
                </a:cxn>
              </a:cxnLst>
              <a:rect l="txL" t="txT" r="txR" b="txB"/>
              <a:pathLst>
                <a:path w="916" h="8">
                  <a:moveTo>
                    <a:pt x="0" y="8"/>
                  </a:moveTo>
                  <a:lnTo>
                    <a:pt x="916" y="0"/>
                  </a:ln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0" name="Line 20"/>
            <p:cNvSpPr/>
            <p:nvPr/>
          </p:nvSpPr>
          <p:spPr>
            <a:xfrm>
              <a:off x="3359" y="1048"/>
              <a:ext cx="0" cy="106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1" name="Line 21"/>
            <p:cNvSpPr/>
            <p:nvPr/>
          </p:nvSpPr>
          <p:spPr>
            <a:xfrm>
              <a:off x="4336" y="1048"/>
              <a:ext cx="1" cy="139"/>
            </a:xfrm>
            <a:prstGeom prst="line">
              <a:avLst/>
            </a:prstGeom>
            <a:ln w="25400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2" name="Line 22"/>
            <p:cNvSpPr/>
            <p:nvPr/>
          </p:nvSpPr>
          <p:spPr>
            <a:xfrm>
              <a:off x="4336" y="1465"/>
              <a:ext cx="1" cy="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3" name="Freeform 23"/>
            <p:cNvSpPr/>
            <p:nvPr/>
          </p:nvSpPr>
          <p:spPr>
            <a:xfrm>
              <a:off x="4820" y="1043"/>
              <a:ext cx="502" cy="5"/>
            </a:xfrm>
            <a:custGeom>
              <a:avLst/>
              <a:gdLst>
                <a:gd name="txL" fmla="*/ 0 w 557"/>
                <a:gd name="txT" fmla="*/ 0 h 5"/>
                <a:gd name="txR" fmla="*/ 557 w 557"/>
                <a:gd name="txB" fmla="*/ 5 h 5"/>
              </a:gdLst>
              <a:ahLst/>
              <a:cxnLst>
                <a:cxn ang="0">
                  <a:pos x="0" y="5"/>
                </a:cxn>
                <a:cxn ang="0">
                  <a:pos x="86" y="0"/>
                </a:cxn>
              </a:cxnLst>
              <a:rect l="txL" t="txT" r="txR" b="txB"/>
              <a:pathLst>
                <a:path w="557" h="5">
                  <a:moveTo>
                    <a:pt x="0" y="5"/>
                  </a:moveTo>
                  <a:lnTo>
                    <a:pt x="557" y="0"/>
                  </a:ln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4" name="Freeform 24"/>
            <p:cNvSpPr/>
            <p:nvPr/>
          </p:nvSpPr>
          <p:spPr>
            <a:xfrm flipV="1">
              <a:off x="4460" y="2113"/>
              <a:ext cx="854" cy="1"/>
            </a:xfrm>
            <a:custGeom>
              <a:avLst/>
              <a:gdLst>
                <a:gd name="txL" fmla="*/ 0 w 941"/>
                <a:gd name="txT" fmla="*/ 0 h 1"/>
                <a:gd name="txR" fmla="*/ 941 w 94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64" y="0"/>
                </a:cxn>
              </a:cxnLst>
              <a:rect l="txL" t="txT" r="txR" b="txB"/>
              <a:pathLst>
                <a:path w="941" h="1">
                  <a:moveTo>
                    <a:pt x="0" y="0"/>
                  </a:moveTo>
                  <a:lnTo>
                    <a:pt x="941" y="0"/>
                  </a:ln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5" name="Freeform 25"/>
            <p:cNvSpPr/>
            <p:nvPr/>
          </p:nvSpPr>
          <p:spPr>
            <a:xfrm>
              <a:off x="4833" y="1553"/>
              <a:ext cx="482" cy="1"/>
            </a:xfrm>
            <a:custGeom>
              <a:avLst/>
              <a:gdLst>
                <a:gd name="txL" fmla="*/ 0 w 534"/>
                <a:gd name="txT" fmla="*/ 0 h 7"/>
                <a:gd name="txR" fmla="*/ 534 w 534"/>
                <a:gd name="txB" fmla="*/ 7 h 7"/>
              </a:gdLst>
              <a:ahLst/>
              <a:cxnLst>
                <a:cxn ang="0">
                  <a:pos x="0" y="0"/>
                </a:cxn>
                <a:cxn ang="0">
                  <a:pos x="85" y="0"/>
                </a:cxn>
              </a:cxnLst>
              <a:rect l="txL" t="txT" r="txR" b="txB"/>
              <a:pathLst>
                <a:path w="534" h="7">
                  <a:moveTo>
                    <a:pt x="0" y="0"/>
                  </a:moveTo>
                  <a:lnTo>
                    <a:pt x="534" y="7"/>
                  </a:ln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6" name="Oval 26"/>
            <p:cNvSpPr/>
            <p:nvPr/>
          </p:nvSpPr>
          <p:spPr>
            <a:xfrm>
              <a:off x="3481" y="1447"/>
              <a:ext cx="239" cy="23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47" name="Oval 27"/>
            <p:cNvSpPr/>
            <p:nvPr/>
          </p:nvSpPr>
          <p:spPr>
            <a:xfrm>
              <a:off x="5196" y="1187"/>
              <a:ext cx="238" cy="23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48" name="Line 28"/>
            <p:cNvSpPr/>
            <p:nvPr/>
          </p:nvSpPr>
          <p:spPr>
            <a:xfrm>
              <a:off x="3475" y="1041"/>
              <a:ext cx="184" cy="1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5149" name="Line 29"/>
            <p:cNvSpPr/>
            <p:nvPr/>
          </p:nvSpPr>
          <p:spPr>
            <a:xfrm>
              <a:off x="5049" y="1552"/>
              <a:ext cx="181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5150" name="Line 30"/>
            <p:cNvSpPr/>
            <p:nvPr/>
          </p:nvSpPr>
          <p:spPr>
            <a:xfrm flipH="1">
              <a:off x="4977" y="1043"/>
              <a:ext cx="184" cy="1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5151" name="Line 31"/>
            <p:cNvSpPr/>
            <p:nvPr/>
          </p:nvSpPr>
          <p:spPr>
            <a:xfrm flipH="1">
              <a:off x="4894" y="2113"/>
              <a:ext cx="184" cy="1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5152" name="Rectangle 32"/>
            <p:cNvSpPr/>
            <p:nvPr/>
          </p:nvSpPr>
          <p:spPr>
            <a:xfrm>
              <a:off x="3661" y="1187"/>
              <a:ext cx="525" cy="253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25400" cap="flat" cmpd="sng">
              <a:solidFill>
                <a:srgbClr val="FF00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53" name="Rectangle 33"/>
            <p:cNvSpPr/>
            <p:nvPr/>
          </p:nvSpPr>
          <p:spPr>
            <a:xfrm>
              <a:off x="4646" y="1171"/>
              <a:ext cx="524" cy="272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25400" cap="flat" cmpd="sng">
              <a:solidFill>
                <a:srgbClr val="FF00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54" name="Rectangle 34"/>
            <p:cNvSpPr/>
            <p:nvPr/>
          </p:nvSpPr>
          <p:spPr>
            <a:xfrm>
              <a:off x="3904" y="1768"/>
              <a:ext cx="1098" cy="250"/>
            </a:xfrm>
            <a:prstGeom prst="rect">
              <a:avLst/>
            </a:prstGeom>
            <a:solidFill>
              <a:srgbClr val="008000">
                <a:alpha val="0"/>
              </a:srgbClr>
            </a:solidFill>
            <a:ln w="25400" cap="flat" cmpd="sng">
              <a:solidFill>
                <a:srgbClr val="FF00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55" name="Line 35"/>
            <p:cNvSpPr/>
            <p:nvPr/>
          </p:nvSpPr>
          <p:spPr>
            <a:xfrm flipH="1">
              <a:off x="4194" y="2017"/>
              <a:ext cx="143" cy="1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156" name="Line 36"/>
            <p:cNvSpPr/>
            <p:nvPr/>
          </p:nvSpPr>
          <p:spPr>
            <a:xfrm flipH="1">
              <a:off x="4761" y="1171"/>
              <a:ext cx="143" cy="1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157" name="Line 37"/>
            <p:cNvSpPr/>
            <p:nvPr/>
          </p:nvSpPr>
          <p:spPr>
            <a:xfrm>
              <a:off x="3808" y="1187"/>
              <a:ext cx="144" cy="1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5158" name="Line 38"/>
            <p:cNvSpPr/>
            <p:nvPr/>
          </p:nvSpPr>
          <p:spPr>
            <a:xfrm rot="5400000">
              <a:off x="4267" y="1117"/>
              <a:ext cx="139" cy="1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5159" name="Text Box 39"/>
            <p:cNvSpPr txBox="1"/>
            <p:nvPr/>
          </p:nvSpPr>
          <p:spPr>
            <a:xfrm>
              <a:off x="3819" y="1621"/>
              <a:ext cx="429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0" name="Text Box 40"/>
            <p:cNvSpPr txBox="1"/>
            <p:nvPr/>
          </p:nvSpPr>
          <p:spPr>
            <a:xfrm>
              <a:off x="4584" y="1616"/>
              <a:ext cx="429" cy="21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6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1" name="Text Box 41"/>
            <p:cNvSpPr txBox="1"/>
            <p:nvPr/>
          </p:nvSpPr>
          <p:spPr>
            <a:xfrm>
              <a:off x="4444" y="2198"/>
              <a:ext cx="429" cy="22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2" name="Text Box 42"/>
            <p:cNvSpPr txBox="1"/>
            <p:nvPr/>
          </p:nvSpPr>
          <p:spPr>
            <a:xfrm>
              <a:off x="4927" y="2131"/>
              <a:ext cx="305" cy="21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3" name="Text Box 43"/>
            <p:cNvSpPr txBox="1"/>
            <p:nvPr/>
          </p:nvSpPr>
          <p:spPr>
            <a:xfrm>
              <a:off x="4289" y="1762"/>
              <a:ext cx="429" cy="2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C</a:t>
              </a:r>
              <a:endParaRPr lang="en-US" altLang="zh-CN" sz="2400" b="1" baseline="-25000" dirty="0">
                <a:solidFill>
                  <a:srgbClr val="FF00FF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4" name="Text Box 44"/>
            <p:cNvSpPr txBox="1"/>
            <p:nvPr/>
          </p:nvSpPr>
          <p:spPr>
            <a:xfrm>
              <a:off x="3451" y="761"/>
              <a:ext cx="429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5" name="Text Box 45"/>
            <p:cNvSpPr txBox="1"/>
            <p:nvPr/>
          </p:nvSpPr>
          <p:spPr>
            <a:xfrm>
              <a:off x="3723" y="1193"/>
              <a:ext cx="429" cy="2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2400" b="1" baseline="-25000" dirty="0">
                <a:solidFill>
                  <a:srgbClr val="FF00FF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6" name="Text Box 46"/>
            <p:cNvSpPr txBox="1"/>
            <p:nvPr/>
          </p:nvSpPr>
          <p:spPr>
            <a:xfrm>
              <a:off x="4764" y="1173"/>
              <a:ext cx="429" cy="2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rgbClr val="FF00FF"/>
                  </a:solidFill>
                  <a:cs typeface="Times New Roman" panose="02020603050405020304" pitchFamily="18" charset="0"/>
                </a:rPr>
                <a:t>B</a:t>
              </a:r>
              <a:endParaRPr lang="en-US" altLang="zh-CN" sz="2400" b="1" baseline="-25000" dirty="0">
                <a:solidFill>
                  <a:srgbClr val="FF00FF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7" name="Text Box 47"/>
            <p:cNvSpPr txBox="1"/>
            <p:nvPr/>
          </p:nvSpPr>
          <p:spPr>
            <a:xfrm>
              <a:off x="4121" y="1588"/>
              <a:ext cx="305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8" name="Text Box 48"/>
            <p:cNvSpPr txBox="1"/>
            <p:nvPr/>
          </p:nvSpPr>
          <p:spPr>
            <a:xfrm>
              <a:off x="5000" y="1587"/>
              <a:ext cx="297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6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69" name="Text Box 49"/>
            <p:cNvSpPr txBox="1"/>
            <p:nvPr/>
          </p:nvSpPr>
          <p:spPr>
            <a:xfrm>
              <a:off x="4366" y="1228"/>
              <a:ext cx="429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5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70" name="Text Box 50"/>
            <p:cNvSpPr txBox="1"/>
            <p:nvPr/>
          </p:nvSpPr>
          <p:spPr>
            <a:xfrm>
              <a:off x="4365" y="1002"/>
              <a:ext cx="429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5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71" name="Text Box 51"/>
            <p:cNvSpPr txBox="1"/>
            <p:nvPr/>
          </p:nvSpPr>
          <p:spPr>
            <a:xfrm>
              <a:off x="3558" y="2111"/>
              <a:ext cx="701" cy="21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+       −</a:t>
              </a:r>
              <a:endParaRPr lang="en-US" altLang="zh-CN" sz="2400" b="1" dirty="0">
                <a:solidFill>
                  <a:srgbClr val="0000FF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72" name="Text Box 52"/>
            <p:cNvSpPr txBox="1"/>
            <p:nvPr/>
          </p:nvSpPr>
          <p:spPr>
            <a:xfrm>
              <a:off x="3300" y="1598"/>
              <a:ext cx="610" cy="21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−     </a:t>
              </a:r>
              <a:r>
                <a:rPr lang="en-US" altLang="zh-CN" sz="24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+</a:t>
              </a:r>
              <a:endParaRPr lang="en-US" altLang="zh-CN" sz="2400" b="1" dirty="0">
                <a:solidFill>
                  <a:srgbClr val="0000FF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73" name="Rectangle 53"/>
            <p:cNvSpPr/>
            <p:nvPr/>
          </p:nvSpPr>
          <p:spPr>
            <a:xfrm>
              <a:off x="4443" y="2070"/>
              <a:ext cx="288" cy="93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74" name="Line 54"/>
            <p:cNvSpPr/>
            <p:nvPr/>
          </p:nvSpPr>
          <p:spPr>
            <a:xfrm>
              <a:off x="5313" y="1038"/>
              <a:ext cx="0" cy="1086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5" name="Rectangle 55"/>
            <p:cNvSpPr/>
            <p:nvPr/>
          </p:nvSpPr>
          <p:spPr>
            <a:xfrm>
              <a:off x="2907" y="1209"/>
              <a:ext cx="39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S1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76" name="Rectangle 56"/>
            <p:cNvSpPr/>
            <p:nvPr/>
          </p:nvSpPr>
          <p:spPr>
            <a:xfrm>
              <a:off x="5345" y="1228"/>
              <a:ext cx="438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None/>
              </a:pPr>
              <a:r>
                <a:rPr lang="zh-CN" altLang="en-US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S2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77" name="Text Box 57"/>
            <p:cNvSpPr txBox="1"/>
            <p:nvPr/>
          </p:nvSpPr>
          <p:spPr>
            <a:xfrm>
              <a:off x="3166" y="1056"/>
              <a:ext cx="368" cy="557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+</a:t>
              </a:r>
            </a:p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endParaRPr lang="en-US" altLang="zh-CN" sz="2400" b="1" baseline="-25000" dirty="0">
                <a:solidFill>
                  <a:srgbClr val="0000FF"/>
                </a:solidFill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–</a:t>
              </a:r>
              <a:endParaRPr lang="en-US" altLang="zh-CN" sz="2400" b="1" dirty="0">
                <a:solidFill>
                  <a:srgbClr val="0000FF"/>
                </a:solidFill>
              </a:endParaRPr>
            </a:p>
          </p:txBody>
        </p:sp>
        <p:sp>
          <p:nvSpPr>
            <p:cNvPr id="5178" name="Line 58"/>
            <p:cNvSpPr/>
            <p:nvPr/>
          </p:nvSpPr>
          <p:spPr>
            <a:xfrm>
              <a:off x="3356" y="1561"/>
              <a:ext cx="453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9" name="Rectangle 59"/>
            <p:cNvSpPr/>
            <p:nvPr/>
          </p:nvSpPr>
          <p:spPr>
            <a:xfrm>
              <a:off x="3755" y="2258"/>
              <a:ext cx="39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S3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80" name="Rectangle 60"/>
            <p:cNvSpPr/>
            <p:nvPr/>
          </p:nvSpPr>
          <p:spPr>
            <a:xfrm>
              <a:off x="3429" y="1691"/>
              <a:ext cx="390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S4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81" name="Text Box 61"/>
            <p:cNvSpPr txBox="1"/>
            <p:nvPr/>
          </p:nvSpPr>
          <p:spPr>
            <a:xfrm>
              <a:off x="3808" y="738"/>
              <a:ext cx="429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82" name="Text Box 62"/>
            <p:cNvSpPr txBox="1"/>
            <p:nvPr/>
          </p:nvSpPr>
          <p:spPr>
            <a:xfrm>
              <a:off x="4612" y="738"/>
              <a:ext cx="429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83" name="Text Box 63"/>
            <p:cNvSpPr txBox="1"/>
            <p:nvPr/>
          </p:nvSpPr>
          <p:spPr>
            <a:xfrm>
              <a:off x="4960" y="751"/>
              <a:ext cx="298" cy="21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5184" name="Rectangle 64"/>
            <p:cNvSpPr/>
            <p:nvPr/>
          </p:nvSpPr>
          <p:spPr>
            <a:xfrm>
              <a:off x="4609" y="1002"/>
              <a:ext cx="287" cy="93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5185" name="Line 65"/>
            <p:cNvSpPr/>
            <p:nvPr/>
          </p:nvSpPr>
          <p:spPr>
            <a:xfrm flipH="1">
              <a:off x="4113" y="1553"/>
              <a:ext cx="163" cy="1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5186" name="Rectangle 66"/>
            <p:cNvSpPr/>
            <p:nvPr/>
          </p:nvSpPr>
          <p:spPr>
            <a:xfrm>
              <a:off x="4609" y="1513"/>
              <a:ext cx="287" cy="93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75D15A38-0BA9-4658-890C-DFDAADFDC7F9}"/>
              </a:ext>
            </a:extLst>
          </p:cNvPr>
          <p:cNvSpPr/>
          <p:nvPr/>
        </p:nvSpPr>
        <p:spPr>
          <a:xfrm>
            <a:off x="452052" y="4991596"/>
            <a:ext cx="11774487" cy="5699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 自电阻</a:t>
            </a:r>
            <a:r>
              <a:rPr lang="en-US" altLang="zh-CN" sz="2800" b="1" dirty="0"/>
              <a:t>×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网孔电流</a:t>
            </a:r>
            <a:r>
              <a:rPr lang="zh-CN" altLang="en-US" sz="2800" b="1" dirty="0"/>
              <a:t>＋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互电阻</a:t>
            </a:r>
            <a:r>
              <a:rPr lang="en-US" altLang="zh-CN" sz="2800" b="1" dirty="0"/>
              <a:t>×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相邻网孔电流</a:t>
            </a:r>
            <a:r>
              <a:rPr lang="en-US" altLang="zh-CN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=</a:t>
            </a:r>
            <a:r>
              <a:rPr lang="zh-CN" altLang="en-US" sz="2800" b="1" dirty="0">
                <a:solidFill>
                  <a:srgbClr val="800000"/>
                </a:solidFill>
                <a:latin typeface="宋体" panose="02010600030101010101" pitchFamily="2" charset="-122"/>
              </a:rPr>
              <a:t>网孔中电压源电压升的代数和。</a:t>
            </a:r>
          </a:p>
        </p:txBody>
      </p:sp>
      <p:sp>
        <p:nvSpPr>
          <p:cNvPr id="70" name="Text Box 333">
            <a:extLst>
              <a:ext uri="{FF2B5EF4-FFF2-40B4-BE49-F238E27FC236}">
                <a16:creationId xmlns:a16="http://schemas.microsoft.com/office/drawing/2014/main" id="{2ECF4827-7739-4EF3-859C-70A5237DA0B6}"/>
              </a:ext>
            </a:extLst>
          </p:cNvPr>
          <p:cNvSpPr txBox="1"/>
          <p:nvPr/>
        </p:nvSpPr>
        <p:spPr>
          <a:xfrm>
            <a:off x="458402" y="5945683"/>
            <a:ext cx="1176813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自电阻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总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为正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值。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互电阻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则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有正有负，两网孔电流流过互电阻时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方向相同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则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取正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 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方向相反则取负。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1000"/>
                                        <p:tgtEl>
                                          <p:spTgt spid="8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" presetClass="entr" presetSubtype="5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1000"/>
                                        <p:tgtEl>
                                          <p:spTgt spid="86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/>
      <p:bldP spid="86022" grpId="0"/>
      <p:bldP spid="86023" grpId="0" build="p" advAuto="1000"/>
      <p:bldP spid="860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0" y="374650"/>
            <a:ext cx="4179888" cy="642938"/>
          </a:xfrm>
          <a:solidFill>
            <a:srgbClr val="FFFFCC">
              <a:alpha val="100000"/>
            </a:srgbClr>
          </a:solidFill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sz="3600" b="1" dirty="0">
                <a:solidFill>
                  <a:srgbClr val="800000"/>
                </a:solidFill>
                <a:ea typeface="华文行楷" panose="02010800040101010101" pitchFamily="2" charset="-122"/>
              </a:rPr>
              <a:t>§2-2  </a:t>
            </a:r>
            <a:r>
              <a:rPr lang="zh-CN" altLang="en-US" sz="3600" b="1" dirty="0">
                <a:solidFill>
                  <a:srgbClr val="800000"/>
                </a:solidFill>
                <a:ea typeface="华文行楷" panose="02010800040101010101" pitchFamily="2" charset="-122"/>
              </a:rPr>
              <a:t>节点分析</a:t>
            </a:r>
          </a:p>
        </p:txBody>
      </p:sp>
      <p:sp>
        <p:nvSpPr>
          <p:cNvPr id="87043" name="Rectangle 3"/>
          <p:cNvSpPr/>
          <p:nvPr/>
        </p:nvSpPr>
        <p:spPr>
          <a:xfrm>
            <a:off x="841788" y="2141980"/>
            <a:ext cx="548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求解量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未知数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节点电压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)</a:t>
            </a:r>
          </a:p>
        </p:txBody>
      </p:sp>
      <p:sp>
        <p:nvSpPr>
          <p:cNvPr id="13316" name="Rectangle 4"/>
          <p:cNvSpPr/>
          <p:nvPr/>
        </p:nvSpPr>
        <p:spPr>
          <a:xfrm>
            <a:off x="777875" y="1085850"/>
            <a:ext cx="10636250" cy="100681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    节点分析法是以节点电压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为未知量，利用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KCL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列出方程组，进而求得电路响应的分析方法。</a:t>
            </a:r>
          </a:p>
        </p:txBody>
      </p:sp>
      <p:sp>
        <p:nvSpPr>
          <p:cNvPr id="87045" name="Rectangle 5"/>
          <p:cNvSpPr/>
          <p:nvPr/>
        </p:nvSpPr>
        <p:spPr>
          <a:xfrm>
            <a:off x="841788" y="2642042"/>
            <a:ext cx="56403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求解量数目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方程数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节点数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n−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1</a:t>
            </a:r>
          </a:p>
        </p:txBody>
      </p:sp>
      <p:sp>
        <p:nvSpPr>
          <p:cNvPr id="87046" name="Rectangle 6"/>
          <p:cNvSpPr/>
          <p:nvPr/>
        </p:nvSpPr>
        <p:spPr>
          <a:xfrm>
            <a:off x="745332" y="3897755"/>
            <a:ext cx="6985000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求出节点电压，即可方便地求得各支路电压。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</a:p>
        </p:txBody>
      </p:sp>
      <p:sp>
        <p:nvSpPr>
          <p:cNvPr id="87048" name="Rectangle 8"/>
          <p:cNvSpPr/>
          <p:nvPr/>
        </p:nvSpPr>
        <p:spPr>
          <a:xfrm>
            <a:off x="841788" y="3153217"/>
            <a:ext cx="4649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列方程依据：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KCL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  <a:cs typeface="+mn-cs"/>
              </a:rPr>
              <a:t>定律</a:t>
            </a:r>
            <a:endParaRPr kumimoji="1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13322" name="Group 10"/>
          <p:cNvGrpSpPr/>
          <p:nvPr/>
        </p:nvGrpSpPr>
        <p:grpSpPr>
          <a:xfrm>
            <a:off x="8053388" y="2018789"/>
            <a:ext cx="3511550" cy="2749550"/>
            <a:chOff x="3548" y="218"/>
            <a:chExt cx="2212" cy="1732"/>
          </a:xfrm>
        </p:grpSpPr>
        <p:grpSp>
          <p:nvGrpSpPr>
            <p:cNvPr id="13323" name="Group 11"/>
            <p:cNvGrpSpPr/>
            <p:nvPr/>
          </p:nvGrpSpPr>
          <p:grpSpPr>
            <a:xfrm>
              <a:off x="4535" y="1728"/>
              <a:ext cx="201" cy="178"/>
              <a:chOff x="4355" y="2822"/>
              <a:chExt cx="201" cy="178"/>
            </a:xfrm>
          </p:grpSpPr>
          <p:sp>
            <p:nvSpPr>
              <p:cNvPr id="13369" name="Line 12"/>
              <p:cNvSpPr/>
              <p:nvPr/>
            </p:nvSpPr>
            <p:spPr>
              <a:xfrm>
                <a:off x="4456" y="2822"/>
                <a:ext cx="0" cy="175"/>
              </a:xfrm>
              <a:prstGeom prst="line">
                <a:avLst/>
              </a:prstGeom>
              <a:ln w="25400" cap="flat" cmpd="sng">
                <a:solidFill>
                  <a:srgbClr val="FF00FF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13370" name="Line 13"/>
              <p:cNvSpPr/>
              <p:nvPr/>
            </p:nvSpPr>
            <p:spPr>
              <a:xfrm>
                <a:off x="4355" y="2999"/>
                <a:ext cx="201" cy="1"/>
              </a:xfrm>
              <a:prstGeom prst="line">
                <a:avLst/>
              </a:prstGeom>
              <a:ln w="57150" cap="flat" cmpd="sng">
                <a:solidFill>
                  <a:srgbClr val="FF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3324" name="Rectangle 14"/>
            <p:cNvSpPr/>
            <p:nvPr/>
          </p:nvSpPr>
          <p:spPr>
            <a:xfrm>
              <a:off x="4042" y="672"/>
              <a:ext cx="318" cy="91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25" name="Rectangle 15"/>
            <p:cNvSpPr/>
            <p:nvPr/>
          </p:nvSpPr>
          <p:spPr>
            <a:xfrm>
              <a:off x="4903" y="672"/>
              <a:ext cx="318" cy="91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26" name="Rectangle 16"/>
            <p:cNvSpPr/>
            <p:nvPr/>
          </p:nvSpPr>
          <p:spPr>
            <a:xfrm>
              <a:off x="4495" y="218"/>
              <a:ext cx="318" cy="91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27" name="Rectangle 17"/>
            <p:cNvSpPr/>
            <p:nvPr/>
          </p:nvSpPr>
          <p:spPr>
            <a:xfrm rot="-5400000">
              <a:off x="4472" y="1283"/>
              <a:ext cx="318" cy="91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28" name="Rectangle 18"/>
            <p:cNvSpPr/>
            <p:nvPr/>
          </p:nvSpPr>
          <p:spPr>
            <a:xfrm rot="-5400000">
              <a:off x="5334" y="1283"/>
              <a:ext cx="318" cy="91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29" name="Line 19"/>
            <p:cNvSpPr/>
            <p:nvPr/>
          </p:nvSpPr>
          <p:spPr>
            <a:xfrm>
              <a:off x="3770" y="717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0" name="Line 20"/>
            <p:cNvSpPr/>
            <p:nvPr/>
          </p:nvSpPr>
          <p:spPr>
            <a:xfrm>
              <a:off x="5221" y="717"/>
              <a:ext cx="27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1" name="Line 21"/>
            <p:cNvSpPr/>
            <p:nvPr/>
          </p:nvSpPr>
          <p:spPr>
            <a:xfrm>
              <a:off x="4359" y="717"/>
              <a:ext cx="5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2" name="Line 22"/>
            <p:cNvSpPr/>
            <p:nvPr/>
          </p:nvSpPr>
          <p:spPr>
            <a:xfrm>
              <a:off x="3770" y="264"/>
              <a:ext cx="7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3" name="Line 23"/>
            <p:cNvSpPr/>
            <p:nvPr/>
          </p:nvSpPr>
          <p:spPr>
            <a:xfrm>
              <a:off x="3770" y="264"/>
              <a:ext cx="0" cy="7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4" name="Oval 24"/>
            <p:cNvSpPr/>
            <p:nvPr/>
          </p:nvSpPr>
          <p:spPr>
            <a:xfrm>
              <a:off x="3634" y="1126"/>
              <a:ext cx="272" cy="27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lg" len="lg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35" name="Line 25"/>
            <p:cNvSpPr/>
            <p:nvPr/>
          </p:nvSpPr>
          <p:spPr>
            <a:xfrm>
              <a:off x="3634" y="1261"/>
              <a:ext cx="272" cy="0"/>
            </a:xfrm>
            <a:prstGeom prst="line">
              <a:avLst/>
            </a:prstGeom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6" name="Line 26"/>
            <p:cNvSpPr/>
            <p:nvPr/>
          </p:nvSpPr>
          <p:spPr>
            <a:xfrm>
              <a:off x="3770" y="899"/>
              <a:ext cx="0" cy="2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7" name="Line 27"/>
            <p:cNvSpPr/>
            <p:nvPr/>
          </p:nvSpPr>
          <p:spPr>
            <a:xfrm>
              <a:off x="3770" y="1398"/>
              <a:ext cx="0" cy="31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8" name="Line 28"/>
            <p:cNvSpPr/>
            <p:nvPr/>
          </p:nvSpPr>
          <p:spPr>
            <a:xfrm>
              <a:off x="3770" y="1715"/>
              <a:ext cx="17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39" name="Line 29"/>
            <p:cNvSpPr/>
            <p:nvPr/>
          </p:nvSpPr>
          <p:spPr>
            <a:xfrm>
              <a:off x="4813" y="264"/>
              <a:ext cx="68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40" name="Line 30"/>
            <p:cNvSpPr/>
            <p:nvPr/>
          </p:nvSpPr>
          <p:spPr>
            <a:xfrm>
              <a:off x="5493" y="264"/>
              <a:ext cx="0" cy="90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41" name="Line 31"/>
            <p:cNvSpPr/>
            <p:nvPr/>
          </p:nvSpPr>
          <p:spPr>
            <a:xfrm>
              <a:off x="5493" y="14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42" name="Line 32"/>
            <p:cNvSpPr/>
            <p:nvPr/>
          </p:nvSpPr>
          <p:spPr>
            <a:xfrm>
              <a:off x="4632" y="717"/>
              <a:ext cx="0" cy="45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13343" name="Text Box 33"/>
            <p:cNvSpPr txBox="1"/>
            <p:nvPr/>
          </p:nvSpPr>
          <p:spPr>
            <a:xfrm>
              <a:off x="4534" y="264"/>
              <a:ext cx="350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5</a:t>
              </a:r>
            </a:p>
          </p:txBody>
        </p:sp>
        <p:sp>
          <p:nvSpPr>
            <p:cNvPr id="13344" name="Text Box 34"/>
            <p:cNvSpPr txBox="1"/>
            <p:nvPr/>
          </p:nvSpPr>
          <p:spPr>
            <a:xfrm>
              <a:off x="4063" y="738"/>
              <a:ext cx="45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1</a:t>
              </a:r>
            </a:p>
          </p:txBody>
        </p:sp>
        <p:sp>
          <p:nvSpPr>
            <p:cNvPr id="13345" name="Text Box 35"/>
            <p:cNvSpPr txBox="1"/>
            <p:nvPr/>
          </p:nvSpPr>
          <p:spPr>
            <a:xfrm>
              <a:off x="4906" y="738"/>
              <a:ext cx="413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3</a:t>
              </a:r>
            </a:p>
          </p:txBody>
        </p:sp>
        <p:sp>
          <p:nvSpPr>
            <p:cNvPr id="13346" name="Text Box 36"/>
            <p:cNvSpPr txBox="1"/>
            <p:nvPr/>
          </p:nvSpPr>
          <p:spPr>
            <a:xfrm>
              <a:off x="4270" y="1175"/>
              <a:ext cx="443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2</a:t>
              </a:r>
            </a:p>
          </p:txBody>
        </p:sp>
        <p:sp>
          <p:nvSpPr>
            <p:cNvPr id="13347" name="Text Box 37"/>
            <p:cNvSpPr txBox="1"/>
            <p:nvPr/>
          </p:nvSpPr>
          <p:spPr>
            <a:xfrm>
              <a:off x="5113" y="1187"/>
              <a:ext cx="36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4</a:t>
              </a:r>
            </a:p>
          </p:txBody>
        </p:sp>
        <p:sp>
          <p:nvSpPr>
            <p:cNvPr id="13348" name="Line 38"/>
            <p:cNvSpPr/>
            <p:nvPr/>
          </p:nvSpPr>
          <p:spPr>
            <a:xfrm flipV="1">
              <a:off x="3770" y="853"/>
              <a:ext cx="0" cy="18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3349" name="Line 39"/>
            <p:cNvSpPr/>
            <p:nvPr/>
          </p:nvSpPr>
          <p:spPr>
            <a:xfrm rot="5400000" flipV="1">
              <a:off x="3919" y="626"/>
              <a:ext cx="0" cy="18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3350" name="Line 40"/>
            <p:cNvSpPr/>
            <p:nvPr/>
          </p:nvSpPr>
          <p:spPr>
            <a:xfrm rot="5400000" flipV="1">
              <a:off x="4206" y="173"/>
              <a:ext cx="0" cy="18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3351" name="Line 41"/>
            <p:cNvSpPr/>
            <p:nvPr/>
          </p:nvSpPr>
          <p:spPr>
            <a:xfrm rot="5400000" flipV="1">
              <a:off x="5378" y="626"/>
              <a:ext cx="0" cy="18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3352" name="Line 42"/>
            <p:cNvSpPr/>
            <p:nvPr/>
          </p:nvSpPr>
          <p:spPr>
            <a:xfrm rot="-10800000" flipV="1">
              <a:off x="5493" y="898"/>
              <a:ext cx="0" cy="18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3353" name="Line 43"/>
            <p:cNvSpPr/>
            <p:nvPr/>
          </p:nvSpPr>
          <p:spPr>
            <a:xfrm rot="-10800000" flipV="1">
              <a:off x="4632" y="872"/>
              <a:ext cx="0" cy="18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3354" name="Text Box 44"/>
            <p:cNvSpPr txBox="1"/>
            <p:nvPr/>
          </p:nvSpPr>
          <p:spPr>
            <a:xfrm>
              <a:off x="3922" y="1093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S</a:t>
              </a:r>
            </a:p>
          </p:txBody>
        </p:sp>
        <p:sp>
          <p:nvSpPr>
            <p:cNvPr id="13355" name="Text Box 45"/>
            <p:cNvSpPr txBox="1"/>
            <p:nvPr/>
          </p:nvSpPr>
          <p:spPr>
            <a:xfrm>
              <a:off x="3808" y="401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1</a:t>
              </a:r>
            </a:p>
          </p:txBody>
        </p:sp>
        <p:sp>
          <p:nvSpPr>
            <p:cNvPr id="13356" name="Text Box 46"/>
            <p:cNvSpPr txBox="1"/>
            <p:nvPr/>
          </p:nvSpPr>
          <p:spPr>
            <a:xfrm>
              <a:off x="4658" y="781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2</a:t>
              </a:r>
            </a:p>
          </p:txBody>
        </p:sp>
        <p:sp>
          <p:nvSpPr>
            <p:cNvPr id="13357" name="Text Box 47"/>
            <p:cNvSpPr txBox="1"/>
            <p:nvPr/>
          </p:nvSpPr>
          <p:spPr>
            <a:xfrm>
              <a:off x="4070" y="238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5</a:t>
              </a:r>
            </a:p>
          </p:txBody>
        </p:sp>
        <p:sp>
          <p:nvSpPr>
            <p:cNvPr id="13358" name="Text Box 48"/>
            <p:cNvSpPr txBox="1"/>
            <p:nvPr/>
          </p:nvSpPr>
          <p:spPr>
            <a:xfrm>
              <a:off x="5263" y="793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4</a:t>
              </a:r>
            </a:p>
          </p:txBody>
        </p:sp>
        <p:sp>
          <p:nvSpPr>
            <p:cNvPr id="87085" name="Text Box 49"/>
            <p:cNvSpPr txBox="1">
              <a:spLocks noChangeArrowheads="1"/>
            </p:cNvSpPr>
            <p:nvPr/>
          </p:nvSpPr>
          <p:spPr bwMode="auto">
            <a:xfrm>
              <a:off x="3548" y="581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87086" name="Text Box 50"/>
            <p:cNvSpPr txBox="1">
              <a:spLocks noChangeArrowheads="1"/>
            </p:cNvSpPr>
            <p:nvPr/>
          </p:nvSpPr>
          <p:spPr bwMode="auto">
            <a:xfrm>
              <a:off x="4423" y="466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87087" name="Text Box 51"/>
            <p:cNvSpPr txBox="1">
              <a:spLocks noChangeArrowheads="1"/>
            </p:cNvSpPr>
            <p:nvPr/>
          </p:nvSpPr>
          <p:spPr bwMode="auto">
            <a:xfrm>
              <a:off x="5488" y="581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87088" name="Text Box 52"/>
            <p:cNvSpPr txBox="1">
              <a:spLocks noChangeArrowheads="1"/>
            </p:cNvSpPr>
            <p:nvPr/>
          </p:nvSpPr>
          <p:spPr bwMode="auto">
            <a:xfrm>
              <a:off x="4681" y="1662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13363" name="Text Box 53"/>
            <p:cNvSpPr txBox="1"/>
            <p:nvPr/>
          </p:nvSpPr>
          <p:spPr>
            <a:xfrm>
              <a:off x="5234" y="408"/>
              <a:ext cx="2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/>
                  <a:ea typeface="宋体"/>
                  <a:cs typeface="+mn-cs"/>
                </a:rPr>
                <a:t>3</a:t>
              </a:r>
            </a:p>
          </p:txBody>
        </p:sp>
        <p:sp>
          <p:nvSpPr>
            <p:cNvPr id="13364" name="Oval 54"/>
            <p:cNvSpPr/>
            <p:nvPr/>
          </p:nvSpPr>
          <p:spPr>
            <a:xfrm>
              <a:off x="4607" y="1690"/>
              <a:ext cx="56" cy="56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65" name="Oval 55"/>
            <p:cNvSpPr/>
            <p:nvPr/>
          </p:nvSpPr>
          <p:spPr>
            <a:xfrm>
              <a:off x="3746" y="683"/>
              <a:ext cx="56" cy="56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66" name="Oval 56"/>
            <p:cNvSpPr/>
            <p:nvPr/>
          </p:nvSpPr>
          <p:spPr>
            <a:xfrm>
              <a:off x="5465" y="686"/>
              <a:ext cx="56" cy="56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67" name="Oval 57"/>
            <p:cNvSpPr/>
            <p:nvPr/>
          </p:nvSpPr>
          <p:spPr>
            <a:xfrm>
              <a:off x="4601" y="686"/>
              <a:ext cx="56" cy="56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sp>
          <p:nvSpPr>
            <p:cNvPr id="13368" name="Line 58"/>
            <p:cNvSpPr/>
            <p:nvPr/>
          </p:nvSpPr>
          <p:spPr>
            <a:xfrm>
              <a:off x="4635" y="14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B09102E7-C381-4091-8653-0B62F79A6088}"/>
              </a:ext>
            </a:extLst>
          </p:cNvPr>
          <p:cNvSpPr/>
          <p:nvPr/>
        </p:nvSpPr>
        <p:spPr>
          <a:xfrm>
            <a:off x="841788" y="4569480"/>
            <a:ext cx="6518861" cy="181588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1.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自电导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节点电位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+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互电导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相邻节点电位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=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流进该节点的电流源电流代数和。</a:t>
            </a:r>
            <a:endParaRPr lang="zh-CN" altLang="en-US" sz="28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自电导均为正值，互电导均为负值。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E9E984C-4246-4EAA-A2D4-3F31C6687FED}"/>
              </a:ext>
            </a:extLst>
          </p:cNvPr>
          <p:cNvGrpSpPr/>
          <p:nvPr/>
        </p:nvGrpSpPr>
        <p:grpSpPr>
          <a:xfrm>
            <a:off x="7614451" y="6088874"/>
            <a:ext cx="4240199" cy="434976"/>
            <a:chOff x="2933" y="2845"/>
            <a:chExt cx="2671" cy="274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42BFDEE-0AC1-470C-B370-B68880AAF020}"/>
                </a:ext>
              </a:extLst>
            </p:cNvPr>
            <p:cNvSpPr/>
            <p:nvPr/>
          </p:nvSpPr>
          <p:spPr>
            <a:xfrm>
              <a:off x="5507" y="2867"/>
              <a:ext cx="9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0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28D63C5-5ADB-4C82-AD8C-28D4D18F104C}"/>
                </a:ext>
              </a:extLst>
            </p:cNvPr>
            <p:cNvSpPr/>
            <p:nvPr/>
          </p:nvSpPr>
          <p:spPr>
            <a:xfrm>
              <a:off x="5093" y="2867"/>
              <a:ext cx="6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)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FE5093F-CB59-42BF-8E08-8A958C1EE624}"/>
                </a:ext>
              </a:extLst>
            </p:cNvPr>
            <p:cNvSpPr/>
            <p:nvPr/>
          </p:nvSpPr>
          <p:spPr>
            <a:xfrm>
              <a:off x="4089" y="2867"/>
              <a:ext cx="6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(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0AC6EBC-7057-4C2D-A90B-E5482D271ADE}"/>
                </a:ext>
              </a:extLst>
            </p:cNvPr>
            <p:cNvSpPr/>
            <p:nvPr/>
          </p:nvSpPr>
          <p:spPr>
            <a:xfrm>
              <a:off x="5250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75195DB-FE1D-402B-83A1-B98B6F77B3F2}"/>
                </a:ext>
              </a:extLst>
            </p:cNvPr>
            <p:cNvSpPr/>
            <p:nvPr/>
          </p:nvSpPr>
          <p:spPr>
            <a:xfrm>
              <a:off x="5019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5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A188062-5C8F-4F25-93EC-C0A0D78DADB2}"/>
                </a:ext>
              </a:extLst>
            </p:cNvPr>
            <p:cNvSpPr/>
            <p:nvPr/>
          </p:nvSpPr>
          <p:spPr>
            <a:xfrm>
              <a:off x="4650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4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11D3E338-4DC4-4574-BAF5-B1883C58FAAD}"/>
                </a:ext>
              </a:extLst>
            </p:cNvPr>
            <p:cNvSpPr/>
            <p:nvPr/>
          </p:nvSpPr>
          <p:spPr>
            <a:xfrm>
              <a:off x="4282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64EF811-E4E7-4B81-A4FF-4CA13E2F8D11}"/>
                </a:ext>
              </a:extLst>
            </p:cNvPr>
            <p:cNvSpPr/>
            <p:nvPr/>
          </p:nvSpPr>
          <p:spPr>
            <a:xfrm>
              <a:off x="3849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2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C7392B7-76DE-466B-8FBB-8D6B2717666A}"/>
                </a:ext>
              </a:extLst>
            </p:cNvPr>
            <p:cNvSpPr/>
            <p:nvPr/>
          </p:nvSpPr>
          <p:spPr>
            <a:xfrm>
              <a:off x="3695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1D5B3AE-A7A7-4A41-844E-A1E737C3E647}"/>
                </a:ext>
              </a:extLst>
            </p:cNvPr>
            <p:cNvSpPr/>
            <p:nvPr/>
          </p:nvSpPr>
          <p:spPr>
            <a:xfrm>
              <a:off x="3337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317D1B6-B7BC-430D-99EC-3B444FB80917}"/>
                </a:ext>
              </a:extLst>
            </p:cNvPr>
            <p:cNvSpPr/>
            <p:nvPr/>
          </p:nvSpPr>
          <p:spPr>
            <a:xfrm>
              <a:off x="3194" y="2983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5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5BBEC1E-9C97-466C-9112-A537CDF1B4B8}"/>
                </a:ext>
              </a:extLst>
            </p:cNvPr>
            <p:cNvSpPr/>
            <p:nvPr/>
          </p:nvSpPr>
          <p:spPr>
            <a:xfrm>
              <a:off x="5364" y="2845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A0039C2-47BC-4808-9141-25BB8843B559}"/>
                </a:ext>
              </a:extLst>
            </p:cNvPr>
            <p:cNvSpPr/>
            <p:nvPr/>
          </p:nvSpPr>
          <p:spPr>
            <a:xfrm>
              <a:off x="4755" y="2845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5011968-F0D2-4A96-9AA5-F09D72F96378}"/>
                </a:ext>
              </a:extLst>
            </p:cNvPr>
            <p:cNvSpPr/>
            <p:nvPr/>
          </p:nvSpPr>
          <p:spPr>
            <a:xfrm>
              <a:off x="4383" y="2845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5A52BC7-C127-483B-840E-3808B3CEF26B}"/>
                </a:ext>
              </a:extLst>
            </p:cNvPr>
            <p:cNvSpPr/>
            <p:nvPr/>
          </p:nvSpPr>
          <p:spPr>
            <a:xfrm>
              <a:off x="3954" y="2845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F9B0830-8609-46F2-9922-B51DAEA51DA9}"/>
                </a:ext>
              </a:extLst>
            </p:cNvPr>
            <p:cNvSpPr/>
            <p:nvPr/>
          </p:nvSpPr>
          <p:spPr>
            <a:xfrm>
              <a:off x="3434" y="2845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EC0A92B-3545-4233-833E-C901E2980336}"/>
                </a:ext>
              </a:extLst>
            </p:cNvPr>
            <p:cNvSpPr/>
            <p:nvPr/>
          </p:nvSpPr>
          <p:spPr>
            <a:xfrm>
              <a:off x="2933" y="2845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B73CD6F-5FF5-441D-90B0-4F9DAAB42EBD}"/>
                </a:ext>
              </a:extLst>
            </p:cNvPr>
            <p:cNvSpPr/>
            <p:nvPr/>
          </p:nvSpPr>
          <p:spPr>
            <a:xfrm>
              <a:off x="5154" y="2867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C01A308-0338-490E-99D6-CDB2995CF35B}"/>
                </a:ext>
              </a:extLst>
            </p:cNvPr>
            <p:cNvSpPr/>
            <p:nvPr/>
          </p:nvSpPr>
          <p:spPr>
            <a:xfrm>
              <a:off x="4887" y="2867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1C535C9-F93E-4809-A683-06820645C609}"/>
                </a:ext>
              </a:extLst>
            </p:cNvPr>
            <p:cNvSpPr/>
            <p:nvPr/>
          </p:nvSpPr>
          <p:spPr>
            <a:xfrm>
              <a:off x="4515" y="2867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4584983-B76B-443D-B6A5-8FF98F6AA75D}"/>
                </a:ext>
              </a:extLst>
            </p:cNvPr>
            <p:cNvSpPr/>
            <p:nvPr/>
          </p:nvSpPr>
          <p:spPr>
            <a:xfrm>
              <a:off x="4150" y="2867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07FAD54-9D9D-45E8-8FF9-EDC5EE141761}"/>
                </a:ext>
              </a:extLst>
            </p:cNvPr>
            <p:cNvSpPr/>
            <p:nvPr/>
          </p:nvSpPr>
          <p:spPr>
            <a:xfrm>
              <a:off x="3749" y="2867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7EE30BA-E753-4E3C-9E0E-70938166CAA0}"/>
                </a:ext>
              </a:extLst>
            </p:cNvPr>
            <p:cNvSpPr/>
            <p:nvPr/>
          </p:nvSpPr>
          <p:spPr>
            <a:xfrm>
              <a:off x="3563" y="2867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7EC8052-4086-4665-B479-315BDFB11920}"/>
                </a:ext>
              </a:extLst>
            </p:cNvPr>
            <p:cNvSpPr/>
            <p:nvPr/>
          </p:nvSpPr>
          <p:spPr>
            <a:xfrm>
              <a:off x="3251" y="2867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1FD9844-EEB9-4B8A-8BBB-CE6EBAA43EA2}"/>
                </a:ext>
              </a:extLst>
            </p:cNvPr>
            <p:cNvSpPr/>
            <p:nvPr/>
          </p:nvSpPr>
          <p:spPr>
            <a:xfrm>
              <a:off x="3062" y="2867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9AB3964-D20D-46A4-A2D8-9AC23C5B7DB0}"/>
              </a:ext>
            </a:extLst>
          </p:cNvPr>
          <p:cNvGrpSpPr/>
          <p:nvPr/>
        </p:nvGrpSpPr>
        <p:grpSpPr>
          <a:xfrm>
            <a:off x="7614481" y="5469749"/>
            <a:ext cx="4191014" cy="434976"/>
            <a:chOff x="2933" y="2559"/>
            <a:chExt cx="2640" cy="274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020690-9B43-4AAC-A44D-BBAF548F0289}"/>
                </a:ext>
              </a:extLst>
            </p:cNvPr>
            <p:cNvSpPr/>
            <p:nvPr/>
          </p:nvSpPr>
          <p:spPr>
            <a:xfrm>
              <a:off x="5476" y="2581"/>
              <a:ext cx="97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0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59DB3D3-B1A3-40CC-9A9E-CDE58A86FA68}"/>
                </a:ext>
              </a:extLst>
            </p:cNvPr>
            <p:cNvSpPr/>
            <p:nvPr/>
          </p:nvSpPr>
          <p:spPr>
            <a:xfrm>
              <a:off x="4542" y="2581"/>
              <a:ext cx="6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)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D208A7F-8EFE-41C8-B106-3D20BC3D80FE}"/>
                </a:ext>
              </a:extLst>
            </p:cNvPr>
            <p:cNvSpPr/>
            <p:nvPr/>
          </p:nvSpPr>
          <p:spPr>
            <a:xfrm>
              <a:off x="3553" y="2581"/>
              <a:ext cx="6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(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0E74221-3A90-4BBB-AC12-B3DDA7142161}"/>
                </a:ext>
              </a:extLst>
            </p:cNvPr>
            <p:cNvSpPr/>
            <p:nvPr/>
          </p:nvSpPr>
          <p:spPr>
            <a:xfrm>
              <a:off x="5219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7A3A0B8-4DDE-4DF7-8FFC-82D25477F920}"/>
                </a:ext>
              </a:extLst>
            </p:cNvPr>
            <p:cNvSpPr/>
            <p:nvPr/>
          </p:nvSpPr>
          <p:spPr>
            <a:xfrm>
              <a:off x="5068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EB65FC1-474A-41DA-A1A4-2DA16F749915}"/>
                </a:ext>
              </a:extLst>
            </p:cNvPr>
            <p:cNvSpPr/>
            <p:nvPr/>
          </p:nvSpPr>
          <p:spPr>
            <a:xfrm>
              <a:off x="4703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2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E5C86BD-6950-4E17-B9DC-99932B82AE1B}"/>
                </a:ext>
              </a:extLst>
            </p:cNvPr>
            <p:cNvSpPr/>
            <p:nvPr/>
          </p:nvSpPr>
          <p:spPr>
            <a:xfrm>
              <a:off x="4470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DB7FE8E-306F-4AF7-A20F-3908179E47AF}"/>
                </a:ext>
              </a:extLst>
            </p:cNvPr>
            <p:cNvSpPr/>
            <p:nvPr/>
          </p:nvSpPr>
          <p:spPr>
            <a:xfrm>
              <a:off x="4101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2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E415744-780B-45B0-A4E3-05ACEC9E7D2A}"/>
                </a:ext>
              </a:extLst>
            </p:cNvPr>
            <p:cNvSpPr/>
            <p:nvPr/>
          </p:nvSpPr>
          <p:spPr>
            <a:xfrm>
              <a:off x="3738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ECD7A40-7362-4CA9-8C0E-7F3AE191B942}"/>
                </a:ext>
              </a:extLst>
            </p:cNvPr>
            <p:cNvSpPr/>
            <p:nvPr/>
          </p:nvSpPr>
          <p:spPr>
            <a:xfrm>
              <a:off x="3322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A4DB476-14F6-42A1-9E0F-758B090CAE59}"/>
                </a:ext>
              </a:extLst>
            </p:cNvPr>
            <p:cNvSpPr/>
            <p:nvPr/>
          </p:nvSpPr>
          <p:spPr>
            <a:xfrm>
              <a:off x="3185" y="2697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AEA2739-389E-4F5E-9962-4488522CF5F6}"/>
                </a:ext>
              </a:extLst>
            </p:cNvPr>
            <p:cNvSpPr/>
            <p:nvPr/>
          </p:nvSpPr>
          <p:spPr>
            <a:xfrm>
              <a:off x="5332" y="2559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1420CF6-633A-4267-8AD1-72A83316F539}"/>
                </a:ext>
              </a:extLst>
            </p:cNvPr>
            <p:cNvSpPr/>
            <p:nvPr/>
          </p:nvSpPr>
          <p:spPr>
            <a:xfrm>
              <a:off x="4808" y="2559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5C724EB-F845-4A18-8BCE-3E68CBC9B3D7}"/>
                </a:ext>
              </a:extLst>
            </p:cNvPr>
            <p:cNvSpPr/>
            <p:nvPr/>
          </p:nvSpPr>
          <p:spPr>
            <a:xfrm>
              <a:off x="4206" y="2559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CA2CD44-A767-430C-A321-8338588F5137}"/>
                </a:ext>
              </a:extLst>
            </p:cNvPr>
            <p:cNvSpPr/>
            <p:nvPr/>
          </p:nvSpPr>
          <p:spPr>
            <a:xfrm>
              <a:off x="3834" y="2559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F6AED34-240F-451A-A7D6-908ABD66B589}"/>
                </a:ext>
              </a:extLst>
            </p:cNvPr>
            <p:cNvSpPr/>
            <p:nvPr/>
          </p:nvSpPr>
          <p:spPr>
            <a:xfrm>
              <a:off x="3419" y="2559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777CF85-6936-40DA-9E95-12E5A848C416}"/>
                </a:ext>
              </a:extLst>
            </p:cNvPr>
            <p:cNvSpPr/>
            <p:nvPr/>
          </p:nvSpPr>
          <p:spPr>
            <a:xfrm>
              <a:off x="2933" y="2559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7B68C72-5BF7-4A34-B5FB-0D8CCE35B76A}"/>
                </a:ext>
              </a:extLst>
            </p:cNvPr>
            <p:cNvSpPr/>
            <p:nvPr/>
          </p:nvSpPr>
          <p:spPr>
            <a:xfrm>
              <a:off x="5123" y="2581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8A51E70-EF33-475A-B22D-0E6FF4FD3F32}"/>
                </a:ext>
              </a:extLst>
            </p:cNvPr>
            <p:cNvSpPr/>
            <p:nvPr/>
          </p:nvSpPr>
          <p:spPr>
            <a:xfrm>
              <a:off x="4937" y="2581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EF0E9FB-81BA-4E7D-A115-64278CE3A9FB}"/>
                </a:ext>
              </a:extLst>
            </p:cNvPr>
            <p:cNvSpPr/>
            <p:nvPr/>
          </p:nvSpPr>
          <p:spPr>
            <a:xfrm>
              <a:off x="4604" y="2581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E53FEEB-C09A-4E98-9EFC-2A97451F357D}"/>
                </a:ext>
              </a:extLst>
            </p:cNvPr>
            <p:cNvSpPr/>
            <p:nvPr/>
          </p:nvSpPr>
          <p:spPr>
            <a:xfrm>
              <a:off x="4338" y="2581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0784949-1759-42EB-BAB1-2F1FEEB18B56}"/>
                </a:ext>
              </a:extLst>
            </p:cNvPr>
            <p:cNvSpPr/>
            <p:nvPr/>
          </p:nvSpPr>
          <p:spPr>
            <a:xfrm>
              <a:off x="3966" y="2581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3876DF9-CD8C-4A58-88A7-20C2F99D66E6}"/>
                </a:ext>
              </a:extLst>
            </p:cNvPr>
            <p:cNvSpPr/>
            <p:nvPr/>
          </p:nvSpPr>
          <p:spPr>
            <a:xfrm>
              <a:off x="3615" y="2581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A92BDEA-F118-4E72-9857-A73DC056A183}"/>
                </a:ext>
              </a:extLst>
            </p:cNvPr>
            <p:cNvSpPr/>
            <p:nvPr/>
          </p:nvSpPr>
          <p:spPr>
            <a:xfrm>
              <a:off x="3235" y="2581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79A64A4-26DD-43E9-8B39-FA3580223AE5}"/>
                </a:ext>
              </a:extLst>
            </p:cNvPr>
            <p:cNvSpPr/>
            <p:nvPr/>
          </p:nvSpPr>
          <p:spPr>
            <a:xfrm>
              <a:off x="3062" y="2581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774923B-5CD7-4EAE-9E22-AD6FC4689A41}"/>
              </a:ext>
            </a:extLst>
          </p:cNvPr>
          <p:cNvGrpSpPr/>
          <p:nvPr/>
        </p:nvGrpSpPr>
        <p:grpSpPr>
          <a:xfrm>
            <a:off x="7787524" y="4885539"/>
            <a:ext cx="3446479" cy="434975"/>
            <a:chOff x="2930" y="2274"/>
            <a:chExt cx="2171" cy="27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9FC8C1F-666D-4281-99DA-38D3588E2BF0}"/>
                </a:ext>
              </a:extLst>
            </p:cNvPr>
            <p:cNvSpPr/>
            <p:nvPr/>
          </p:nvSpPr>
          <p:spPr>
            <a:xfrm>
              <a:off x="3549" y="2296"/>
              <a:ext cx="6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)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F7A668A-C65A-49A1-812F-9233E43155AB}"/>
                </a:ext>
              </a:extLst>
            </p:cNvPr>
            <p:cNvSpPr/>
            <p:nvPr/>
          </p:nvSpPr>
          <p:spPr>
            <a:xfrm>
              <a:off x="2930" y="2296"/>
              <a:ext cx="65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(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3609256-DDE9-4628-9211-D5B592E86CE5}"/>
                </a:ext>
              </a:extLst>
            </p:cNvPr>
            <p:cNvSpPr/>
            <p:nvPr/>
          </p:nvSpPr>
          <p:spPr>
            <a:xfrm>
              <a:off x="4713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3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EB065AE-58B1-49F0-B80A-9006D68B4FB9}"/>
                </a:ext>
              </a:extLst>
            </p:cNvPr>
            <p:cNvSpPr/>
            <p:nvPr/>
          </p:nvSpPr>
          <p:spPr>
            <a:xfrm>
              <a:off x="4561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5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8CD1FCB-183C-47D8-AC53-9DAB55B7AD5C}"/>
                </a:ext>
              </a:extLst>
            </p:cNvPr>
            <p:cNvSpPr/>
            <p:nvPr/>
          </p:nvSpPr>
          <p:spPr>
            <a:xfrm>
              <a:off x="4195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2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732D961-143E-4181-BAD9-572F434166F4}"/>
                </a:ext>
              </a:extLst>
            </p:cNvPr>
            <p:cNvSpPr/>
            <p:nvPr/>
          </p:nvSpPr>
          <p:spPr>
            <a:xfrm>
              <a:off x="4046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53F16FF-A9C5-46E7-B2D9-4B8E8B647EF1}"/>
                </a:ext>
              </a:extLst>
            </p:cNvPr>
            <p:cNvSpPr/>
            <p:nvPr/>
          </p:nvSpPr>
          <p:spPr>
            <a:xfrm>
              <a:off x="3698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1856A20-9588-4CAE-A980-6605B4BA1BD0}"/>
                </a:ext>
              </a:extLst>
            </p:cNvPr>
            <p:cNvSpPr/>
            <p:nvPr/>
          </p:nvSpPr>
          <p:spPr>
            <a:xfrm>
              <a:off x="3475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5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AE04B45-3AA8-47E8-9C9B-88B86DD0C124}"/>
                </a:ext>
              </a:extLst>
            </p:cNvPr>
            <p:cNvSpPr/>
            <p:nvPr/>
          </p:nvSpPr>
          <p:spPr>
            <a:xfrm>
              <a:off x="3115" y="2411"/>
              <a:ext cx="57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accent2"/>
                  </a:solidFill>
                </a:rPr>
                <a:t>1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B4A27F4-B3CB-4ED3-9C73-5538779EB85C}"/>
                </a:ext>
              </a:extLst>
            </p:cNvPr>
            <p:cNvSpPr/>
            <p:nvPr/>
          </p:nvSpPr>
          <p:spPr>
            <a:xfrm>
              <a:off x="4827" y="2274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C3BCF5B-D5CF-4A71-B16D-CAC9FBE72AC1}"/>
                </a:ext>
              </a:extLst>
            </p:cNvPr>
            <p:cNvSpPr/>
            <p:nvPr/>
          </p:nvSpPr>
          <p:spPr>
            <a:xfrm>
              <a:off x="4300" y="2274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641058B-EA75-48FC-8DE8-A7BD6AC5B69C}"/>
                </a:ext>
              </a:extLst>
            </p:cNvPr>
            <p:cNvSpPr/>
            <p:nvPr/>
          </p:nvSpPr>
          <p:spPr>
            <a:xfrm>
              <a:off x="3794" y="2274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86474C5-BDAC-4DAD-AAB7-26DC5A46263D}"/>
                </a:ext>
              </a:extLst>
            </p:cNvPr>
            <p:cNvSpPr/>
            <p:nvPr/>
          </p:nvSpPr>
          <p:spPr>
            <a:xfrm>
              <a:off x="3211" y="2274"/>
              <a:ext cx="10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+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F7F488E-0031-465C-AE2E-1CBA2B1A70B2}"/>
                </a:ext>
              </a:extLst>
            </p:cNvPr>
            <p:cNvSpPr/>
            <p:nvPr/>
          </p:nvSpPr>
          <p:spPr>
            <a:xfrm>
              <a:off x="4979" y="2296"/>
              <a:ext cx="54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i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68D3CCC-1628-4981-B2DD-601CF6A4B16A}"/>
                </a:ext>
              </a:extLst>
            </p:cNvPr>
            <p:cNvSpPr/>
            <p:nvPr/>
          </p:nvSpPr>
          <p:spPr>
            <a:xfrm>
              <a:off x="4617" y="2296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97CC567-EF98-45A4-B513-6BC3E2EDD0C6}"/>
                </a:ext>
              </a:extLst>
            </p:cNvPr>
            <p:cNvSpPr/>
            <p:nvPr/>
          </p:nvSpPr>
          <p:spPr>
            <a:xfrm>
              <a:off x="4429" y="2296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7EA0E0C-8151-4475-BB43-E5473C48F474}"/>
                </a:ext>
              </a:extLst>
            </p:cNvPr>
            <p:cNvSpPr/>
            <p:nvPr/>
          </p:nvSpPr>
          <p:spPr>
            <a:xfrm>
              <a:off x="4096" y="2296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433DF73-FE6C-4D3D-A22D-09C7AD061EC8}"/>
                </a:ext>
              </a:extLst>
            </p:cNvPr>
            <p:cNvSpPr/>
            <p:nvPr/>
          </p:nvSpPr>
          <p:spPr>
            <a:xfrm>
              <a:off x="3923" y="2296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B4F75AC-5024-4595-AAAD-4EAE962F0229}"/>
                </a:ext>
              </a:extLst>
            </p:cNvPr>
            <p:cNvSpPr/>
            <p:nvPr/>
          </p:nvSpPr>
          <p:spPr>
            <a:xfrm>
              <a:off x="3611" y="2296"/>
              <a:ext cx="1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u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54A1640-D818-4A1A-9F66-EAF590C952CD}"/>
                </a:ext>
              </a:extLst>
            </p:cNvPr>
            <p:cNvSpPr/>
            <p:nvPr/>
          </p:nvSpPr>
          <p:spPr>
            <a:xfrm>
              <a:off x="3343" y="2296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22BFB6E-D346-41EA-B5BD-E957191F4223}"/>
                </a:ext>
              </a:extLst>
            </p:cNvPr>
            <p:cNvSpPr/>
            <p:nvPr/>
          </p:nvSpPr>
          <p:spPr>
            <a:xfrm>
              <a:off x="2992" y="2296"/>
              <a:ext cx="140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accent2"/>
                  </a:solidFill>
                </a:rPr>
                <a:t>G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AAB6D70-2B98-46A5-9D9E-861DCEB25543}"/>
                </a:ext>
              </a:extLst>
            </p:cNvPr>
            <p:cNvSpPr/>
            <p:nvPr/>
          </p:nvSpPr>
          <p:spPr>
            <a:xfrm>
              <a:off x="5057" y="2411"/>
              <a:ext cx="44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400" b="1" i="1" dirty="0">
                  <a:solidFill>
                    <a:schemeClr val="accent2"/>
                  </a:solidFill>
                </a:rPr>
                <a:t>s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5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/>
      <p:bldP spid="87045" grpId="0"/>
      <p:bldP spid="87046" grpId="0" build="p" advAuto="1000"/>
      <p:bldP spid="870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/>
          <p:nvPr/>
        </p:nvSpPr>
        <p:spPr>
          <a:xfrm>
            <a:off x="1833563" y="219075"/>
            <a:ext cx="8429625" cy="6159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400" b="1" dirty="0">
                <a:solidFill>
                  <a:srgbClr val="FF33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2.3.2  </a:t>
            </a:r>
            <a:r>
              <a:rPr lang="zh-CN" altLang="en-US" sz="3400" b="1" dirty="0">
                <a:solidFill>
                  <a:srgbClr val="FF33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集成运放的电压传输特性和分析依据 </a:t>
            </a:r>
          </a:p>
        </p:txBody>
      </p:sp>
      <p:sp>
        <p:nvSpPr>
          <p:cNvPr id="697348" name="Text Box 4"/>
          <p:cNvSpPr txBox="1"/>
          <p:nvPr/>
        </p:nvSpPr>
        <p:spPr>
          <a:xfrm>
            <a:off x="788988" y="941388"/>
            <a:ext cx="39322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ea typeface="黑体" panose="02010609060101010101" pitchFamily="49" charset="-122"/>
              </a:rPr>
              <a:t>  1. </a:t>
            </a:r>
            <a:r>
              <a:rPr lang="zh-CN" altLang="en-US" sz="2800" b="1" dirty="0">
                <a:solidFill>
                  <a:srgbClr val="009900"/>
                </a:solidFill>
                <a:ea typeface="黑体" panose="02010609060101010101" pitchFamily="49" charset="-122"/>
              </a:rPr>
              <a:t>运放的电压传输特性</a:t>
            </a:r>
            <a:endParaRPr lang="zh-CN" altLang="en-US" sz="2800" b="1" i="1" dirty="0">
              <a:solidFill>
                <a:srgbClr val="009900"/>
              </a:solidFill>
              <a:ea typeface="黑体" panose="02010609060101010101" pitchFamily="49" charset="-122"/>
            </a:endParaRPr>
          </a:p>
        </p:txBody>
      </p:sp>
      <p:sp>
        <p:nvSpPr>
          <p:cNvPr id="697349" name="Text Box 5"/>
          <p:cNvSpPr txBox="1"/>
          <p:nvPr/>
        </p:nvSpPr>
        <p:spPr>
          <a:xfrm>
            <a:off x="1746250" y="3606800"/>
            <a:ext cx="541338" cy="180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实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际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运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放</a:t>
            </a:r>
            <a:endParaRPr lang="zh-CN" altLang="en-US" sz="2800" b="1" i="1" dirty="0">
              <a:solidFill>
                <a:srgbClr val="FF00FF"/>
              </a:solidFill>
              <a:ea typeface="幼圆" panose="02010509060101010101" pitchFamily="49" charset="-122"/>
            </a:endParaRPr>
          </a:p>
        </p:txBody>
      </p:sp>
      <p:sp>
        <p:nvSpPr>
          <p:cNvPr id="697350" name="Text Box 6"/>
          <p:cNvSpPr txBox="1"/>
          <p:nvPr/>
        </p:nvSpPr>
        <p:spPr>
          <a:xfrm>
            <a:off x="9998075" y="3600450"/>
            <a:ext cx="541338" cy="180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理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想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运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ea typeface="幼圆" panose="02010509060101010101" pitchFamily="49" charset="-122"/>
              </a:rPr>
              <a:t>放</a:t>
            </a:r>
            <a:endParaRPr lang="zh-CN" altLang="en-US" sz="2800" i="1" dirty="0">
              <a:solidFill>
                <a:srgbClr val="FF00FF"/>
              </a:solidFill>
              <a:ea typeface="幼圆" panose="02010509060101010101" pitchFamily="49" charset="-122"/>
            </a:endParaRPr>
          </a:p>
        </p:txBody>
      </p:sp>
      <p:sp>
        <p:nvSpPr>
          <p:cNvPr id="697351" name="Text Box 7"/>
          <p:cNvSpPr txBox="1"/>
          <p:nvPr/>
        </p:nvSpPr>
        <p:spPr>
          <a:xfrm>
            <a:off x="1931988" y="1746250"/>
            <a:ext cx="6019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定义：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ea typeface="黑体" panose="02010609060101010101" pitchFamily="49" charset="-122"/>
              </a:rPr>
              <a:t>o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 f 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( 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ea typeface="黑体" panose="02010609060101010101" pitchFamily="49" charset="-122"/>
              </a:rPr>
              <a:t>d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，</a:t>
            </a:r>
            <a:r>
              <a:rPr lang="zh-CN" altLang="zh-CN" sz="2800" b="1" dirty="0">
                <a:solidFill>
                  <a:srgbClr val="0000FF"/>
                </a:solidFill>
              </a:rPr>
              <a:t>其中 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ea typeface="黑体" panose="02010609060101010101" pitchFamily="49" charset="-122"/>
              </a:rPr>
              <a:t>d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 u</a:t>
            </a:r>
            <a:r>
              <a:rPr lang="en-US" altLang="zh-CN" sz="2800" b="1" i="1" baseline="-18000" dirty="0">
                <a:solidFill>
                  <a:srgbClr val="0000FF"/>
                </a:solidFill>
                <a:ea typeface="黑体" panose="02010609060101010101" pitchFamily="49" charset="-122"/>
              </a:rPr>
              <a:t>+ 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800" b="1" i="1" baseline="-18000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800" b="1" baseline="-10000" dirty="0">
                <a:solidFill>
                  <a:srgbClr val="0000FF"/>
                </a:solidFill>
                <a:ea typeface="黑体" panose="02010609060101010101" pitchFamily="49" charset="-122"/>
              </a:rPr>
              <a:t>– 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97353" name="Line 9"/>
          <p:cNvSpPr/>
          <p:nvPr/>
        </p:nvSpPr>
        <p:spPr>
          <a:xfrm>
            <a:off x="7845425" y="3617913"/>
            <a:ext cx="103187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7354" name="Line 10"/>
          <p:cNvSpPr/>
          <p:nvPr/>
        </p:nvSpPr>
        <p:spPr>
          <a:xfrm>
            <a:off x="6815138" y="5622925"/>
            <a:ext cx="103028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7355" name="Text Box 11"/>
          <p:cNvSpPr txBox="1"/>
          <p:nvPr/>
        </p:nvSpPr>
        <p:spPr>
          <a:xfrm>
            <a:off x="7118350" y="3397250"/>
            <a:ext cx="75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rgbClr val="FF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FF"/>
                </a:solidFill>
                <a:ea typeface="黑体" panose="02010609060101010101" pitchFamily="49" charset="-122"/>
              </a:rPr>
              <a:t>OM</a:t>
            </a:r>
            <a:endParaRPr lang="en-US" altLang="zh-CN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697356" name="Text Box 12"/>
          <p:cNvSpPr txBox="1"/>
          <p:nvPr/>
        </p:nvSpPr>
        <p:spPr>
          <a:xfrm>
            <a:off x="7875588" y="5389563"/>
            <a:ext cx="9080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400" b="1" i="1" dirty="0">
                <a:solidFill>
                  <a:srgbClr val="FF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FF"/>
                </a:solidFill>
                <a:ea typeface="黑体" panose="02010609060101010101" pitchFamily="49" charset="-122"/>
              </a:rPr>
              <a:t>OM</a:t>
            </a:r>
            <a:endParaRPr lang="en-US" altLang="zh-CN" sz="2400" i="1" dirty="0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grpSp>
        <p:nvGrpSpPr>
          <p:cNvPr id="27659" name="Group 13"/>
          <p:cNvGrpSpPr/>
          <p:nvPr/>
        </p:nvGrpSpPr>
        <p:grpSpPr>
          <a:xfrm>
            <a:off x="6540500" y="2763838"/>
            <a:ext cx="3216275" cy="3189287"/>
            <a:chOff x="3072" y="1488"/>
            <a:chExt cx="2246" cy="2294"/>
          </a:xfrm>
        </p:grpSpPr>
        <p:sp>
          <p:nvSpPr>
            <p:cNvPr id="27703" name="Line 14"/>
            <p:cNvSpPr/>
            <p:nvPr/>
          </p:nvSpPr>
          <p:spPr>
            <a:xfrm>
              <a:off x="3072" y="2805"/>
              <a:ext cx="19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7704" name="Line 15"/>
            <p:cNvSpPr/>
            <p:nvPr/>
          </p:nvSpPr>
          <p:spPr>
            <a:xfrm flipV="1">
              <a:off x="3984" y="1766"/>
              <a:ext cx="0" cy="201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7705" name="Text Box 16"/>
            <p:cNvSpPr txBox="1"/>
            <p:nvPr/>
          </p:nvSpPr>
          <p:spPr>
            <a:xfrm>
              <a:off x="3842" y="1488"/>
              <a:ext cx="3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sz="2400" b="1" baseline="-25000" dirty="0">
                  <a:solidFill>
                    <a:srgbClr val="660033"/>
                  </a:solidFill>
                  <a:ea typeface="黑体" panose="02010609060101010101" pitchFamily="49" charset="-122"/>
                </a:rPr>
                <a:t>o</a:t>
              </a:r>
              <a:endParaRPr lang="en-US" altLang="zh-CN" sz="2400" b="1" dirty="0">
                <a:solidFill>
                  <a:srgbClr val="660033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7706" name="Text Box 17"/>
            <p:cNvSpPr txBox="1"/>
            <p:nvPr/>
          </p:nvSpPr>
          <p:spPr>
            <a:xfrm>
              <a:off x="4992" y="2706"/>
              <a:ext cx="32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sz="2400" b="1" baseline="-25000" dirty="0">
                  <a:solidFill>
                    <a:srgbClr val="660033"/>
                  </a:solidFill>
                  <a:ea typeface="黑体" panose="02010609060101010101" pitchFamily="49" charset="-122"/>
                </a:rPr>
                <a:t>d</a:t>
              </a:r>
              <a:endParaRPr lang="en-US" altLang="zh-CN" sz="2400" b="1" i="1" dirty="0">
                <a:solidFill>
                  <a:srgbClr val="660033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7707" name="Text Box 18"/>
            <p:cNvSpPr txBox="1"/>
            <p:nvPr/>
          </p:nvSpPr>
          <p:spPr>
            <a:xfrm>
              <a:off x="3761" y="2746"/>
              <a:ext cx="2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0</a:t>
              </a:r>
            </a:p>
          </p:txBody>
        </p:sp>
      </p:grpSp>
      <p:sp>
        <p:nvSpPr>
          <p:cNvPr id="697363" name="Line 19"/>
          <p:cNvSpPr/>
          <p:nvPr/>
        </p:nvSpPr>
        <p:spPr>
          <a:xfrm>
            <a:off x="7845425" y="3617913"/>
            <a:ext cx="0" cy="2017712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7364" name="Line 20"/>
          <p:cNvSpPr/>
          <p:nvPr/>
        </p:nvSpPr>
        <p:spPr>
          <a:xfrm>
            <a:off x="3589338" y="4594225"/>
            <a:ext cx="0" cy="935038"/>
          </a:xfrm>
          <a:prstGeom prst="line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7365" name="Line 21"/>
          <p:cNvSpPr/>
          <p:nvPr/>
        </p:nvSpPr>
        <p:spPr>
          <a:xfrm>
            <a:off x="4002088" y="3594100"/>
            <a:ext cx="0" cy="1000125"/>
          </a:xfrm>
          <a:prstGeom prst="line">
            <a:avLst/>
          </a:prstGeom>
          <a:ln w="1905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7366" name="Line 22"/>
          <p:cNvSpPr/>
          <p:nvPr/>
        </p:nvSpPr>
        <p:spPr>
          <a:xfrm>
            <a:off x="4002088" y="3594100"/>
            <a:ext cx="103187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7367" name="Line 23"/>
          <p:cNvSpPr/>
          <p:nvPr/>
        </p:nvSpPr>
        <p:spPr>
          <a:xfrm>
            <a:off x="2557463" y="5529263"/>
            <a:ext cx="103187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7368" name="Text Box 24"/>
          <p:cNvSpPr txBox="1"/>
          <p:nvPr/>
        </p:nvSpPr>
        <p:spPr>
          <a:xfrm>
            <a:off x="3049588" y="3371850"/>
            <a:ext cx="75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rgbClr val="FF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FF"/>
                </a:solidFill>
                <a:ea typeface="黑体" panose="02010609060101010101" pitchFamily="49" charset="-122"/>
              </a:rPr>
              <a:t>OM</a:t>
            </a:r>
          </a:p>
        </p:txBody>
      </p:sp>
      <p:sp>
        <p:nvSpPr>
          <p:cNvPr id="697369" name="Text Box 25"/>
          <p:cNvSpPr txBox="1"/>
          <p:nvPr/>
        </p:nvSpPr>
        <p:spPr>
          <a:xfrm>
            <a:off x="3795713" y="5278438"/>
            <a:ext cx="93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400" b="1" i="1" dirty="0">
                <a:solidFill>
                  <a:srgbClr val="FF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FF"/>
                </a:solidFill>
                <a:ea typeface="黑体" panose="02010609060101010101" pitchFamily="49" charset="-122"/>
              </a:rPr>
              <a:t>OM</a:t>
            </a:r>
          </a:p>
        </p:txBody>
      </p:sp>
      <p:sp>
        <p:nvSpPr>
          <p:cNvPr id="697370" name="Text Box 26"/>
          <p:cNvSpPr txBox="1"/>
          <p:nvPr/>
        </p:nvSpPr>
        <p:spPr>
          <a:xfrm>
            <a:off x="3844925" y="4545013"/>
            <a:ext cx="631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rgbClr val="FF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FF"/>
                </a:solidFill>
                <a:ea typeface="黑体" panose="02010609060101010101" pitchFamily="49" charset="-122"/>
              </a:rPr>
              <a:t>im</a:t>
            </a:r>
            <a:endParaRPr lang="en-US" altLang="zh-CN" sz="2400" b="1" dirty="0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697371" name="Text Box 27"/>
          <p:cNvSpPr txBox="1"/>
          <p:nvPr/>
        </p:nvSpPr>
        <p:spPr>
          <a:xfrm>
            <a:off x="3086100" y="4137025"/>
            <a:ext cx="7842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400" b="1" i="1" dirty="0">
                <a:solidFill>
                  <a:srgbClr val="FF00FF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FF"/>
                </a:solidFill>
                <a:ea typeface="黑体" panose="02010609060101010101" pitchFamily="49" charset="-122"/>
              </a:rPr>
              <a:t>im</a:t>
            </a:r>
          </a:p>
        </p:txBody>
      </p:sp>
      <p:sp>
        <p:nvSpPr>
          <p:cNvPr id="697372" name="Line 28"/>
          <p:cNvSpPr/>
          <p:nvPr/>
        </p:nvSpPr>
        <p:spPr>
          <a:xfrm>
            <a:off x="3795713" y="3594100"/>
            <a:ext cx="2063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7373" name="Line 29"/>
          <p:cNvSpPr/>
          <p:nvPr/>
        </p:nvSpPr>
        <p:spPr>
          <a:xfrm>
            <a:off x="3589338" y="5529263"/>
            <a:ext cx="2063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27671" name="Group 30"/>
          <p:cNvGrpSpPr/>
          <p:nvPr/>
        </p:nvGrpSpPr>
        <p:grpSpPr>
          <a:xfrm>
            <a:off x="2489200" y="2740025"/>
            <a:ext cx="3221038" cy="3189288"/>
            <a:chOff x="672" y="1392"/>
            <a:chExt cx="2249" cy="2294"/>
          </a:xfrm>
        </p:grpSpPr>
        <p:sp>
          <p:nvSpPr>
            <p:cNvPr id="27698" name="Line 31"/>
            <p:cNvSpPr/>
            <p:nvPr/>
          </p:nvSpPr>
          <p:spPr>
            <a:xfrm>
              <a:off x="672" y="2726"/>
              <a:ext cx="19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7699" name="Line 32"/>
            <p:cNvSpPr/>
            <p:nvPr/>
          </p:nvSpPr>
          <p:spPr>
            <a:xfrm flipV="1">
              <a:off x="1584" y="1670"/>
              <a:ext cx="0" cy="201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7700" name="Text Box 33"/>
            <p:cNvSpPr txBox="1"/>
            <p:nvPr/>
          </p:nvSpPr>
          <p:spPr>
            <a:xfrm>
              <a:off x="2593" y="2596"/>
              <a:ext cx="328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sz="2400" b="1" baseline="-25000" dirty="0">
                  <a:solidFill>
                    <a:srgbClr val="660033"/>
                  </a:solidFill>
                  <a:ea typeface="黑体" panose="02010609060101010101" pitchFamily="49" charset="-122"/>
                </a:rPr>
                <a:t>d</a:t>
              </a:r>
              <a:endParaRPr lang="en-US" altLang="zh-CN" sz="2400" i="1" dirty="0">
                <a:solidFill>
                  <a:srgbClr val="FF33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7701" name="Text Box 34"/>
            <p:cNvSpPr txBox="1"/>
            <p:nvPr/>
          </p:nvSpPr>
          <p:spPr>
            <a:xfrm>
              <a:off x="1440" y="1392"/>
              <a:ext cx="31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sz="2400" b="1" baseline="-25000" dirty="0">
                  <a:solidFill>
                    <a:srgbClr val="660033"/>
                  </a:solidFill>
                  <a:ea typeface="黑体" panose="02010609060101010101" pitchFamily="49" charset="-122"/>
                </a:rPr>
                <a:t>o</a:t>
              </a:r>
            </a:p>
          </p:txBody>
        </p:sp>
        <p:sp>
          <p:nvSpPr>
            <p:cNvPr id="27702" name="Text Box 35"/>
            <p:cNvSpPr txBox="1"/>
            <p:nvPr/>
          </p:nvSpPr>
          <p:spPr>
            <a:xfrm>
              <a:off x="1352" y="2674"/>
              <a:ext cx="2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/>
                <a:t>0</a:t>
              </a:r>
            </a:p>
          </p:txBody>
        </p:sp>
      </p:grpSp>
      <p:sp>
        <p:nvSpPr>
          <p:cNvPr id="697380" name="Line 36"/>
          <p:cNvSpPr/>
          <p:nvPr/>
        </p:nvSpPr>
        <p:spPr>
          <a:xfrm flipH="1">
            <a:off x="3589338" y="3594100"/>
            <a:ext cx="412750" cy="19351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7673" name="Group 59"/>
          <p:cNvGrpSpPr/>
          <p:nvPr/>
        </p:nvGrpSpPr>
        <p:grpSpPr>
          <a:xfrm>
            <a:off x="8472488" y="1317625"/>
            <a:ext cx="2497137" cy="1485900"/>
            <a:chOff x="4187" y="720"/>
            <a:chExt cx="1573" cy="936"/>
          </a:xfrm>
        </p:grpSpPr>
        <p:sp>
          <p:nvSpPr>
            <p:cNvPr id="27680" name="Line 38"/>
            <p:cNvSpPr/>
            <p:nvPr/>
          </p:nvSpPr>
          <p:spPr>
            <a:xfrm>
              <a:off x="4452" y="1073"/>
              <a:ext cx="21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1" name="Rectangle 39"/>
            <p:cNvSpPr/>
            <p:nvPr/>
          </p:nvSpPr>
          <p:spPr>
            <a:xfrm>
              <a:off x="4662" y="784"/>
              <a:ext cx="561" cy="729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7682" name="Line 40"/>
            <p:cNvSpPr/>
            <p:nvPr/>
          </p:nvSpPr>
          <p:spPr>
            <a:xfrm>
              <a:off x="5221" y="1232"/>
              <a:ext cx="20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3" name="Oval 41"/>
            <p:cNvSpPr/>
            <p:nvPr/>
          </p:nvSpPr>
          <p:spPr>
            <a:xfrm>
              <a:off x="5399" y="1202"/>
              <a:ext cx="46" cy="44"/>
            </a:xfrm>
            <a:prstGeom prst="ellipse">
              <a:avLst/>
            </a:prstGeom>
            <a:solidFill>
              <a:srgbClr val="CC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7684" name="Text Box 42"/>
            <p:cNvSpPr txBox="1"/>
            <p:nvPr/>
          </p:nvSpPr>
          <p:spPr>
            <a:xfrm>
              <a:off x="4271" y="1049"/>
              <a:ext cx="4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d</a:t>
              </a:r>
            </a:p>
          </p:txBody>
        </p:sp>
        <p:sp>
          <p:nvSpPr>
            <p:cNvPr id="27685" name="Text Box 43"/>
            <p:cNvSpPr txBox="1"/>
            <p:nvPr/>
          </p:nvSpPr>
          <p:spPr>
            <a:xfrm>
              <a:off x="5424" y="105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/>
                <a:t>u</a:t>
              </a:r>
              <a:r>
                <a:rPr lang="en-US" altLang="zh-CN" sz="2400" b="1" baseline="-25000" dirty="0"/>
                <a:t>o</a:t>
              </a:r>
              <a:endParaRPr lang="en-US" altLang="zh-CN" sz="2400" b="1" dirty="0"/>
            </a:p>
          </p:txBody>
        </p:sp>
        <p:sp>
          <p:nvSpPr>
            <p:cNvPr id="27686" name="Oval 44"/>
            <p:cNvSpPr/>
            <p:nvPr/>
          </p:nvSpPr>
          <p:spPr>
            <a:xfrm>
              <a:off x="4405" y="1048"/>
              <a:ext cx="47" cy="44"/>
            </a:xfrm>
            <a:prstGeom prst="ellipse">
              <a:avLst/>
            </a:prstGeom>
            <a:solidFill>
              <a:srgbClr val="CC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7687" name="Line 45"/>
            <p:cNvSpPr/>
            <p:nvPr/>
          </p:nvSpPr>
          <p:spPr>
            <a:xfrm>
              <a:off x="4446" y="1393"/>
              <a:ext cx="21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8" name="Oval 46"/>
            <p:cNvSpPr/>
            <p:nvPr/>
          </p:nvSpPr>
          <p:spPr>
            <a:xfrm>
              <a:off x="4399" y="1371"/>
              <a:ext cx="47" cy="45"/>
            </a:xfrm>
            <a:prstGeom prst="ellipse">
              <a:avLst/>
            </a:prstGeom>
            <a:solidFill>
              <a:srgbClr val="CC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7689" name="Text Box 47"/>
            <p:cNvSpPr txBox="1"/>
            <p:nvPr/>
          </p:nvSpPr>
          <p:spPr>
            <a:xfrm>
              <a:off x="4318" y="768"/>
              <a:ext cx="31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/>
                <a:t>u</a:t>
              </a:r>
              <a:r>
                <a:rPr lang="en-US" altLang="zh-CN" sz="2400" b="1" i="1" baseline="-25000" dirty="0"/>
                <a:t>+</a:t>
              </a:r>
              <a:endParaRPr lang="en-US" altLang="zh-CN" sz="2400" b="1" dirty="0"/>
            </a:p>
          </p:txBody>
        </p:sp>
        <p:sp>
          <p:nvSpPr>
            <p:cNvPr id="27690" name="Text Box 48"/>
            <p:cNvSpPr txBox="1"/>
            <p:nvPr/>
          </p:nvSpPr>
          <p:spPr>
            <a:xfrm>
              <a:off x="4654" y="943"/>
              <a:ext cx="186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+</a:t>
              </a:r>
              <a:endParaRPr lang="en-US" altLang="zh-CN" sz="2400" dirty="0"/>
            </a:p>
          </p:txBody>
        </p:sp>
        <p:sp>
          <p:nvSpPr>
            <p:cNvPr id="27691" name="Text Box 49"/>
            <p:cNvSpPr txBox="1"/>
            <p:nvPr/>
          </p:nvSpPr>
          <p:spPr>
            <a:xfrm>
              <a:off x="4326" y="1368"/>
              <a:ext cx="37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/>
                <a:t>u</a:t>
              </a:r>
              <a:r>
                <a:rPr lang="en-US" altLang="zh-CN" sz="2400" b="1" i="1" baseline="-25000" dirty="0">
                  <a:cs typeface="Times New Roman" panose="02020603050405020304" pitchFamily="18" charset="0"/>
                </a:rPr>
                <a:t>–</a:t>
              </a:r>
              <a:endParaRPr lang="en-US" altLang="zh-CN" sz="2400" b="1" baseline="-25000" dirty="0"/>
            </a:p>
          </p:txBody>
        </p:sp>
        <p:sp>
          <p:nvSpPr>
            <p:cNvPr id="27692" name="Text Box 50"/>
            <p:cNvSpPr txBox="1"/>
            <p:nvPr/>
          </p:nvSpPr>
          <p:spPr>
            <a:xfrm>
              <a:off x="4656" y="1213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–</a:t>
              </a:r>
              <a:endParaRPr lang="en-US" altLang="zh-CN" sz="2400" dirty="0"/>
            </a:p>
          </p:txBody>
        </p:sp>
        <p:sp>
          <p:nvSpPr>
            <p:cNvPr id="27693" name="Text Box 51"/>
            <p:cNvSpPr txBox="1"/>
            <p:nvPr/>
          </p:nvSpPr>
          <p:spPr>
            <a:xfrm>
              <a:off x="5023" y="1104"/>
              <a:ext cx="187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/>
                <a:t>+</a:t>
              </a:r>
              <a:endParaRPr lang="en-US" altLang="zh-CN" sz="2400" dirty="0"/>
            </a:p>
          </p:txBody>
        </p:sp>
        <p:sp>
          <p:nvSpPr>
            <p:cNvPr id="27694" name="AutoShape 52"/>
            <p:cNvSpPr/>
            <p:nvPr/>
          </p:nvSpPr>
          <p:spPr>
            <a:xfrm rot="5400000">
              <a:off x="4790" y="845"/>
              <a:ext cx="114" cy="100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7695" name="Text Box 53"/>
            <p:cNvSpPr txBox="1"/>
            <p:nvPr/>
          </p:nvSpPr>
          <p:spPr>
            <a:xfrm>
              <a:off x="4911" y="720"/>
              <a:ext cx="2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ym typeface="Symbol" panose="05050102010706020507" pitchFamily="18" charset="2"/>
                </a:rPr>
                <a:t></a:t>
              </a:r>
              <a:endParaRPr lang="en-US" altLang="zh-CN" sz="2800" b="1" dirty="0"/>
            </a:p>
          </p:txBody>
        </p:sp>
        <p:sp>
          <p:nvSpPr>
            <p:cNvPr id="27696" name="Text Box 54"/>
            <p:cNvSpPr txBox="1"/>
            <p:nvPr/>
          </p:nvSpPr>
          <p:spPr>
            <a:xfrm>
              <a:off x="4193" y="943"/>
              <a:ext cx="187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+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  <p:sp>
          <p:nvSpPr>
            <p:cNvPr id="27697" name="Text Box 55"/>
            <p:cNvSpPr txBox="1"/>
            <p:nvPr/>
          </p:nvSpPr>
          <p:spPr>
            <a:xfrm>
              <a:off x="4187" y="1232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–</a:t>
              </a:r>
              <a:endParaRPr lang="en-US" altLang="zh-CN" sz="2400" dirty="0">
                <a:solidFill>
                  <a:srgbClr val="0000FF"/>
                </a:solidFill>
              </a:endParaRPr>
            </a:p>
          </p:txBody>
        </p:sp>
      </p:grpSp>
      <p:sp>
        <p:nvSpPr>
          <p:cNvPr id="697400" name="AutoShape 56"/>
          <p:cNvSpPr/>
          <p:nvPr/>
        </p:nvSpPr>
        <p:spPr>
          <a:xfrm>
            <a:off x="4233863" y="3902075"/>
            <a:ext cx="1025525" cy="457200"/>
          </a:xfrm>
          <a:prstGeom prst="wedgeRoundRectCallout">
            <a:avLst>
              <a:gd name="adj1" fmla="val -76005"/>
              <a:gd name="adj2" fmla="val -4756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3333FF"/>
                </a:solidFill>
              </a:rPr>
              <a:t>线性区</a:t>
            </a:r>
          </a:p>
        </p:txBody>
      </p:sp>
      <p:sp>
        <p:nvSpPr>
          <p:cNvPr id="697401" name="AutoShape 57"/>
          <p:cNvSpPr/>
          <p:nvPr/>
        </p:nvSpPr>
        <p:spPr>
          <a:xfrm>
            <a:off x="4205288" y="2917825"/>
            <a:ext cx="1312862" cy="457200"/>
          </a:xfrm>
          <a:prstGeom prst="wedgeRoundRectCallout">
            <a:avLst>
              <a:gd name="adj1" fmla="val -41537"/>
              <a:gd name="adj2" fmla="val 9965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3333FF"/>
                </a:solidFill>
              </a:rPr>
              <a:t>非线性区</a:t>
            </a:r>
          </a:p>
        </p:txBody>
      </p:sp>
      <p:sp>
        <p:nvSpPr>
          <p:cNvPr id="27676" name="AutoShape 20">
            <a:hlinkClick r:id="" action="ppaction://hlinkshowjump?jump=firstslide"/>
          </p:cNvPr>
          <p:cNvSpPr/>
          <p:nvPr/>
        </p:nvSpPr>
        <p:spPr>
          <a:xfrm>
            <a:off x="92964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7677" name="AutoShape 21">
            <a:hlinkClick r:id="" action="ppaction://hlinkshowjump?jump=nextslide"/>
          </p:cNvPr>
          <p:cNvSpPr/>
          <p:nvPr/>
        </p:nvSpPr>
        <p:spPr>
          <a:xfrm>
            <a:off x="102108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27678" name="AutoShape 22">
            <a:hlinkClick r:id="" action="ppaction://hlinkshowjump?jump=previousslide"/>
          </p:cNvPr>
          <p:cNvSpPr/>
          <p:nvPr/>
        </p:nvSpPr>
        <p:spPr>
          <a:xfrm>
            <a:off x="9753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710679" name="Line 23"/>
          <p:cNvSpPr/>
          <p:nvPr/>
        </p:nvSpPr>
        <p:spPr>
          <a:xfrm>
            <a:off x="9374188" y="6523038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9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7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9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7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97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9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7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97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9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97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97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9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7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97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9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9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9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9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97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97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8" grpId="0"/>
      <p:bldP spid="697349" grpId="0"/>
      <p:bldP spid="697350" grpId="0"/>
      <p:bldP spid="697351" grpId="0" build="p"/>
      <p:bldP spid="697355" grpId="0"/>
      <p:bldP spid="697356" grpId="0"/>
      <p:bldP spid="697368" grpId="0"/>
      <p:bldP spid="697369" grpId="0"/>
      <p:bldP spid="697370" grpId="0"/>
      <p:bldP spid="697371" grpId="0"/>
      <p:bldP spid="697400" grpId="0" animBg="1"/>
      <p:bldP spid="69740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/>
          <p:nvPr/>
        </p:nvSpPr>
        <p:spPr>
          <a:xfrm>
            <a:off x="519113" y="161925"/>
            <a:ext cx="59531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9900"/>
                </a:solidFill>
                <a:ea typeface="黑体" panose="02010609060101010101" pitchFamily="49" charset="-122"/>
              </a:rPr>
              <a:t>运放工作在线性区的分析依据有</a:t>
            </a:r>
            <a:r>
              <a:rPr lang="en-US" altLang="zh-CN" sz="2800" b="1" dirty="0">
                <a:solidFill>
                  <a:srgbClr val="00990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9900"/>
                </a:solidFill>
                <a:ea typeface="黑体" panose="02010609060101010101" pitchFamily="49" charset="-122"/>
              </a:rPr>
              <a:t>条</a:t>
            </a:r>
          </a:p>
        </p:txBody>
      </p:sp>
      <p:sp>
        <p:nvSpPr>
          <p:cNvPr id="732163" name="Text Box 3"/>
          <p:cNvSpPr txBox="1"/>
          <p:nvPr/>
        </p:nvSpPr>
        <p:spPr>
          <a:xfrm>
            <a:off x="3805238" y="6115050"/>
            <a:ext cx="47640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u="sng" dirty="0">
                <a:solidFill>
                  <a:srgbClr val="CC00FF"/>
                </a:solidFill>
                <a:ea typeface="黑体" panose="02010609060101010101" pitchFamily="49" charset="-122"/>
              </a:rPr>
              <a:t>相当于</a:t>
            </a:r>
            <a:r>
              <a:rPr lang="zh-CN" altLang="en-US" sz="2800" b="1" dirty="0">
                <a:solidFill>
                  <a:srgbClr val="CC00FF"/>
                </a:solidFill>
                <a:ea typeface="黑体" panose="02010609060101010101" pitchFamily="49" charset="-122"/>
              </a:rPr>
              <a:t>两输入端之间</a:t>
            </a:r>
            <a:r>
              <a:rPr lang="zh-CN" altLang="en-US" b="1" u="sng" dirty="0">
                <a:solidFill>
                  <a:srgbClr val="FF0000"/>
                </a:solidFill>
                <a:ea typeface="黑体" panose="02010609060101010101" pitchFamily="49" charset="-122"/>
              </a:rPr>
              <a:t>短路</a:t>
            </a: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zh-CN" altLang="en-US" sz="4400" b="1" i="1" dirty="0">
              <a:solidFill>
                <a:srgbClr val="FF33CC"/>
              </a:solidFill>
              <a:ea typeface="黑体" panose="02010609060101010101" pitchFamily="49" charset="-122"/>
            </a:endParaRPr>
          </a:p>
        </p:txBody>
      </p:sp>
      <p:sp>
        <p:nvSpPr>
          <p:cNvPr id="732164" name="Text Box 4"/>
          <p:cNvSpPr txBox="1"/>
          <p:nvPr/>
        </p:nvSpPr>
        <p:spPr>
          <a:xfrm>
            <a:off x="1768475" y="2120900"/>
            <a:ext cx="3690938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对于理想运放  </a:t>
            </a:r>
            <a:r>
              <a:rPr lang="en-US" altLang="zh-CN" sz="2600" b="1" i="1" dirty="0">
                <a:solidFill>
                  <a:srgbClr val="0000FF"/>
                </a:solidFill>
              </a:rPr>
              <a:t>r</a:t>
            </a:r>
            <a:r>
              <a:rPr lang="en-US" altLang="zh-CN" sz="2600" b="1" baseline="-25000" dirty="0">
                <a:solidFill>
                  <a:srgbClr val="0000FF"/>
                </a:solidFill>
              </a:rPr>
              <a:t>id </a:t>
            </a:r>
            <a:r>
              <a:rPr lang="en-US" altLang="zh-CN" sz="2600" b="1" dirty="0">
                <a:solidFill>
                  <a:srgbClr val="0000FF"/>
                </a:solidFill>
                <a:sym typeface="Symbol" panose="05050102010706020507" pitchFamily="18" charset="2"/>
              </a:rPr>
              <a:t> </a:t>
            </a:r>
            <a:endParaRPr lang="en-US" altLang="zh-CN" sz="2600" i="1" dirty="0">
              <a:solidFill>
                <a:srgbClr val="0000FF"/>
              </a:solidFill>
            </a:endParaRPr>
          </a:p>
        </p:txBody>
      </p:sp>
      <p:sp>
        <p:nvSpPr>
          <p:cNvPr id="732165" name="Text Box 5"/>
          <p:cNvSpPr txBox="1"/>
          <p:nvPr/>
        </p:nvSpPr>
        <p:spPr>
          <a:xfrm>
            <a:off x="1809750" y="6161088"/>
            <a:ext cx="18430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b="1" dirty="0">
                <a:solidFill>
                  <a:srgbClr val="0000FF"/>
                </a:solidFill>
                <a:sym typeface="Symbol" panose="05050102010706020507" pitchFamily="18" charset="2"/>
              </a:rPr>
              <a:t>即</a:t>
            </a:r>
            <a:r>
              <a:rPr lang="zh-CN" altLang="en-US" sz="28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FF3300"/>
                </a:solidFill>
              </a:rPr>
              <a:t>–</a:t>
            </a:r>
            <a:r>
              <a:rPr lang="en-US" altLang="zh-CN" sz="2800" b="1" i="1" dirty="0">
                <a:solidFill>
                  <a:srgbClr val="FF3300"/>
                </a:solidFill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i="1" dirty="0">
                <a:solidFill>
                  <a:srgbClr val="FF3300"/>
                </a:solidFill>
              </a:rPr>
              <a:t>u</a:t>
            </a:r>
            <a:r>
              <a:rPr lang="en-US" altLang="zh-CN" sz="2800" b="1" i="1" baseline="-25000" dirty="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732166" name="Text Box 6"/>
          <p:cNvSpPr txBox="1"/>
          <p:nvPr/>
        </p:nvSpPr>
        <p:spPr>
          <a:xfrm>
            <a:off x="1633538" y="3197225"/>
            <a:ext cx="4419600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b="1" u="sng" dirty="0">
                <a:solidFill>
                  <a:srgbClr val="CC00FF"/>
                </a:solidFill>
                <a:ea typeface="黑体" panose="02010609060101010101" pitchFamily="49" charset="-122"/>
              </a:rPr>
              <a:t>相当于</a:t>
            </a:r>
            <a:r>
              <a:rPr lang="zh-CN" altLang="en-US" sz="2600" b="1" dirty="0">
                <a:solidFill>
                  <a:srgbClr val="CC00FF"/>
                </a:solidFill>
                <a:ea typeface="黑体" panose="02010609060101010101" pitchFamily="49" charset="-122"/>
              </a:rPr>
              <a:t>两输入端之间</a:t>
            </a:r>
            <a:r>
              <a:rPr lang="zh-CN" altLang="en-US" sz="3000" b="1" u="sng" dirty="0">
                <a:solidFill>
                  <a:srgbClr val="FF0000"/>
                </a:solidFill>
                <a:ea typeface="黑体" panose="02010609060101010101" pitchFamily="49" charset="-122"/>
              </a:rPr>
              <a:t>断路</a:t>
            </a:r>
            <a:r>
              <a:rPr lang="zh-CN" altLang="en-US" sz="3000" b="1" dirty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zh-CN" altLang="en-US" sz="3000" b="1" i="1" dirty="0">
              <a:solidFill>
                <a:srgbClr val="FF33CC"/>
              </a:solidFill>
              <a:ea typeface="黑体" panose="02010609060101010101" pitchFamily="49" charset="-122"/>
            </a:endParaRPr>
          </a:p>
        </p:txBody>
      </p:sp>
      <p:sp>
        <p:nvSpPr>
          <p:cNvPr id="732167" name="Text Box 7"/>
          <p:cNvSpPr txBox="1"/>
          <p:nvPr/>
        </p:nvSpPr>
        <p:spPr>
          <a:xfrm>
            <a:off x="1828800" y="2635250"/>
            <a:ext cx="1873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有  </a:t>
            </a:r>
            <a:r>
              <a:rPr lang="en-US" altLang="zh-CN" sz="2800" b="1" i="1" dirty="0">
                <a:solidFill>
                  <a:srgbClr val="FF3300"/>
                </a:solidFill>
              </a:rPr>
              <a:t>i</a:t>
            </a:r>
            <a:r>
              <a:rPr lang="en-US" altLang="zh-CN" sz="2800" b="1" baseline="-25000" dirty="0">
                <a:solidFill>
                  <a:srgbClr val="FF3300"/>
                </a:solidFill>
              </a:rPr>
              <a:t>i</a:t>
            </a:r>
            <a:r>
              <a:rPr lang="en-US" altLang="zh-CN" sz="2800" b="1" i="1" dirty="0">
                <a:solidFill>
                  <a:srgbClr val="FF3300"/>
                </a:solidFill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32168" name="Text Box 8"/>
          <p:cNvSpPr txBox="1"/>
          <p:nvPr/>
        </p:nvSpPr>
        <p:spPr>
          <a:xfrm>
            <a:off x="1220788" y="3868738"/>
            <a:ext cx="3152775" cy="523875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sym typeface="Monotype Sorts" pitchFamily="2" charset="2"/>
              </a:rPr>
              <a:t>（</a:t>
            </a:r>
            <a:r>
              <a:rPr lang="en-US" altLang="zh-CN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sym typeface="Monotype Sorts" pitchFamily="2" charset="2"/>
              </a:rPr>
              <a:t>2</a:t>
            </a:r>
            <a:r>
              <a:rPr lang="zh-CN" altLang="en-US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sym typeface="Monotype Sorts" pitchFamily="2" charset="2"/>
              </a:rPr>
              <a:t>）</a:t>
            </a:r>
            <a:r>
              <a:rPr lang="zh-CN" altLang="en-US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“虚短路”原则</a:t>
            </a:r>
          </a:p>
        </p:txBody>
      </p:sp>
      <p:sp>
        <p:nvSpPr>
          <p:cNvPr id="732169" name="Text Box 9"/>
          <p:cNvSpPr txBox="1"/>
          <p:nvPr/>
        </p:nvSpPr>
        <p:spPr>
          <a:xfrm>
            <a:off x="1243013" y="663575"/>
            <a:ext cx="3605212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sym typeface="Monotype Sorts" pitchFamily="2" charset="2"/>
              </a:rPr>
              <a:t>（</a:t>
            </a:r>
            <a:r>
              <a:rPr lang="en-US" altLang="zh-CN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sym typeface="Monotype Sorts" pitchFamily="2" charset="2"/>
              </a:rPr>
              <a:t>1</a:t>
            </a:r>
            <a:r>
              <a:rPr lang="zh-CN" altLang="en-US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sym typeface="Monotype Sorts" pitchFamily="2" charset="2"/>
              </a:rPr>
              <a:t>）</a:t>
            </a:r>
            <a:r>
              <a:rPr lang="zh-CN" altLang="en-US" sz="2800" b="1" dirty="0">
                <a:solidFill>
                  <a:srgbClr val="CC660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“虚断路”原则</a:t>
            </a:r>
          </a:p>
        </p:txBody>
      </p:sp>
      <p:graphicFrame>
        <p:nvGraphicFramePr>
          <p:cNvPr id="732221" name="Object 61"/>
          <p:cNvGraphicFramePr>
            <a:graphicFrameLocks noChangeAspect="1"/>
          </p:cNvGraphicFramePr>
          <p:nvPr/>
        </p:nvGraphicFramePr>
        <p:xfrm>
          <a:off x="1989138" y="1181100"/>
          <a:ext cx="901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r:id="rId3" imgW="746125" imgH="678815" progId="Equation.3">
                  <p:embed/>
                </p:oleObj>
              </mc:Choice>
              <mc:Fallback>
                <p:oleObj r:id="rId3" imgW="746125" imgH="678815" progId="Equation.3">
                  <p:embed/>
                  <p:pic>
                    <p:nvPicPr>
                      <p:cNvPr id="732221" name="Object 6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89138" y="1181100"/>
                        <a:ext cx="9017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23" name="Text Box 63"/>
          <p:cNvSpPr txBox="1"/>
          <p:nvPr/>
        </p:nvSpPr>
        <p:spPr>
          <a:xfrm>
            <a:off x="1747838" y="5602288"/>
            <a:ext cx="472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对于理想运放 </a:t>
            </a:r>
            <a:r>
              <a:rPr lang="en-US" altLang="zh-CN" sz="2600" b="1" i="1" dirty="0">
                <a:solidFill>
                  <a:srgbClr val="0000FF"/>
                </a:solidFill>
              </a:rPr>
              <a:t>A</a:t>
            </a:r>
            <a:r>
              <a:rPr lang="en-US" altLang="zh-CN" sz="2600" b="1" baseline="-25000" dirty="0">
                <a:solidFill>
                  <a:srgbClr val="0000FF"/>
                </a:solidFill>
              </a:rPr>
              <a:t>uo </a:t>
            </a:r>
            <a:r>
              <a:rPr lang="en-US" altLang="zh-CN" sz="2600" b="1" dirty="0">
                <a:solidFill>
                  <a:srgbClr val="0000FF"/>
                </a:solidFill>
                <a:sym typeface="Symbol" panose="05050102010706020507" pitchFamily="18" charset="2"/>
              </a:rPr>
              <a:t> </a:t>
            </a:r>
            <a:r>
              <a:rPr lang="zh-CN" altLang="en-US" sz="2600" b="1" dirty="0">
                <a:solidFill>
                  <a:srgbClr val="0000FF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solidFill>
                  <a:srgbClr val="0000FF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</a:rPr>
              <a:t>i</a:t>
            </a:r>
            <a:r>
              <a:rPr lang="en-US" altLang="zh-CN" sz="2800" b="1" i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endParaRPr lang="en-US" altLang="zh-CN" sz="2600" i="1" dirty="0">
              <a:solidFill>
                <a:srgbClr val="0000FF"/>
              </a:solidFill>
            </a:endParaRPr>
          </a:p>
        </p:txBody>
      </p:sp>
      <p:sp>
        <p:nvSpPr>
          <p:cNvPr id="732224" name="Rectangle 64"/>
          <p:cNvSpPr/>
          <p:nvPr/>
        </p:nvSpPr>
        <p:spPr>
          <a:xfrm>
            <a:off x="7977188" y="782638"/>
            <a:ext cx="2098675" cy="854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500" b="1" dirty="0">
                <a:solidFill>
                  <a:srgbClr val="0000FF"/>
                </a:solidFill>
              </a:rPr>
              <a:t>运放在线性区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500" b="1" dirty="0">
                <a:solidFill>
                  <a:srgbClr val="0000FF"/>
                </a:solidFill>
              </a:rPr>
              <a:t>符合运算关系</a:t>
            </a:r>
          </a:p>
        </p:txBody>
      </p:sp>
      <p:sp>
        <p:nvSpPr>
          <p:cNvPr id="732225" name="Rectangle 65"/>
          <p:cNvSpPr/>
          <p:nvPr/>
        </p:nvSpPr>
        <p:spPr>
          <a:xfrm>
            <a:off x="8213725" y="1665288"/>
            <a:ext cx="1516063" cy="492125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spcBef>
                <a:spcPct val="0"/>
              </a:spcBef>
              <a:buNone/>
            </a:pPr>
            <a:r>
              <a:rPr lang="en-US" altLang="zh-CN" sz="2600" b="1" i="1" dirty="0">
                <a:solidFill>
                  <a:srgbClr val="FF00FF"/>
                </a:solidFill>
              </a:rPr>
              <a:t>u</a:t>
            </a:r>
            <a:r>
              <a:rPr lang="en-US" altLang="zh-CN" sz="2600" b="1" baseline="-25000" dirty="0">
                <a:solidFill>
                  <a:srgbClr val="FF00FF"/>
                </a:solidFill>
              </a:rPr>
              <a:t>o</a:t>
            </a:r>
            <a:r>
              <a:rPr lang="en-US" altLang="zh-CN" sz="2600" b="1" dirty="0">
                <a:solidFill>
                  <a:srgbClr val="FF00FF"/>
                </a:solidFill>
              </a:rPr>
              <a:t>= </a:t>
            </a:r>
            <a:r>
              <a:rPr lang="en-US" altLang="zh-CN" sz="2600" b="1" i="1" dirty="0">
                <a:solidFill>
                  <a:srgbClr val="FF00FF"/>
                </a:solidFill>
              </a:rPr>
              <a:t>A</a:t>
            </a:r>
            <a:r>
              <a:rPr lang="en-US" altLang="zh-CN" sz="2600" b="1" i="1" baseline="-25000" dirty="0">
                <a:solidFill>
                  <a:srgbClr val="FF00FF"/>
                </a:solidFill>
              </a:rPr>
              <a:t>u</a:t>
            </a:r>
            <a:r>
              <a:rPr lang="en-US" altLang="zh-CN" sz="2600" b="1" baseline="-25000" dirty="0">
                <a:solidFill>
                  <a:srgbClr val="FF00FF"/>
                </a:solidFill>
              </a:rPr>
              <a:t>o </a:t>
            </a:r>
            <a:r>
              <a:rPr lang="en-US" altLang="zh-CN" sz="2600" b="1" i="1" dirty="0">
                <a:solidFill>
                  <a:srgbClr val="FF00FF"/>
                </a:solidFill>
              </a:rPr>
              <a:t>u</a:t>
            </a:r>
            <a:r>
              <a:rPr lang="en-US" altLang="zh-CN" sz="2600" b="1" baseline="-25000" dirty="0">
                <a:solidFill>
                  <a:srgbClr val="FF00FF"/>
                </a:solidFill>
              </a:rPr>
              <a:t>i</a:t>
            </a:r>
          </a:p>
        </p:txBody>
      </p:sp>
      <p:grpSp>
        <p:nvGrpSpPr>
          <p:cNvPr id="5" name="Group 64"/>
          <p:cNvGrpSpPr/>
          <p:nvPr/>
        </p:nvGrpSpPr>
        <p:grpSpPr>
          <a:xfrm>
            <a:off x="1738313" y="4292600"/>
            <a:ext cx="3816350" cy="1255713"/>
            <a:chOff x="-2377" y="2064"/>
            <a:chExt cx="2404" cy="791"/>
          </a:xfrm>
        </p:grpSpPr>
        <p:sp>
          <p:nvSpPr>
            <p:cNvPr id="29759" name="Text Box 65"/>
            <p:cNvSpPr txBox="1"/>
            <p:nvPr/>
          </p:nvSpPr>
          <p:spPr>
            <a:xfrm>
              <a:off x="-529" y="2064"/>
              <a:ext cx="40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dirty="0">
                  <a:solidFill>
                    <a:srgbClr val="FF33CC"/>
                  </a:solidFill>
                </a:rPr>
                <a:t>u</a:t>
              </a:r>
              <a:r>
                <a:rPr lang="en-US" altLang="zh-CN" sz="4000" b="1" baseline="-25000" dirty="0">
                  <a:solidFill>
                    <a:srgbClr val="FF33CC"/>
                  </a:solidFill>
                </a:rPr>
                <a:t>o</a:t>
              </a:r>
            </a:p>
          </p:txBody>
        </p:sp>
        <p:sp>
          <p:nvSpPr>
            <p:cNvPr id="29760" name="Text Box 66"/>
            <p:cNvSpPr txBox="1"/>
            <p:nvPr/>
          </p:nvSpPr>
          <p:spPr>
            <a:xfrm>
              <a:off x="-2076" y="2274"/>
              <a:ext cx="32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b="1" dirty="0">
                  <a:solidFill>
                    <a:srgbClr val="FF33CC"/>
                  </a:solidFill>
                </a:rPr>
                <a:t>=</a:t>
              </a:r>
              <a:endParaRPr lang="en-US" altLang="zh-CN" sz="4800" b="1" i="1" dirty="0">
                <a:solidFill>
                  <a:srgbClr val="FF33CC"/>
                </a:solidFill>
              </a:endParaRPr>
            </a:p>
          </p:txBody>
        </p:sp>
        <p:sp>
          <p:nvSpPr>
            <p:cNvPr id="29761" name="Text Box 67"/>
            <p:cNvSpPr txBox="1"/>
            <p:nvPr/>
          </p:nvSpPr>
          <p:spPr>
            <a:xfrm>
              <a:off x="-2377" y="2212"/>
              <a:ext cx="344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dirty="0">
                  <a:solidFill>
                    <a:srgbClr val="FF33CC"/>
                  </a:solidFill>
                </a:rPr>
                <a:t>u</a:t>
              </a:r>
              <a:r>
                <a:rPr lang="en-US" altLang="zh-CN" b="1" i="1" baseline="-25000" dirty="0">
                  <a:solidFill>
                    <a:srgbClr val="FF33CC"/>
                  </a:solidFill>
                </a:rPr>
                <a:t>i</a:t>
              </a:r>
              <a:endParaRPr lang="en-US" altLang="zh-CN" b="1" baseline="-25000" dirty="0">
                <a:solidFill>
                  <a:srgbClr val="FF33CC"/>
                </a:solidFill>
              </a:endParaRPr>
            </a:p>
          </p:txBody>
        </p:sp>
        <p:sp>
          <p:nvSpPr>
            <p:cNvPr id="29762" name="Text Box 68"/>
            <p:cNvSpPr txBox="1"/>
            <p:nvPr/>
          </p:nvSpPr>
          <p:spPr>
            <a:xfrm>
              <a:off x="-1629" y="2235"/>
              <a:ext cx="116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endParaRPr lang="zh-CN" altLang="zh-CN" sz="4800" b="1" i="1" dirty="0">
                <a:solidFill>
                  <a:srgbClr val="FF33CC"/>
                </a:solidFill>
              </a:endParaRPr>
            </a:p>
          </p:txBody>
        </p:sp>
        <p:sp>
          <p:nvSpPr>
            <p:cNvPr id="29763" name="Text Box 69"/>
            <p:cNvSpPr txBox="1"/>
            <p:nvPr/>
          </p:nvSpPr>
          <p:spPr>
            <a:xfrm>
              <a:off x="-1462" y="228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FF33CC"/>
                  </a:solidFill>
                </a:rPr>
                <a:t>–</a:t>
              </a:r>
              <a:endParaRPr lang="en-US" altLang="zh-CN" sz="4000" b="1" dirty="0">
                <a:solidFill>
                  <a:srgbClr val="FF33CC"/>
                </a:solidFill>
              </a:endParaRPr>
            </a:p>
          </p:txBody>
        </p:sp>
        <p:sp>
          <p:nvSpPr>
            <p:cNvPr id="29764" name="Text Box 70"/>
            <p:cNvSpPr txBox="1"/>
            <p:nvPr/>
          </p:nvSpPr>
          <p:spPr>
            <a:xfrm>
              <a:off x="-1226" y="2212"/>
              <a:ext cx="35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dirty="0">
                  <a:solidFill>
                    <a:srgbClr val="FF33CC"/>
                  </a:solidFill>
                </a:rPr>
                <a:t>u</a:t>
              </a:r>
              <a:endParaRPr lang="en-US" altLang="zh-CN" sz="4800" b="1" i="1" dirty="0">
                <a:solidFill>
                  <a:srgbClr val="FF33CC"/>
                </a:solidFill>
              </a:endParaRPr>
            </a:p>
          </p:txBody>
        </p:sp>
        <p:sp>
          <p:nvSpPr>
            <p:cNvPr id="29765" name="Text Box 71"/>
            <p:cNvSpPr txBox="1"/>
            <p:nvPr/>
          </p:nvSpPr>
          <p:spPr>
            <a:xfrm>
              <a:off x="-1657" y="2352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rgbClr val="FF33CC"/>
                  </a:solidFill>
                </a:rPr>
                <a:t>+</a:t>
              </a:r>
              <a:endParaRPr lang="en-US" altLang="zh-CN" sz="4800" b="1" i="1" dirty="0">
                <a:solidFill>
                  <a:srgbClr val="FF33CC"/>
                </a:solidFill>
              </a:endParaRPr>
            </a:p>
          </p:txBody>
        </p:sp>
        <p:sp>
          <p:nvSpPr>
            <p:cNvPr id="29766" name="Text Box 72"/>
            <p:cNvSpPr txBox="1"/>
            <p:nvPr/>
          </p:nvSpPr>
          <p:spPr>
            <a:xfrm>
              <a:off x="-876" y="2308"/>
              <a:ext cx="32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b="1" dirty="0">
                  <a:solidFill>
                    <a:srgbClr val="FF33CC"/>
                  </a:solidFill>
                </a:rPr>
                <a:t>=</a:t>
              </a:r>
              <a:endParaRPr lang="en-US" altLang="zh-CN" sz="4800" b="1" i="1" dirty="0">
                <a:solidFill>
                  <a:srgbClr val="FF33CC"/>
                </a:solidFill>
              </a:endParaRPr>
            </a:p>
          </p:txBody>
        </p:sp>
        <p:sp>
          <p:nvSpPr>
            <p:cNvPr id="29767" name="Line 73"/>
            <p:cNvSpPr/>
            <p:nvPr/>
          </p:nvSpPr>
          <p:spPr>
            <a:xfrm>
              <a:off x="-584" y="2500"/>
              <a:ext cx="450" cy="0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8" name="Text Box 74"/>
            <p:cNvSpPr txBox="1"/>
            <p:nvPr/>
          </p:nvSpPr>
          <p:spPr>
            <a:xfrm>
              <a:off x="-1830" y="2212"/>
              <a:ext cx="26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dirty="0">
                  <a:solidFill>
                    <a:srgbClr val="FF33CC"/>
                  </a:solidFill>
                </a:rPr>
                <a:t>u </a:t>
              </a:r>
              <a:endParaRPr lang="en-US" altLang="zh-CN" sz="2800" b="1" dirty="0">
                <a:solidFill>
                  <a:srgbClr val="FF33CC"/>
                </a:solidFill>
              </a:endParaRPr>
            </a:p>
          </p:txBody>
        </p:sp>
        <p:sp>
          <p:nvSpPr>
            <p:cNvPr id="29769" name="Text Box 75"/>
            <p:cNvSpPr txBox="1"/>
            <p:nvPr/>
          </p:nvSpPr>
          <p:spPr>
            <a:xfrm>
              <a:off x="-601" y="2448"/>
              <a:ext cx="628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3600" b="1" i="1" dirty="0">
                  <a:solidFill>
                    <a:srgbClr val="FF33CC"/>
                  </a:solidFill>
                </a:rPr>
                <a:t>A</a:t>
              </a:r>
              <a:r>
                <a:rPr lang="en-US" altLang="zh-CN" sz="3600" b="1" baseline="-25000" dirty="0">
                  <a:solidFill>
                    <a:srgbClr val="FF33CC"/>
                  </a:solidFill>
                </a:rPr>
                <a:t>uo</a:t>
              </a:r>
              <a:endParaRPr lang="en-US" altLang="zh-CN" sz="4000" b="1" baseline="-25000" dirty="0">
                <a:solidFill>
                  <a:srgbClr val="FF33CC"/>
                </a:solidFill>
              </a:endParaRPr>
            </a:p>
          </p:txBody>
        </p:sp>
        <p:sp>
          <p:nvSpPr>
            <p:cNvPr id="29770" name="Rectangle 76"/>
            <p:cNvSpPr/>
            <p:nvPr/>
          </p:nvSpPr>
          <p:spPr>
            <a:xfrm>
              <a:off x="-1033" y="240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FF33CC"/>
                  </a:solidFill>
                </a:rPr>
                <a:t>–</a:t>
              </a:r>
            </a:p>
          </p:txBody>
        </p:sp>
      </p:grpSp>
      <p:grpSp>
        <p:nvGrpSpPr>
          <p:cNvPr id="29711" name="Group 10"/>
          <p:cNvGrpSpPr/>
          <p:nvPr/>
        </p:nvGrpSpPr>
        <p:grpSpPr>
          <a:xfrm>
            <a:off x="7686675" y="2451100"/>
            <a:ext cx="2947988" cy="1493838"/>
            <a:chOff x="3744" y="689"/>
            <a:chExt cx="1857" cy="941"/>
          </a:xfrm>
        </p:grpSpPr>
        <p:sp>
          <p:nvSpPr>
            <p:cNvPr id="29733" name="Line 11"/>
            <p:cNvSpPr/>
            <p:nvPr/>
          </p:nvSpPr>
          <p:spPr>
            <a:xfrm flipH="1">
              <a:off x="4942" y="1253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4" name="Rectangle 12"/>
            <p:cNvSpPr/>
            <p:nvPr/>
          </p:nvSpPr>
          <p:spPr>
            <a:xfrm>
              <a:off x="4280" y="737"/>
              <a:ext cx="662" cy="871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35" name="Rectangle 13"/>
            <p:cNvSpPr/>
            <p:nvPr/>
          </p:nvSpPr>
          <p:spPr>
            <a:xfrm>
              <a:off x="4280" y="737"/>
              <a:ext cx="662" cy="87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36" name="Text Box 14"/>
            <p:cNvSpPr txBox="1"/>
            <p:nvPr/>
          </p:nvSpPr>
          <p:spPr>
            <a:xfrm>
              <a:off x="4737" y="1095"/>
              <a:ext cx="23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/>
                <a:t>+</a:t>
              </a:r>
              <a:endParaRPr lang="en-US" altLang="zh-CN" sz="2600" i="1" dirty="0"/>
            </a:p>
          </p:txBody>
        </p:sp>
        <p:sp>
          <p:nvSpPr>
            <p:cNvPr id="29737" name="Line 15"/>
            <p:cNvSpPr/>
            <p:nvPr/>
          </p:nvSpPr>
          <p:spPr>
            <a:xfrm flipV="1">
              <a:off x="4570" y="1064"/>
              <a:ext cx="0" cy="1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29738" name="Line 16"/>
            <p:cNvSpPr/>
            <p:nvPr/>
          </p:nvSpPr>
          <p:spPr>
            <a:xfrm flipV="1">
              <a:off x="4570" y="1354"/>
              <a:ext cx="0" cy="1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</p:sp>
        <p:grpSp>
          <p:nvGrpSpPr>
            <p:cNvPr id="29739" name="Group 17"/>
            <p:cNvGrpSpPr/>
            <p:nvPr/>
          </p:nvGrpSpPr>
          <p:grpSpPr>
            <a:xfrm>
              <a:off x="4280" y="1064"/>
              <a:ext cx="288" cy="399"/>
              <a:chOff x="4487" y="1047"/>
              <a:chExt cx="234" cy="399"/>
            </a:xfrm>
          </p:grpSpPr>
          <p:sp>
            <p:nvSpPr>
              <p:cNvPr id="29757" name="Line 18"/>
              <p:cNvSpPr/>
              <p:nvPr/>
            </p:nvSpPr>
            <p:spPr>
              <a:xfrm flipH="1">
                <a:off x="4487" y="1047"/>
                <a:ext cx="23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lgDash"/>
                <a:headEnd type="none" w="med" len="med"/>
                <a:tailEnd type="none" w="med" len="med"/>
              </a:ln>
            </p:spPr>
          </p:sp>
          <p:sp>
            <p:nvSpPr>
              <p:cNvPr id="29758" name="Line 19"/>
              <p:cNvSpPr/>
              <p:nvPr/>
            </p:nvSpPr>
            <p:spPr>
              <a:xfrm flipH="1">
                <a:off x="4487" y="1446"/>
                <a:ext cx="23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lgDash"/>
                <a:headEnd type="none" w="med" len="med"/>
                <a:tailEnd type="none" w="med" len="med"/>
              </a:ln>
            </p:spPr>
          </p:sp>
        </p:grpSp>
        <p:sp>
          <p:nvSpPr>
            <p:cNvPr id="29740" name="Line 20"/>
            <p:cNvSpPr/>
            <p:nvPr/>
          </p:nvSpPr>
          <p:spPr>
            <a:xfrm flipH="1">
              <a:off x="4008" y="1064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1" name="Line 21"/>
            <p:cNvSpPr/>
            <p:nvPr/>
          </p:nvSpPr>
          <p:spPr>
            <a:xfrm flipH="1">
              <a:off x="4008" y="1463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2" name="Oval 22"/>
            <p:cNvSpPr/>
            <p:nvPr/>
          </p:nvSpPr>
          <p:spPr>
            <a:xfrm>
              <a:off x="4008" y="1041"/>
              <a:ext cx="57" cy="57"/>
            </a:xfrm>
            <a:prstGeom prst="ellipse">
              <a:avLst/>
            </a:prstGeom>
            <a:solidFill>
              <a:srgbClr val="FFFFCC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43" name="Oval 23"/>
            <p:cNvSpPr/>
            <p:nvPr/>
          </p:nvSpPr>
          <p:spPr>
            <a:xfrm>
              <a:off x="4008" y="1433"/>
              <a:ext cx="57" cy="57"/>
            </a:xfrm>
            <a:prstGeom prst="ellipse">
              <a:avLst/>
            </a:prstGeom>
            <a:solidFill>
              <a:srgbClr val="FFFFCC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44" name="Oval 24"/>
            <p:cNvSpPr/>
            <p:nvPr/>
          </p:nvSpPr>
          <p:spPr>
            <a:xfrm>
              <a:off x="5175" y="1235"/>
              <a:ext cx="57" cy="57"/>
            </a:xfrm>
            <a:prstGeom prst="ellipse">
              <a:avLst/>
            </a:prstGeom>
            <a:solidFill>
              <a:srgbClr val="FFFFCC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45" name="Text Box 25"/>
            <p:cNvSpPr txBox="1"/>
            <p:nvPr/>
          </p:nvSpPr>
          <p:spPr>
            <a:xfrm>
              <a:off x="3989" y="702"/>
              <a:ext cx="212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i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9746" name="Line 26"/>
            <p:cNvSpPr/>
            <p:nvPr/>
          </p:nvSpPr>
          <p:spPr>
            <a:xfrm>
              <a:off x="4032" y="991"/>
              <a:ext cx="194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9747" name="Text Box 27"/>
            <p:cNvSpPr txBox="1"/>
            <p:nvPr/>
          </p:nvSpPr>
          <p:spPr>
            <a:xfrm>
              <a:off x="3761" y="1086"/>
              <a:ext cx="270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u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i</a:t>
              </a:r>
              <a:endParaRPr lang="en-US" altLang="zh-CN" sz="2600" i="1" dirty="0">
                <a:solidFill>
                  <a:srgbClr val="0000FF"/>
                </a:solidFill>
              </a:endParaRPr>
            </a:p>
          </p:txBody>
        </p:sp>
        <p:sp>
          <p:nvSpPr>
            <p:cNvPr id="29748" name="Text Box 28"/>
            <p:cNvSpPr txBox="1"/>
            <p:nvPr/>
          </p:nvSpPr>
          <p:spPr>
            <a:xfrm>
              <a:off x="4263" y="1089"/>
              <a:ext cx="311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/>
                <a:t>r</a:t>
              </a:r>
              <a:r>
                <a:rPr lang="en-US" altLang="zh-CN" sz="2600" b="1" baseline="-25000" dirty="0"/>
                <a:t>id</a:t>
              </a:r>
              <a:endParaRPr lang="en-US" altLang="zh-CN" sz="2600" i="1" baseline="-25000" dirty="0"/>
            </a:p>
          </p:txBody>
        </p:sp>
        <p:sp>
          <p:nvSpPr>
            <p:cNvPr id="29749" name="Text Box 29"/>
            <p:cNvSpPr txBox="1"/>
            <p:nvPr/>
          </p:nvSpPr>
          <p:spPr>
            <a:xfrm>
              <a:off x="5247" y="1073"/>
              <a:ext cx="35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u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o</a:t>
              </a:r>
            </a:p>
          </p:txBody>
        </p:sp>
        <p:sp>
          <p:nvSpPr>
            <p:cNvPr id="29750" name="Rectangle 30"/>
            <p:cNvSpPr/>
            <p:nvPr/>
          </p:nvSpPr>
          <p:spPr>
            <a:xfrm>
              <a:off x="4285" y="1422"/>
              <a:ext cx="220" cy="20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en-US" altLang="zh-CN" sz="2600" b="1" dirty="0"/>
                <a:t>–</a:t>
              </a:r>
            </a:p>
          </p:txBody>
        </p:sp>
        <p:sp>
          <p:nvSpPr>
            <p:cNvPr id="29751" name="AutoShape 31"/>
            <p:cNvSpPr/>
            <p:nvPr/>
          </p:nvSpPr>
          <p:spPr>
            <a:xfrm rot="5400000">
              <a:off x="4491" y="804"/>
              <a:ext cx="136" cy="122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52" name="Text Box 32"/>
            <p:cNvSpPr txBox="1"/>
            <p:nvPr/>
          </p:nvSpPr>
          <p:spPr>
            <a:xfrm>
              <a:off x="4635" y="689"/>
              <a:ext cx="248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dirty="0">
                  <a:sym typeface="Symbol" panose="05050102010706020507" pitchFamily="18" charset="2"/>
                </a:rPr>
                <a:t></a:t>
              </a:r>
              <a:endParaRPr lang="en-US" altLang="zh-CN" sz="2600" b="1" dirty="0"/>
            </a:p>
          </p:txBody>
        </p:sp>
        <p:sp>
          <p:nvSpPr>
            <p:cNvPr id="29753" name="Rectangle 33"/>
            <p:cNvSpPr/>
            <p:nvPr/>
          </p:nvSpPr>
          <p:spPr>
            <a:xfrm>
              <a:off x="4531" y="1157"/>
              <a:ext cx="78" cy="218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54" name="Text Box 34"/>
            <p:cNvSpPr txBox="1"/>
            <p:nvPr/>
          </p:nvSpPr>
          <p:spPr>
            <a:xfrm>
              <a:off x="4251" y="800"/>
              <a:ext cx="23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/>
                <a:t>+</a:t>
              </a:r>
              <a:endParaRPr lang="en-US" altLang="zh-CN" sz="2600" i="1" dirty="0"/>
            </a:p>
          </p:txBody>
        </p:sp>
        <p:sp>
          <p:nvSpPr>
            <p:cNvPr id="29755" name="Rectangle 35"/>
            <p:cNvSpPr/>
            <p:nvPr/>
          </p:nvSpPr>
          <p:spPr>
            <a:xfrm>
              <a:off x="3753" y="1297"/>
              <a:ext cx="220" cy="30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600" b="1" dirty="0">
                  <a:solidFill>
                    <a:srgbClr val="0000FF"/>
                  </a:solidFill>
                </a:rPr>
                <a:t>–</a:t>
              </a:r>
            </a:p>
          </p:txBody>
        </p:sp>
        <p:sp>
          <p:nvSpPr>
            <p:cNvPr id="29756" name="Text Box 36"/>
            <p:cNvSpPr txBox="1"/>
            <p:nvPr/>
          </p:nvSpPr>
          <p:spPr>
            <a:xfrm>
              <a:off x="3744" y="913"/>
              <a:ext cx="23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+</a:t>
              </a:r>
              <a:endParaRPr lang="en-US" altLang="zh-CN" sz="2600" i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30" name="Rectangle 37"/>
          <p:cNvSpPr/>
          <p:nvPr/>
        </p:nvSpPr>
        <p:spPr>
          <a:xfrm>
            <a:off x="8566150" y="2973388"/>
            <a:ext cx="787400" cy="7493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pSp>
        <p:nvGrpSpPr>
          <p:cNvPr id="29713" name="Group 38"/>
          <p:cNvGrpSpPr/>
          <p:nvPr/>
        </p:nvGrpSpPr>
        <p:grpSpPr>
          <a:xfrm>
            <a:off x="7648575" y="4432300"/>
            <a:ext cx="2947988" cy="1458913"/>
            <a:chOff x="3840" y="2208"/>
            <a:chExt cx="1857" cy="919"/>
          </a:xfrm>
        </p:grpSpPr>
        <p:sp>
          <p:nvSpPr>
            <p:cNvPr id="29714" name="Line 39"/>
            <p:cNvSpPr/>
            <p:nvPr/>
          </p:nvSpPr>
          <p:spPr>
            <a:xfrm flipH="1">
              <a:off x="5038" y="2772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5" name="Rectangle 40"/>
            <p:cNvSpPr/>
            <p:nvPr/>
          </p:nvSpPr>
          <p:spPr>
            <a:xfrm>
              <a:off x="4376" y="2256"/>
              <a:ext cx="662" cy="871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16" name="Rectangle 41"/>
            <p:cNvSpPr/>
            <p:nvPr/>
          </p:nvSpPr>
          <p:spPr>
            <a:xfrm>
              <a:off x="4376" y="2256"/>
              <a:ext cx="662" cy="87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17" name="Text Box 42"/>
            <p:cNvSpPr txBox="1"/>
            <p:nvPr/>
          </p:nvSpPr>
          <p:spPr>
            <a:xfrm>
              <a:off x="4833" y="2614"/>
              <a:ext cx="23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/>
                <a:t>+</a:t>
              </a:r>
              <a:endParaRPr lang="en-US" altLang="zh-CN" sz="2600" i="1" dirty="0"/>
            </a:p>
          </p:txBody>
        </p:sp>
        <p:sp>
          <p:nvSpPr>
            <p:cNvPr id="29718" name="Line 43"/>
            <p:cNvSpPr/>
            <p:nvPr/>
          </p:nvSpPr>
          <p:spPr>
            <a:xfrm flipH="1">
              <a:off x="4104" y="2583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9" name="Line 44"/>
            <p:cNvSpPr/>
            <p:nvPr/>
          </p:nvSpPr>
          <p:spPr>
            <a:xfrm flipH="1">
              <a:off x="4104" y="2982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0" name="Oval 45"/>
            <p:cNvSpPr/>
            <p:nvPr/>
          </p:nvSpPr>
          <p:spPr>
            <a:xfrm>
              <a:off x="4104" y="2560"/>
              <a:ext cx="57" cy="57"/>
            </a:xfrm>
            <a:prstGeom prst="ellipse">
              <a:avLst/>
            </a:prstGeom>
            <a:solidFill>
              <a:srgbClr val="FFFFCC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21" name="Oval 46"/>
            <p:cNvSpPr/>
            <p:nvPr/>
          </p:nvSpPr>
          <p:spPr>
            <a:xfrm>
              <a:off x="4104" y="2952"/>
              <a:ext cx="57" cy="57"/>
            </a:xfrm>
            <a:prstGeom prst="ellipse">
              <a:avLst/>
            </a:prstGeom>
            <a:solidFill>
              <a:srgbClr val="FFFFCC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22" name="Oval 47"/>
            <p:cNvSpPr/>
            <p:nvPr/>
          </p:nvSpPr>
          <p:spPr>
            <a:xfrm>
              <a:off x="5271" y="2754"/>
              <a:ext cx="57" cy="57"/>
            </a:xfrm>
            <a:prstGeom prst="ellipse">
              <a:avLst/>
            </a:prstGeom>
            <a:solidFill>
              <a:srgbClr val="FFFFCC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23" name="Text Box 48"/>
            <p:cNvSpPr txBox="1"/>
            <p:nvPr/>
          </p:nvSpPr>
          <p:spPr>
            <a:xfrm>
              <a:off x="4085" y="2221"/>
              <a:ext cx="212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i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29724" name="Line 49"/>
            <p:cNvSpPr/>
            <p:nvPr/>
          </p:nvSpPr>
          <p:spPr>
            <a:xfrm>
              <a:off x="4128" y="2510"/>
              <a:ext cx="194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9725" name="Text Box 50"/>
            <p:cNvSpPr txBox="1"/>
            <p:nvPr/>
          </p:nvSpPr>
          <p:spPr>
            <a:xfrm>
              <a:off x="3857" y="2605"/>
              <a:ext cx="270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u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i</a:t>
              </a:r>
              <a:endParaRPr lang="en-US" altLang="zh-CN" sz="2600" i="1" dirty="0">
                <a:solidFill>
                  <a:srgbClr val="0000FF"/>
                </a:solidFill>
              </a:endParaRPr>
            </a:p>
          </p:txBody>
        </p:sp>
        <p:sp>
          <p:nvSpPr>
            <p:cNvPr id="29726" name="Text Box 51"/>
            <p:cNvSpPr txBox="1"/>
            <p:nvPr/>
          </p:nvSpPr>
          <p:spPr>
            <a:xfrm>
              <a:off x="5343" y="2592"/>
              <a:ext cx="35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u</a:t>
              </a:r>
              <a:r>
                <a:rPr lang="en-US" altLang="zh-CN" sz="2600" b="1" baseline="-25000" dirty="0">
                  <a:solidFill>
                    <a:srgbClr val="0000FF"/>
                  </a:solidFill>
                </a:rPr>
                <a:t>o</a:t>
              </a:r>
            </a:p>
          </p:txBody>
        </p:sp>
        <p:sp>
          <p:nvSpPr>
            <p:cNvPr id="29727" name="Rectangle 52"/>
            <p:cNvSpPr/>
            <p:nvPr/>
          </p:nvSpPr>
          <p:spPr>
            <a:xfrm>
              <a:off x="4381" y="2840"/>
              <a:ext cx="220" cy="28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en-US" altLang="zh-CN" sz="2600" b="1" dirty="0"/>
                <a:t>–</a:t>
              </a:r>
            </a:p>
          </p:txBody>
        </p:sp>
        <p:sp>
          <p:nvSpPr>
            <p:cNvPr id="29728" name="AutoShape 53"/>
            <p:cNvSpPr/>
            <p:nvPr/>
          </p:nvSpPr>
          <p:spPr>
            <a:xfrm rot="5400000">
              <a:off x="4562" y="2331"/>
              <a:ext cx="136" cy="122"/>
            </a:xfrm>
            <a:prstGeom prst="triangle">
              <a:avLst>
                <a:gd name="adj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29729" name="Text Box 54"/>
            <p:cNvSpPr txBox="1"/>
            <p:nvPr/>
          </p:nvSpPr>
          <p:spPr>
            <a:xfrm>
              <a:off x="4689" y="2208"/>
              <a:ext cx="248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dirty="0">
                  <a:sym typeface="Symbol" panose="05050102010706020507" pitchFamily="18" charset="2"/>
                </a:rPr>
                <a:t></a:t>
              </a:r>
              <a:endParaRPr lang="en-US" altLang="zh-CN" sz="2600" b="1" dirty="0"/>
            </a:p>
          </p:txBody>
        </p:sp>
        <p:sp>
          <p:nvSpPr>
            <p:cNvPr id="29730" name="Text Box 55"/>
            <p:cNvSpPr txBox="1"/>
            <p:nvPr/>
          </p:nvSpPr>
          <p:spPr>
            <a:xfrm>
              <a:off x="4372" y="2433"/>
              <a:ext cx="23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/>
                <a:t>+</a:t>
              </a:r>
              <a:endParaRPr lang="en-US" altLang="zh-CN" sz="2600" i="1" dirty="0"/>
            </a:p>
          </p:txBody>
        </p:sp>
        <p:sp>
          <p:nvSpPr>
            <p:cNvPr id="29731" name="Rectangle 56"/>
            <p:cNvSpPr/>
            <p:nvPr/>
          </p:nvSpPr>
          <p:spPr>
            <a:xfrm>
              <a:off x="3849" y="2816"/>
              <a:ext cx="220" cy="30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600" b="1" dirty="0">
                  <a:solidFill>
                    <a:srgbClr val="0000FF"/>
                  </a:solidFill>
                </a:rPr>
                <a:t>–</a:t>
              </a:r>
            </a:p>
          </p:txBody>
        </p:sp>
        <p:sp>
          <p:nvSpPr>
            <p:cNvPr id="29732" name="Text Box 57"/>
            <p:cNvSpPr txBox="1"/>
            <p:nvPr/>
          </p:nvSpPr>
          <p:spPr>
            <a:xfrm>
              <a:off x="3840" y="2432"/>
              <a:ext cx="23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600" b="1" i="1" dirty="0">
                  <a:solidFill>
                    <a:srgbClr val="0000FF"/>
                  </a:solidFill>
                </a:rPr>
                <a:t>+</a:t>
              </a:r>
              <a:endParaRPr lang="en-US" altLang="zh-CN" sz="2600" i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2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2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22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2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2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3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2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2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32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73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3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3" presetClass="entr" presetSubtype="3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63" grpId="0"/>
      <p:bldP spid="732164" grpId="0"/>
      <p:bldP spid="732165" grpId="0" build="p" advAuto="1000"/>
      <p:bldP spid="732166" grpId="0" build="p" advAuto="1000"/>
      <p:bldP spid="732167" grpId="0" build="p" advAuto="1000"/>
      <p:bldP spid="732168" grpId="0" build="p"/>
      <p:bldP spid="732169" grpId="0" build="p"/>
      <p:bldP spid="732223" grpId="0"/>
      <p:bldP spid="732224" grpId="0" build="p"/>
      <p:bldP spid="732225" grpId="0" build="p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1752600" y="831850"/>
            <a:ext cx="8458200" cy="541338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solidFill>
                  <a:schemeClr val="accent2"/>
                </a:solidFill>
              </a:rPr>
              <a:t>第三章   叠加方法与网络函数</a:t>
            </a:r>
          </a:p>
        </p:txBody>
      </p:sp>
      <p:sp>
        <p:nvSpPr>
          <p:cNvPr id="4099" name="Text Box 3">
            <a:hlinkClick r:id="" action="ppaction://noaction"/>
          </p:cNvPr>
          <p:cNvSpPr txBox="1"/>
          <p:nvPr/>
        </p:nvSpPr>
        <p:spPr>
          <a:xfrm>
            <a:off x="2316163" y="2214563"/>
            <a:ext cx="76850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3.1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线性电路的比例性     网络函数</a:t>
            </a:r>
          </a:p>
        </p:txBody>
      </p:sp>
      <p:sp>
        <p:nvSpPr>
          <p:cNvPr id="4100" name="Text Box 4">
            <a:hlinkClick r:id="" action="ppaction://noaction"/>
          </p:cNvPr>
          <p:cNvSpPr txBox="1"/>
          <p:nvPr/>
        </p:nvSpPr>
        <p:spPr>
          <a:xfrm>
            <a:off x="2316163" y="2857500"/>
            <a:ext cx="398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t>3.2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叠加原理</a:t>
            </a:r>
          </a:p>
        </p:txBody>
      </p:sp>
      <p:sp>
        <p:nvSpPr>
          <p:cNvPr id="4101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346325" y="3502025"/>
            <a:ext cx="563880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3.3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叠加方法与功率计算</a:t>
            </a:r>
          </a:p>
        </p:txBody>
      </p:sp>
      <p:sp>
        <p:nvSpPr>
          <p:cNvPr id="4102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346325" y="4164013"/>
            <a:ext cx="517366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3.4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数模转换器的基本原理</a:t>
            </a:r>
          </a:p>
        </p:txBody>
      </p:sp>
      <p:sp>
        <p:nvSpPr>
          <p:cNvPr id="4103" name="AutoShape 7">
            <a:hlinkClick r:id="" action="ppaction://hlinkshowjump?jump=firstslide"/>
          </p:cNvPr>
          <p:cNvSpPr/>
          <p:nvPr/>
        </p:nvSpPr>
        <p:spPr>
          <a:xfrm>
            <a:off x="92964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104" name="AutoShape 8">
            <a:hlinkClick r:id="" action="ppaction://hlinkshowjump?jump=nextslide"/>
          </p:cNvPr>
          <p:cNvSpPr/>
          <p:nvPr/>
        </p:nvSpPr>
        <p:spPr>
          <a:xfrm>
            <a:off x="102108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105" name="AutoShape 9">
            <a:hlinkClick r:id="" action="ppaction://hlinkshowjump?jump=previousslide"/>
          </p:cNvPr>
          <p:cNvSpPr/>
          <p:nvPr/>
        </p:nvSpPr>
        <p:spPr>
          <a:xfrm>
            <a:off x="9753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38986" name="Line 10"/>
          <p:cNvSpPr/>
          <p:nvPr/>
        </p:nvSpPr>
        <p:spPr>
          <a:xfrm>
            <a:off x="9297988" y="6523038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9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359025" y="4857750"/>
            <a:ext cx="492125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3.5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晶体管的小信号模型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7" name="Rectangle 3"/>
          <p:cNvSpPr/>
          <p:nvPr/>
        </p:nvSpPr>
        <p:spPr>
          <a:xfrm>
            <a:off x="720725" y="706438"/>
            <a:ext cx="4572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比例性（齐次性）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594948" name="Text Box 4"/>
          <p:cNvSpPr txBox="1"/>
          <p:nvPr/>
        </p:nvSpPr>
        <p:spPr>
          <a:xfrm>
            <a:off x="1098550" y="1330325"/>
            <a:ext cx="10356850" cy="177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金长城黑体"/>
              </a:rPr>
              <a:t>    </a:t>
            </a:r>
            <a:r>
              <a:rPr lang="zh-CN" altLang="en-US" sz="2800" b="1" dirty="0">
                <a:solidFill>
                  <a:schemeClr val="accent2"/>
                </a:solidFill>
                <a:latin typeface="金长城黑体"/>
              </a:rPr>
              <a:t>在</a:t>
            </a:r>
            <a:r>
              <a:rPr lang="zh-CN" altLang="en-US" sz="2800" b="1" dirty="0">
                <a:solidFill>
                  <a:srgbClr val="FF0000"/>
                </a:solidFill>
                <a:latin typeface="金长城黑体"/>
              </a:rPr>
              <a:t>单一激励</a:t>
            </a:r>
            <a:r>
              <a:rPr lang="zh-CN" altLang="en-US" sz="2800" b="1" dirty="0">
                <a:solidFill>
                  <a:schemeClr val="accent2"/>
                </a:solidFill>
                <a:latin typeface="金长城黑体"/>
              </a:rPr>
              <a:t>的线性、时不变电路中，激励增大多少倍，响应也增大相同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</a:rPr>
              <a:t>的</a:t>
            </a:r>
            <a:r>
              <a:rPr lang="zh-CN" altLang="en-US" sz="2800" b="1" dirty="0">
                <a:solidFill>
                  <a:schemeClr val="accent2"/>
                </a:solidFill>
                <a:latin typeface="金长城黑体"/>
              </a:rPr>
              <a:t>倍数。这样的性质称为比例性或齐次性，它是</a:t>
            </a:r>
            <a:r>
              <a:rPr lang="en-US" altLang="zh-CN" sz="2800" b="1" dirty="0">
                <a:solidFill>
                  <a:schemeClr val="accent2"/>
                </a:solidFill>
                <a:latin typeface="金长城黑体"/>
              </a:rPr>
              <a:t>“</a:t>
            </a:r>
            <a:r>
              <a:rPr lang="zh-CN" altLang="en-US" sz="2800" b="1" dirty="0">
                <a:solidFill>
                  <a:schemeClr val="accent2"/>
                </a:solidFill>
                <a:latin typeface="金长城黑体"/>
              </a:rPr>
              <a:t>线性</a:t>
            </a:r>
            <a:r>
              <a:rPr lang="en-US" altLang="zh-CN" sz="2800" b="1" dirty="0">
                <a:solidFill>
                  <a:schemeClr val="accent2"/>
                </a:solidFill>
                <a:latin typeface="金长城黑体"/>
              </a:rPr>
              <a:t>”</a:t>
            </a:r>
            <a:r>
              <a:rPr lang="zh-CN" altLang="en-US" sz="2800" b="1" dirty="0">
                <a:solidFill>
                  <a:schemeClr val="accent2"/>
                </a:solidFill>
                <a:latin typeface="金长城黑体"/>
              </a:rPr>
              <a:t>的一个表现。</a:t>
            </a:r>
          </a:p>
        </p:txBody>
      </p:sp>
      <p:sp>
        <p:nvSpPr>
          <p:cNvPr id="5125" name="Line 6"/>
          <p:cNvSpPr/>
          <p:nvPr/>
        </p:nvSpPr>
        <p:spPr>
          <a:xfrm>
            <a:off x="1992313" y="3513138"/>
            <a:ext cx="4583112" cy="0"/>
          </a:xfrm>
          <a:prstGeom prst="line">
            <a:avLst/>
          </a:prstGeom>
          <a:ln w="28575">
            <a:noFill/>
          </a:ln>
        </p:spPr>
      </p:sp>
      <p:sp>
        <p:nvSpPr>
          <p:cNvPr id="5126" name="Line 7"/>
          <p:cNvSpPr/>
          <p:nvPr/>
        </p:nvSpPr>
        <p:spPr>
          <a:xfrm>
            <a:off x="1992313" y="6561138"/>
            <a:ext cx="4583112" cy="0"/>
          </a:xfrm>
          <a:prstGeom prst="line">
            <a:avLst/>
          </a:prstGeom>
          <a:ln w="28575">
            <a:noFill/>
          </a:ln>
        </p:spPr>
      </p:sp>
      <p:sp>
        <p:nvSpPr>
          <p:cNvPr id="5127" name="Line 8"/>
          <p:cNvSpPr/>
          <p:nvPr/>
        </p:nvSpPr>
        <p:spPr>
          <a:xfrm>
            <a:off x="1992313" y="3513138"/>
            <a:ext cx="0" cy="3048000"/>
          </a:xfrm>
          <a:prstGeom prst="line">
            <a:avLst/>
          </a:prstGeom>
          <a:ln w="28575">
            <a:noFill/>
          </a:ln>
        </p:spPr>
      </p:sp>
      <p:sp>
        <p:nvSpPr>
          <p:cNvPr id="5128" name="Line 9"/>
          <p:cNvSpPr/>
          <p:nvPr/>
        </p:nvSpPr>
        <p:spPr>
          <a:xfrm>
            <a:off x="9839325" y="3513138"/>
            <a:ext cx="0" cy="3048000"/>
          </a:xfrm>
          <a:prstGeom prst="line">
            <a:avLst/>
          </a:prstGeom>
          <a:ln w="28575">
            <a:noFill/>
          </a:ln>
        </p:spPr>
      </p:sp>
      <p:sp>
        <p:nvSpPr>
          <p:cNvPr id="5130" name="Line 11"/>
          <p:cNvSpPr/>
          <p:nvPr/>
        </p:nvSpPr>
        <p:spPr>
          <a:xfrm>
            <a:off x="6575425" y="6561138"/>
            <a:ext cx="3263900" cy="0"/>
          </a:xfrm>
          <a:prstGeom prst="line">
            <a:avLst/>
          </a:prstGeom>
          <a:ln w="28575">
            <a:noFill/>
          </a:ln>
        </p:spPr>
      </p:sp>
      <p:sp>
        <p:nvSpPr>
          <p:cNvPr id="5131" name="Text Box 61">
            <a:hlinkClick r:id="" action="ppaction://noaction"/>
          </p:cNvPr>
          <p:cNvSpPr txBox="1"/>
          <p:nvPr/>
        </p:nvSpPr>
        <p:spPr>
          <a:xfrm>
            <a:off x="2563813" y="33338"/>
            <a:ext cx="76850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3.1      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线性电路的比例性     网络函数</a:t>
            </a:r>
          </a:p>
        </p:txBody>
      </p:sp>
      <p:sp>
        <p:nvSpPr>
          <p:cNvPr id="5132" name="AutoShape 62">
            <a:hlinkClick r:id="" action="ppaction://hlinkshowjump?jump=firstslide"/>
          </p:cNvPr>
          <p:cNvSpPr/>
          <p:nvPr/>
        </p:nvSpPr>
        <p:spPr>
          <a:xfrm>
            <a:off x="92964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5133" name="AutoShape 63">
            <a:hlinkClick r:id="" action="ppaction://hlinkshowjump?jump=nextslide"/>
          </p:cNvPr>
          <p:cNvSpPr/>
          <p:nvPr/>
        </p:nvSpPr>
        <p:spPr>
          <a:xfrm>
            <a:off x="102108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5134" name="AutoShape 64">
            <a:hlinkClick r:id="" action="ppaction://hlinkshowjump?jump=previousslide"/>
          </p:cNvPr>
          <p:cNvSpPr/>
          <p:nvPr/>
        </p:nvSpPr>
        <p:spPr>
          <a:xfrm>
            <a:off x="9753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595009" name="Line 65"/>
          <p:cNvSpPr/>
          <p:nvPr/>
        </p:nvSpPr>
        <p:spPr>
          <a:xfrm>
            <a:off x="9297988" y="6523038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" name="Text Box 46">
            <a:extLst>
              <a:ext uri="{FF2B5EF4-FFF2-40B4-BE49-F238E27FC236}">
                <a16:creationId xmlns:a16="http://schemas.microsoft.com/office/drawing/2014/main" id="{12AADC63-4220-4B58-B920-6C1B6BEEC2F9}"/>
              </a:ext>
            </a:extLst>
          </p:cNvPr>
          <p:cNvSpPr txBox="1"/>
          <p:nvPr/>
        </p:nvSpPr>
        <p:spPr>
          <a:xfrm>
            <a:off x="859017" y="3812554"/>
            <a:ext cx="10699750" cy="1384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66FF"/>
                </a:solidFill>
              </a:rPr>
              <a:t>        </a:t>
            </a:r>
            <a:r>
              <a:rPr lang="zh-CN" altLang="en-US" sz="2800" b="1" dirty="0">
                <a:solidFill>
                  <a:srgbClr val="0066FF"/>
                </a:solidFill>
              </a:rPr>
              <a:t>在多个独立电源，线性受控源和线性无源元件共同组成的</a:t>
            </a:r>
            <a:r>
              <a:rPr lang="zh-CN" altLang="en-US" sz="2800" b="1" dirty="0">
                <a:solidFill>
                  <a:srgbClr val="FF00FF"/>
                </a:solidFill>
              </a:rPr>
              <a:t>线性</a:t>
            </a:r>
            <a:r>
              <a:rPr lang="zh-CN" altLang="en-US" sz="2800" b="1" dirty="0">
                <a:solidFill>
                  <a:srgbClr val="0066FF"/>
                </a:solidFill>
              </a:rPr>
              <a:t>电路中，某一支路的</a:t>
            </a:r>
            <a:r>
              <a:rPr lang="zh-CN" altLang="en-US" sz="2800" b="1" dirty="0">
                <a:solidFill>
                  <a:srgbClr val="FF00FF"/>
                </a:solidFill>
              </a:rPr>
              <a:t>电压（或电流）</a:t>
            </a:r>
            <a:r>
              <a:rPr lang="zh-CN" altLang="en-US" sz="2800" b="1" dirty="0">
                <a:solidFill>
                  <a:srgbClr val="0066FF"/>
                </a:solidFill>
              </a:rPr>
              <a:t>等于每一个</a:t>
            </a:r>
            <a:r>
              <a:rPr lang="zh-CN" altLang="en-US" sz="2800" b="1" dirty="0">
                <a:solidFill>
                  <a:srgbClr val="FF0000"/>
                </a:solidFill>
              </a:rPr>
              <a:t>独立电源</a:t>
            </a:r>
            <a:r>
              <a:rPr lang="zh-CN" altLang="en-US" sz="2800" b="1" dirty="0">
                <a:solidFill>
                  <a:srgbClr val="0066FF"/>
                </a:solidFill>
              </a:rPr>
              <a:t>单独作用时，在该支路上所产生的</a:t>
            </a:r>
            <a:r>
              <a:rPr lang="zh-CN" altLang="en-US" sz="2800" b="1" dirty="0">
                <a:solidFill>
                  <a:srgbClr val="FF00FF"/>
                </a:solidFill>
              </a:rPr>
              <a:t>电压（或电流）</a:t>
            </a:r>
            <a:r>
              <a:rPr lang="zh-CN" altLang="en-US" sz="2800" b="1" dirty="0">
                <a:solidFill>
                  <a:srgbClr val="0066FF"/>
                </a:solidFill>
              </a:rPr>
              <a:t>的代数和。</a:t>
            </a:r>
          </a:p>
        </p:txBody>
      </p:sp>
      <p:sp>
        <p:nvSpPr>
          <p:cNvPr id="69" name="Text Box 79">
            <a:hlinkClick r:id="rId2" action="ppaction://hlinksldjump"/>
            <a:extLst>
              <a:ext uri="{FF2B5EF4-FFF2-40B4-BE49-F238E27FC236}">
                <a16:creationId xmlns:a16="http://schemas.microsoft.com/office/drawing/2014/main" id="{46D2860A-6CBC-4205-808D-E2CF4A44B6C6}"/>
              </a:ext>
            </a:extLst>
          </p:cNvPr>
          <p:cNvSpPr txBox="1"/>
          <p:nvPr/>
        </p:nvSpPr>
        <p:spPr>
          <a:xfrm>
            <a:off x="4274344" y="3219451"/>
            <a:ext cx="32829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00FF"/>
                </a:solidFill>
                <a:ea typeface="楷体_GB2312" pitchFamily="49" charset="-122"/>
              </a:rPr>
              <a:t>3.2    </a:t>
            </a:r>
            <a:r>
              <a:rPr lang="zh-CN" altLang="en-US" sz="3600" b="1" dirty="0">
                <a:solidFill>
                  <a:srgbClr val="0000FF"/>
                </a:solidFill>
                <a:ea typeface="楷体_GB2312" pitchFamily="49" charset="-122"/>
              </a:rPr>
              <a:t>叠加原理  </a:t>
            </a:r>
          </a:p>
        </p:txBody>
      </p:sp>
      <p:sp>
        <p:nvSpPr>
          <p:cNvPr id="70" name="Text Box 2">
            <a:extLst>
              <a:ext uri="{FF2B5EF4-FFF2-40B4-BE49-F238E27FC236}">
                <a16:creationId xmlns:a16="http://schemas.microsoft.com/office/drawing/2014/main" id="{A404F794-EB84-417A-A063-643448798D4D}"/>
              </a:ext>
            </a:extLst>
          </p:cNvPr>
          <p:cNvSpPr txBox="1"/>
          <p:nvPr/>
        </p:nvSpPr>
        <p:spPr>
          <a:xfrm>
            <a:off x="2398713" y="5284165"/>
            <a:ext cx="5338321" cy="55399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000" b="1" dirty="0">
                <a:solidFill>
                  <a:schemeClr val="accent2"/>
                </a:solidFill>
                <a:latin typeface="Tahoma" panose="020B0604030504040204" pitchFamily="34" charset="0"/>
              </a:rPr>
              <a:t>求功率不能采用功率直接叠加</a:t>
            </a:r>
            <a:r>
              <a:rPr lang="en-US" altLang="zh-CN" sz="3000" b="1" dirty="0">
                <a:solidFill>
                  <a:schemeClr val="accent2"/>
                </a:solidFill>
                <a:latin typeface="Tahoma" panose="020B0604030504040204" pitchFamily="34" charset="0"/>
              </a:rPr>
              <a:t>!</a:t>
            </a:r>
            <a:endParaRPr lang="en-US" altLang="zh-CN" sz="30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7" grpId="0"/>
      <p:bldP spid="5949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8" name="Rectangle 4"/>
          <p:cNvSpPr/>
          <p:nvPr/>
        </p:nvSpPr>
        <p:spPr>
          <a:xfrm>
            <a:off x="795338" y="2025650"/>
            <a:ext cx="10614025" cy="9588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2.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独立源可以单独作用，受控源不可以单独作用，独立源单独作用时受控源要保留在电路中。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sp>
        <p:nvSpPr>
          <p:cNvPr id="625669" name="Rectangle 5"/>
          <p:cNvSpPr/>
          <p:nvPr/>
        </p:nvSpPr>
        <p:spPr>
          <a:xfrm>
            <a:off x="768350" y="3411538"/>
            <a:ext cx="10866438" cy="9445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电路中的响应等于每一个独立电源单独作用时响应的代数和，注意电流的方向和电压的极性。</a:t>
            </a:r>
          </a:p>
        </p:txBody>
      </p:sp>
      <p:sp>
        <p:nvSpPr>
          <p:cNvPr id="625670" name="Rectangle 6"/>
          <p:cNvSpPr/>
          <p:nvPr/>
        </p:nvSpPr>
        <p:spPr>
          <a:xfrm>
            <a:off x="781050" y="796925"/>
            <a:ext cx="10868025" cy="11604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金长城黑体"/>
                <a:ea typeface="宋体"/>
                <a:cs typeface="+mn-cs"/>
              </a:rPr>
              <a:t>1.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叠加原理只适用于线性电路，只能用来叠加计算电流和电压，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不能用来直接叠加计算功率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9461" name="AutoShape 7">
            <a:hlinkClick r:id="" action="ppaction://hlinkshowjump?jump=firstslide"/>
          </p:cNvPr>
          <p:cNvSpPr/>
          <p:nvPr/>
        </p:nvSpPr>
        <p:spPr>
          <a:xfrm>
            <a:off x="92964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9462" name="AutoShape 8">
            <a:hlinkClick r:id="" action="ppaction://hlinkshowjump?jump=nextslide"/>
          </p:cNvPr>
          <p:cNvSpPr/>
          <p:nvPr/>
        </p:nvSpPr>
        <p:spPr>
          <a:xfrm>
            <a:off x="102108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9463" name="AutoShape 9">
            <a:hlinkClick r:id="" action="ppaction://hlinkshowjump?jump=previousslide"/>
          </p:cNvPr>
          <p:cNvSpPr/>
          <p:nvPr/>
        </p:nvSpPr>
        <p:spPr>
          <a:xfrm>
            <a:off x="9753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25674" name="Line 10"/>
          <p:cNvSpPr/>
          <p:nvPr/>
        </p:nvSpPr>
        <p:spPr>
          <a:xfrm>
            <a:off x="9297988" y="6523038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5" name="Text Box 11"/>
          <p:cNvSpPr txBox="1"/>
          <p:nvPr/>
        </p:nvSpPr>
        <p:spPr>
          <a:xfrm>
            <a:off x="449263" y="71438"/>
            <a:ext cx="5487987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应用叠加原理注意以下几点：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25676" name="Rectangle 12"/>
          <p:cNvSpPr/>
          <p:nvPr/>
        </p:nvSpPr>
        <p:spPr>
          <a:xfrm>
            <a:off x="777875" y="4735513"/>
            <a:ext cx="10631488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各个独立电源单独作用时，某一支路的电流（或电压）分量的参考方向与叠加后的总电流（或总电压）的参考方向要尽量选取一致。（一致时，叠加式前面取正号，不一致时前面取负号）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8" grpId="0"/>
      <p:bldP spid="625669" grpId="0"/>
      <p:bldP spid="625670" grpId="0"/>
      <p:bldP spid="6256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75" descr="水滴"/>
          <p:cNvSpPr txBox="1"/>
          <p:nvPr/>
        </p:nvSpPr>
        <p:spPr>
          <a:xfrm>
            <a:off x="2238375" y="58738"/>
            <a:ext cx="7072313" cy="584200"/>
          </a:xfrm>
          <a:prstGeom prst="rect">
            <a:avLst/>
          </a:prstGeom>
          <a:blipFill rotWithShape="1">
            <a:blip r:embed="rId2"/>
          </a:blipFill>
          <a:ln w="19050" cap="flat" cmpd="sng">
            <a:solidFill>
              <a:srgbClr val="99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Aft>
                <a:spcPct val="2000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第四章 分解方法及单、双口网络</a:t>
            </a:r>
          </a:p>
        </p:txBody>
      </p:sp>
      <p:sp>
        <p:nvSpPr>
          <p:cNvPr id="230476" name="Text Box 76">
            <a:hlinkClick r:id="" action="ppaction://noaction"/>
          </p:cNvPr>
          <p:cNvSpPr txBox="1"/>
          <p:nvPr/>
        </p:nvSpPr>
        <p:spPr>
          <a:xfrm>
            <a:off x="2238375" y="758825"/>
            <a:ext cx="50165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4-1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分解的基本步骤</a:t>
            </a:r>
          </a:p>
        </p:txBody>
      </p:sp>
      <p:sp>
        <p:nvSpPr>
          <p:cNvPr id="230477" name="Text Box 77">
            <a:hlinkClick r:id="" action="ppaction://noaction"/>
          </p:cNvPr>
          <p:cNvSpPr txBox="1"/>
          <p:nvPr/>
        </p:nvSpPr>
        <p:spPr>
          <a:xfrm>
            <a:off x="2238375" y="1225550"/>
            <a:ext cx="5138738" cy="46196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4-2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单口网络的电压电流关系</a:t>
            </a:r>
          </a:p>
        </p:txBody>
      </p:sp>
      <p:sp>
        <p:nvSpPr>
          <p:cNvPr id="230478" name="Text Box 78">
            <a:hlinkClick r:id="" action="ppaction://noaction"/>
          </p:cNvPr>
          <p:cNvSpPr txBox="1"/>
          <p:nvPr/>
        </p:nvSpPr>
        <p:spPr>
          <a:xfrm>
            <a:off x="2238375" y="2259013"/>
            <a:ext cx="5664200" cy="46196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4-4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单口网络的等效电路</a:t>
            </a:r>
          </a:p>
        </p:txBody>
      </p:sp>
      <p:sp>
        <p:nvSpPr>
          <p:cNvPr id="230479" name="Rectangle 79">
            <a:hlinkClick r:id="" action="ppaction://noaction"/>
          </p:cNvPr>
          <p:cNvSpPr/>
          <p:nvPr/>
        </p:nvSpPr>
        <p:spPr>
          <a:xfrm>
            <a:off x="2238375" y="1758950"/>
            <a:ext cx="5353050" cy="46196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4-3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单口网络的置换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置换定理</a:t>
            </a:r>
          </a:p>
        </p:txBody>
      </p:sp>
      <p:sp>
        <p:nvSpPr>
          <p:cNvPr id="230481" name="Text Box 81">
            <a:hlinkClick r:id="" action="ppaction://noaction"/>
          </p:cNvPr>
          <p:cNvSpPr txBox="1"/>
          <p:nvPr/>
        </p:nvSpPr>
        <p:spPr>
          <a:xfrm>
            <a:off x="2238375" y="4330700"/>
            <a:ext cx="5292725" cy="46196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4-8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最大功率传递定理</a:t>
            </a:r>
          </a:p>
        </p:txBody>
      </p:sp>
      <p:sp>
        <p:nvSpPr>
          <p:cNvPr id="230483" name="Text Box 83">
            <a:hlinkClick r:id="" action="ppaction://noaction"/>
          </p:cNvPr>
          <p:cNvSpPr txBox="1"/>
          <p:nvPr/>
        </p:nvSpPr>
        <p:spPr>
          <a:xfrm>
            <a:off x="2238375" y="2830513"/>
            <a:ext cx="5495925" cy="46196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4-5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一些简单的等效规律和公式</a:t>
            </a:r>
          </a:p>
        </p:txBody>
      </p:sp>
      <p:sp>
        <p:nvSpPr>
          <p:cNvPr id="230490" name="Text Box 90">
            <a:hlinkClick r:id="" action="ppaction://noaction"/>
          </p:cNvPr>
          <p:cNvSpPr txBox="1"/>
          <p:nvPr/>
        </p:nvSpPr>
        <p:spPr>
          <a:xfrm>
            <a:off x="2238375" y="3330575"/>
            <a:ext cx="3781425" cy="46196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4-6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戴维南定理</a:t>
            </a:r>
          </a:p>
        </p:txBody>
      </p:sp>
      <p:sp>
        <p:nvSpPr>
          <p:cNvPr id="230491" name="Text Box 91">
            <a:hlinkClick r:id="" action="ppaction://noaction"/>
          </p:cNvPr>
          <p:cNvSpPr txBox="1"/>
          <p:nvPr/>
        </p:nvSpPr>
        <p:spPr>
          <a:xfrm>
            <a:off x="2238375" y="3830638"/>
            <a:ext cx="3781425" cy="46196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4-7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诺顿定理</a:t>
            </a:r>
          </a:p>
        </p:txBody>
      </p:sp>
      <p:sp>
        <p:nvSpPr>
          <p:cNvPr id="4107" name="AutoShape 95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8" name="AutoShape 96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AutoShape 97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0498" name="Line 98"/>
          <p:cNvSpPr/>
          <p:nvPr/>
        </p:nvSpPr>
        <p:spPr>
          <a:xfrm flipV="1">
            <a:off x="9510713" y="6523038"/>
            <a:ext cx="1131887" cy="127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Text Box 81">
            <a:hlinkClick r:id="" action="ppaction://noaction"/>
          </p:cNvPr>
          <p:cNvSpPr txBox="1"/>
          <p:nvPr/>
        </p:nvSpPr>
        <p:spPr>
          <a:xfrm>
            <a:off x="2233613" y="6330950"/>
            <a:ext cx="5292725" cy="46196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4-12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端接双口</a:t>
            </a:r>
          </a:p>
        </p:txBody>
      </p:sp>
      <p:sp>
        <p:nvSpPr>
          <p:cNvPr id="19" name="Text Box 83">
            <a:hlinkClick r:id="" action="ppaction://noaction"/>
          </p:cNvPr>
          <p:cNvSpPr txBox="1"/>
          <p:nvPr/>
        </p:nvSpPr>
        <p:spPr>
          <a:xfrm>
            <a:off x="2233613" y="4830763"/>
            <a:ext cx="5715000" cy="46196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4-9  T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形网络和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Π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形网络的等效变换</a:t>
            </a:r>
          </a:p>
        </p:txBody>
      </p:sp>
      <p:sp>
        <p:nvSpPr>
          <p:cNvPr id="20" name="Text Box 90">
            <a:hlinkClick r:id="" action="ppaction://noaction"/>
          </p:cNvPr>
          <p:cNvSpPr txBox="1"/>
          <p:nvPr/>
        </p:nvSpPr>
        <p:spPr>
          <a:xfrm>
            <a:off x="2233613" y="5330825"/>
            <a:ext cx="4857750" cy="46196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4-10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双口网络的电压电流关系</a:t>
            </a:r>
          </a:p>
        </p:txBody>
      </p:sp>
      <p:sp>
        <p:nvSpPr>
          <p:cNvPr id="21" name="Text Box 91">
            <a:hlinkClick r:id="" action="ppaction://noaction"/>
          </p:cNvPr>
          <p:cNvSpPr txBox="1"/>
          <p:nvPr/>
        </p:nvSpPr>
        <p:spPr>
          <a:xfrm>
            <a:off x="2233613" y="5830888"/>
            <a:ext cx="4572000" cy="46196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4-11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互易双口   对称双口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76" grpId="0"/>
      <p:bldP spid="230477" grpId="0"/>
      <p:bldP spid="230478" grpId="0"/>
      <p:bldP spid="230479" grpId="0"/>
      <p:bldP spid="230481" grpId="0"/>
      <p:bldP spid="230483" grpId="0"/>
      <p:bldP spid="230490" grpId="0"/>
      <p:bldP spid="230491" grpId="0"/>
      <p:bldP spid="18" grpId="0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2" descr="水滴"/>
          <p:cNvSpPr/>
          <p:nvPr/>
        </p:nvSpPr>
        <p:spPr>
          <a:xfrm>
            <a:off x="2605088" y="246063"/>
            <a:ext cx="7162800" cy="641350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4-2  </a:t>
            </a:r>
            <a:r>
              <a:rPr lang="zh-CN" altLang="en-US" sz="3200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单口网络的电压电流关系 </a:t>
            </a:r>
          </a:p>
        </p:txBody>
      </p:sp>
      <p:sp>
        <p:nvSpPr>
          <p:cNvPr id="270379" name="Text Box 43"/>
          <p:cNvSpPr txBox="1"/>
          <p:nvPr/>
        </p:nvSpPr>
        <p:spPr>
          <a:xfrm>
            <a:off x="1295400" y="1966913"/>
            <a:ext cx="6781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确定单口网络伏安关系常用的三种方法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:</a:t>
            </a:r>
          </a:p>
        </p:txBody>
      </p:sp>
      <p:sp>
        <p:nvSpPr>
          <p:cNvPr id="29700" name="Text Box 44"/>
          <p:cNvSpPr txBox="1"/>
          <p:nvPr/>
        </p:nvSpPr>
        <p:spPr>
          <a:xfrm>
            <a:off x="1708150" y="2479675"/>
            <a:ext cx="906780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列电路的方程，求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关系；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端钮上加电流源，求输入端电压，得到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关系；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端钮上加电压源，求输入端电流，得到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关系。</a:t>
            </a:r>
          </a:p>
        </p:txBody>
      </p:sp>
      <p:sp>
        <p:nvSpPr>
          <p:cNvPr id="270381" name="Rectangle 45"/>
          <p:cNvSpPr/>
          <p:nvPr/>
        </p:nvSpPr>
        <p:spPr>
          <a:xfrm>
            <a:off x="1081088" y="4119563"/>
            <a:ext cx="5364162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FF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求图示单口网络的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VCR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270382" name="Rectangle 46"/>
          <p:cNvSpPr/>
          <p:nvPr/>
        </p:nvSpPr>
        <p:spPr>
          <a:xfrm>
            <a:off x="2424113" y="4652963"/>
            <a:ext cx="4162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）列电路</a:t>
            </a:r>
            <a:r>
              <a:rPr lang="en-US" altLang="zh-CN" sz="2800" b="1" dirty="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KVL</a:t>
            </a:r>
            <a:r>
              <a:rPr lang="zh-CN" altLang="en-US" sz="2800" b="1" dirty="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方程：</a:t>
            </a:r>
          </a:p>
        </p:txBody>
      </p:sp>
      <p:sp>
        <p:nvSpPr>
          <p:cNvPr id="270383" name="Text Box 47"/>
          <p:cNvSpPr txBox="1"/>
          <p:nvPr/>
        </p:nvSpPr>
        <p:spPr>
          <a:xfrm>
            <a:off x="2135188" y="5300663"/>
            <a:ext cx="4392612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=</a:t>
            </a:r>
            <a:r>
              <a:rPr lang="en-US" altLang="zh-CN" sz="27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3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1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3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100" b="1" baseline="-250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7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900" b="1" baseline="-250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lang="en-US" altLang="zh-CN" sz="27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7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</a:p>
        </p:txBody>
      </p:sp>
      <p:sp>
        <p:nvSpPr>
          <p:cNvPr id="270384" name="Text Box 48"/>
          <p:cNvSpPr txBox="1"/>
          <p:nvPr/>
        </p:nvSpPr>
        <p:spPr>
          <a:xfrm>
            <a:off x="2451100" y="5861050"/>
            <a:ext cx="40052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=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100" b="1" baseline="-250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1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lang="en-US" altLang="zh-CN" sz="27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</a:p>
        </p:txBody>
      </p:sp>
      <p:sp>
        <p:nvSpPr>
          <p:cNvPr id="270416" name="Rectangle 80"/>
          <p:cNvSpPr/>
          <p:nvPr/>
        </p:nvSpPr>
        <p:spPr>
          <a:xfrm>
            <a:off x="1847850" y="4637088"/>
            <a:ext cx="958850" cy="51911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解：</a:t>
            </a:r>
          </a:p>
        </p:txBody>
      </p:sp>
      <p:sp>
        <p:nvSpPr>
          <p:cNvPr id="11274" name="AutoShape 110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5" name="AutoShape 111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6" name="AutoShape 112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0449" name="Line 113"/>
          <p:cNvSpPr/>
          <p:nvPr/>
        </p:nvSpPr>
        <p:spPr>
          <a:xfrm flipV="1">
            <a:off x="9510713" y="6523038"/>
            <a:ext cx="1131887" cy="127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8" name="Text Box 63"/>
          <p:cNvSpPr txBox="1"/>
          <p:nvPr/>
        </p:nvSpPr>
        <p:spPr>
          <a:xfrm>
            <a:off x="1055688" y="838200"/>
            <a:ext cx="10080625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单口网络的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VCR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只取决于单口本身的性质，与外接电路无关。如同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10Ω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的电阻元件，其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VCR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总是</a:t>
            </a:r>
            <a:r>
              <a:rPr lang="en-US" altLang="zh-CN" sz="36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=10</a:t>
            </a:r>
            <a:r>
              <a:rPr lang="en-US" altLang="zh-CN" sz="36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一样。</a:t>
            </a:r>
          </a:p>
        </p:txBody>
      </p:sp>
      <p:grpSp>
        <p:nvGrpSpPr>
          <p:cNvPr id="3" name="Group 86"/>
          <p:cNvGrpSpPr/>
          <p:nvPr/>
        </p:nvGrpSpPr>
        <p:grpSpPr>
          <a:xfrm>
            <a:off x="6791325" y="4070350"/>
            <a:ext cx="2922588" cy="2382838"/>
            <a:chOff x="3327" y="210"/>
            <a:chExt cx="1841" cy="1501"/>
          </a:xfrm>
        </p:grpSpPr>
        <p:sp>
          <p:nvSpPr>
            <p:cNvPr id="11280" name="Oval 87"/>
            <p:cNvSpPr/>
            <p:nvPr/>
          </p:nvSpPr>
          <p:spPr>
            <a:xfrm>
              <a:off x="3870" y="1229"/>
              <a:ext cx="295" cy="295"/>
            </a:xfrm>
            <a:prstGeom prst="ellipse">
              <a:avLst/>
            </a:prstGeom>
            <a:solidFill>
              <a:srgbClr val="FFFF99"/>
            </a:solidFill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1" name="Line 88"/>
            <p:cNvSpPr/>
            <p:nvPr/>
          </p:nvSpPr>
          <p:spPr>
            <a:xfrm flipH="1">
              <a:off x="4019" y="576"/>
              <a:ext cx="0" cy="111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1282" name="Group 89"/>
            <p:cNvGrpSpPr/>
            <p:nvPr/>
          </p:nvGrpSpPr>
          <p:grpSpPr>
            <a:xfrm>
              <a:off x="3474" y="576"/>
              <a:ext cx="1538" cy="1111"/>
              <a:chOff x="3209" y="2677"/>
              <a:chExt cx="1904" cy="1111"/>
            </a:xfrm>
          </p:grpSpPr>
          <p:sp>
            <p:nvSpPr>
              <p:cNvPr id="11300" name="Line 90"/>
              <p:cNvSpPr/>
              <p:nvPr/>
            </p:nvSpPr>
            <p:spPr>
              <a:xfrm>
                <a:off x="3209" y="2677"/>
                <a:ext cx="0" cy="111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1" name="Line 91"/>
              <p:cNvSpPr/>
              <p:nvPr/>
            </p:nvSpPr>
            <p:spPr>
              <a:xfrm>
                <a:off x="3209" y="2677"/>
                <a:ext cx="190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11302" name="Line 92"/>
              <p:cNvSpPr/>
              <p:nvPr/>
            </p:nvSpPr>
            <p:spPr>
              <a:xfrm>
                <a:off x="3209" y="3785"/>
                <a:ext cx="190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</p:grpSp>
        <p:grpSp>
          <p:nvGrpSpPr>
            <p:cNvPr id="11283" name="Group 93"/>
            <p:cNvGrpSpPr/>
            <p:nvPr/>
          </p:nvGrpSpPr>
          <p:grpSpPr>
            <a:xfrm>
              <a:off x="3327" y="929"/>
              <a:ext cx="295" cy="295"/>
              <a:chOff x="3040" y="3030"/>
              <a:chExt cx="317" cy="317"/>
            </a:xfrm>
          </p:grpSpPr>
          <p:sp>
            <p:nvSpPr>
              <p:cNvPr id="11298" name="Oval 94"/>
              <p:cNvSpPr/>
              <p:nvPr/>
            </p:nvSpPr>
            <p:spPr>
              <a:xfrm>
                <a:off x="3040" y="3030"/>
                <a:ext cx="317" cy="317"/>
              </a:xfrm>
              <a:prstGeom prst="ellipse">
                <a:avLst/>
              </a:prstGeom>
              <a:solidFill>
                <a:srgbClr val="FFFF99"/>
              </a:solidFill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9" name="Line 95"/>
              <p:cNvSpPr/>
              <p:nvPr/>
            </p:nvSpPr>
            <p:spPr>
              <a:xfrm>
                <a:off x="3040" y="3192"/>
                <a:ext cx="317" cy="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284" name="Line 96"/>
            <p:cNvSpPr/>
            <p:nvPr/>
          </p:nvSpPr>
          <p:spPr>
            <a:xfrm rot="-5400000" flipH="1">
              <a:off x="3348" y="1440"/>
              <a:ext cx="256" cy="4"/>
            </a:xfrm>
            <a:prstGeom prst="line">
              <a:avLst/>
            </a:prstGeom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1285" name="Text Box 97"/>
            <p:cNvSpPr txBox="1"/>
            <p:nvPr/>
          </p:nvSpPr>
          <p:spPr>
            <a:xfrm flipH="1">
              <a:off x="4283" y="210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11286" name="Text Box 98"/>
            <p:cNvSpPr txBox="1"/>
            <p:nvPr/>
          </p:nvSpPr>
          <p:spPr>
            <a:xfrm flipH="1">
              <a:off x="4069" y="74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11287" name="Text Box 99"/>
            <p:cNvSpPr txBox="1"/>
            <p:nvPr/>
          </p:nvSpPr>
          <p:spPr>
            <a:xfrm>
              <a:off x="4889" y="1008"/>
              <a:ext cx="279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 b="1" i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88" name="Oval 100"/>
            <p:cNvSpPr/>
            <p:nvPr/>
          </p:nvSpPr>
          <p:spPr>
            <a:xfrm>
              <a:off x="4960" y="546"/>
              <a:ext cx="57" cy="57"/>
            </a:xfrm>
            <a:prstGeom prst="ellipse">
              <a:avLst/>
            </a:prstGeom>
            <a:solidFill>
              <a:srgbClr val="FFFF99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9" name="Oval 101"/>
            <p:cNvSpPr/>
            <p:nvPr/>
          </p:nvSpPr>
          <p:spPr>
            <a:xfrm>
              <a:off x="4960" y="1654"/>
              <a:ext cx="57" cy="57"/>
            </a:xfrm>
            <a:prstGeom prst="ellipse">
              <a:avLst/>
            </a:prstGeom>
            <a:solidFill>
              <a:srgbClr val="FFFF99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102"/>
            <p:cNvSpPr txBox="1"/>
            <p:nvPr/>
          </p:nvSpPr>
          <p:spPr>
            <a:xfrm>
              <a:off x="3553" y="1279"/>
              <a:ext cx="203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91" name="Line 103"/>
            <p:cNvSpPr/>
            <p:nvPr/>
          </p:nvSpPr>
          <p:spPr>
            <a:xfrm rot="-5400000" flipH="1">
              <a:off x="4772" y="458"/>
              <a:ext cx="0" cy="236"/>
            </a:xfrm>
            <a:prstGeom prst="line">
              <a:avLst/>
            </a:prstGeom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1292" name="Text Box 104"/>
            <p:cNvSpPr txBox="1"/>
            <p:nvPr/>
          </p:nvSpPr>
          <p:spPr>
            <a:xfrm>
              <a:off x="4710" y="310"/>
              <a:ext cx="203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93" name="Rectangle 105"/>
            <p:cNvSpPr/>
            <p:nvPr/>
          </p:nvSpPr>
          <p:spPr>
            <a:xfrm rot="5400000" flipV="1">
              <a:off x="4361" y="413"/>
              <a:ext cx="102" cy="317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94" name="Rectangle 106"/>
            <p:cNvSpPr/>
            <p:nvPr/>
          </p:nvSpPr>
          <p:spPr>
            <a:xfrm rot="-10800000" flipV="1">
              <a:off x="3968" y="752"/>
              <a:ext cx="102" cy="317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95" name="Rectangle 107"/>
            <p:cNvSpPr/>
            <p:nvPr/>
          </p:nvSpPr>
          <p:spPr>
            <a:xfrm>
              <a:off x="4009" y="1021"/>
              <a:ext cx="408" cy="67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2400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</a:t>
              </a:r>
            </a:p>
            <a:p>
              <a:pPr algn="ctr" eaLnBrk="1" hangingPunct="1"/>
              <a:endParaRPr lang="en-US" altLang="zh-CN" sz="2400" b="1" baseline="-250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endParaRPr>
            </a:p>
            <a:p>
              <a:pPr algn="ctr" eaLnBrk="1" hangingPunct="1"/>
              <a:r>
                <a:rPr lang="en-US" altLang="zh-CN" sz="2400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11296" name="Rectangle 108"/>
            <p:cNvSpPr/>
            <p:nvPr/>
          </p:nvSpPr>
          <p:spPr>
            <a:xfrm>
              <a:off x="4155" y="1218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1297" name="Rectangle 109"/>
            <p:cNvSpPr/>
            <p:nvPr/>
          </p:nvSpPr>
          <p:spPr>
            <a:xfrm>
              <a:off x="4798" y="537"/>
              <a:ext cx="363" cy="115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3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</a:t>
              </a:r>
            </a:p>
            <a:p>
              <a:pPr algn="ctr" eaLnBrk="1" hangingPunct="1">
                <a:lnSpc>
                  <a:spcPct val="130000"/>
                </a:lnSpc>
              </a:pPr>
              <a:endParaRPr lang="en-US" altLang="zh-CN" sz="2400" b="1" baseline="-250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endParaRPr>
            </a:p>
            <a:p>
              <a:pPr algn="ctr" eaLnBrk="1" hangingPunct="1">
                <a:lnSpc>
                  <a:spcPct val="130000"/>
                </a:lnSpc>
              </a:pPr>
              <a:endPara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endParaRPr>
            </a:p>
            <a:p>
              <a:pPr algn="ctr" eaLnBrk="1" hangingPunct="1">
                <a:lnSpc>
                  <a:spcPct val="13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Symbol" panose="05050102010706020507" pitchFamily="18" charset="2"/>
                </a:rPr>
                <a:t>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79" grpId="0"/>
      <p:bldP spid="29700" grpId="0"/>
      <p:bldP spid="270381" grpId="0"/>
      <p:bldP spid="270382" grpId="0"/>
      <p:bldP spid="270383" grpId="0"/>
      <p:bldP spid="270384" grpId="0"/>
      <p:bldP spid="2704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/>
          <p:nvPr/>
        </p:nvSpPr>
        <p:spPr>
          <a:xfrm>
            <a:off x="531813" y="292100"/>
            <a:ext cx="5791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三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  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求单口网络的等效电路</a:t>
            </a:r>
          </a:p>
        </p:txBody>
      </p:sp>
      <p:sp>
        <p:nvSpPr>
          <p:cNvPr id="344067" name="Rectangle 3"/>
          <p:cNvSpPr/>
          <p:nvPr/>
        </p:nvSpPr>
        <p:spPr>
          <a:xfrm>
            <a:off x="0" y="993775"/>
            <a:ext cx="119538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求某一单口网络的等效电路，实质上是求该单口网络端口的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VCR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7652" name="AutoShape 4">
            <a:hlinkClick r:id="" action="ppaction://hlinkshowjump?jump=firstslide"/>
          </p:cNvPr>
          <p:cNvSpPr/>
          <p:nvPr/>
        </p:nvSpPr>
        <p:spPr>
          <a:xfrm>
            <a:off x="9369425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3" name="AutoShape 5">
            <a:hlinkClick r:id="" action="ppaction://hlinkshowjump?jump=nextslide"/>
          </p:cNvPr>
          <p:cNvSpPr/>
          <p:nvPr/>
        </p:nvSpPr>
        <p:spPr>
          <a:xfrm>
            <a:off x="10283825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4" name="AutoShape 6">
            <a:hlinkClick r:id="" action="ppaction://hlinkshowjump?jump=previousslide"/>
          </p:cNvPr>
          <p:cNvSpPr/>
          <p:nvPr/>
        </p:nvSpPr>
        <p:spPr>
          <a:xfrm>
            <a:off x="9826625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4071" name="Line 7"/>
          <p:cNvSpPr/>
          <p:nvPr/>
        </p:nvSpPr>
        <p:spPr>
          <a:xfrm>
            <a:off x="9386888" y="6550025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4072" name="Rectangle 8"/>
          <p:cNvSpPr/>
          <p:nvPr/>
        </p:nvSpPr>
        <p:spPr>
          <a:xfrm>
            <a:off x="1055688" y="2843213"/>
            <a:ext cx="97155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不含独立源，仅含受控源和电阻的单口网络，亦可以等效为一个电阻。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这是一般规律，是可以证明的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44073" name="Rectangle 9"/>
          <p:cNvSpPr/>
          <p:nvPr/>
        </p:nvSpPr>
        <p:spPr>
          <a:xfrm>
            <a:off x="1055688" y="2233613"/>
            <a:ext cx="99504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不含独立源，仅含电阻的单口网络，可以等效为一个电阻。</a:t>
            </a:r>
          </a:p>
        </p:txBody>
      </p:sp>
      <p:sp>
        <p:nvSpPr>
          <p:cNvPr id="344074" name="Rectangle 10"/>
          <p:cNvSpPr/>
          <p:nvPr/>
        </p:nvSpPr>
        <p:spPr>
          <a:xfrm>
            <a:off x="1120775" y="3935413"/>
            <a:ext cx="99504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仅含受控源和电阻的单口网络，等效电阻可能为一个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负电阻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44075" name="Rectangle 11"/>
          <p:cNvSpPr/>
          <p:nvPr/>
        </p:nvSpPr>
        <p:spPr>
          <a:xfrm>
            <a:off x="1055688" y="1612900"/>
            <a:ext cx="54403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不含独立源的单口网络</a:t>
            </a:r>
          </a:p>
        </p:txBody>
      </p:sp>
      <p:sp>
        <p:nvSpPr>
          <p:cNvPr id="344076" name="Rectangle 12"/>
          <p:cNvSpPr/>
          <p:nvPr/>
        </p:nvSpPr>
        <p:spPr>
          <a:xfrm>
            <a:off x="1676400" y="4724400"/>
            <a:ext cx="9144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结论： 不含独立源的单口网络，均可以等效为一个电阻</a:t>
            </a:r>
          </a:p>
        </p:txBody>
      </p:sp>
      <p:grpSp>
        <p:nvGrpSpPr>
          <p:cNvPr id="2" name="Group 30"/>
          <p:cNvGrpSpPr/>
          <p:nvPr/>
        </p:nvGrpSpPr>
        <p:grpSpPr>
          <a:xfrm>
            <a:off x="3143250" y="5410200"/>
            <a:ext cx="4757738" cy="1295400"/>
            <a:chOff x="1020" y="3408"/>
            <a:chExt cx="2997" cy="816"/>
          </a:xfrm>
        </p:grpSpPr>
        <p:grpSp>
          <p:nvGrpSpPr>
            <p:cNvPr id="27662" name="Group 13"/>
            <p:cNvGrpSpPr/>
            <p:nvPr/>
          </p:nvGrpSpPr>
          <p:grpSpPr>
            <a:xfrm>
              <a:off x="1020" y="3408"/>
              <a:ext cx="1092" cy="816"/>
              <a:chOff x="1020" y="2894"/>
              <a:chExt cx="1092" cy="816"/>
            </a:xfrm>
          </p:grpSpPr>
          <p:sp>
            <p:nvSpPr>
              <p:cNvPr id="27673" name="Text Box 14"/>
              <p:cNvSpPr txBox="1"/>
              <p:nvPr/>
            </p:nvSpPr>
            <p:spPr>
              <a:xfrm>
                <a:off x="1020" y="2894"/>
                <a:ext cx="612" cy="816"/>
              </a:xfrm>
              <a:prstGeom prst="rect">
                <a:avLst/>
              </a:prstGeom>
              <a:solidFill>
                <a:srgbClr val="FFFFCC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>
                  <a:lnSpc>
                    <a:spcPct val="90000"/>
                  </a:lnSpc>
                </a:pPr>
                <a:endPara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674" name="Group 15"/>
              <p:cNvGrpSpPr/>
              <p:nvPr/>
            </p:nvGrpSpPr>
            <p:grpSpPr>
              <a:xfrm>
                <a:off x="1635" y="3000"/>
                <a:ext cx="428" cy="635"/>
                <a:chOff x="1318" y="3401"/>
                <a:chExt cx="609" cy="568"/>
              </a:xfrm>
            </p:grpSpPr>
            <p:sp>
              <p:nvSpPr>
                <p:cNvPr id="27677" name="Line 16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678" name="Line 17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75" name="Oval 18"/>
              <p:cNvSpPr/>
              <p:nvPr/>
            </p:nvSpPr>
            <p:spPr>
              <a:xfrm>
                <a:off x="2055" y="3608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6" name="Oval 19"/>
              <p:cNvSpPr/>
              <p:nvPr/>
            </p:nvSpPr>
            <p:spPr>
              <a:xfrm>
                <a:off x="2055" y="297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63" name="Group 20"/>
            <p:cNvGrpSpPr/>
            <p:nvPr/>
          </p:nvGrpSpPr>
          <p:grpSpPr>
            <a:xfrm>
              <a:off x="3496" y="3408"/>
              <a:ext cx="521" cy="813"/>
              <a:chOff x="3496" y="2919"/>
              <a:chExt cx="521" cy="813"/>
            </a:xfrm>
          </p:grpSpPr>
          <p:sp>
            <p:nvSpPr>
              <p:cNvPr id="27665" name="Oval 21"/>
              <p:cNvSpPr/>
              <p:nvPr/>
            </p:nvSpPr>
            <p:spPr>
              <a:xfrm>
                <a:off x="3960" y="3675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6" name="Oval 22"/>
              <p:cNvSpPr/>
              <p:nvPr/>
            </p:nvSpPr>
            <p:spPr>
              <a:xfrm>
                <a:off x="3960" y="2919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667" name="Group 23"/>
              <p:cNvGrpSpPr/>
              <p:nvPr/>
            </p:nvGrpSpPr>
            <p:grpSpPr>
              <a:xfrm>
                <a:off x="3540" y="2946"/>
                <a:ext cx="428" cy="756"/>
                <a:chOff x="1318" y="3401"/>
                <a:chExt cx="609" cy="568"/>
              </a:xfrm>
            </p:grpSpPr>
            <p:sp>
              <p:nvSpPr>
                <p:cNvPr id="27671" name="Line 24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672" name="Line 25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68" name="Line 26"/>
              <p:cNvSpPr/>
              <p:nvPr/>
            </p:nvSpPr>
            <p:spPr>
              <a:xfrm flipH="1">
                <a:off x="3540" y="2938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69" name="Rectangle 27"/>
              <p:cNvSpPr/>
              <p:nvPr/>
            </p:nvSpPr>
            <p:spPr>
              <a:xfrm rot="-10800000" flipV="1">
                <a:off x="3496" y="3189"/>
                <a:ext cx="91" cy="252"/>
              </a:xfrm>
              <a:prstGeom prst="rect">
                <a:avLst/>
              </a:prstGeom>
              <a:solidFill>
                <a:srgbClr val="FFFF99"/>
              </a:solidFill>
              <a:ln w="38100" cap="flat" cmpd="sng">
                <a:solidFill>
                  <a:srgbClr val="99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70" name="Rectangle 28"/>
              <p:cNvSpPr/>
              <p:nvPr/>
            </p:nvSpPr>
            <p:spPr>
              <a:xfrm>
                <a:off x="3574" y="3179"/>
                <a:ext cx="244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en-US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27664" name="AutoShape 29"/>
            <p:cNvSpPr/>
            <p:nvPr/>
          </p:nvSpPr>
          <p:spPr>
            <a:xfrm>
              <a:off x="2608" y="3680"/>
              <a:ext cx="453" cy="182"/>
            </a:xfrm>
            <a:custGeom>
              <a:avLst/>
              <a:gdLst>
                <a:gd name="txL" fmla="*/ 3385 w 21600"/>
                <a:gd name="txT" fmla="*/ 4510 h 21600"/>
                <a:gd name="txR" fmla="*/ 15544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1205" y="0"/>
                  </a:moveTo>
                  <a:lnTo>
                    <a:pt x="11205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1205" y="17090"/>
                  </a:lnTo>
                  <a:lnTo>
                    <a:pt x="11205" y="21600"/>
                  </a:lnTo>
                  <a:lnTo>
                    <a:pt x="21600" y="10800"/>
                  </a:lnTo>
                  <a:lnTo>
                    <a:pt x="11205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99FFCC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/>
      <p:bldP spid="344067" grpId="0"/>
      <p:bldP spid="344072" grpId="0"/>
      <p:bldP spid="344073" grpId="0"/>
      <p:bldP spid="344074" grpId="0"/>
      <p:bldP spid="344075" grpId="0"/>
      <p:bldP spid="3440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3" name="Rectangle 3"/>
          <p:cNvSpPr/>
          <p:nvPr/>
        </p:nvSpPr>
        <p:spPr>
          <a:xfrm>
            <a:off x="1158875" y="976313"/>
            <a:ext cx="10512425" cy="1960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结论： </a:t>
            </a: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含独立源的单口网络，能够等效为一个电压源与电阻串联的电路（</a:t>
            </a:r>
            <a:r>
              <a:rPr lang="zh-CN" altLang="en-US" sz="2800" b="1" dirty="0">
                <a:latin typeface="Times New Roman" panose="02020603050405020304" pitchFamily="18" charset="0"/>
              </a:rPr>
              <a:t>戴维南等效电路</a:t>
            </a: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，也能够等效为一个电流源与电阻并联的电路（</a:t>
            </a:r>
            <a:r>
              <a:rPr lang="zh-CN" altLang="en-US" sz="2800" b="1" dirty="0">
                <a:latin typeface="Times New Roman" panose="02020603050405020304" pitchFamily="18" charset="0"/>
              </a:rPr>
              <a:t>诺顿等效电路</a:t>
            </a: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grpSp>
        <p:nvGrpSpPr>
          <p:cNvPr id="2" name="Group 289"/>
          <p:cNvGrpSpPr/>
          <p:nvPr/>
        </p:nvGrpSpPr>
        <p:grpSpPr>
          <a:xfrm>
            <a:off x="6357938" y="2646363"/>
            <a:ext cx="2090737" cy="1800225"/>
            <a:chOff x="586" y="1207"/>
            <a:chExt cx="1317" cy="1134"/>
          </a:xfrm>
        </p:grpSpPr>
        <p:sp>
          <p:nvSpPr>
            <p:cNvPr id="28709" name="Oval 290"/>
            <p:cNvSpPr/>
            <p:nvPr/>
          </p:nvSpPr>
          <p:spPr>
            <a:xfrm>
              <a:off x="884" y="1771"/>
              <a:ext cx="272" cy="27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0" name="Oval 291"/>
            <p:cNvSpPr/>
            <p:nvPr/>
          </p:nvSpPr>
          <p:spPr>
            <a:xfrm>
              <a:off x="1846" y="2284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1" name="Oval 292"/>
            <p:cNvSpPr/>
            <p:nvPr/>
          </p:nvSpPr>
          <p:spPr>
            <a:xfrm>
              <a:off x="1846" y="1528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8712" name="Group 293"/>
            <p:cNvGrpSpPr/>
            <p:nvPr/>
          </p:nvGrpSpPr>
          <p:grpSpPr>
            <a:xfrm>
              <a:off x="1021" y="1555"/>
              <a:ext cx="837" cy="756"/>
              <a:chOff x="1318" y="3401"/>
              <a:chExt cx="609" cy="568"/>
            </a:xfrm>
          </p:grpSpPr>
          <p:sp>
            <p:nvSpPr>
              <p:cNvPr id="28719" name="Line 294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0" name="Line 295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13" name="Line 296"/>
            <p:cNvSpPr/>
            <p:nvPr/>
          </p:nvSpPr>
          <p:spPr>
            <a:xfrm flipH="1">
              <a:off x="1021" y="1547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4" name="Rectangle 297"/>
            <p:cNvSpPr/>
            <p:nvPr/>
          </p:nvSpPr>
          <p:spPr>
            <a:xfrm rot="-5400000" flipV="1">
              <a:off x="1383" y="1428"/>
              <a:ext cx="91" cy="252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99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715" name="Rectangle 298"/>
            <p:cNvSpPr/>
            <p:nvPr/>
          </p:nvSpPr>
          <p:spPr>
            <a:xfrm>
              <a:off x="1328" y="1207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8716" name="Text Box 299"/>
            <p:cNvSpPr txBox="1"/>
            <p:nvPr/>
          </p:nvSpPr>
          <p:spPr>
            <a:xfrm>
              <a:off x="797" y="1949"/>
              <a:ext cx="336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7" name="Text Box 300"/>
            <p:cNvSpPr txBox="1"/>
            <p:nvPr/>
          </p:nvSpPr>
          <p:spPr>
            <a:xfrm>
              <a:off x="789" y="1570"/>
              <a:ext cx="336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8" name="Rectangle 301"/>
            <p:cNvSpPr/>
            <p:nvPr/>
          </p:nvSpPr>
          <p:spPr>
            <a:xfrm>
              <a:off x="586" y="1739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4" name="Group 302"/>
          <p:cNvGrpSpPr/>
          <p:nvPr/>
        </p:nvGrpSpPr>
        <p:grpSpPr>
          <a:xfrm>
            <a:off x="6415088" y="4946650"/>
            <a:ext cx="2033587" cy="1290638"/>
            <a:chOff x="646" y="2931"/>
            <a:chExt cx="1281" cy="813"/>
          </a:xfrm>
        </p:grpSpPr>
        <p:sp>
          <p:nvSpPr>
            <p:cNvPr id="28695" name="Oval 303"/>
            <p:cNvSpPr/>
            <p:nvPr/>
          </p:nvSpPr>
          <p:spPr>
            <a:xfrm>
              <a:off x="1870" y="3687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96" name="Oval 304"/>
            <p:cNvSpPr/>
            <p:nvPr/>
          </p:nvSpPr>
          <p:spPr>
            <a:xfrm>
              <a:off x="1870" y="2931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8697" name="Group 305"/>
            <p:cNvGrpSpPr/>
            <p:nvPr/>
          </p:nvGrpSpPr>
          <p:grpSpPr>
            <a:xfrm>
              <a:off x="1045" y="2958"/>
              <a:ext cx="837" cy="756"/>
              <a:chOff x="1318" y="3401"/>
              <a:chExt cx="609" cy="568"/>
            </a:xfrm>
          </p:grpSpPr>
          <p:sp>
            <p:nvSpPr>
              <p:cNvPr id="28707" name="Line 306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8" name="Line 307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698" name="Line 308"/>
            <p:cNvSpPr/>
            <p:nvPr/>
          </p:nvSpPr>
          <p:spPr>
            <a:xfrm flipH="1">
              <a:off x="1045" y="2950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9" name="Line 309"/>
            <p:cNvSpPr/>
            <p:nvPr/>
          </p:nvSpPr>
          <p:spPr>
            <a:xfrm flipH="1">
              <a:off x="1493" y="2947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0" name="Rectangle 310"/>
            <p:cNvSpPr/>
            <p:nvPr/>
          </p:nvSpPr>
          <p:spPr>
            <a:xfrm rot="-10800000" flipV="1">
              <a:off x="1449" y="3230"/>
              <a:ext cx="91" cy="252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99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8701" name="Group 311"/>
            <p:cNvGrpSpPr/>
            <p:nvPr/>
          </p:nvGrpSpPr>
          <p:grpSpPr>
            <a:xfrm>
              <a:off x="908" y="3214"/>
              <a:ext cx="272" cy="272"/>
              <a:chOff x="3923" y="3500"/>
              <a:chExt cx="272" cy="272"/>
            </a:xfrm>
          </p:grpSpPr>
          <p:sp>
            <p:nvSpPr>
              <p:cNvPr id="28705" name="Oval 312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06" name="Line 313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02" name="Rectangle 314"/>
            <p:cNvSpPr/>
            <p:nvPr/>
          </p:nvSpPr>
          <p:spPr>
            <a:xfrm>
              <a:off x="1567" y="3203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8703" name="Line 315"/>
            <p:cNvSpPr/>
            <p:nvPr/>
          </p:nvSpPr>
          <p:spPr>
            <a:xfrm rot="5400000" flipH="1" flipV="1">
              <a:off x="951" y="3066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8704" name="Rectangle 316"/>
            <p:cNvSpPr/>
            <p:nvPr/>
          </p:nvSpPr>
          <p:spPr>
            <a:xfrm>
              <a:off x="646" y="3174"/>
              <a:ext cx="26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28677" name="Group 317"/>
          <p:cNvGrpSpPr/>
          <p:nvPr/>
        </p:nvGrpSpPr>
        <p:grpSpPr>
          <a:xfrm>
            <a:off x="2208213" y="3870325"/>
            <a:ext cx="1733550" cy="1295400"/>
            <a:chOff x="1020" y="2894"/>
            <a:chExt cx="1092" cy="816"/>
          </a:xfrm>
        </p:grpSpPr>
        <p:sp>
          <p:nvSpPr>
            <p:cNvPr id="28689" name="Text Box 318"/>
            <p:cNvSpPr txBox="1"/>
            <p:nvPr/>
          </p:nvSpPr>
          <p:spPr>
            <a:xfrm>
              <a:off x="1020" y="2894"/>
              <a:ext cx="612" cy="816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lnSpc>
                  <a:spcPct val="90000"/>
                </a:lnSpc>
              </a:pP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28690" name="Group 319"/>
            <p:cNvGrpSpPr/>
            <p:nvPr/>
          </p:nvGrpSpPr>
          <p:grpSpPr>
            <a:xfrm>
              <a:off x="1635" y="3000"/>
              <a:ext cx="428" cy="635"/>
              <a:chOff x="1318" y="3401"/>
              <a:chExt cx="609" cy="568"/>
            </a:xfrm>
          </p:grpSpPr>
          <p:sp>
            <p:nvSpPr>
              <p:cNvPr id="28693" name="Line 320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4" name="Line 321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691" name="Oval 322"/>
            <p:cNvSpPr/>
            <p:nvPr/>
          </p:nvSpPr>
          <p:spPr>
            <a:xfrm>
              <a:off x="2055" y="3608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8692" name="Oval 323"/>
            <p:cNvSpPr/>
            <p:nvPr/>
          </p:nvSpPr>
          <p:spPr>
            <a:xfrm>
              <a:off x="2055" y="2973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1924" name="AutoShape 324"/>
          <p:cNvSpPr/>
          <p:nvPr/>
        </p:nvSpPr>
        <p:spPr>
          <a:xfrm rot="-600000">
            <a:off x="4364038" y="3849688"/>
            <a:ext cx="1728787" cy="288925"/>
          </a:xfrm>
          <a:custGeom>
            <a:avLst/>
            <a:gdLst>
              <a:gd name="txL" fmla="*/ 3375 w 21600"/>
              <a:gd name="txT" fmla="*/ 5459 h 21600"/>
              <a:gd name="txR" fmla="*/ 18576 w 21600"/>
              <a:gd name="txB" fmla="*/ 16141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5486" y="0"/>
                </a:moveTo>
                <a:lnTo>
                  <a:pt x="15486" y="5459"/>
                </a:lnTo>
                <a:lnTo>
                  <a:pt x="3375" y="5459"/>
                </a:lnTo>
                <a:lnTo>
                  <a:pt x="3375" y="16141"/>
                </a:lnTo>
                <a:lnTo>
                  <a:pt x="15486" y="16141"/>
                </a:lnTo>
                <a:lnTo>
                  <a:pt x="15486" y="21600"/>
                </a:lnTo>
                <a:lnTo>
                  <a:pt x="21600" y="10800"/>
                </a:lnTo>
                <a:lnTo>
                  <a:pt x="15486" y="0"/>
                </a:lnTo>
                <a:close/>
              </a:path>
              <a:path w="21600" h="21600">
                <a:moveTo>
                  <a:pt x="1350" y="5459"/>
                </a:moveTo>
                <a:lnTo>
                  <a:pt x="1350" y="16141"/>
                </a:lnTo>
                <a:lnTo>
                  <a:pt x="2700" y="16141"/>
                </a:lnTo>
                <a:lnTo>
                  <a:pt x="2700" y="5459"/>
                </a:lnTo>
                <a:lnTo>
                  <a:pt x="1350" y="5459"/>
                </a:lnTo>
                <a:close/>
              </a:path>
              <a:path w="21600" h="21600">
                <a:moveTo>
                  <a:pt x="0" y="5459"/>
                </a:moveTo>
                <a:lnTo>
                  <a:pt x="0" y="16141"/>
                </a:lnTo>
                <a:lnTo>
                  <a:pt x="675" y="16141"/>
                </a:lnTo>
                <a:lnTo>
                  <a:pt x="675" y="5459"/>
                </a:lnTo>
                <a:lnTo>
                  <a:pt x="0" y="5459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28575" cap="flat" cmpd="sng">
            <a:solidFill>
              <a:srgbClr val="9900F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925" name="Rectangle 325"/>
          <p:cNvSpPr/>
          <p:nvPr/>
        </p:nvSpPr>
        <p:spPr>
          <a:xfrm rot="-600000">
            <a:off x="4214813" y="3419475"/>
            <a:ext cx="1708150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戴维南定理</a:t>
            </a:r>
          </a:p>
        </p:txBody>
      </p:sp>
      <p:sp>
        <p:nvSpPr>
          <p:cNvPr id="281926" name="Rectangle 326"/>
          <p:cNvSpPr/>
          <p:nvPr/>
        </p:nvSpPr>
        <p:spPr>
          <a:xfrm>
            <a:off x="8694738" y="3365500"/>
            <a:ext cx="1433512" cy="841375"/>
          </a:xfrm>
          <a:prstGeom prst="rect">
            <a:avLst/>
          </a:prstGeom>
          <a:solidFill>
            <a:srgbClr val="FFFF99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戴维南</a:t>
            </a:r>
          </a:p>
          <a:p>
            <a:pPr eaLnBrk="1" hangingPunct="1"/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等效电路</a:t>
            </a:r>
          </a:p>
        </p:txBody>
      </p:sp>
      <p:sp>
        <p:nvSpPr>
          <p:cNvPr id="281927" name="Rectangle 327"/>
          <p:cNvSpPr/>
          <p:nvPr/>
        </p:nvSpPr>
        <p:spPr>
          <a:xfrm>
            <a:off x="8694738" y="5105400"/>
            <a:ext cx="1433512" cy="841375"/>
          </a:xfrm>
          <a:prstGeom prst="rect">
            <a:avLst/>
          </a:prstGeom>
          <a:solidFill>
            <a:srgbClr val="FFFF99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诺顿</a:t>
            </a:r>
          </a:p>
          <a:p>
            <a:pPr eaLnBrk="1" hangingPunct="1"/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等效电路</a:t>
            </a:r>
          </a:p>
        </p:txBody>
      </p:sp>
      <p:sp>
        <p:nvSpPr>
          <p:cNvPr id="281928" name="AutoShape 328"/>
          <p:cNvSpPr/>
          <p:nvPr/>
        </p:nvSpPr>
        <p:spPr>
          <a:xfrm rot="600000" flipV="1">
            <a:off x="4364038" y="5122863"/>
            <a:ext cx="1722437" cy="288925"/>
          </a:xfrm>
          <a:custGeom>
            <a:avLst/>
            <a:gdLst>
              <a:gd name="txL" fmla="*/ 3375 w 21600"/>
              <a:gd name="txT" fmla="*/ 5459 h 21600"/>
              <a:gd name="txR" fmla="*/ 18576 w 21600"/>
              <a:gd name="txB" fmla="*/ 16141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5486" y="0"/>
                </a:moveTo>
                <a:lnTo>
                  <a:pt x="15486" y="5459"/>
                </a:lnTo>
                <a:lnTo>
                  <a:pt x="3375" y="5459"/>
                </a:lnTo>
                <a:lnTo>
                  <a:pt x="3375" y="16141"/>
                </a:lnTo>
                <a:lnTo>
                  <a:pt x="15486" y="16141"/>
                </a:lnTo>
                <a:lnTo>
                  <a:pt x="15486" y="21600"/>
                </a:lnTo>
                <a:lnTo>
                  <a:pt x="21600" y="10800"/>
                </a:lnTo>
                <a:lnTo>
                  <a:pt x="15486" y="0"/>
                </a:lnTo>
                <a:close/>
              </a:path>
              <a:path w="21600" h="21600">
                <a:moveTo>
                  <a:pt x="1350" y="5459"/>
                </a:moveTo>
                <a:lnTo>
                  <a:pt x="1350" y="16141"/>
                </a:lnTo>
                <a:lnTo>
                  <a:pt x="2700" y="16141"/>
                </a:lnTo>
                <a:lnTo>
                  <a:pt x="2700" y="5459"/>
                </a:lnTo>
                <a:lnTo>
                  <a:pt x="1350" y="5459"/>
                </a:lnTo>
                <a:close/>
              </a:path>
              <a:path w="21600" h="21600">
                <a:moveTo>
                  <a:pt x="0" y="5459"/>
                </a:moveTo>
                <a:lnTo>
                  <a:pt x="0" y="16141"/>
                </a:lnTo>
                <a:lnTo>
                  <a:pt x="675" y="16141"/>
                </a:lnTo>
                <a:lnTo>
                  <a:pt x="675" y="5459"/>
                </a:lnTo>
                <a:lnTo>
                  <a:pt x="0" y="5459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28575" cap="flat" cmpd="sng">
            <a:solidFill>
              <a:srgbClr val="9900F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929" name="Rectangle 329"/>
          <p:cNvSpPr/>
          <p:nvPr/>
        </p:nvSpPr>
        <p:spPr>
          <a:xfrm rot="600000">
            <a:off x="4473575" y="4622800"/>
            <a:ext cx="1403350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诺顿定理</a:t>
            </a:r>
          </a:p>
        </p:txBody>
      </p:sp>
      <p:sp>
        <p:nvSpPr>
          <p:cNvPr id="28684" name="AutoShape 332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85" name="AutoShape 333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86" name="AutoShape 334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1935" name="Line 335"/>
          <p:cNvSpPr/>
          <p:nvPr/>
        </p:nvSpPr>
        <p:spPr>
          <a:xfrm flipV="1">
            <a:off x="9510713" y="6523038"/>
            <a:ext cx="1131887" cy="127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1936" name="Rectangle 336"/>
          <p:cNvSpPr/>
          <p:nvPr/>
        </p:nvSpPr>
        <p:spPr>
          <a:xfrm>
            <a:off x="706438" y="360363"/>
            <a:ext cx="39751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含独立源的单口网络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/>
      <p:bldP spid="281925" grpId="0"/>
      <p:bldP spid="281926" grpId="0" animBg="1"/>
      <p:bldP spid="281927" grpId="0" animBg="1"/>
      <p:bldP spid="281929" grpId="0"/>
      <p:bldP spid="2819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60" name="Text Box 4">
            <a:hlinkClick r:id="" action="ppaction://noaction"/>
          </p:cNvPr>
          <p:cNvSpPr txBox="1"/>
          <p:nvPr/>
        </p:nvSpPr>
        <p:spPr>
          <a:xfrm>
            <a:off x="2743200" y="76200"/>
            <a:ext cx="7162800" cy="579438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4-5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一些简单的等效规律和公式</a:t>
            </a:r>
          </a:p>
        </p:txBody>
      </p:sp>
      <p:sp>
        <p:nvSpPr>
          <p:cNvPr id="377861" name="Rectangle 5"/>
          <p:cNvSpPr/>
          <p:nvPr/>
        </p:nvSpPr>
        <p:spPr>
          <a:xfrm>
            <a:off x="1600200" y="1470025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）两电压源的串联</a:t>
            </a:r>
          </a:p>
        </p:txBody>
      </p:sp>
      <p:sp>
        <p:nvSpPr>
          <p:cNvPr id="377862" name="Rectangle 6"/>
          <p:cNvSpPr/>
          <p:nvPr/>
        </p:nvSpPr>
        <p:spPr>
          <a:xfrm>
            <a:off x="1524000" y="40386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）两电压源的并联</a:t>
            </a:r>
          </a:p>
        </p:txBody>
      </p:sp>
      <p:sp>
        <p:nvSpPr>
          <p:cNvPr id="377869" name="Rectangle 13"/>
          <p:cNvSpPr/>
          <p:nvPr/>
        </p:nvSpPr>
        <p:spPr>
          <a:xfrm>
            <a:off x="787400" y="730250"/>
            <a:ext cx="74771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教材中共总结了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种简单而重要的情况：</a:t>
            </a:r>
          </a:p>
        </p:txBody>
      </p:sp>
      <p:grpSp>
        <p:nvGrpSpPr>
          <p:cNvPr id="2" name="Group 81"/>
          <p:cNvGrpSpPr/>
          <p:nvPr/>
        </p:nvGrpSpPr>
        <p:grpSpPr>
          <a:xfrm>
            <a:off x="1774825" y="4881563"/>
            <a:ext cx="8740775" cy="1290637"/>
            <a:chOff x="158" y="3075"/>
            <a:chExt cx="5506" cy="813"/>
          </a:xfrm>
        </p:grpSpPr>
        <p:sp>
          <p:nvSpPr>
            <p:cNvPr id="36903" name="Rectangle 14"/>
            <p:cNvSpPr/>
            <p:nvPr/>
          </p:nvSpPr>
          <p:spPr>
            <a:xfrm>
              <a:off x="4060" y="3137"/>
              <a:ext cx="1604" cy="615"/>
            </a:xfrm>
            <a:prstGeom prst="rect">
              <a:avLst/>
            </a:prstGeom>
            <a:solidFill>
              <a:srgbClr val="FFFFCC"/>
            </a:solidFill>
            <a:ln w="28575" cap="flat" cmpd="sng">
              <a:solidFill>
                <a:srgbClr val="CC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buNone/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若</a:t>
              </a:r>
              <a:r>
                <a:rPr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sz="25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S1</a:t>
              </a:r>
              <a:r>
                <a:rPr lang="en-US" altLang="zh-CN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≠</a:t>
              </a:r>
              <a:r>
                <a:rPr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sz="25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S2</a:t>
              </a: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，则</a:t>
              </a:r>
            </a:p>
            <a:p>
              <a:pPr eaLnBrk="1" hangingPunct="1">
                <a:lnSpc>
                  <a:spcPct val="120000"/>
                </a:lnSpc>
                <a:buNone/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违背</a:t>
              </a:r>
              <a:r>
                <a:rPr lang="en-US" altLang="zh-CN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KVL</a:t>
              </a: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，无解</a:t>
              </a:r>
            </a:p>
          </p:txBody>
        </p:sp>
        <p:grpSp>
          <p:nvGrpSpPr>
            <p:cNvPr id="36904" name="Group 15"/>
            <p:cNvGrpSpPr/>
            <p:nvPr/>
          </p:nvGrpSpPr>
          <p:grpSpPr>
            <a:xfrm>
              <a:off x="158" y="3075"/>
              <a:ext cx="1409" cy="813"/>
              <a:chOff x="273" y="1933"/>
              <a:chExt cx="1409" cy="813"/>
            </a:xfrm>
          </p:grpSpPr>
          <p:sp>
            <p:nvSpPr>
              <p:cNvPr id="36918" name="Oval 16"/>
              <p:cNvSpPr/>
              <p:nvPr/>
            </p:nvSpPr>
            <p:spPr>
              <a:xfrm>
                <a:off x="1063" y="2208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19" name="Text Box 17"/>
              <p:cNvSpPr txBox="1"/>
              <p:nvPr/>
            </p:nvSpPr>
            <p:spPr>
              <a:xfrm>
                <a:off x="1229" y="2387"/>
                <a:ext cx="336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0" name="Text Box 18"/>
              <p:cNvSpPr txBox="1"/>
              <p:nvPr/>
            </p:nvSpPr>
            <p:spPr>
              <a:xfrm>
                <a:off x="1221" y="2000"/>
                <a:ext cx="336" cy="3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1" name="Oval 19"/>
              <p:cNvSpPr/>
              <p:nvPr/>
            </p:nvSpPr>
            <p:spPr>
              <a:xfrm>
                <a:off x="636" y="2208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2" name="Oval 20"/>
              <p:cNvSpPr/>
              <p:nvPr/>
            </p:nvSpPr>
            <p:spPr>
              <a:xfrm>
                <a:off x="1598" y="2689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3" name="Oval 21"/>
              <p:cNvSpPr/>
              <p:nvPr/>
            </p:nvSpPr>
            <p:spPr>
              <a:xfrm>
                <a:off x="1598" y="193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6924" name="Group 22"/>
              <p:cNvGrpSpPr/>
              <p:nvPr/>
            </p:nvGrpSpPr>
            <p:grpSpPr>
              <a:xfrm>
                <a:off x="773" y="1960"/>
                <a:ext cx="837" cy="756"/>
                <a:chOff x="1318" y="3401"/>
                <a:chExt cx="609" cy="568"/>
              </a:xfrm>
            </p:grpSpPr>
            <p:sp>
              <p:nvSpPr>
                <p:cNvPr id="36931" name="Line 23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32" name="Line 24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6925" name="Line 25"/>
              <p:cNvSpPr/>
              <p:nvPr/>
            </p:nvSpPr>
            <p:spPr>
              <a:xfrm flipH="1">
                <a:off x="773" y="1952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26" name="Line 26"/>
              <p:cNvSpPr/>
              <p:nvPr/>
            </p:nvSpPr>
            <p:spPr>
              <a:xfrm flipH="1">
                <a:off x="1202" y="1949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27" name="Text Box 27"/>
              <p:cNvSpPr txBox="1"/>
              <p:nvPr/>
            </p:nvSpPr>
            <p:spPr>
              <a:xfrm>
                <a:off x="548" y="2387"/>
                <a:ext cx="336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8" name="Text Box 28"/>
              <p:cNvSpPr txBox="1"/>
              <p:nvPr/>
            </p:nvSpPr>
            <p:spPr>
              <a:xfrm>
                <a:off x="540" y="2000"/>
                <a:ext cx="336" cy="3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9" name="Rectangle 29"/>
              <p:cNvSpPr/>
              <p:nvPr/>
            </p:nvSpPr>
            <p:spPr>
              <a:xfrm>
                <a:off x="273" y="2169"/>
                <a:ext cx="390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S1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6930" name="Rectangle 30"/>
              <p:cNvSpPr/>
              <p:nvPr/>
            </p:nvSpPr>
            <p:spPr>
              <a:xfrm>
                <a:off x="1292" y="2169"/>
                <a:ext cx="390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S2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36905" name="Group 31"/>
            <p:cNvGrpSpPr/>
            <p:nvPr/>
          </p:nvGrpSpPr>
          <p:grpSpPr>
            <a:xfrm>
              <a:off x="2864" y="3075"/>
              <a:ext cx="923" cy="813"/>
              <a:chOff x="2229" y="2027"/>
              <a:chExt cx="923" cy="813"/>
            </a:xfrm>
          </p:grpSpPr>
          <p:sp>
            <p:nvSpPr>
              <p:cNvPr id="36908" name="Oval 32"/>
              <p:cNvSpPr/>
              <p:nvPr/>
            </p:nvSpPr>
            <p:spPr>
              <a:xfrm>
                <a:off x="2527" y="227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6909" name="Group 33"/>
              <p:cNvGrpSpPr/>
              <p:nvPr/>
            </p:nvGrpSpPr>
            <p:grpSpPr>
              <a:xfrm>
                <a:off x="2664" y="2054"/>
                <a:ext cx="443" cy="756"/>
                <a:chOff x="1318" y="3401"/>
                <a:chExt cx="609" cy="568"/>
              </a:xfrm>
            </p:grpSpPr>
            <p:sp>
              <p:nvSpPr>
                <p:cNvPr id="36916" name="Line 34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17" name="Line 35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6910" name="Line 36"/>
              <p:cNvSpPr/>
              <p:nvPr/>
            </p:nvSpPr>
            <p:spPr>
              <a:xfrm flipH="1">
                <a:off x="2664" y="2046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11" name="Text Box 37"/>
              <p:cNvSpPr txBox="1"/>
              <p:nvPr/>
            </p:nvSpPr>
            <p:spPr>
              <a:xfrm>
                <a:off x="2440" y="2448"/>
                <a:ext cx="336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12" name="Text Box 38"/>
              <p:cNvSpPr txBox="1"/>
              <p:nvPr/>
            </p:nvSpPr>
            <p:spPr>
              <a:xfrm>
                <a:off x="2432" y="2069"/>
                <a:ext cx="336" cy="3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13" name="Rectangle 39"/>
              <p:cNvSpPr/>
              <p:nvPr/>
            </p:nvSpPr>
            <p:spPr>
              <a:xfrm>
                <a:off x="2229" y="2238"/>
                <a:ext cx="326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6914" name="Oval 40"/>
              <p:cNvSpPr/>
              <p:nvPr/>
            </p:nvSpPr>
            <p:spPr>
              <a:xfrm>
                <a:off x="3095" y="278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15" name="Oval 41"/>
              <p:cNvSpPr/>
              <p:nvPr/>
            </p:nvSpPr>
            <p:spPr>
              <a:xfrm>
                <a:off x="3095" y="2027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906" name="Rectangle 42"/>
            <p:cNvSpPr/>
            <p:nvPr/>
          </p:nvSpPr>
          <p:spPr>
            <a:xfrm>
              <a:off x="1655" y="3109"/>
              <a:ext cx="1092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=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S1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=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S2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7" name="AutoShape 43"/>
            <p:cNvSpPr/>
            <p:nvPr/>
          </p:nvSpPr>
          <p:spPr>
            <a:xfrm>
              <a:off x="1717" y="3422"/>
              <a:ext cx="1128" cy="182"/>
            </a:xfrm>
            <a:custGeom>
              <a:avLst/>
              <a:gdLst>
                <a:gd name="txL" fmla="*/ 3370 w 21600"/>
                <a:gd name="txT" fmla="*/ 4510 h 21600"/>
                <a:gd name="txR" fmla="*/ 18728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668" y="0"/>
                  </a:moveTo>
                  <a:lnTo>
                    <a:pt x="16668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6668" y="17090"/>
                  </a:lnTo>
                  <a:lnTo>
                    <a:pt x="16668" y="21600"/>
                  </a:lnTo>
                  <a:lnTo>
                    <a:pt x="21600" y="10800"/>
                  </a:lnTo>
                  <a:lnTo>
                    <a:pt x="16668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80"/>
          <p:cNvGrpSpPr/>
          <p:nvPr/>
        </p:nvGrpSpPr>
        <p:grpSpPr>
          <a:xfrm>
            <a:off x="2927350" y="2286000"/>
            <a:ext cx="5761038" cy="1450975"/>
            <a:chOff x="510" y="1440"/>
            <a:chExt cx="3629" cy="914"/>
          </a:xfrm>
        </p:grpSpPr>
        <p:sp>
          <p:nvSpPr>
            <p:cNvPr id="36876" name="Oval 47"/>
            <p:cNvSpPr/>
            <p:nvPr/>
          </p:nvSpPr>
          <p:spPr>
            <a:xfrm>
              <a:off x="1264" y="2082"/>
              <a:ext cx="272" cy="27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77" name="Text Box 48"/>
            <p:cNvSpPr txBox="1"/>
            <p:nvPr/>
          </p:nvSpPr>
          <p:spPr>
            <a:xfrm>
              <a:off x="1552" y="1935"/>
              <a:ext cx="336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8" name="Text Box 49"/>
            <p:cNvSpPr txBox="1"/>
            <p:nvPr/>
          </p:nvSpPr>
          <p:spPr>
            <a:xfrm>
              <a:off x="1072" y="1948"/>
              <a:ext cx="336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9" name="Oval 50"/>
            <p:cNvSpPr/>
            <p:nvPr/>
          </p:nvSpPr>
          <p:spPr>
            <a:xfrm>
              <a:off x="873" y="1715"/>
              <a:ext cx="272" cy="27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80" name="Oval 51"/>
            <p:cNvSpPr/>
            <p:nvPr/>
          </p:nvSpPr>
          <p:spPr>
            <a:xfrm>
              <a:off x="1835" y="2196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81" name="Oval 52"/>
            <p:cNvSpPr/>
            <p:nvPr/>
          </p:nvSpPr>
          <p:spPr>
            <a:xfrm>
              <a:off x="1835" y="1440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6882" name="Group 53"/>
            <p:cNvGrpSpPr/>
            <p:nvPr/>
          </p:nvGrpSpPr>
          <p:grpSpPr>
            <a:xfrm>
              <a:off x="1010" y="1467"/>
              <a:ext cx="837" cy="756"/>
              <a:chOff x="1318" y="3401"/>
              <a:chExt cx="609" cy="568"/>
            </a:xfrm>
          </p:grpSpPr>
          <p:sp>
            <p:nvSpPr>
              <p:cNvPr id="36901" name="Line 54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2" name="Line 55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6883" name="Line 56"/>
            <p:cNvSpPr/>
            <p:nvPr/>
          </p:nvSpPr>
          <p:spPr>
            <a:xfrm flipH="1">
              <a:off x="1010" y="1459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4" name="Text Box 58"/>
            <p:cNvSpPr txBox="1"/>
            <p:nvPr/>
          </p:nvSpPr>
          <p:spPr>
            <a:xfrm>
              <a:off x="785" y="1894"/>
              <a:ext cx="336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5" name="Text Box 59"/>
            <p:cNvSpPr txBox="1"/>
            <p:nvPr/>
          </p:nvSpPr>
          <p:spPr>
            <a:xfrm>
              <a:off x="777" y="1507"/>
              <a:ext cx="336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6" name="Rectangle 60"/>
            <p:cNvSpPr/>
            <p:nvPr/>
          </p:nvSpPr>
          <p:spPr>
            <a:xfrm>
              <a:off x="510" y="1676"/>
              <a:ext cx="39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S1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36887" name="Rectangle 61"/>
            <p:cNvSpPr/>
            <p:nvPr/>
          </p:nvSpPr>
          <p:spPr>
            <a:xfrm>
              <a:off x="1248" y="1770"/>
              <a:ext cx="39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S2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36888" name="Group 62"/>
            <p:cNvGrpSpPr/>
            <p:nvPr/>
          </p:nvGrpSpPr>
          <p:grpSpPr>
            <a:xfrm>
              <a:off x="3216" y="1440"/>
              <a:ext cx="923" cy="813"/>
              <a:chOff x="2229" y="2027"/>
              <a:chExt cx="923" cy="813"/>
            </a:xfrm>
          </p:grpSpPr>
          <p:sp>
            <p:nvSpPr>
              <p:cNvPr id="36891" name="Oval 63"/>
              <p:cNvSpPr/>
              <p:nvPr/>
            </p:nvSpPr>
            <p:spPr>
              <a:xfrm>
                <a:off x="2527" y="227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6892" name="Group 64"/>
              <p:cNvGrpSpPr/>
              <p:nvPr/>
            </p:nvGrpSpPr>
            <p:grpSpPr>
              <a:xfrm>
                <a:off x="2664" y="2054"/>
                <a:ext cx="443" cy="756"/>
                <a:chOff x="1318" y="3401"/>
                <a:chExt cx="609" cy="568"/>
              </a:xfrm>
            </p:grpSpPr>
            <p:sp>
              <p:nvSpPr>
                <p:cNvPr id="36899" name="Line 65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0" name="Line 66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6893" name="Line 67"/>
              <p:cNvSpPr/>
              <p:nvPr/>
            </p:nvSpPr>
            <p:spPr>
              <a:xfrm flipH="1">
                <a:off x="2664" y="2046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894" name="Text Box 68"/>
              <p:cNvSpPr txBox="1"/>
              <p:nvPr/>
            </p:nvSpPr>
            <p:spPr>
              <a:xfrm>
                <a:off x="2440" y="2448"/>
                <a:ext cx="336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5" name="Text Box 69"/>
              <p:cNvSpPr txBox="1"/>
              <p:nvPr/>
            </p:nvSpPr>
            <p:spPr>
              <a:xfrm>
                <a:off x="2432" y="2069"/>
                <a:ext cx="336" cy="3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6" name="Rectangle 70"/>
              <p:cNvSpPr/>
              <p:nvPr/>
            </p:nvSpPr>
            <p:spPr>
              <a:xfrm>
                <a:off x="2229" y="2238"/>
                <a:ext cx="326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6897" name="Oval 71"/>
              <p:cNvSpPr/>
              <p:nvPr/>
            </p:nvSpPr>
            <p:spPr>
              <a:xfrm>
                <a:off x="3095" y="278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8" name="Oval 72"/>
              <p:cNvSpPr/>
              <p:nvPr/>
            </p:nvSpPr>
            <p:spPr>
              <a:xfrm>
                <a:off x="3095" y="2027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889" name="Rectangle 73"/>
            <p:cNvSpPr/>
            <p:nvPr/>
          </p:nvSpPr>
          <p:spPr>
            <a:xfrm>
              <a:off x="2007" y="1474"/>
              <a:ext cx="1092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=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S1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S2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0" name="AutoShape 74"/>
            <p:cNvSpPr/>
            <p:nvPr/>
          </p:nvSpPr>
          <p:spPr>
            <a:xfrm>
              <a:off x="2069" y="1787"/>
              <a:ext cx="1128" cy="182"/>
            </a:xfrm>
            <a:custGeom>
              <a:avLst/>
              <a:gdLst>
                <a:gd name="txL" fmla="*/ 3370 w 21600"/>
                <a:gd name="txT" fmla="*/ 4510 h 21600"/>
                <a:gd name="txR" fmla="*/ 18728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668" y="0"/>
                  </a:moveTo>
                  <a:lnTo>
                    <a:pt x="16668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6668" y="17090"/>
                  </a:lnTo>
                  <a:lnTo>
                    <a:pt x="16668" y="21600"/>
                  </a:lnTo>
                  <a:lnTo>
                    <a:pt x="21600" y="10800"/>
                  </a:lnTo>
                  <a:lnTo>
                    <a:pt x="16668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72" name="AutoShape 76">
            <a:hlinkClick r:id="" action="ppaction://hlinkshowjump?jump=firstslide"/>
          </p:cNvPr>
          <p:cNvSpPr/>
          <p:nvPr/>
        </p:nvSpPr>
        <p:spPr>
          <a:xfrm>
            <a:off x="9369425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73" name="AutoShape 77">
            <a:hlinkClick r:id="" action="ppaction://hlinkshowjump?jump=nextslide"/>
          </p:cNvPr>
          <p:cNvSpPr/>
          <p:nvPr/>
        </p:nvSpPr>
        <p:spPr>
          <a:xfrm>
            <a:off x="10283825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74" name="AutoShape 78">
            <a:hlinkClick r:id="" action="ppaction://hlinkshowjump?jump=previousslide"/>
          </p:cNvPr>
          <p:cNvSpPr/>
          <p:nvPr/>
        </p:nvSpPr>
        <p:spPr>
          <a:xfrm>
            <a:off x="9826625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7935" name="Line 79"/>
          <p:cNvSpPr/>
          <p:nvPr/>
        </p:nvSpPr>
        <p:spPr>
          <a:xfrm>
            <a:off x="9386888" y="6550025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0" grpId="0"/>
      <p:bldP spid="377861" grpId="0"/>
      <p:bldP spid="377862" grpId="0"/>
      <p:bldP spid="3778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9" name="Rectangle 5"/>
          <p:cNvSpPr/>
          <p:nvPr/>
        </p:nvSpPr>
        <p:spPr>
          <a:xfrm>
            <a:off x="784225" y="2286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）两电流源的并联</a:t>
            </a:r>
          </a:p>
        </p:txBody>
      </p:sp>
      <p:sp>
        <p:nvSpPr>
          <p:cNvPr id="379910" name="Rectangle 6"/>
          <p:cNvSpPr/>
          <p:nvPr/>
        </p:nvSpPr>
        <p:spPr>
          <a:xfrm>
            <a:off x="784225" y="25019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）两电流源的串联</a:t>
            </a:r>
          </a:p>
        </p:txBody>
      </p:sp>
      <p:grpSp>
        <p:nvGrpSpPr>
          <p:cNvPr id="2" name="Group 99"/>
          <p:cNvGrpSpPr/>
          <p:nvPr/>
        </p:nvGrpSpPr>
        <p:grpSpPr>
          <a:xfrm>
            <a:off x="1611313" y="3276600"/>
            <a:ext cx="8675687" cy="1465263"/>
            <a:chOff x="199" y="2070"/>
            <a:chExt cx="5465" cy="923"/>
          </a:xfrm>
        </p:grpSpPr>
        <p:sp>
          <p:nvSpPr>
            <p:cNvPr id="37934" name="Rectangle 10"/>
            <p:cNvSpPr/>
            <p:nvPr/>
          </p:nvSpPr>
          <p:spPr>
            <a:xfrm>
              <a:off x="4072" y="2222"/>
              <a:ext cx="1592" cy="615"/>
            </a:xfrm>
            <a:prstGeom prst="rect">
              <a:avLst/>
            </a:prstGeom>
            <a:solidFill>
              <a:srgbClr val="FFFFCC"/>
            </a:solidFill>
            <a:ln w="28575" cap="flat" cmpd="sng">
              <a:solidFill>
                <a:srgbClr val="CC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buNone/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若 </a:t>
              </a:r>
              <a:r>
                <a:rPr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sz="25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S1</a:t>
              </a:r>
              <a:r>
                <a:rPr lang="en-US" altLang="zh-CN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≠</a:t>
              </a:r>
              <a:r>
                <a:rPr lang="en-US" altLang="zh-CN" sz="25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r>
                <a:rPr lang="en-US" altLang="zh-CN" sz="25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sz="25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S2</a:t>
              </a: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，则</a:t>
              </a:r>
            </a:p>
            <a:p>
              <a:pPr eaLnBrk="1" hangingPunct="1">
                <a:lnSpc>
                  <a:spcPct val="120000"/>
                </a:lnSpc>
                <a:buNone/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违背</a:t>
              </a:r>
              <a:r>
                <a:rPr lang="en-US" altLang="zh-CN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KCL</a:t>
              </a: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，无解</a:t>
              </a:r>
            </a:p>
          </p:txBody>
        </p:sp>
        <p:sp>
          <p:nvSpPr>
            <p:cNvPr id="37935" name="Oval 11"/>
            <p:cNvSpPr/>
            <p:nvPr/>
          </p:nvSpPr>
          <p:spPr>
            <a:xfrm>
              <a:off x="1459" y="2936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36" name="Oval 12"/>
            <p:cNvSpPr/>
            <p:nvPr/>
          </p:nvSpPr>
          <p:spPr>
            <a:xfrm>
              <a:off x="1459" y="2180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937" name="Group 13"/>
            <p:cNvGrpSpPr/>
            <p:nvPr/>
          </p:nvGrpSpPr>
          <p:grpSpPr>
            <a:xfrm>
              <a:off x="634" y="2207"/>
              <a:ext cx="837" cy="756"/>
              <a:chOff x="1318" y="3401"/>
              <a:chExt cx="609" cy="568"/>
            </a:xfrm>
          </p:grpSpPr>
          <p:sp>
            <p:nvSpPr>
              <p:cNvPr id="37963" name="Line 14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64" name="Line 15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38" name="Line 16"/>
            <p:cNvSpPr/>
            <p:nvPr/>
          </p:nvSpPr>
          <p:spPr>
            <a:xfrm flipH="1">
              <a:off x="634" y="2199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39" name="Rectangle 17"/>
            <p:cNvSpPr/>
            <p:nvPr/>
          </p:nvSpPr>
          <p:spPr>
            <a:xfrm>
              <a:off x="199" y="2503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S1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37940" name="Group 18"/>
            <p:cNvGrpSpPr/>
            <p:nvPr/>
          </p:nvGrpSpPr>
          <p:grpSpPr>
            <a:xfrm rot="5400000">
              <a:off x="850" y="2070"/>
              <a:ext cx="272" cy="272"/>
              <a:chOff x="3923" y="3500"/>
              <a:chExt cx="272" cy="272"/>
            </a:xfrm>
          </p:grpSpPr>
          <p:sp>
            <p:nvSpPr>
              <p:cNvPr id="37961" name="Oval 19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2" name="Line 20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41" name="Line 21"/>
            <p:cNvSpPr/>
            <p:nvPr/>
          </p:nvSpPr>
          <p:spPr>
            <a:xfrm rot="10800000" flipH="1" flipV="1">
              <a:off x="1175" y="2206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7942" name="Rectangle 22"/>
            <p:cNvSpPr/>
            <p:nvPr/>
          </p:nvSpPr>
          <p:spPr>
            <a:xfrm>
              <a:off x="1106" y="2198"/>
              <a:ext cx="36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S2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37943" name="Group 23"/>
            <p:cNvGrpSpPr/>
            <p:nvPr/>
          </p:nvGrpSpPr>
          <p:grpSpPr>
            <a:xfrm>
              <a:off x="495" y="2492"/>
              <a:ext cx="272" cy="272"/>
              <a:chOff x="3923" y="3500"/>
              <a:chExt cx="272" cy="272"/>
            </a:xfrm>
          </p:grpSpPr>
          <p:sp>
            <p:nvSpPr>
              <p:cNvPr id="37959" name="Oval 24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60" name="Line 25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44" name="Line 26"/>
            <p:cNvSpPr/>
            <p:nvPr/>
          </p:nvSpPr>
          <p:spPr>
            <a:xfrm rot="-5400000" flipV="1">
              <a:off x="540" y="2358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7945" name="Rectangle 27"/>
            <p:cNvSpPr/>
            <p:nvPr/>
          </p:nvSpPr>
          <p:spPr>
            <a:xfrm>
              <a:off x="1717" y="2251"/>
              <a:ext cx="900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=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S1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=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S2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7946" name="Group 28"/>
            <p:cNvGrpSpPr/>
            <p:nvPr/>
          </p:nvGrpSpPr>
          <p:grpSpPr>
            <a:xfrm>
              <a:off x="2878" y="2150"/>
              <a:ext cx="875" cy="813"/>
              <a:chOff x="2731" y="3113"/>
              <a:chExt cx="875" cy="813"/>
            </a:xfrm>
          </p:grpSpPr>
          <p:grpSp>
            <p:nvGrpSpPr>
              <p:cNvPr id="37948" name="Group 29"/>
              <p:cNvGrpSpPr/>
              <p:nvPr/>
            </p:nvGrpSpPr>
            <p:grpSpPr>
              <a:xfrm>
                <a:off x="3118" y="3140"/>
                <a:ext cx="443" cy="756"/>
                <a:chOff x="1318" y="3401"/>
                <a:chExt cx="609" cy="568"/>
              </a:xfrm>
            </p:grpSpPr>
            <p:sp>
              <p:nvSpPr>
                <p:cNvPr id="37957" name="Line 30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7958" name="Line 31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7949" name="Line 32"/>
              <p:cNvSpPr/>
              <p:nvPr/>
            </p:nvSpPr>
            <p:spPr>
              <a:xfrm flipH="1">
                <a:off x="3118" y="3132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0" name="Rectangle 33"/>
              <p:cNvSpPr/>
              <p:nvPr/>
            </p:nvSpPr>
            <p:spPr>
              <a:xfrm>
                <a:off x="2731" y="3414"/>
                <a:ext cx="26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7951" name="Oval 34"/>
              <p:cNvSpPr/>
              <p:nvPr/>
            </p:nvSpPr>
            <p:spPr>
              <a:xfrm>
                <a:off x="3549" y="3869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2" name="Oval 35"/>
              <p:cNvSpPr/>
              <p:nvPr/>
            </p:nvSpPr>
            <p:spPr>
              <a:xfrm>
                <a:off x="3549" y="311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7953" name="Group 36"/>
              <p:cNvGrpSpPr/>
              <p:nvPr/>
            </p:nvGrpSpPr>
            <p:grpSpPr>
              <a:xfrm rot="10800000">
                <a:off x="2979" y="3438"/>
                <a:ext cx="272" cy="272"/>
                <a:chOff x="3923" y="3500"/>
                <a:chExt cx="272" cy="272"/>
              </a:xfrm>
            </p:grpSpPr>
            <p:sp>
              <p:nvSpPr>
                <p:cNvPr id="37955" name="Oval 37"/>
                <p:cNvSpPr/>
                <p:nvPr/>
              </p:nvSpPr>
              <p:spPr>
                <a:xfrm>
                  <a:off x="3923" y="3500"/>
                  <a:ext cx="272" cy="272"/>
                </a:xfrm>
                <a:prstGeom prst="ellipse">
                  <a:avLst/>
                </a:prstGeom>
                <a:solidFill>
                  <a:srgbClr val="FFFFCC"/>
                </a:solidFill>
                <a:ln w="38100" cap="flat" cmpd="sng">
                  <a:solidFill>
                    <a:srgbClr val="99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56" name="Line 38"/>
                <p:cNvSpPr/>
                <p:nvPr/>
              </p:nvSpPr>
              <p:spPr>
                <a:xfrm>
                  <a:off x="3923" y="3636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99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7954" name="Line 39"/>
              <p:cNvSpPr/>
              <p:nvPr/>
            </p:nvSpPr>
            <p:spPr>
              <a:xfrm rot="-5400000" flipV="1">
                <a:off x="3024" y="3285"/>
                <a:ext cx="181" cy="0"/>
              </a:xfrm>
              <a:prstGeom prst="line">
                <a:avLst/>
              </a:prstGeom>
              <a:ln w="38100" cap="flat" cmpd="sng">
                <a:solidFill>
                  <a:srgbClr val="CC00FF"/>
                </a:solidFill>
                <a:prstDash val="solid"/>
                <a:headEnd type="none" w="med" len="med"/>
                <a:tailEnd type="stealth" w="med" len="lg"/>
              </a:ln>
            </p:spPr>
          </p:sp>
        </p:grpSp>
        <p:sp>
          <p:nvSpPr>
            <p:cNvPr id="37947" name="AutoShape 40"/>
            <p:cNvSpPr/>
            <p:nvPr/>
          </p:nvSpPr>
          <p:spPr>
            <a:xfrm>
              <a:off x="1683" y="2539"/>
              <a:ext cx="1128" cy="182"/>
            </a:xfrm>
            <a:custGeom>
              <a:avLst/>
              <a:gdLst>
                <a:gd name="txL" fmla="*/ 3370 w 21600"/>
                <a:gd name="txT" fmla="*/ 4510 h 21600"/>
                <a:gd name="txR" fmla="*/ 18728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668" y="0"/>
                  </a:moveTo>
                  <a:lnTo>
                    <a:pt x="16668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6668" y="17090"/>
                  </a:lnTo>
                  <a:lnTo>
                    <a:pt x="16668" y="21600"/>
                  </a:lnTo>
                  <a:lnTo>
                    <a:pt x="21600" y="10800"/>
                  </a:lnTo>
                  <a:lnTo>
                    <a:pt x="16668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8"/>
          <p:cNvGrpSpPr/>
          <p:nvPr/>
        </p:nvGrpSpPr>
        <p:grpSpPr>
          <a:xfrm>
            <a:off x="2589213" y="1014413"/>
            <a:ext cx="5718175" cy="1295400"/>
            <a:chOff x="250" y="624"/>
            <a:chExt cx="3601" cy="816"/>
          </a:xfrm>
        </p:grpSpPr>
        <p:sp>
          <p:nvSpPr>
            <p:cNvPr id="37903" name="Line 54"/>
            <p:cNvSpPr/>
            <p:nvPr/>
          </p:nvSpPr>
          <p:spPr>
            <a:xfrm flipH="1">
              <a:off x="1087" y="643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4" name="Line 53"/>
            <p:cNvSpPr/>
            <p:nvPr/>
          </p:nvSpPr>
          <p:spPr>
            <a:xfrm flipH="1">
              <a:off x="658" y="646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5" name="Oval 48"/>
            <p:cNvSpPr/>
            <p:nvPr/>
          </p:nvSpPr>
          <p:spPr>
            <a:xfrm>
              <a:off x="1483" y="1383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906" name="Oval 49"/>
            <p:cNvSpPr/>
            <p:nvPr/>
          </p:nvSpPr>
          <p:spPr>
            <a:xfrm>
              <a:off x="1483" y="627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907" name="Group 50"/>
            <p:cNvGrpSpPr/>
            <p:nvPr/>
          </p:nvGrpSpPr>
          <p:grpSpPr>
            <a:xfrm>
              <a:off x="658" y="654"/>
              <a:ext cx="837" cy="756"/>
              <a:chOff x="1318" y="3401"/>
              <a:chExt cx="609" cy="568"/>
            </a:xfrm>
          </p:grpSpPr>
          <p:sp>
            <p:nvSpPr>
              <p:cNvPr id="37932" name="Line 51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3" name="Line 52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08" name="Rectangle 70"/>
            <p:cNvSpPr/>
            <p:nvPr/>
          </p:nvSpPr>
          <p:spPr>
            <a:xfrm>
              <a:off x="1751" y="661"/>
              <a:ext cx="900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=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S1</a:t>
              </a: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S2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9" name="AutoShape 71"/>
            <p:cNvSpPr/>
            <p:nvPr/>
          </p:nvSpPr>
          <p:spPr>
            <a:xfrm>
              <a:off x="1717" y="974"/>
              <a:ext cx="1128" cy="182"/>
            </a:xfrm>
            <a:custGeom>
              <a:avLst/>
              <a:gdLst>
                <a:gd name="txL" fmla="*/ 3370 w 21600"/>
                <a:gd name="txT" fmla="*/ 4510 h 21600"/>
                <a:gd name="txR" fmla="*/ 18728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668" y="0"/>
                  </a:moveTo>
                  <a:lnTo>
                    <a:pt x="16668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6668" y="17090"/>
                  </a:lnTo>
                  <a:lnTo>
                    <a:pt x="16668" y="21600"/>
                  </a:lnTo>
                  <a:lnTo>
                    <a:pt x="21600" y="10800"/>
                  </a:lnTo>
                  <a:lnTo>
                    <a:pt x="16668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0" name="Group 73"/>
            <p:cNvGrpSpPr/>
            <p:nvPr/>
          </p:nvGrpSpPr>
          <p:grpSpPr>
            <a:xfrm>
              <a:off x="520" y="912"/>
              <a:ext cx="272" cy="272"/>
              <a:chOff x="3923" y="3500"/>
              <a:chExt cx="272" cy="272"/>
            </a:xfrm>
          </p:grpSpPr>
          <p:sp>
            <p:nvSpPr>
              <p:cNvPr id="37930" name="Oval 74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1" name="Line 75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911" name="Group 76"/>
            <p:cNvGrpSpPr/>
            <p:nvPr/>
          </p:nvGrpSpPr>
          <p:grpSpPr>
            <a:xfrm>
              <a:off x="952" y="904"/>
              <a:ext cx="272" cy="272"/>
              <a:chOff x="3923" y="3500"/>
              <a:chExt cx="272" cy="272"/>
            </a:xfrm>
          </p:grpSpPr>
          <p:sp>
            <p:nvSpPr>
              <p:cNvPr id="37928" name="Oval 77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29" name="Line 78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912" name="Group 82"/>
            <p:cNvGrpSpPr/>
            <p:nvPr/>
          </p:nvGrpSpPr>
          <p:grpSpPr>
            <a:xfrm>
              <a:off x="2976" y="624"/>
              <a:ext cx="875" cy="813"/>
              <a:chOff x="2731" y="3113"/>
              <a:chExt cx="875" cy="813"/>
            </a:xfrm>
          </p:grpSpPr>
          <p:grpSp>
            <p:nvGrpSpPr>
              <p:cNvPr id="37917" name="Group 83"/>
              <p:cNvGrpSpPr/>
              <p:nvPr/>
            </p:nvGrpSpPr>
            <p:grpSpPr>
              <a:xfrm>
                <a:off x="3118" y="3140"/>
                <a:ext cx="443" cy="756"/>
                <a:chOff x="1318" y="3401"/>
                <a:chExt cx="609" cy="568"/>
              </a:xfrm>
            </p:grpSpPr>
            <p:sp>
              <p:nvSpPr>
                <p:cNvPr id="37926" name="Line 84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7927" name="Line 85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7918" name="Line 86"/>
              <p:cNvSpPr/>
              <p:nvPr/>
            </p:nvSpPr>
            <p:spPr>
              <a:xfrm flipH="1">
                <a:off x="3118" y="3132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19" name="Rectangle 87"/>
              <p:cNvSpPr/>
              <p:nvPr/>
            </p:nvSpPr>
            <p:spPr>
              <a:xfrm>
                <a:off x="2731" y="3414"/>
                <a:ext cx="26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7920" name="Oval 88"/>
              <p:cNvSpPr/>
              <p:nvPr/>
            </p:nvSpPr>
            <p:spPr>
              <a:xfrm>
                <a:off x="3549" y="3869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21" name="Oval 89"/>
              <p:cNvSpPr/>
              <p:nvPr/>
            </p:nvSpPr>
            <p:spPr>
              <a:xfrm>
                <a:off x="3549" y="311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7922" name="Group 90"/>
              <p:cNvGrpSpPr/>
              <p:nvPr/>
            </p:nvGrpSpPr>
            <p:grpSpPr>
              <a:xfrm rot="10800000">
                <a:off x="2979" y="3438"/>
                <a:ext cx="272" cy="272"/>
                <a:chOff x="3923" y="3500"/>
                <a:chExt cx="272" cy="272"/>
              </a:xfrm>
            </p:grpSpPr>
            <p:sp>
              <p:nvSpPr>
                <p:cNvPr id="37924" name="Oval 91"/>
                <p:cNvSpPr/>
                <p:nvPr/>
              </p:nvSpPr>
              <p:spPr>
                <a:xfrm>
                  <a:off x="3923" y="3500"/>
                  <a:ext cx="272" cy="272"/>
                </a:xfrm>
                <a:prstGeom prst="ellipse">
                  <a:avLst/>
                </a:prstGeom>
                <a:solidFill>
                  <a:srgbClr val="FFFFCC"/>
                </a:solidFill>
                <a:ln w="38100" cap="flat" cmpd="sng">
                  <a:solidFill>
                    <a:srgbClr val="99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925" name="Line 92"/>
                <p:cNvSpPr/>
                <p:nvPr/>
              </p:nvSpPr>
              <p:spPr>
                <a:xfrm>
                  <a:off x="3923" y="3636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99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7923" name="Line 93"/>
              <p:cNvSpPr/>
              <p:nvPr/>
            </p:nvSpPr>
            <p:spPr>
              <a:xfrm rot="-5400000" flipV="1">
                <a:off x="3024" y="3285"/>
                <a:ext cx="181" cy="0"/>
              </a:xfrm>
              <a:prstGeom prst="line">
                <a:avLst/>
              </a:prstGeom>
              <a:ln w="38100" cap="flat" cmpd="sng">
                <a:solidFill>
                  <a:srgbClr val="CC00FF"/>
                </a:solidFill>
                <a:prstDash val="solid"/>
                <a:headEnd type="none" w="med" len="med"/>
                <a:tailEnd type="stealth" w="med" len="lg"/>
              </a:ln>
            </p:spPr>
          </p:sp>
        </p:grpSp>
        <p:sp>
          <p:nvSpPr>
            <p:cNvPr id="37913" name="Line 94"/>
            <p:cNvSpPr/>
            <p:nvPr/>
          </p:nvSpPr>
          <p:spPr>
            <a:xfrm rot="-5400000" flipV="1">
              <a:off x="557" y="802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7914" name="Line 95"/>
            <p:cNvSpPr/>
            <p:nvPr/>
          </p:nvSpPr>
          <p:spPr>
            <a:xfrm rot="-5400000" flipV="1">
              <a:off x="989" y="802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7915" name="Rectangle 96"/>
            <p:cNvSpPr/>
            <p:nvPr/>
          </p:nvSpPr>
          <p:spPr>
            <a:xfrm>
              <a:off x="250" y="672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S1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37916" name="Rectangle 97"/>
            <p:cNvSpPr/>
            <p:nvPr/>
          </p:nvSpPr>
          <p:spPr>
            <a:xfrm>
              <a:off x="1152" y="672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S2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380004" name="Rectangle 100"/>
          <p:cNvSpPr/>
          <p:nvPr/>
        </p:nvSpPr>
        <p:spPr>
          <a:xfrm>
            <a:off x="1676400" y="5029200"/>
            <a:ext cx="388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）两电阻的串联</a:t>
            </a:r>
          </a:p>
        </p:txBody>
      </p:sp>
      <p:sp>
        <p:nvSpPr>
          <p:cNvPr id="380005" name="Rectangle 101"/>
          <p:cNvSpPr/>
          <p:nvPr/>
        </p:nvSpPr>
        <p:spPr>
          <a:xfrm>
            <a:off x="1676400" y="5881688"/>
            <a:ext cx="3810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）两电阻的并联</a:t>
            </a:r>
          </a:p>
        </p:txBody>
      </p:sp>
      <p:sp>
        <p:nvSpPr>
          <p:cNvPr id="380006" name="Rectangle 102"/>
          <p:cNvSpPr/>
          <p:nvPr/>
        </p:nvSpPr>
        <p:spPr>
          <a:xfrm>
            <a:off x="5029200" y="5040313"/>
            <a:ext cx="2443163" cy="51911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R =R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+R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0007" name="Rectangle 103"/>
          <p:cNvSpPr/>
          <p:nvPr/>
        </p:nvSpPr>
        <p:spPr>
          <a:xfrm>
            <a:off x="8077200" y="5867400"/>
            <a:ext cx="185102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G =G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+G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380008" name="Object 104"/>
          <p:cNvGraphicFramePr>
            <a:graphicFrameLocks noChangeAspect="1"/>
          </p:cNvGraphicFramePr>
          <p:nvPr/>
        </p:nvGraphicFramePr>
        <p:xfrm>
          <a:off x="5448300" y="5715000"/>
          <a:ext cx="186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r:id="rId3" imgW="1866900" imgH="914400" progId="Equation.3">
                  <p:embed/>
                </p:oleObj>
              </mc:Choice>
              <mc:Fallback>
                <p:oleObj r:id="rId3" imgW="1866900" imgH="914400" progId="Equation.3">
                  <p:embed/>
                  <p:pic>
                    <p:nvPicPr>
                      <p:cNvPr id="380008" name="Object 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8300" y="5715000"/>
                        <a:ext cx="18669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AutoShape 105">
            <a:hlinkClick r:id="" action="ppaction://hlinkshowjump?jump=firstslide"/>
          </p:cNvPr>
          <p:cNvSpPr/>
          <p:nvPr/>
        </p:nvSpPr>
        <p:spPr>
          <a:xfrm>
            <a:off x="9369425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900" name="AutoShape 106">
            <a:hlinkClick r:id="" action="ppaction://hlinkshowjump?jump=nextslide"/>
          </p:cNvPr>
          <p:cNvSpPr/>
          <p:nvPr/>
        </p:nvSpPr>
        <p:spPr>
          <a:xfrm>
            <a:off x="10283825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901" name="AutoShape 107">
            <a:hlinkClick r:id="" action="ppaction://hlinkshowjump?jump=previousslide"/>
          </p:cNvPr>
          <p:cNvSpPr/>
          <p:nvPr/>
        </p:nvSpPr>
        <p:spPr>
          <a:xfrm>
            <a:off x="9826625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0012" name="Line 108"/>
          <p:cNvSpPr/>
          <p:nvPr/>
        </p:nvSpPr>
        <p:spPr>
          <a:xfrm>
            <a:off x="9386888" y="6550025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38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9" grpId="0"/>
      <p:bldP spid="379910" grpId="0"/>
      <p:bldP spid="380004" grpId="0"/>
      <p:bldP spid="380005" grpId="0"/>
      <p:bldP spid="380006" grpId="0"/>
      <p:bldP spid="3800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/>
          <p:nvPr/>
        </p:nvSpPr>
        <p:spPr>
          <a:xfrm>
            <a:off x="933450" y="296863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）电压源与电流源的并联</a:t>
            </a:r>
          </a:p>
        </p:txBody>
      </p:sp>
      <p:sp>
        <p:nvSpPr>
          <p:cNvPr id="38915" name="Rectangle 8"/>
          <p:cNvSpPr/>
          <p:nvPr/>
        </p:nvSpPr>
        <p:spPr>
          <a:xfrm>
            <a:off x="933450" y="966788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）电压源与电阻的并联</a:t>
            </a:r>
          </a:p>
        </p:txBody>
      </p:sp>
      <p:sp>
        <p:nvSpPr>
          <p:cNvPr id="384042" name="Rectangle 42"/>
          <p:cNvSpPr/>
          <p:nvPr/>
        </p:nvSpPr>
        <p:spPr>
          <a:xfrm>
            <a:off x="933450" y="3241675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）电流源与电压源的串联</a:t>
            </a:r>
          </a:p>
        </p:txBody>
      </p:sp>
      <p:sp>
        <p:nvSpPr>
          <p:cNvPr id="384043" name="Rectangle 43"/>
          <p:cNvSpPr/>
          <p:nvPr/>
        </p:nvSpPr>
        <p:spPr>
          <a:xfrm>
            <a:off x="933450" y="3913188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）电流源与电阻的串联</a:t>
            </a:r>
          </a:p>
        </p:txBody>
      </p:sp>
      <p:grpSp>
        <p:nvGrpSpPr>
          <p:cNvPr id="2" name="Group 78"/>
          <p:cNvGrpSpPr/>
          <p:nvPr/>
        </p:nvGrpSpPr>
        <p:grpSpPr>
          <a:xfrm>
            <a:off x="1752600" y="4511675"/>
            <a:ext cx="8548688" cy="1797050"/>
            <a:chOff x="144" y="2880"/>
            <a:chExt cx="5385" cy="1132"/>
          </a:xfrm>
        </p:grpSpPr>
        <p:sp>
          <p:nvSpPr>
            <p:cNvPr id="38950" name="Rectangle 45"/>
            <p:cNvSpPr/>
            <p:nvPr/>
          </p:nvSpPr>
          <p:spPr>
            <a:xfrm>
              <a:off x="4032" y="2880"/>
              <a:ext cx="1497" cy="1132"/>
            </a:xfrm>
            <a:prstGeom prst="rect">
              <a:avLst/>
            </a:prstGeom>
            <a:solidFill>
              <a:srgbClr val="FFFFCC"/>
            </a:solidFill>
            <a:ln w="28575" cap="flat" cmpd="sng">
              <a:solidFill>
                <a:srgbClr val="CC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10000"/>
                </a:lnSpc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与电流源串联</a:t>
              </a:r>
            </a:p>
            <a:p>
              <a:pPr algn="ctr" eaLnBrk="1" hangingPunct="1">
                <a:lnSpc>
                  <a:spcPct val="110000"/>
                </a:lnSpc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的元件称为多</a:t>
              </a:r>
            </a:p>
            <a:p>
              <a:pPr algn="ctr" eaLnBrk="1" hangingPunct="1">
                <a:lnSpc>
                  <a:spcPct val="110000"/>
                </a:lnSpc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余元件，多余</a:t>
              </a:r>
            </a:p>
            <a:p>
              <a:pPr algn="ctr" eaLnBrk="1" hangingPunct="1">
                <a:lnSpc>
                  <a:spcPct val="110000"/>
                </a:lnSpc>
              </a:pPr>
              <a:r>
                <a:rPr lang="zh-CN" altLang="en-US" sz="25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元件可短路。 </a:t>
              </a:r>
            </a:p>
          </p:txBody>
        </p:sp>
        <p:grpSp>
          <p:nvGrpSpPr>
            <p:cNvPr id="38951" name="Group 46"/>
            <p:cNvGrpSpPr/>
            <p:nvPr/>
          </p:nvGrpSpPr>
          <p:grpSpPr>
            <a:xfrm>
              <a:off x="2767" y="3070"/>
              <a:ext cx="875" cy="813"/>
              <a:chOff x="2731" y="3113"/>
              <a:chExt cx="875" cy="813"/>
            </a:xfrm>
          </p:grpSpPr>
          <p:grpSp>
            <p:nvGrpSpPr>
              <p:cNvPr id="38966" name="Group 47"/>
              <p:cNvGrpSpPr/>
              <p:nvPr/>
            </p:nvGrpSpPr>
            <p:grpSpPr>
              <a:xfrm>
                <a:off x="3118" y="3140"/>
                <a:ext cx="443" cy="756"/>
                <a:chOff x="1318" y="3401"/>
                <a:chExt cx="609" cy="568"/>
              </a:xfrm>
            </p:grpSpPr>
            <p:sp>
              <p:nvSpPr>
                <p:cNvPr id="38975" name="Line 48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76" name="Line 49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67" name="Line 50"/>
              <p:cNvSpPr/>
              <p:nvPr/>
            </p:nvSpPr>
            <p:spPr>
              <a:xfrm flipH="1">
                <a:off x="3118" y="3132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8" name="Rectangle 51"/>
              <p:cNvSpPr/>
              <p:nvPr/>
            </p:nvSpPr>
            <p:spPr>
              <a:xfrm>
                <a:off x="2731" y="3414"/>
                <a:ext cx="26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8969" name="Oval 52"/>
              <p:cNvSpPr/>
              <p:nvPr/>
            </p:nvSpPr>
            <p:spPr>
              <a:xfrm>
                <a:off x="3549" y="3869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70" name="Oval 53"/>
              <p:cNvSpPr/>
              <p:nvPr/>
            </p:nvSpPr>
            <p:spPr>
              <a:xfrm>
                <a:off x="3549" y="311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971" name="Group 54"/>
              <p:cNvGrpSpPr/>
              <p:nvPr/>
            </p:nvGrpSpPr>
            <p:grpSpPr>
              <a:xfrm rot="10800000">
                <a:off x="2979" y="3438"/>
                <a:ext cx="272" cy="272"/>
                <a:chOff x="3923" y="3500"/>
                <a:chExt cx="272" cy="272"/>
              </a:xfrm>
            </p:grpSpPr>
            <p:sp>
              <p:nvSpPr>
                <p:cNvPr id="38973" name="Oval 55"/>
                <p:cNvSpPr/>
                <p:nvPr/>
              </p:nvSpPr>
              <p:spPr>
                <a:xfrm>
                  <a:off x="3923" y="3500"/>
                  <a:ext cx="272" cy="272"/>
                </a:xfrm>
                <a:prstGeom prst="ellipse">
                  <a:avLst/>
                </a:prstGeom>
                <a:solidFill>
                  <a:srgbClr val="FFFFCC"/>
                </a:solidFill>
                <a:ln w="38100" cap="flat" cmpd="sng">
                  <a:solidFill>
                    <a:srgbClr val="9900FF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974" name="Line 56"/>
                <p:cNvSpPr/>
                <p:nvPr/>
              </p:nvSpPr>
              <p:spPr>
                <a:xfrm>
                  <a:off x="3923" y="3636"/>
                  <a:ext cx="272" cy="0"/>
                </a:xfrm>
                <a:prstGeom prst="line">
                  <a:avLst/>
                </a:prstGeom>
                <a:ln w="38100" cap="flat" cmpd="sng">
                  <a:solidFill>
                    <a:srgbClr val="99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72" name="Line 57"/>
              <p:cNvSpPr/>
              <p:nvPr/>
            </p:nvSpPr>
            <p:spPr>
              <a:xfrm rot="-5400000" flipV="1">
                <a:off x="3024" y="3285"/>
                <a:ext cx="181" cy="0"/>
              </a:xfrm>
              <a:prstGeom prst="line">
                <a:avLst/>
              </a:prstGeom>
              <a:ln w="38100" cap="flat" cmpd="sng">
                <a:solidFill>
                  <a:srgbClr val="CC00FF"/>
                </a:solidFill>
                <a:prstDash val="solid"/>
                <a:headEnd type="none" w="med" len="med"/>
                <a:tailEnd type="stealth" w="med" len="lg"/>
              </a:ln>
            </p:spPr>
          </p:sp>
        </p:grpSp>
        <p:sp>
          <p:nvSpPr>
            <p:cNvPr id="38952" name="AutoShape 58"/>
            <p:cNvSpPr/>
            <p:nvPr/>
          </p:nvSpPr>
          <p:spPr>
            <a:xfrm>
              <a:off x="1572" y="3499"/>
              <a:ext cx="1128" cy="182"/>
            </a:xfrm>
            <a:custGeom>
              <a:avLst/>
              <a:gdLst>
                <a:gd name="txL" fmla="*/ 3370 w 21600"/>
                <a:gd name="txT" fmla="*/ 4510 h 21600"/>
                <a:gd name="txR" fmla="*/ 18728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668" y="0"/>
                  </a:moveTo>
                  <a:lnTo>
                    <a:pt x="16668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6668" y="17090"/>
                  </a:lnTo>
                  <a:lnTo>
                    <a:pt x="16668" y="21600"/>
                  </a:lnTo>
                  <a:lnTo>
                    <a:pt x="21600" y="10800"/>
                  </a:lnTo>
                  <a:lnTo>
                    <a:pt x="16668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3" name="Oval 60"/>
            <p:cNvSpPr/>
            <p:nvPr/>
          </p:nvSpPr>
          <p:spPr>
            <a:xfrm>
              <a:off x="1348" y="3856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54" name="Oval 61"/>
            <p:cNvSpPr/>
            <p:nvPr/>
          </p:nvSpPr>
          <p:spPr>
            <a:xfrm>
              <a:off x="1348" y="3100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8955" name="Group 62"/>
            <p:cNvGrpSpPr/>
            <p:nvPr/>
          </p:nvGrpSpPr>
          <p:grpSpPr>
            <a:xfrm>
              <a:off x="523" y="3127"/>
              <a:ext cx="837" cy="756"/>
              <a:chOff x="1318" y="3401"/>
              <a:chExt cx="609" cy="568"/>
            </a:xfrm>
          </p:grpSpPr>
          <p:sp>
            <p:nvSpPr>
              <p:cNvPr id="38964" name="Line 63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5" name="Line 64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56" name="Line 65"/>
            <p:cNvSpPr/>
            <p:nvPr/>
          </p:nvSpPr>
          <p:spPr>
            <a:xfrm flipH="1">
              <a:off x="523" y="3119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7" name="Rectangle 66"/>
            <p:cNvSpPr/>
            <p:nvPr/>
          </p:nvSpPr>
          <p:spPr>
            <a:xfrm>
              <a:off x="144" y="3399"/>
              <a:ext cx="26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38958" name="Group 67"/>
            <p:cNvGrpSpPr/>
            <p:nvPr/>
          </p:nvGrpSpPr>
          <p:grpSpPr>
            <a:xfrm>
              <a:off x="384" y="3420"/>
              <a:ext cx="272" cy="272"/>
              <a:chOff x="3923" y="3500"/>
              <a:chExt cx="272" cy="272"/>
            </a:xfrm>
          </p:grpSpPr>
          <p:sp>
            <p:nvSpPr>
              <p:cNvPr id="38962" name="Oval 68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63" name="Line 69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59" name="Line 70"/>
            <p:cNvSpPr/>
            <p:nvPr/>
          </p:nvSpPr>
          <p:spPr>
            <a:xfrm rot="-5400000" flipV="1">
              <a:off x="429" y="3278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8960" name="Rectangle 73"/>
            <p:cNvSpPr/>
            <p:nvPr/>
          </p:nvSpPr>
          <p:spPr>
            <a:xfrm>
              <a:off x="1680" y="3024"/>
              <a:ext cx="788" cy="4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21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多余元件</a:t>
              </a:r>
            </a:p>
            <a:p>
              <a:pPr algn="ctr" eaLnBrk="1" hangingPunct="1"/>
              <a:r>
                <a:rPr lang="zh-CN" altLang="en-US" sz="21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可以短路</a:t>
              </a:r>
            </a:p>
          </p:txBody>
        </p:sp>
        <p:sp>
          <p:nvSpPr>
            <p:cNvPr id="38961" name="Rectangle 75"/>
            <p:cNvSpPr/>
            <p:nvPr/>
          </p:nvSpPr>
          <p:spPr>
            <a:xfrm>
              <a:off x="768" y="2976"/>
              <a:ext cx="288" cy="288"/>
            </a:xfrm>
            <a:prstGeom prst="rect">
              <a:avLst/>
            </a:prstGeom>
            <a:solidFill>
              <a:srgbClr val="FFFF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77"/>
          <p:cNvGrpSpPr/>
          <p:nvPr/>
        </p:nvGrpSpPr>
        <p:grpSpPr>
          <a:xfrm>
            <a:off x="1676400" y="1311275"/>
            <a:ext cx="8591550" cy="1658938"/>
            <a:chOff x="96" y="768"/>
            <a:chExt cx="5412" cy="1045"/>
          </a:xfrm>
        </p:grpSpPr>
        <p:sp>
          <p:nvSpPr>
            <p:cNvPr id="38924" name="Rectangle 9"/>
            <p:cNvSpPr/>
            <p:nvPr/>
          </p:nvSpPr>
          <p:spPr>
            <a:xfrm>
              <a:off x="3966" y="768"/>
              <a:ext cx="1542" cy="1045"/>
            </a:xfrm>
            <a:prstGeom prst="rect">
              <a:avLst/>
            </a:prstGeom>
            <a:solidFill>
              <a:srgbClr val="FFFFCC"/>
            </a:solidFill>
            <a:ln w="28575" cap="flat" cmpd="sng">
              <a:solidFill>
                <a:srgbClr val="CC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与电压源并联的元件是多余元件，可开路</a:t>
              </a:r>
            </a:p>
          </p:txBody>
        </p:sp>
        <p:sp>
          <p:nvSpPr>
            <p:cNvPr id="38925" name="Oval 14"/>
            <p:cNvSpPr/>
            <p:nvPr/>
          </p:nvSpPr>
          <p:spPr>
            <a:xfrm>
              <a:off x="427" y="1244"/>
              <a:ext cx="272" cy="27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26" name="Oval 15"/>
            <p:cNvSpPr/>
            <p:nvPr/>
          </p:nvSpPr>
          <p:spPr>
            <a:xfrm>
              <a:off x="1389" y="1725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27" name="Oval 16"/>
            <p:cNvSpPr/>
            <p:nvPr/>
          </p:nvSpPr>
          <p:spPr>
            <a:xfrm>
              <a:off x="1389" y="969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8928" name="Group 17"/>
            <p:cNvGrpSpPr/>
            <p:nvPr/>
          </p:nvGrpSpPr>
          <p:grpSpPr>
            <a:xfrm>
              <a:off x="564" y="996"/>
              <a:ext cx="837" cy="756"/>
              <a:chOff x="1318" y="3401"/>
              <a:chExt cx="609" cy="568"/>
            </a:xfrm>
          </p:grpSpPr>
          <p:sp>
            <p:nvSpPr>
              <p:cNvPr id="38948" name="Line 18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9" name="Line 19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8929" name="Line 20"/>
            <p:cNvSpPr/>
            <p:nvPr/>
          </p:nvSpPr>
          <p:spPr>
            <a:xfrm flipH="1">
              <a:off x="564" y="988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0" name="Line 21"/>
            <p:cNvSpPr/>
            <p:nvPr/>
          </p:nvSpPr>
          <p:spPr>
            <a:xfrm flipH="1">
              <a:off x="993" y="985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1" name="Text Box 22"/>
            <p:cNvSpPr txBox="1"/>
            <p:nvPr/>
          </p:nvSpPr>
          <p:spPr>
            <a:xfrm>
              <a:off x="339" y="1423"/>
              <a:ext cx="336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2" name="Text Box 23"/>
            <p:cNvSpPr txBox="1"/>
            <p:nvPr/>
          </p:nvSpPr>
          <p:spPr>
            <a:xfrm>
              <a:off x="331" y="1036"/>
              <a:ext cx="336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3" name="Rectangle 24"/>
            <p:cNvSpPr/>
            <p:nvPr/>
          </p:nvSpPr>
          <p:spPr>
            <a:xfrm>
              <a:off x="96" y="1205"/>
              <a:ext cx="3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38934" name="Group 26"/>
            <p:cNvGrpSpPr/>
            <p:nvPr/>
          </p:nvGrpSpPr>
          <p:grpSpPr>
            <a:xfrm>
              <a:off x="2725" y="960"/>
              <a:ext cx="923" cy="813"/>
              <a:chOff x="2229" y="2027"/>
              <a:chExt cx="923" cy="813"/>
            </a:xfrm>
          </p:grpSpPr>
          <p:sp>
            <p:nvSpPr>
              <p:cNvPr id="38938" name="Oval 27"/>
              <p:cNvSpPr/>
              <p:nvPr/>
            </p:nvSpPr>
            <p:spPr>
              <a:xfrm>
                <a:off x="2527" y="227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939" name="Group 28"/>
              <p:cNvGrpSpPr/>
              <p:nvPr/>
            </p:nvGrpSpPr>
            <p:grpSpPr>
              <a:xfrm>
                <a:off x="2664" y="2054"/>
                <a:ext cx="443" cy="756"/>
                <a:chOff x="1318" y="3401"/>
                <a:chExt cx="609" cy="568"/>
              </a:xfrm>
            </p:grpSpPr>
            <p:sp>
              <p:nvSpPr>
                <p:cNvPr id="38946" name="Line 29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47" name="Line 30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40" name="Line 31"/>
              <p:cNvSpPr/>
              <p:nvPr/>
            </p:nvSpPr>
            <p:spPr>
              <a:xfrm flipH="1">
                <a:off x="2664" y="2046"/>
                <a:ext cx="0" cy="7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1" name="Text Box 32"/>
              <p:cNvSpPr txBox="1"/>
              <p:nvPr/>
            </p:nvSpPr>
            <p:spPr>
              <a:xfrm>
                <a:off x="2440" y="2448"/>
                <a:ext cx="336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42" name="Text Box 33"/>
              <p:cNvSpPr txBox="1"/>
              <p:nvPr/>
            </p:nvSpPr>
            <p:spPr>
              <a:xfrm>
                <a:off x="2432" y="2069"/>
                <a:ext cx="336" cy="3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43" name="Rectangle 34"/>
              <p:cNvSpPr/>
              <p:nvPr/>
            </p:nvSpPr>
            <p:spPr>
              <a:xfrm>
                <a:off x="2229" y="2238"/>
                <a:ext cx="326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GB" altLang="zh-CN" sz="24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r>
                  <a:rPr lang="en-GB" altLang="zh-CN" sz="24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</a:t>
                </a:r>
                <a:endPara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8944" name="Oval 35"/>
              <p:cNvSpPr/>
              <p:nvPr/>
            </p:nvSpPr>
            <p:spPr>
              <a:xfrm>
                <a:off x="3095" y="278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45" name="Oval 36"/>
              <p:cNvSpPr/>
              <p:nvPr/>
            </p:nvSpPr>
            <p:spPr>
              <a:xfrm>
                <a:off x="3095" y="2027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935" name="AutoShape 38"/>
            <p:cNvSpPr/>
            <p:nvPr/>
          </p:nvSpPr>
          <p:spPr>
            <a:xfrm>
              <a:off x="1632" y="1392"/>
              <a:ext cx="1056" cy="182"/>
            </a:xfrm>
            <a:custGeom>
              <a:avLst/>
              <a:gdLst>
                <a:gd name="txL" fmla="*/ 3375 w 21600"/>
                <a:gd name="txT" fmla="*/ 4510 h 21600"/>
                <a:gd name="txR" fmla="*/ 18736 w 21600"/>
                <a:gd name="txB" fmla="*/ 1709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668" y="0"/>
                  </a:moveTo>
                  <a:lnTo>
                    <a:pt x="16668" y="4510"/>
                  </a:lnTo>
                  <a:lnTo>
                    <a:pt x="3375" y="4510"/>
                  </a:lnTo>
                  <a:lnTo>
                    <a:pt x="3375" y="17090"/>
                  </a:lnTo>
                  <a:lnTo>
                    <a:pt x="16668" y="17090"/>
                  </a:lnTo>
                  <a:lnTo>
                    <a:pt x="16668" y="21600"/>
                  </a:lnTo>
                  <a:lnTo>
                    <a:pt x="21600" y="10800"/>
                  </a:lnTo>
                  <a:lnTo>
                    <a:pt x="16668" y="0"/>
                  </a:lnTo>
                  <a:close/>
                </a:path>
                <a:path w="21600" h="21600">
                  <a:moveTo>
                    <a:pt x="1350" y="4510"/>
                  </a:moveTo>
                  <a:lnTo>
                    <a:pt x="1350" y="17090"/>
                  </a:lnTo>
                  <a:lnTo>
                    <a:pt x="2700" y="17090"/>
                  </a:lnTo>
                  <a:lnTo>
                    <a:pt x="2700" y="4510"/>
                  </a:lnTo>
                  <a:lnTo>
                    <a:pt x="1350" y="4510"/>
                  </a:lnTo>
                  <a:close/>
                </a:path>
                <a:path w="21600" h="21600">
                  <a:moveTo>
                    <a:pt x="0" y="4510"/>
                  </a:moveTo>
                  <a:lnTo>
                    <a:pt x="0" y="17090"/>
                  </a:lnTo>
                  <a:lnTo>
                    <a:pt x="675" y="17090"/>
                  </a:lnTo>
                  <a:lnTo>
                    <a:pt x="675" y="4510"/>
                  </a:lnTo>
                  <a:lnTo>
                    <a:pt x="0" y="4510"/>
                  </a:lnTo>
                  <a:close/>
                </a:path>
              </a:pathLst>
            </a:custGeom>
            <a:solidFill>
              <a:srgbClr val="FFFF00">
                <a:alpha val="100000"/>
              </a:srgbClr>
            </a:solidFill>
            <a:ln w="28575" cap="flat" cmpd="sng">
              <a:solidFill>
                <a:srgbClr val="99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Rectangle 40"/>
            <p:cNvSpPr/>
            <p:nvPr/>
          </p:nvSpPr>
          <p:spPr>
            <a:xfrm>
              <a:off x="850" y="1248"/>
              <a:ext cx="288" cy="288"/>
            </a:xfrm>
            <a:prstGeom prst="rect">
              <a:avLst/>
            </a:prstGeom>
            <a:solidFill>
              <a:srgbClr val="FFFF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937" name="Rectangle 76"/>
            <p:cNvSpPr/>
            <p:nvPr/>
          </p:nvSpPr>
          <p:spPr>
            <a:xfrm>
              <a:off x="1680" y="912"/>
              <a:ext cx="788" cy="4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21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多余元件</a:t>
              </a:r>
            </a:p>
            <a:p>
              <a:pPr algn="ctr" eaLnBrk="1" hangingPunct="1"/>
              <a:r>
                <a:rPr lang="zh-CN" altLang="en-US" sz="21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可以开路</a:t>
              </a:r>
            </a:p>
          </p:txBody>
        </p:sp>
      </p:grpSp>
      <p:sp>
        <p:nvSpPr>
          <p:cNvPr id="38920" name="AutoShape 79">
            <a:hlinkClick r:id="" action="ppaction://hlinkshowjump?jump=firstslide"/>
          </p:cNvPr>
          <p:cNvSpPr/>
          <p:nvPr/>
        </p:nvSpPr>
        <p:spPr>
          <a:xfrm>
            <a:off x="9369425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921" name="AutoShape 80">
            <a:hlinkClick r:id="" action="ppaction://hlinkshowjump?jump=nextslide"/>
          </p:cNvPr>
          <p:cNvSpPr/>
          <p:nvPr/>
        </p:nvSpPr>
        <p:spPr>
          <a:xfrm>
            <a:off x="10283825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922" name="AutoShape 81">
            <a:hlinkClick r:id="" action="ppaction://hlinkshowjump?jump=previousslide"/>
          </p:cNvPr>
          <p:cNvSpPr/>
          <p:nvPr/>
        </p:nvSpPr>
        <p:spPr>
          <a:xfrm>
            <a:off x="9826625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4082" name="Line 82"/>
          <p:cNvSpPr/>
          <p:nvPr/>
        </p:nvSpPr>
        <p:spPr>
          <a:xfrm>
            <a:off x="9386888" y="6550025"/>
            <a:ext cx="1293812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42" grpId="0"/>
      <p:bldP spid="3840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/>
          <p:nvPr/>
        </p:nvSpPr>
        <p:spPr>
          <a:xfrm>
            <a:off x="935038" y="227013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）电压源与电阻的串联</a:t>
            </a:r>
          </a:p>
        </p:txBody>
      </p:sp>
      <p:sp>
        <p:nvSpPr>
          <p:cNvPr id="39939" name="Rectangle 5"/>
          <p:cNvSpPr/>
          <p:nvPr/>
        </p:nvSpPr>
        <p:spPr>
          <a:xfrm>
            <a:off x="935038" y="836613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）电流源与电阻的并联</a:t>
            </a:r>
          </a:p>
        </p:txBody>
      </p:sp>
      <p:sp>
        <p:nvSpPr>
          <p:cNvPr id="385033" name="AutoShape 9"/>
          <p:cNvSpPr/>
          <p:nvPr/>
        </p:nvSpPr>
        <p:spPr>
          <a:xfrm>
            <a:off x="1524000" y="5105400"/>
            <a:ext cx="1524000" cy="1114425"/>
          </a:xfrm>
          <a:prstGeom prst="irregularSeal1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lg"/>
          </a:ln>
        </p:spPr>
        <p:txBody>
          <a:bodyPr wrap="none" anchor="ctr" anchorCtr="0"/>
          <a:lstStyle/>
          <a:p>
            <a:pPr algn="ctr" eaLnBrk="1" hangingPunct="1"/>
            <a:r>
              <a:rPr lang="zh-CN" altLang="en-US" sz="2800" b="1" i="1" dirty="0">
                <a:solidFill>
                  <a:srgbClr val="66FF33"/>
                </a:solidFill>
                <a:latin typeface="Times New Roman" panose="02020603050405020304" pitchFamily="18" charset="0"/>
              </a:rPr>
              <a:t>注意</a:t>
            </a:r>
          </a:p>
        </p:txBody>
      </p:sp>
      <p:sp>
        <p:nvSpPr>
          <p:cNvPr id="385034" name="Text Box 10"/>
          <p:cNvSpPr txBox="1"/>
          <p:nvPr/>
        </p:nvSpPr>
        <p:spPr>
          <a:xfrm>
            <a:off x="4127500" y="5462588"/>
            <a:ext cx="4160838" cy="52228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lg"/>
          </a:ln>
        </p:spPr>
        <p:txBody>
          <a:bodyPr anchor="ctr" anchorCtr="0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变换前后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的方向</a:t>
            </a:r>
          </a:p>
        </p:txBody>
      </p:sp>
      <p:grpSp>
        <p:nvGrpSpPr>
          <p:cNvPr id="2" name="Group 74"/>
          <p:cNvGrpSpPr/>
          <p:nvPr/>
        </p:nvGrpSpPr>
        <p:grpSpPr>
          <a:xfrm>
            <a:off x="2249488" y="1341438"/>
            <a:ext cx="8418512" cy="3608387"/>
            <a:chOff x="384" y="1008"/>
            <a:chExt cx="5303" cy="2273"/>
          </a:xfrm>
        </p:grpSpPr>
        <p:sp>
          <p:nvSpPr>
            <p:cNvPr id="39948" name="Text Box 11"/>
            <p:cNvSpPr txBox="1"/>
            <p:nvPr/>
          </p:nvSpPr>
          <p:spPr>
            <a:xfrm>
              <a:off x="528" y="1008"/>
              <a:ext cx="47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实际电压源模型与实际电流源模型的等效变换</a:t>
              </a:r>
            </a:p>
          </p:txBody>
        </p:sp>
        <p:sp>
          <p:nvSpPr>
            <p:cNvPr id="39949" name="AutoShape 12"/>
            <p:cNvSpPr/>
            <p:nvPr/>
          </p:nvSpPr>
          <p:spPr>
            <a:xfrm>
              <a:off x="2340" y="2276"/>
              <a:ext cx="912" cy="192"/>
            </a:xfrm>
            <a:prstGeom prst="notchedRightArrow">
              <a:avLst>
                <a:gd name="adj1" fmla="val 50000"/>
                <a:gd name="adj2" fmla="val 118750"/>
              </a:avLst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0" name="AutoShape 13"/>
            <p:cNvSpPr/>
            <p:nvPr/>
          </p:nvSpPr>
          <p:spPr>
            <a:xfrm flipH="1">
              <a:off x="2304" y="2482"/>
              <a:ext cx="912" cy="192"/>
            </a:xfrm>
            <a:prstGeom prst="notchedRightArrow">
              <a:avLst>
                <a:gd name="adj1" fmla="val 50000"/>
                <a:gd name="adj2" fmla="val 118750"/>
              </a:avLst>
            </a:prstGeom>
            <a:solidFill>
              <a:srgbClr val="66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51" name="Text Box 14"/>
            <p:cNvSpPr txBox="1"/>
            <p:nvPr/>
          </p:nvSpPr>
          <p:spPr>
            <a:xfrm>
              <a:off x="2250" y="2636"/>
              <a:ext cx="9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r>
                <a: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= </a:t>
              </a:r>
              <a:r>
                <a: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S </a:t>
              </a:r>
              <a:r>
                <a: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S</a:t>
              </a:r>
            </a:p>
          </p:txBody>
        </p:sp>
        <p:sp>
          <p:nvSpPr>
            <p:cNvPr id="39952" name="Text Box 15"/>
            <p:cNvSpPr txBox="1"/>
            <p:nvPr/>
          </p:nvSpPr>
          <p:spPr>
            <a:xfrm>
              <a:off x="2149" y="1416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r>
                <a:rPr lang="zh-CN" altLang="en-US" sz="2800" b="1" dirty="0">
                  <a:solidFill>
                    <a:srgbClr val="FF6600"/>
                  </a:solidFill>
                  <a:latin typeface="Times New Roman" panose="02020603050405020304" pitchFamily="18" charset="0"/>
                </a:rPr>
                <a:t>内阻改并联</a:t>
              </a:r>
            </a:p>
          </p:txBody>
        </p:sp>
        <p:grpSp>
          <p:nvGrpSpPr>
            <p:cNvPr id="39953" name="Group 16"/>
            <p:cNvGrpSpPr/>
            <p:nvPr/>
          </p:nvGrpSpPr>
          <p:grpSpPr>
            <a:xfrm>
              <a:off x="2291" y="1685"/>
              <a:ext cx="743" cy="579"/>
              <a:chOff x="2243" y="993"/>
              <a:chExt cx="743" cy="579"/>
            </a:xfrm>
          </p:grpSpPr>
          <p:sp>
            <p:nvSpPr>
              <p:cNvPr id="40002" name="Text Box 17"/>
              <p:cNvSpPr txBox="1"/>
              <p:nvPr/>
            </p:nvSpPr>
            <p:spPr>
              <a:xfrm>
                <a:off x="2243" y="1127"/>
                <a:ext cx="44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i</a:t>
                </a:r>
                <a:r>
                  <a:rPr lang="en-US" altLang="zh-CN" sz="2800" b="1" baseline="-250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S</a:t>
                </a:r>
                <a:r>
                  <a:rPr lang="en-US" altLang="zh-CN" sz="2800" b="1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 =</a:t>
                </a:r>
              </a:p>
            </p:txBody>
          </p:sp>
          <p:sp>
            <p:nvSpPr>
              <p:cNvPr id="40003" name="Text Box 18"/>
              <p:cNvSpPr txBox="1"/>
              <p:nvPr/>
            </p:nvSpPr>
            <p:spPr>
              <a:xfrm>
                <a:off x="2561" y="993"/>
                <a:ext cx="38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 u</a:t>
                </a:r>
                <a:r>
                  <a:rPr lang="en-US" altLang="zh-CN" sz="2800" b="1" baseline="-25000" dirty="0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0004" name="Text Box 19"/>
              <p:cNvSpPr txBox="1"/>
              <p:nvPr/>
            </p:nvSpPr>
            <p:spPr>
              <a:xfrm>
                <a:off x="2636" y="1245"/>
                <a:ext cx="35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800" b="1" baseline="-25000" dirty="0">
                    <a:solidFill>
                      <a:srgbClr val="FF6600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2800" b="1" dirty="0">
                  <a:solidFill>
                    <a:srgbClr val="FF66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5" name="Line 20"/>
              <p:cNvSpPr/>
              <p:nvPr/>
            </p:nvSpPr>
            <p:spPr>
              <a:xfrm>
                <a:off x="2688" y="1296"/>
                <a:ext cx="240" cy="0"/>
              </a:xfrm>
              <a:prstGeom prst="line">
                <a:avLst/>
              </a:prstGeom>
              <a:ln w="25400" cap="flat" cmpd="sng">
                <a:solidFill>
                  <a:srgbClr val="FF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54" name="Text Box 21"/>
            <p:cNvSpPr txBox="1"/>
            <p:nvPr/>
          </p:nvSpPr>
          <p:spPr>
            <a:xfrm>
              <a:off x="2149" y="2954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内阻改串联</a:t>
              </a:r>
            </a:p>
          </p:txBody>
        </p:sp>
        <p:grpSp>
          <p:nvGrpSpPr>
            <p:cNvPr id="39955" name="Group 22"/>
            <p:cNvGrpSpPr/>
            <p:nvPr/>
          </p:nvGrpSpPr>
          <p:grpSpPr>
            <a:xfrm>
              <a:off x="384" y="1316"/>
              <a:ext cx="1644" cy="1947"/>
              <a:chOff x="384" y="320"/>
              <a:chExt cx="1644" cy="1947"/>
            </a:xfrm>
          </p:grpSpPr>
          <p:sp>
            <p:nvSpPr>
              <p:cNvPr id="39983" name="Text Box 23"/>
              <p:cNvSpPr txBox="1"/>
              <p:nvPr/>
            </p:nvSpPr>
            <p:spPr>
              <a:xfrm>
                <a:off x="1734" y="740"/>
                <a:ext cx="1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39984" name="Text Box 24"/>
              <p:cNvSpPr txBox="1"/>
              <p:nvPr/>
            </p:nvSpPr>
            <p:spPr>
              <a:xfrm>
                <a:off x="1290" y="1940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9985" name="Text Box 25"/>
              <p:cNvSpPr txBox="1"/>
              <p:nvPr/>
            </p:nvSpPr>
            <p:spPr>
              <a:xfrm>
                <a:off x="449" y="867"/>
                <a:ext cx="3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b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986" name="Text Box 26"/>
              <p:cNvSpPr txBox="1"/>
              <p:nvPr/>
            </p:nvSpPr>
            <p:spPr>
              <a:xfrm>
                <a:off x="1242" y="1112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u</a:t>
                </a:r>
                <a:endParaRPr lang="en-US" altLang="zh-CN" sz="2800" b="1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7" name="Text Box 27"/>
              <p:cNvSpPr txBox="1"/>
              <p:nvPr/>
            </p:nvSpPr>
            <p:spPr>
              <a:xfrm>
                <a:off x="543" y="1364"/>
                <a:ext cx="35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R</a:t>
                </a:r>
                <a:r>
                  <a:rPr lang="en-US" altLang="zh-CN" sz="2800" b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S</a:t>
                </a:r>
                <a:endPara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988" name="Text Box 28"/>
              <p:cNvSpPr txBox="1"/>
              <p:nvPr/>
            </p:nvSpPr>
            <p:spPr>
              <a:xfrm>
                <a:off x="1582" y="1124"/>
                <a:ext cx="36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R</a:t>
                </a:r>
                <a:r>
                  <a:rPr lang="en-US" altLang="zh-CN" sz="2800" b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L</a:t>
                </a:r>
              </a:p>
            </p:txBody>
          </p:sp>
          <p:sp>
            <p:nvSpPr>
              <p:cNvPr id="39989" name="Text Box 29"/>
              <p:cNvSpPr txBox="1"/>
              <p:nvPr/>
            </p:nvSpPr>
            <p:spPr>
              <a:xfrm>
                <a:off x="1256" y="596"/>
                <a:ext cx="2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solidFill>
                      <a:srgbClr val="6600FF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9990" name="Text Box 30"/>
              <p:cNvSpPr txBox="1"/>
              <p:nvPr/>
            </p:nvSpPr>
            <p:spPr>
              <a:xfrm>
                <a:off x="1224" y="1508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solidFill>
                      <a:srgbClr val="6600FF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39991" name="Text Box 31"/>
              <p:cNvSpPr txBox="1"/>
              <p:nvPr/>
            </p:nvSpPr>
            <p:spPr>
              <a:xfrm>
                <a:off x="624" y="644"/>
                <a:ext cx="24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solidFill>
                      <a:srgbClr val="6600FF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9992" name="Text Box 32"/>
              <p:cNvSpPr txBox="1"/>
              <p:nvPr/>
            </p:nvSpPr>
            <p:spPr>
              <a:xfrm>
                <a:off x="624" y="956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solidFill>
                      <a:srgbClr val="6600FF"/>
                    </a:solidFill>
                    <a:latin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39993" name="Oval 33"/>
              <p:cNvSpPr/>
              <p:nvPr/>
            </p:nvSpPr>
            <p:spPr>
              <a:xfrm>
                <a:off x="768" y="896"/>
                <a:ext cx="288" cy="288"/>
              </a:xfrm>
              <a:prstGeom prst="ellipse">
                <a:avLst/>
              </a:prstGeom>
              <a:noFill/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4" name="Rectangle 34"/>
              <p:cNvSpPr/>
              <p:nvPr/>
            </p:nvSpPr>
            <p:spPr>
              <a:xfrm>
                <a:off x="912" y="644"/>
                <a:ext cx="1056" cy="129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5" name="Rectangle 35"/>
              <p:cNvSpPr/>
              <p:nvPr/>
            </p:nvSpPr>
            <p:spPr>
              <a:xfrm rot="-5400000">
                <a:off x="744" y="1492"/>
                <a:ext cx="336" cy="96"/>
              </a:xfrm>
              <a:prstGeom prst="rect">
                <a:avLst/>
              </a:prstGeom>
              <a:solidFill>
                <a:srgbClr val="FFFFF3"/>
              </a:solidFill>
              <a:ln w="38100" cap="flat" cmpd="sng">
                <a:solidFill>
                  <a:srgbClr val="8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6" name="Rectangle 36"/>
              <p:cNvSpPr/>
              <p:nvPr/>
            </p:nvSpPr>
            <p:spPr>
              <a:xfrm rot="-5400000">
                <a:off x="1812" y="1273"/>
                <a:ext cx="336" cy="96"/>
              </a:xfrm>
              <a:prstGeom prst="rect">
                <a:avLst/>
              </a:prstGeom>
              <a:solidFill>
                <a:srgbClr val="FFFFF3"/>
              </a:solidFill>
              <a:ln w="38100" cap="flat" cmpd="sng">
                <a:solidFill>
                  <a:srgbClr val="8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7" name="Oval 37"/>
              <p:cNvSpPr/>
              <p:nvPr/>
            </p:nvSpPr>
            <p:spPr>
              <a:xfrm>
                <a:off x="1356" y="62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8" name="Oval 38"/>
              <p:cNvSpPr/>
              <p:nvPr/>
            </p:nvSpPr>
            <p:spPr>
              <a:xfrm>
                <a:off x="1344" y="19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9" name="Text Box 39"/>
              <p:cNvSpPr txBox="1"/>
              <p:nvPr/>
            </p:nvSpPr>
            <p:spPr>
              <a:xfrm>
                <a:off x="1272" y="320"/>
                <a:ext cx="228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0000" name="Rectangle 40"/>
              <p:cNvSpPr/>
              <p:nvPr/>
            </p:nvSpPr>
            <p:spPr>
              <a:xfrm>
                <a:off x="384" y="504"/>
                <a:ext cx="816" cy="1632"/>
              </a:xfrm>
              <a:prstGeom prst="rect">
                <a:avLst/>
              </a:prstGeom>
              <a:noFill/>
              <a:ln w="28575" cap="flat" cmpd="sng">
                <a:solidFill>
                  <a:srgbClr val="0066FF"/>
                </a:solidFill>
                <a:prstDash val="dash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01" name="Line 41"/>
              <p:cNvSpPr/>
              <p:nvPr/>
            </p:nvSpPr>
            <p:spPr>
              <a:xfrm rot="-5400000" flipH="1">
                <a:off x="1823" y="945"/>
                <a:ext cx="292" cy="0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stealth" w="med" len="lg"/>
              </a:ln>
            </p:spPr>
          </p:sp>
        </p:grpSp>
        <p:grpSp>
          <p:nvGrpSpPr>
            <p:cNvPr id="39956" name="Group 42"/>
            <p:cNvGrpSpPr/>
            <p:nvPr/>
          </p:nvGrpSpPr>
          <p:grpSpPr>
            <a:xfrm>
              <a:off x="3539" y="1343"/>
              <a:ext cx="2148" cy="1909"/>
              <a:chOff x="3539" y="347"/>
              <a:chExt cx="2148" cy="1909"/>
            </a:xfrm>
          </p:grpSpPr>
          <p:sp>
            <p:nvSpPr>
              <p:cNvPr id="39957" name="Rectangle 43"/>
              <p:cNvSpPr/>
              <p:nvPr/>
            </p:nvSpPr>
            <p:spPr>
              <a:xfrm>
                <a:off x="3539" y="464"/>
                <a:ext cx="1342" cy="1620"/>
              </a:xfrm>
              <a:prstGeom prst="rect">
                <a:avLst/>
              </a:prstGeom>
              <a:noFill/>
              <a:ln w="28575" cap="flat" cmpd="sng">
                <a:solidFill>
                  <a:srgbClr val="0066FF"/>
                </a:solidFill>
                <a:prstDash val="dash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58" name="Line 44"/>
              <p:cNvSpPr/>
              <p:nvPr/>
            </p:nvSpPr>
            <p:spPr>
              <a:xfrm>
                <a:off x="4629" y="644"/>
                <a:ext cx="0" cy="12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59" name="Text Box 45"/>
              <p:cNvSpPr txBox="1"/>
              <p:nvPr/>
            </p:nvSpPr>
            <p:spPr>
              <a:xfrm>
                <a:off x="5371" y="667"/>
                <a:ext cx="1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i</a:t>
                </a:r>
              </a:p>
            </p:txBody>
          </p:sp>
          <p:sp>
            <p:nvSpPr>
              <p:cNvPr id="39960" name="Text Box 46"/>
              <p:cNvSpPr txBox="1"/>
              <p:nvPr/>
            </p:nvSpPr>
            <p:spPr>
              <a:xfrm>
                <a:off x="4864" y="1196"/>
                <a:ext cx="241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eaLnBrk="1" hangingPunct="1"/>
                <a:r>
                  <a:rPr lang="en-US" altLang="zh-CN" sz="2800" b="1" i="1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u</a:t>
                </a:r>
                <a:endPara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961" name="Text Box 47"/>
              <p:cNvSpPr txBox="1"/>
              <p:nvPr/>
            </p:nvSpPr>
            <p:spPr>
              <a:xfrm>
                <a:off x="5321" y="1145"/>
                <a:ext cx="366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R</a:t>
                </a:r>
                <a:r>
                  <a:rPr lang="en-US" altLang="zh-CN" sz="2800" b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L</a:t>
                </a:r>
                <a:endPara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962" name="Text Box 48"/>
              <p:cNvSpPr txBox="1"/>
              <p:nvPr/>
            </p:nvSpPr>
            <p:spPr>
              <a:xfrm>
                <a:off x="4245" y="1153"/>
                <a:ext cx="350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R</a:t>
                </a:r>
                <a:r>
                  <a:rPr lang="en-US" altLang="zh-CN" sz="2800" b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S</a:t>
                </a:r>
                <a:endPara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39963" name="Text Box 49"/>
              <p:cNvSpPr txBox="1"/>
              <p:nvPr/>
            </p:nvSpPr>
            <p:spPr>
              <a:xfrm>
                <a:off x="4878" y="641"/>
                <a:ext cx="244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800" b="1" dirty="0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9964" name="Text Box 50"/>
              <p:cNvSpPr txBox="1"/>
              <p:nvPr/>
            </p:nvSpPr>
            <p:spPr>
              <a:xfrm>
                <a:off x="4884" y="1634"/>
                <a:ext cx="228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800" b="1" dirty="0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–</a:t>
                </a:r>
              </a:p>
            </p:txBody>
          </p:sp>
          <p:sp>
            <p:nvSpPr>
              <p:cNvPr id="39965" name="Text Box 51"/>
              <p:cNvSpPr txBox="1"/>
              <p:nvPr/>
            </p:nvSpPr>
            <p:spPr>
              <a:xfrm>
                <a:off x="3633" y="809"/>
                <a:ext cx="26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i="1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i</a:t>
                </a:r>
                <a:r>
                  <a:rPr lang="en-US" altLang="zh-CN" sz="2800" b="1" baseline="-25000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S</a:t>
                </a:r>
                <a:endPara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grpSp>
            <p:nvGrpSpPr>
              <p:cNvPr id="39966" name="Group 52"/>
              <p:cNvGrpSpPr/>
              <p:nvPr/>
            </p:nvGrpSpPr>
            <p:grpSpPr>
              <a:xfrm>
                <a:off x="4188" y="625"/>
                <a:ext cx="363" cy="480"/>
                <a:chOff x="4110" y="625"/>
                <a:chExt cx="363" cy="480"/>
              </a:xfrm>
            </p:grpSpPr>
            <p:sp>
              <p:nvSpPr>
                <p:cNvPr id="39980" name="Text Box 53"/>
                <p:cNvSpPr txBox="1"/>
                <p:nvPr/>
              </p:nvSpPr>
              <p:spPr>
                <a:xfrm>
                  <a:off x="4110" y="817"/>
                  <a:ext cx="363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400" b="1" i="1" dirty="0">
                      <a:solidFill>
                        <a:srgbClr val="FF33CC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rPr>
                    <a:t> R</a:t>
                  </a:r>
                  <a:r>
                    <a:rPr lang="en-US" altLang="zh-CN" sz="2400" b="1" baseline="-25000" dirty="0">
                      <a:solidFill>
                        <a:srgbClr val="FF33CC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rPr>
                    <a:t>S</a:t>
                  </a:r>
                </a:p>
              </p:txBody>
            </p:sp>
            <p:sp>
              <p:nvSpPr>
                <p:cNvPr id="39981" name="Text Box 54"/>
                <p:cNvSpPr txBox="1"/>
                <p:nvPr/>
              </p:nvSpPr>
              <p:spPr>
                <a:xfrm>
                  <a:off x="4168" y="625"/>
                  <a:ext cx="27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400" b="1" i="1" dirty="0">
                      <a:solidFill>
                        <a:srgbClr val="FF33CC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rPr>
                    <a:t>u </a:t>
                  </a:r>
                  <a:endParaRPr lang="en-US" altLang="zh-CN" sz="2400" b="1" baseline="-25000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  <p:sp>
              <p:nvSpPr>
                <p:cNvPr id="39982" name="Line 55"/>
                <p:cNvSpPr/>
                <p:nvPr/>
              </p:nvSpPr>
              <p:spPr>
                <a:xfrm>
                  <a:off x="4178" y="865"/>
                  <a:ext cx="240" cy="0"/>
                </a:xfrm>
                <a:prstGeom prst="line">
                  <a:avLst/>
                </a:prstGeom>
                <a:ln w="25400" cap="flat" cmpd="sng">
                  <a:solidFill>
                    <a:srgbClr val="FF33CC"/>
                  </a:solidFill>
                  <a:prstDash val="solid"/>
                  <a:headEnd type="none" w="med" len="med"/>
                  <a:tailEnd type="none" w="sm" len="lg"/>
                </a:ln>
              </p:spPr>
            </p:sp>
          </p:grpSp>
          <p:sp>
            <p:nvSpPr>
              <p:cNvPr id="39967" name="Line 56"/>
              <p:cNvSpPr/>
              <p:nvPr/>
            </p:nvSpPr>
            <p:spPr>
              <a:xfrm rot="5400000">
                <a:off x="4475" y="955"/>
                <a:ext cx="310" cy="0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39968" name="Rectangle 57"/>
              <p:cNvSpPr/>
              <p:nvPr/>
            </p:nvSpPr>
            <p:spPr>
              <a:xfrm rot="-5400000">
                <a:off x="4473" y="1244"/>
                <a:ext cx="336" cy="96"/>
              </a:xfrm>
              <a:prstGeom prst="rect">
                <a:avLst/>
              </a:prstGeom>
              <a:solidFill>
                <a:srgbClr val="FFFFDD"/>
              </a:solidFill>
              <a:ln w="38100" cap="flat" cmpd="sng">
                <a:solidFill>
                  <a:srgbClr val="8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69" name="Rectangle 58"/>
              <p:cNvSpPr/>
              <p:nvPr/>
            </p:nvSpPr>
            <p:spPr>
              <a:xfrm>
                <a:off x="3909" y="644"/>
                <a:ext cx="1392" cy="1296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970" name="Group 59"/>
              <p:cNvGrpSpPr/>
              <p:nvPr/>
            </p:nvGrpSpPr>
            <p:grpSpPr>
              <a:xfrm>
                <a:off x="3765" y="1172"/>
                <a:ext cx="288" cy="288"/>
                <a:chOff x="3456" y="2160"/>
                <a:chExt cx="288" cy="288"/>
              </a:xfrm>
            </p:grpSpPr>
            <p:sp>
              <p:nvSpPr>
                <p:cNvPr id="39978" name="Oval 60"/>
                <p:cNvSpPr/>
                <p:nvPr/>
              </p:nvSpPr>
              <p:spPr>
                <a:xfrm>
                  <a:off x="3456" y="2160"/>
                  <a:ext cx="288" cy="288"/>
                </a:xfrm>
                <a:prstGeom prst="ellipse">
                  <a:avLst/>
                </a:prstGeom>
                <a:solidFill>
                  <a:srgbClr val="FFFFDD"/>
                </a:solidFill>
                <a:ln w="38100" cap="flat" cmpd="sng">
                  <a:solidFill>
                    <a:srgbClr val="8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979" name="Line 61"/>
                <p:cNvSpPr/>
                <p:nvPr/>
              </p:nvSpPr>
              <p:spPr>
                <a:xfrm>
                  <a:off x="3456" y="2304"/>
                  <a:ext cx="288" cy="0"/>
                </a:xfrm>
                <a:prstGeom prst="line">
                  <a:avLst/>
                </a:prstGeom>
                <a:ln w="25400" cap="flat" cmpd="sng">
                  <a:solidFill>
                    <a:srgbClr val="8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9971" name="Rectangle 62"/>
              <p:cNvSpPr/>
              <p:nvPr/>
            </p:nvSpPr>
            <p:spPr>
              <a:xfrm rot="-5400000">
                <a:off x="5133" y="1244"/>
                <a:ext cx="336" cy="96"/>
              </a:xfrm>
              <a:prstGeom prst="rect">
                <a:avLst/>
              </a:prstGeom>
              <a:solidFill>
                <a:srgbClr val="FFFFDD"/>
              </a:solidFill>
              <a:ln w="38100" cap="flat" cmpd="sng">
                <a:solidFill>
                  <a:srgbClr val="8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2" name="Oval 63"/>
              <p:cNvSpPr/>
              <p:nvPr/>
            </p:nvSpPr>
            <p:spPr>
              <a:xfrm>
                <a:off x="4965" y="1916"/>
                <a:ext cx="48" cy="48"/>
              </a:xfrm>
              <a:prstGeom prst="ellipse">
                <a:avLst/>
              </a:prstGeom>
              <a:solidFill>
                <a:srgbClr val="FFFFDD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3" name="Oval 64"/>
              <p:cNvSpPr/>
              <p:nvPr/>
            </p:nvSpPr>
            <p:spPr>
              <a:xfrm>
                <a:off x="4953" y="620"/>
                <a:ext cx="48" cy="48"/>
              </a:xfrm>
              <a:prstGeom prst="ellipse">
                <a:avLst/>
              </a:prstGeom>
              <a:solidFill>
                <a:srgbClr val="FFFFDD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4" name="Text Box 65"/>
              <p:cNvSpPr txBox="1"/>
              <p:nvPr/>
            </p:nvSpPr>
            <p:spPr>
              <a:xfrm>
                <a:off x="4896" y="347"/>
                <a:ext cx="228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9975" name="Line 66"/>
              <p:cNvSpPr/>
              <p:nvPr/>
            </p:nvSpPr>
            <p:spPr>
              <a:xfrm rot="5400000">
                <a:off x="5194" y="830"/>
                <a:ext cx="216" cy="4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39976" name="Line 67"/>
              <p:cNvSpPr/>
              <p:nvPr/>
            </p:nvSpPr>
            <p:spPr>
              <a:xfrm rot="-5400000" flipV="1">
                <a:off x="3790" y="1036"/>
                <a:ext cx="233" cy="0"/>
              </a:xfrm>
              <a:prstGeom prst="line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39977" name="Text Box 68"/>
              <p:cNvSpPr txBox="1"/>
              <p:nvPr/>
            </p:nvSpPr>
            <p:spPr>
              <a:xfrm>
                <a:off x="4908" y="1929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385093" name="Text Box 69"/>
          <p:cNvSpPr txBox="1"/>
          <p:nvPr/>
        </p:nvSpPr>
        <p:spPr>
          <a:xfrm>
            <a:off x="1752600" y="6192838"/>
            <a:ext cx="7485063" cy="588962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</a:rPr>
              <a:t>理想电压源与理想电流源不能等效变换</a:t>
            </a:r>
          </a:p>
        </p:txBody>
      </p:sp>
      <p:sp>
        <p:nvSpPr>
          <p:cNvPr id="39944" name="AutoShape 70">
            <a:hlinkClick r:id="" action="ppaction://hlinkshowjump?jump=firstslide"/>
          </p:cNvPr>
          <p:cNvSpPr/>
          <p:nvPr/>
        </p:nvSpPr>
        <p:spPr>
          <a:xfrm>
            <a:off x="9515475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9945" name="AutoShape 71">
            <a:hlinkClick r:id="" action="ppaction://hlinkshowjump?jump=nextslide"/>
          </p:cNvPr>
          <p:cNvSpPr/>
          <p:nvPr/>
        </p:nvSpPr>
        <p:spPr>
          <a:xfrm>
            <a:off x="10287000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9946" name="AutoShape 72">
            <a:hlinkClick r:id="" action="ppaction://hlinkshowjump?jump=previousslide"/>
          </p:cNvPr>
          <p:cNvSpPr/>
          <p:nvPr/>
        </p:nvSpPr>
        <p:spPr>
          <a:xfrm>
            <a:off x="9901238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5097" name="Line 73"/>
          <p:cNvSpPr/>
          <p:nvPr/>
        </p:nvSpPr>
        <p:spPr>
          <a:xfrm>
            <a:off x="9515475" y="6524625"/>
            <a:ext cx="1152525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8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33" grpId="0" animBg="1"/>
      <p:bldP spid="385034" grpId="0" animBg="1"/>
      <p:bldP spid="38509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/>
          <p:nvPr/>
        </p:nvSpPr>
        <p:spPr>
          <a:xfrm>
            <a:off x="766763" y="115888"/>
            <a:ext cx="75104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CC3300"/>
                </a:solidFill>
              </a:rPr>
              <a:t>实际电压源模型与实际电流源模型的等效变换</a:t>
            </a:r>
          </a:p>
        </p:txBody>
      </p:sp>
      <p:sp>
        <p:nvSpPr>
          <p:cNvPr id="632835" name="Text Box 3"/>
          <p:cNvSpPr txBox="1"/>
          <p:nvPr/>
        </p:nvSpPr>
        <p:spPr>
          <a:xfrm>
            <a:off x="1471613" y="5873750"/>
            <a:ext cx="9088437" cy="946150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</a:rPr>
              <a:t>       </a:t>
            </a:r>
            <a:r>
              <a:rPr lang="zh-CN" altLang="en-US" sz="2800" b="1" dirty="0">
                <a:solidFill>
                  <a:srgbClr val="000000"/>
                </a:solidFill>
              </a:rPr>
              <a:t>实际电压源模型和实际电流源模型的外特性是相同的。因此两种模型相互间可以等效变换。</a:t>
            </a:r>
          </a:p>
        </p:txBody>
      </p:sp>
      <p:sp>
        <p:nvSpPr>
          <p:cNvPr id="632856" name="AutoShape 24"/>
          <p:cNvSpPr/>
          <p:nvPr/>
        </p:nvSpPr>
        <p:spPr>
          <a:xfrm>
            <a:off x="5238750" y="2032000"/>
            <a:ext cx="1447800" cy="304800"/>
          </a:xfrm>
          <a:prstGeom prst="notchedRightArrow">
            <a:avLst>
              <a:gd name="adj1" fmla="val 50000"/>
              <a:gd name="adj2" fmla="val 118750"/>
            </a:avLst>
          </a:prstGeom>
          <a:solidFill>
            <a:srgbClr val="FF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632857" name="AutoShape 25"/>
          <p:cNvSpPr/>
          <p:nvPr/>
        </p:nvSpPr>
        <p:spPr>
          <a:xfrm flipH="1">
            <a:off x="5181600" y="2359025"/>
            <a:ext cx="1447800" cy="304800"/>
          </a:xfrm>
          <a:prstGeom prst="notchedRightArrow">
            <a:avLst>
              <a:gd name="adj1" fmla="val 50000"/>
              <a:gd name="adj2" fmla="val 118750"/>
            </a:avLst>
          </a:prstGeom>
          <a:solidFill>
            <a:srgbClr val="66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632858" name="Text Box 26"/>
          <p:cNvSpPr txBox="1"/>
          <p:nvPr/>
        </p:nvSpPr>
        <p:spPr>
          <a:xfrm>
            <a:off x="5095875" y="2603500"/>
            <a:ext cx="1563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3333CC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3333CC"/>
                </a:solidFill>
              </a:rPr>
              <a:t>S</a:t>
            </a:r>
            <a:r>
              <a:rPr lang="en-US" altLang="zh-CN" sz="2800" b="1" dirty="0">
                <a:solidFill>
                  <a:srgbClr val="3333CC"/>
                </a:solidFill>
                <a:ea typeface="隶书" panose="02010509060101010101" pitchFamily="49" charset="-122"/>
              </a:rPr>
              <a:t> = </a:t>
            </a:r>
            <a:r>
              <a: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rPr>
              <a:t>i</a:t>
            </a:r>
            <a:r>
              <a:rPr lang="en-US" altLang="zh-CN" sz="2800" b="1" baseline="-25000" dirty="0">
                <a:solidFill>
                  <a:srgbClr val="3333CC"/>
                </a:solidFill>
                <a:ea typeface="隶书" panose="02010509060101010101" pitchFamily="49" charset="-122"/>
              </a:rPr>
              <a:t>S </a:t>
            </a:r>
            <a:r>
              <a: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3333CC"/>
                </a:solidFill>
                <a:ea typeface="隶书" panose="02010509060101010101" pitchFamily="49" charset="-122"/>
              </a:rPr>
              <a:t>S</a:t>
            </a:r>
          </a:p>
        </p:txBody>
      </p:sp>
      <p:sp>
        <p:nvSpPr>
          <p:cNvPr id="632859" name="Text Box 27"/>
          <p:cNvSpPr txBox="1"/>
          <p:nvPr/>
        </p:nvSpPr>
        <p:spPr>
          <a:xfrm>
            <a:off x="4932363" y="666750"/>
            <a:ext cx="197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6600"/>
                </a:solidFill>
              </a:rPr>
              <a:t>内阻改并联</a:t>
            </a:r>
          </a:p>
        </p:txBody>
      </p:sp>
      <p:grpSp>
        <p:nvGrpSpPr>
          <p:cNvPr id="2" name="Group 52"/>
          <p:cNvGrpSpPr/>
          <p:nvPr/>
        </p:nvGrpSpPr>
        <p:grpSpPr>
          <a:xfrm>
            <a:off x="5160963" y="1093788"/>
            <a:ext cx="1179512" cy="919162"/>
            <a:chOff x="2243" y="993"/>
            <a:chExt cx="743" cy="579"/>
          </a:xfrm>
        </p:grpSpPr>
        <p:sp>
          <p:nvSpPr>
            <p:cNvPr id="41044" name="Text Box 53"/>
            <p:cNvSpPr txBox="1"/>
            <p:nvPr/>
          </p:nvSpPr>
          <p:spPr>
            <a:xfrm>
              <a:off x="2243" y="1127"/>
              <a:ext cx="4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6600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FF6600"/>
                  </a:solidFill>
                  <a:ea typeface="隶书" panose="02010509060101010101" pitchFamily="49" charset="-122"/>
                </a:rPr>
                <a:t>S</a:t>
              </a:r>
              <a:r>
                <a:rPr lang="en-US" altLang="zh-CN" sz="2800" b="1" dirty="0">
                  <a:solidFill>
                    <a:srgbClr val="FF6600"/>
                  </a:solidFill>
                  <a:ea typeface="隶书" panose="02010509060101010101" pitchFamily="49" charset="-122"/>
                </a:rPr>
                <a:t> =</a:t>
              </a:r>
            </a:p>
          </p:txBody>
        </p:sp>
        <p:sp>
          <p:nvSpPr>
            <p:cNvPr id="41045" name="Text Box 54"/>
            <p:cNvSpPr txBox="1"/>
            <p:nvPr/>
          </p:nvSpPr>
          <p:spPr>
            <a:xfrm>
              <a:off x="2561" y="993"/>
              <a:ext cx="3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6600"/>
                  </a:solidFill>
                </a:rPr>
                <a:t> u</a:t>
              </a:r>
              <a:r>
                <a:rPr lang="en-US" altLang="zh-CN" sz="2800" b="1" baseline="-25000" dirty="0">
                  <a:solidFill>
                    <a:srgbClr val="FF6600"/>
                  </a:solidFill>
                </a:rPr>
                <a:t>S</a:t>
              </a:r>
            </a:p>
          </p:txBody>
        </p:sp>
        <p:sp>
          <p:nvSpPr>
            <p:cNvPr id="41046" name="Text Box 55"/>
            <p:cNvSpPr txBox="1"/>
            <p:nvPr/>
          </p:nvSpPr>
          <p:spPr>
            <a:xfrm>
              <a:off x="2636" y="1245"/>
              <a:ext cx="3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6600"/>
                  </a:solidFill>
                </a:rPr>
                <a:t>R</a:t>
              </a:r>
              <a:r>
                <a:rPr lang="en-US" altLang="zh-CN" sz="2800" b="1" baseline="-25000" dirty="0">
                  <a:solidFill>
                    <a:srgbClr val="FF6600"/>
                  </a:solidFill>
                </a:rPr>
                <a:t>S</a:t>
              </a:r>
              <a:endParaRPr lang="en-US" altLang="zh-CN" sz="2800" b="1" dirty="0">
                <a:solidFill>
                  <a:srgbClr val="FF6600"/>
                </a:solidFill>
              </a:endParaRPr>
            </a:p>
          </p:txBody>
        </p:sp>
        <p:sp>
          <p:nvSpPr>
            <p:cNvPr id="41047" name="Line 56"/>
            <p:cNvSpPr/>
            <p:nvPr/>
          </p:nvSpPr>
          <p:spPr>
            <a:xfrm>
              <a:off x="2688" y="1296"/>
              <a:ext cx="240" cy="0"/>
            </a:xfrm>
            <a:prstGeom prst="line">
              <a:avLst/>
            </a:prstGeom>
            <a:ln w="2540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32889" name="Text Box 57"/>
          <p:cNvSpPr txBox="1"/>
          <p:nvPr/>
        </p:nvSpPr>
        <p:spPr>
          <a:xfrm>
            <a:off x="4932363" y="3108325"/>
            <a:ext cx="1978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3333CC"/>
                </a:solidFill>
              </a:rPr>
              <a:t>内阻改串联</a:t>
            </a:r>
          </a:p>
        </p:txBody>
      </p:sp>
      <p:sp>
        <p:nvSpPr>
          <p:cNvPr id="40970" name="Rectangle 58">
            <a:hlinkClick r:id="" action="ppaction://hlinkshowjump?jump=endshow"/>
          </p:cNvPr>
          <p:cNvSpPr/>
          <p:nvPr/>
        </p:nvSpPr>
        <p:spPr>
          <a:xfrm>
            <a:off x="9753600" y="6057900"/>
            <a:ext cx="304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40971" name="Rectangle 59">
            <a:hlinkClick r:id="" action="ppaction://hlinkshowjump?jump=nextslide"/>
          </p:cNvPr>
          <p:cNvSpPr/>
          <p:nvPr/>
        </p:nvSpPr>
        <p:spPr>
          <a:xfrm>
            <a:off x="9296400" y="6057900"/>
            <a:ext cx="304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40972" name="Rectangle 60">
            <a:hlinkClick r:id="" action="ppaction://hlinkshowjump?jump=previousslide"/>
          </p:cNvPr>
          <p:cNvSpPr/>
          <p:nvPr/>
        </p:nvSpPr>
        <p:spPr>
          <a:xfrm>
            <a:off x="8839200" y="6057900"/>
            <a:ext cx="3048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grpSp>
        <p:nvGrpSpPr>
          <p:cNvPr id="3" name="Group 118"/>
          <p:cNvGrpSpPr/>
          <p:nvPr/>
        </p:nvGrpSpPr>
        <p:grpSpPr>
          <a:xfrm>
            <a:off x="2133600" y="508000"/>
            <a:ext cx="2609850" cy="3090863"/>
            <a:chOff x="384" y="320"/>
            <a:chExt cx="1644" cy="1947"/>
          </a:xfrm>
        </p:grpSpPr>
        <p:sp>
          <p:nvSpPr>
            <p:cNvPr id="41025" name="Text Box 5"/>
            <p:cNvSpPr txBox="1"/>
            <p:nvPr/>
          </p:nvSpPr>
          <p:spPr>
            <a:xfrm>
              <a:off x="1734" y="740"/>
              <a:ext cx="1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</a:rPr>
                <a:t>i</a:t>
              </a:r>
            </a:p>
          </p:txBody>
        </p:sp>
        <p:sp>
          <p:nvSpPr>
            <p:cNvPr id="41026" name="Text Box 6"/>
            <p:cNvSpPr txBox="1"/>
            <p:nvPr/>
          </p:nvSpPr>
          <p:spPr>
            <a:xfrm>
              <a:off x="1290" y="1940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41027" name="Text Box 8"/>
            <p:cNvSpPr txBox="1"/>
            <p:nvPr/>
          </p:nvSpPr>
          <p:spPr>
            <a:xfrm>
              <a:off x="449" y="867"/>
              <a:ext cx="3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</a:rPr>
                <a:t>u</a:t>
              </a:r>
              <a:r>
                <a:rPr lang="en-US" altLang="zh-CN" sz="2800" b="1" baseline="-25000" dirty="0">
                  <a:solidFill>
                    <a:srgbClr val="3333CC"/>
                  </a:solidFill>
                </a:rPr>
                <a:t>S</a:t>
              </a:r>
              <a:endPara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41028" name="Text Box 9"/>
            <p:cNvSpPr txBox="1"/>
            <p:nvPr/>
          </p:nvSpPr>
          <p:spPr>
            <a:xfrm>
              <a:off x="1242" y="1112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</a:rPr>
                <a:t>u</a:t>
              </a:r>
              <a:endParaRPr lang="en-US" altLang="zh-CN" sz="2800" b="1" dirty="0">
                <a:solidFill>
                  <a:srgbClr val="3333CC"/>
                </a:solidFill>
              </a:endParaRPr>
            </a:p>
          </p:txBody>
        </p:sp>
        <p:sp>
          <p:nvSpPr>
            <p:cNvPr id="41029" name="Text Box 10"/>
            <p:cNvSpPr txBox="1"/>
            <p:nvPr/>
          </p:nvSpPr>
          <p:spPr>
            <a:xfrm>
              <a:off x="543" y="1364"/>
              <a:ext cx="3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  <a:ea typeface="隶书" panose="02010509060101010101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3333CC"/>
                  </a:solidFill>
                  <a:ea typeface="隶书" panose="02010509060101010101" pitchFamily="49" charset="-122"/>
                </a:rPr>
                <a:t>S</a:t>
              </a:r>
              <a:endPara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41030" name="Text Box 11"/>
            <p:cNvSpPr txBox="1"/>
            <p:nvPr/>
          </p:nvSpPr>
          <p:spPr>
            <a:xfrm>
              <a:off x="1582" y="1124"/>
              <a:ext cx="3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  <a:ea typeface="隶书" panose="02010509060101010101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3333CC"/>
                  </a:solidFill>
                  <a:ea typeface="隶书" panose="02010509060101010101" pitchFamily="49" charset="-122"/>
                </a:rPr>
                <a:t>L</a:t>
              </a:r>
            </a:p>
          </p:txBody>
        </p:sp>
        <p:sp>
          <p:nvSpPr>
            <p:cNvPr id="41031" name="Text Box 12"/>
            <p:cNvSpPr txBox="1"/>
            <p:nvPr/>
          </p:nvSpPr>
          <p:spPr>
            <a:xfrm>
              <a:off x="1256" y="596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6600FF"/>
                  </a:solidFill>
                </a:rPr>
                <a:t>+</a:t>
              </a:r>
            </a:p>
          </p:txBody>
        </p:sp>
        <p:sp>
          <p:nvSpPr>
            <p:cNvPr id="41032" name="Text Box 13"/>
            <p:cNvSpPr txBox="1"/>
            <p:nvPr/>
          </p:nvSpPr>
          <p:spPr>
            <a:xfrm>
              <a:off x="1224" y="150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6600FF"/>
                  </a:solidFill>
                </a:rPr>
                <a:t>_</a:t>
              </a:r>
            </a:p>
          </p:txBody>
        </p:sp>
        <p:sp>
          <p:nvSpPr>
            <p:cNvPr id="41033" name="Text Box 14"/>
            <p:cNvSpPr txBox="1"/>
            <p:nvPr/>
          </p:nvSpPr>
          <p:spPr>
            <a:xfrm>
              <a:off x="624" y="644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6600FF"/>
                  </a:solidFill>
                </a:rPr>
                <a:t>+</a:t>
              </a:r>
            </a:p>
          </p:txBody>
        </p:sp>
        <p:sp>
          <p:nvSpPr>
            <p:cNvPr id="41034" name="Text Box 15"/>
            <p:cNvSpPr txBox="1"/>
            <p:nvPr/>
          </p:nvSpPr>
          <p:spPr>
            <a:xfrm>
              <a:off x="624" y="95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6600FF"/>
                  </a:solidFill>
                </a:rPr>
                <a:t>_</a:t>
              </a:r>
            </a:p>
          </p:txBody>
        </p:sp>
        <p:sp>
          <p:nvSpPr>
            <p:cNvPr id="41035" name="Oval 16"/>
            <p:cNvSpPr/>
            <p:nvPr/>
          </p:nvSpPr>
          <p:spPr>
            <a:xfrm>
              <a:off x="768" y="896"/>
              <a:ext cx="288" cy="288"/>
            </a:xfrm>
            <a:prstGeom prst="ellipse">
              <a:avLst/>
            </a:prstGeom>
            <a:noFill/>
            <a:ln w="38100" cap="flat" cmpd="sng">
              <a:solidFill>
                <a:srgbClr val="8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36" name="Rectangle 17"/>
            <p:cNvSpPr/>
            <p:nvPr/>
          </p:nvSpPr>
          <p:spPr>
            <a:xfrm>
              <a:off x="912" y="644"/>
              <a:ext cx="1056" cy="129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37" name="Rectangle 18"/>
            <p:cNvSpPr/>
            <p:nvPr/>
          </p:nvSpPr>
          <p:spPr>
            <a:xfrm rot="-5400000">
              <a:off x="744" y="1492"/>
              <a:ext cx="336" cy="96"/>
            </a:xfrm>
            <a:prstGeom prst="rect">
              <a:avLst/>
            </a:prstGeom>
            <a:solidFill>
              <a:srgbClr val="FFFFF3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38" name="Rectangle 19"/>
            <p:cNvSpPr/>
            <p:nvPr/>
          </p:nvSpPr>
          <p:spPr>
            <a:xfrm rot="-5400000">
              <a:off x="1812" y="1273"/>
              <a:ext cx="336" cy="96"/>
            </a:xfrm>
            <a:prstGeom prst="rect">
              <a:avLst/>
            </a:prstGeom>
            <a:solidFill>
              <a:srgbClr val="FFFFF3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39" name="Oval 20"/>
            <p:cNvSpPr/>
            <p:nvPr/>
          </p:nvSpPr>
          <p:spPr>
            <a:xfrm>
              <a:off x="1356" y="625"/>
              <a:ext cx="48" cy="4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40" name="Oval 21"/>
            <p:cNvSpPr/>
            <p:nvPr/>
          </p:nvSpPr>
          <p:spPr>
            <a:xfrm>
              <a:off x="1344" y="1916"/>
              <a:ext cx="48" cy="4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41" name="Text Box 22"/>
            <p:cNvSpPr txBox="1"/>
            <p:nvPr/>
          </p:nvSpPr>
          <p:spPr>
            <a:xfrm>
              <a:off x="1272" y="320"/>
              <a:ext cx="22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41042" name="Rectangle 23"/>
            <p:cNvSpPr/>
            <p:nvPr/>
          </p:nvSpPr>
          <p:spPr>
            <a:xfrm>
              <a:off x="384" y="504"/>
              <a:ext cx="816" cy="1632"/>
            </a:xfrm>
            <a:prstGeom prst="rect">
              <a:avLst/>
            </a:prstGeom>
            <a:noFill/>
            <a:ln w="28575" cap="flat" cmpd="sng">
              <a:solidFill>
                <a:srgbClr val="0066FF"/>
              </a:solidFill>
              <a:prstDash val="dash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43" name="Line 7"/>
            <p:cNvSpPr/>
            <p:nvPr/>
          </p:nvSpPr>
          <p:spPr>
            <a:xfrm rot="-5400000" flipH="1">
              <a:off x="1823" y="945"/>
              <a:ext cx="292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</p:grpSp>
      <p:grpSp>
        <p:nvGrpSpPr>
          <p:cNvPr id="4" name="Group 96"/>
          <p:cNvGrpSpPr/>
          <p:nvPr/>
        </p:nvGrpSpPr>
        <p:grpSpPr>
          <a:xfrm>
            <a:off x="7142163" y="550863"/>
            <a:ext cx="3409950" cy="3030537"/>
            <a:chOff x="3539" y="347"/>
            <a:chExt cx="2148" cy="1909"/>
          </a:xfrm>
        </p:grpSpPr>
        <p:sp>
          <p:nvSpPr>
            <p:cNvPr id="40999" name="Rectangle 28"/>
            <p:cNvSpPr/>
            <p:nvPr/>
          </p:nvSpPr>
          <p:spPr>
            <a:xfrm>
              <a:off x="3539" y="464"/>
              <a:ext cx="1342" cy="1620"/>
            </a:xfrm>
            <a:prstGeom prst="rect">
              <a:avLst/>
            </a:prstGeom>
            <a:noFill/>
            <a:ln w="28575" cap="flat" cmpd="sng">
              <a:solidFill>
                <a:srgbClr val="0066FF"/>
              </a:solidFill>
              <a:prstDash val="dash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00" name="Line 30"/>
            <p:cNvSpPr/>
            <p:nvPr/>
          </p:nvSpPr>
          <p:spPr>
            <a:xfrm>
              <a:off x="4629" y="644"/>
              <a:ext cx="0" cy="129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01" name="Text Box 31"/>
            <p:cNvSpPr txBox="1"/>
            <p:nvPr/>
          </p:nvSpPr>
          <p:spPr>
            <a:xfrm>
              <a:off x="5371" y="667"/>
              <a:ext cx="1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33CC"/>
                  </a:solidFill>
                  <a:ea typeface="隶书" panose="02010509060101010101" pitchFamily="49" charset="-122"/>
                </a:rPr>
                <a:t>i</a:t>
              </a:r>
            </a:p>
          </p:txBody>
        </p:sp>
        <p:sp>
          <p:nvSpPr>
            <p:cNvPr id="41002" name="Text Box 32"/>
            <p:cNvSpPr txBox="1"/>
            <p:nvPr/>
          </p:nvSpPr>
          <p:spPr>
            <a:xfrm>
              <a:off x="4864" y="1196"/>
              <a:ext cx="24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33CC"/>
                  </a:solidFill>
                  <a:ea typeface="隶书" panose="02010509060101010101" pitchFamily="49" charset="-122"/>
                </a:rPr>
                <a:t>u</a:t>
              </a:r>
              <a:endPara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41003" name="Text Box 33"/>
            <p:cNvSpPr txBox="1"/>
            <p:nvPr/>
          </p:nvSpPr>
          <p:spPr>
            <a:xfrm>
              <a:off x="5321" y="1145"/>
              <a:ext cx="366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  <a:ea typeface="隶书" panose="02010509060101010101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3333CC"/>
                  </a:solidFill>
                  <a:ea typeface="隶书" panose="02010509060101010101" pitchFamily="49" charset="-122"/>
                </a:rPr>
                <a:t>L</a:t>
              </a:r>
              <a:endPara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41004" name="Text Box 34"/>
            <p:cNvSpPr txBox="1"/>
            <p:nvPr/>
          </p:nvSpPr>
          <p:spPr>
            <a:xfrm>
              <a:off x="4245" y="1153"/>
              <a:ext cx="350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3333CC"/>
                  </a:solidFill>
                  <a:ea typeface="隶书" panose="02010509060101010101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3333CC"/>
                  </a:solidFill>
                  <a:ea typeface="隶书" panose="02010509060101010101" pitchFamily="49" charset="-122"/>
                </a:rPr>
                <a:t>S</a:t>
              </a:r>
              <a:endPara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41005" name="Text Box 35"/>
            <p:cNvSpPr txBox="1"/>
            <p:nvPr/>
          </p:nvSpPr>
          <p:spPr>
            <a:xfrm>
              <a:off x="4878" y="641"/>
              <a:ext cx="244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0066"/>
                  </a:solidFill>
                </a:rPr>
                <a:t>+</a:t>
              </a:r>
            </a:p>
          </p:txBody>
        </p:sp>
        <p:sp>
          <p:nvSpPr>
            <p:cNvPr id="41006" name="Text Box 36"/>
            <p:cNvSpPr txBox="1"/>
            <p:nvPr/>
          </p:nvSpPr>
          <p:spPr>
            <a:xfrm>
              <a:off x="4884" y="1634"/>
              <a:ext cx="22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0066"/>
                  </a:solidFill>
                </a:rPr>
                <a:t>–</a:t>
              </a:r>
            </a:p>
          </p:txBody>
        </p:sp>
        <p:sp>
          <p:nvSpPr>
            <p:cNvPr id="41007" name="Text Box 37"/>
            <p:cNvSpPr txBox="1"/>
            <p:nvPr/>
          </p:nvSpPr>
          <p:spPr>
            <a:xfrm>
              <a:off x="3633" y="809"/>
              <a:ext cx="2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33CC"/>
                  </a:solidFill>
                  <a:ea typeface="隶书" panose="02010509060101010101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FF33CC"/>
                  </a:solidFill>
                  <a:ea typeface="隶书" panose="02010509060101010101" pitchFamily="49" charset="-122"/>
                </a:rPr>
                <a:t>S</a:t>
              </a:r>
              <a:endParaRPr lang="en-US" altLang="zh-CN" sz="2800" b="1" i="1" dirty="0">
                <a:solidFill>
                  <a:srgbClr val="3333CC"/>
                </a:solidFill>
                <a:ea typeface="隶书" panose="02010509060101010101" pitchFamily="49" charset="-122"/>
              </a:endParaRPr>
            </a:p>
          </p:txBody>
        </p:sp>
        <p:grpSp>
          <p:nvGrpSpPr>
            <p:cNvPr id="41008" name="Group 94"/>
            <p:cNvGrpSpPr/>
            <p:nvPr/>
          </p:nvGrpSpPr>
          <p:grpSpPr>
            <a:xfrm>
              <a:off x="4188" y="625"/>
              <a:ext cx="363" cy="480"/>
              <a:chOff x="4110" y="625"/>
              <a:chExt cx="363" cy="480"/>
            </a:xfrm>
          </p:grpSpPr>
          <p:sp>
            <p:nvSpPr>
              <p:cNvPr id="41022" name="Text Box 38"/>
              <p:cNvSpPr txBox="1"/>
              <p:nvPr/>
            </p:nvSpPr>
            <p:spPr>
              <a:xfrm>
                <a:off x="4110" y="817"/>
                <a:ext cx="363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solidFill>
                      <a:srgbClr val="FF33CC"/>
                    </a:solidFill>
                    <a:ea typeface="隶书" panose="02010509060101010101" pitchFamily="49" charset="-122"/>
                  </a:rPr>
                  <a:t> R</a:t>
                </a:r>
                <a:r>
                  <a:rPr lang="en-US" altLang="zh-CN" sz="2400" b="1" baseline="-25000" dirty="0">
                    <a:solidFill>
                      <a:srgbClr val="FF33CC"/>
                    </a:solidFill>
                    <a:ea typeface="隶书" panose="02010509060101010101" pitchFamily="49" charset="-122"/>
                  </a:rPr>
                  <a:t>S</a:t>
                </a:r>
              </a:p>
            </p:txBody>
          </p:sp>
          <p:sp>
            <p:nvSpPr>
              <p:cNvPr id="41023" name="Text Box 39"/>
              <p:cNvSpPr txBox="1"/>
              <p:nvPr/>
            </p:nvSpPr>
            <p:spPr>
              <a:xfrm>
                <a:off x="4168" y="625"/>
                <a:ext cx="27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solidFill>
                      <a:srgbClr val="FF33CC"/>
                    </a:solidFill>
                    <a:ea typeface="隶书" panose="02010509060101010101" pitchFamily="49" charset="-122"/>
                  </a:rPr>
                  <a:t>u </a:t>
                </a:r>
                <a:endParaRPr lang="en-US" altLang="zh-CN" sz="2400" b="1" baseline="-25000" dirty="0">
                  <a:solidFill>
                    <a:srgbClr val="FF33CC"/>
                  </a:solidFill>
                  <a:ea typeface="隶书" panose="02010509060101010101" pitchFamily="49" charset="-122"/>
                </a:endParaRPr>
              </a:p>
            </p:txBody>
          </p:sp>
          <p:sp>
            <p:nvSpPr>
              <p:cNvPr id="41024" name="Line 40"/>
              <p:cNvSpPr/>
              <p:nvPr/>
            </p:nvSpPr>
            <p:spPr>
              <a:xfrm>
                <a:off x="4178" y="865"/>
                <a:ext cx="240" cy="0"/>
              </a:xfrm>
              <a:prstGeom prst="line">
                <a:avLst/>
              </a:prstGeom>
              <a:ln w="25400" cap="flat" cmpd="sng">
                <a:solidFill>
                  <a:srgbClr val="FF33CC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41009" name="Line 42"/>
            <p:cNvSpPr/>
            <p:nvPr/>
          </p:nvSpPr>
          <p:spPr>
            <a:xfrm rot="5400000">
              <a:off x="4475" y="955"/>
              <a:ext cx="310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1010" name="Rectangle 44"/>
            <p:cNvSpPr/>
            <p:nvPr/>
          </p:nvSpPr>
          <p:spPr>
            <a:xfrm rot="-5400000">
              <a:off x="4473" y="1244"/>
              <a:ext cx="336" cy="96"/>
            </a:xfrm>
            <a:prstGeom prst="rect">
              <a:avLst/>
            </a:prstGeom>
            <a:solidFill>
              <a:srgbClr val="FFFFDD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11" name="Rectangle 45"/>
            <p:cNvSpPr/>
            <p:nvPr/>
          </p:nvSpPr>
          <p:spPr>
            <a:xfrm>
              <a:off x="3909" y="644"/>
              <a:ext cx="1392" cy="129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grpSp>
          <p:nvGrpSpPr>
            <p:cNvPr id="41012" name="Group 46"/>
            <p:cNvGrpSpPr/>
            <p:nvPr/>
          </p:nvGrpSpPr>
          <p:grpSpPr>
            <a:xfrm>
              <a:off x="3765" y="1172"/>
              <a:ext cx="288" cy="288"/>
              <a:chOff x="3456" y="2160"/>
              <a:chExt cx="288" cy="288"/>
            </a:xfrm>
          </p:grpSpPr>
          <p:sp>
            <p:nvSpPr>
              <p:cNvPr id="41020" name="Oval 47"/>
              <p:cNvSpPr/>
              <p:nvPr/>
            </p:nvSpPr>
            <p:spPr>
              <a:xfrm>
                <a:off x="3456" y="2160"/>
                <a:ext cx="288" cy="288"/>
              </a:xfrm>
              <a:prstGeom prst="ellipse">
                <a:avLst/>
              </a:prstGeom>
              <a:solidFill>
                <a:srgbClr val="FFFFDD"/>
              </a:solidFill>
              <a:ln w="381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21" name="Line 48"/>
              <p:cNvSpPr/>
              <p:nvPr/>
            </p:nvSpPr>
            <p:spPr>
              <a:xfrm>
                <a:off x="3456" y="2304"/>
                <a:ext cx="288" cy="0"/>
              </a:xfrm>
              <a:prstGeom prst="line">
                <a:avLst/>
              </a:prstGeom>
              <a:ln w="25400" cap="flat" cmpd="sng">
                <a:solidFill>
                  <a:srgbClr val="8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013" name="Rectangle 49"/>
            <p:cNvSpPr/>
            <p:nvPr/>
          </p:nvSpPr>
          <p:spPr>
            <a:xfrm rot="-5400000">
              <a:off x="5133" y="1244"/>
              <a:ext cx="336" cy="96"/>
            </a:xfrm>
            <a:prstGeom prst="rect">
              <a:avLst/>
            </a:prstGeom>
            <a:solidFill>
              <a:srgbClr val="FFFFDD"/>
            </a:solidFill>
            <a:ln w="38100" cap="flat" cmpd="sng">
              <a:solidFill>
                <a:srgbClr val="8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14" name="Oval 50"/>
            <p:cNvSpPr/>
            <p:nvPr/>
          </p:nvSpPr>
          <p:spPr>
            <a:xfrm>
              <a:off x="4965" y="1916"/>
              <a:ext cx="48" cy="48"/>
            </a:xfrm>
            <a:prstGeom prst="ellipse">
              <a:avLst/>
            </a:prstGeom>
            <a:solidFill>
              <a:srgbClr val="FFFFDD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15" name="Oval 51"/>
            <p:cNvSpPr/>
            <p:nvPr/>
          </p:nvSpPr>
          <p:spPr>
            <a:xfrm>
              <a:off x="4953" y="620"/>
              <a:ext cx="48" cy="48"/>
            </a:xfrm>
            <a:prstGeom prst="ellipse">
              <a:avLst/>
            </a:prstGeom>
            <a:solidFill>
              <a:srgbClr val="FFFFDD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000000"/>
                </a:solidFill>
              </a:endParaRPr>
            </a:p>
          </p:txBody>
        </p:sp>
        <p:sp>
          <p:nvSpPr>
            <p:cNvPr id="41016" name="Text Box 93"/>
            <p:cNvSpPr txBox="1"/>
            <p:nvPr/>
          </p:nvSpPr>
          <p:spPr>
            <a:xfrm>
              <a:off x="4896" y="347"/>
              <a:ext cx="22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41017" name="Line 43"/>
            <p:cNvSpPr/>
            <p:nvPr/>
          </p:nvSpPr>
          <p:spPr>
            <a:xfrm rot="5400000">
              <a:off x="5194" y="830"/>
              <a:ext cx="216" cy="4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1018" name="Line 41"/>
            <p:cNvSpPr/>
            <p:nvPr/>
          </p:nvSpPr>
          <p:spPr>
            <a:xfrm rot="-5400000" flipV="1">
              <a:off x="3790" y="1036"/>
              <a:ext cx="233" cy="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1019" name="Text Box 95"/>
            <p:cNvSpPr txBox="1"/>
            <p:nvPr/>
          </p:nvSpPr>
          <p:spPr>
            <a:xfrm>
              <a:off x="4908" y="1929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7" name="Group 117"/>
          <p:cNvGrpSpPr/>
          <p:nvPr/>
        </p:nvGrpSpPr>
        <p:grpSpPr>
          <a:xfrm>
            <a:off x="6596063" y="3487738"/>
            <a:ext cx="3636962" cy="2351087"/>
            <a:chOff x="3195" y="2197"/>
            <a:chExt cx="2291" cy="1481"/>
          </a:xfrm>
        </p:grpSpPr>
        <p:sp>
          <p:nvSpPr>
            <p:cNvPr id="40990" name="Line 98"/>
            <p:cNvSpPr/>
            <p:nvPr/>
          </p:nvSpPr>
          <p:spPr>
            <a:xfrm flipV="1">
              <a:off x="3649" y="2327"/>
              <a:ext cx="0" cy="1351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0991" name="Line 99"/>
            <p:cNvSpPr/>
            <p:nvPr/>
          </p:nvSpPr>
          <p:spPr>
            <a:xfrm>
              <a:off x="3195" y="3325"/>
              <a:ext cx="2132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0992" name="Line 100"/>
            <p:cNvSpPr/>
            <p:nvPr/>
          </p:nvSpPr>
          <p:spPr>
            <a:xfrm>
              <a:off x="3649" y="2645"/>
              <a:ext cx="1452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dash"/>
              <a:headEnd type="none" w="med" len="med"/>
              <a:tailEnd type="none" w="lg" len="lg"/>
            </a:ln>
          </p:spPr>
        </p:sp>
        <p:sp>
          <p:nvSpPr>
            <p:cNvPr id="40993" name="Line 101"/>
            <p:cNvSpPr/>
            <p:nvPr/>
          </p:nvSpPr>
          <p:spPr>
            <a:xfrm>
              <a:off x="3649" y="2645"/>
              <a:ext cx="1451" cy="408"/>
            </a:xfrm>
            <a:prstGeom prst="line">
              <a:avLst/>
            </a:prstGeom>
            <a:ln w="25400" cap="flat" cmpd="sng">
              <a:solidFill>
                <a:srgbClr val="FF00FF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94" name="Rectangle 102"/>
            <p:cNvSpPr/>
            <p:nvPr/>
          </p:nvSpPr>
          <p:spPr>
            <a:xfrm>
              <a:off x="3558" y="2872"/>
              <a:ext cx="15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Arial" panose="020B0604020202020204" pitchFamily="34" charset="0"/>
                </a:rPr>
                <a:t>    </a:t>
              </a: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i=i</a:t>
              </a:r>
              <a:r>
                <a:rPr lang="en-US" altLang="zh-CN" sz="2400" b="1" i="1" baseline="-25000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 – u/R</a:t>
              </a:r>
              <a:r>
                <a:rPr lang="en-US" altLang="zh-CN" sz="2400" b="1" i="1" baseline="-25000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    </a:t>
              </a:r>
              <a:endParaRPr lang="en-US" altLang="zh-CN" sz="2400" b="1" i="1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0995" name="Text Box 103"/>
            <p:cNvSpPr txBox="1"/>
            <p:nvPr/>
          </p:nvSpPr>
          <p:spPr>
            <a:xfrm>
              <a:off x="3481" y="2197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i</a:t>
              </a:r>
              <a:endParaRPr lang="en-US" altLang="zh-CN" sz="2400" b="1" i="1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0996" name="Text Box 104"/>
            <p:cNvSpPr txBox="1"/>
            <p:nvPr/>
          </p:nvSpPr>
          <p:spPr>
            <a:xfrm>
              <a:off x="3347" y="2504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i</a:t>
              </a:r>
              <a:r>
                <a:rPr lang="en-US" altLang="zh-CN" sz="2400" b="1" i="1" baseline="-25000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S</a:t>
              </a:r>
              <a:endParaRPr lang="en-US" altLang="zh-CN" sz="2400" b="1" i="1" baseline="-25000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0997" name="Text Box 105"/>
            <p:cNvSpPr txBox="1"/>
            <p:nvPr/>
          </p:nvSpPr>
          <p:spPr>
            <a:xfrm>
              <a:off x="3468" y="3370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</a:rPr>
                <a:t>0</a:t>
              </a:r>
            </a:p>
          </p:txBody>
        </p:sp>
        <p:sp>
          <p:nvSpPr>
            <p:cNvPr id="40998" name="Text Box 106"/>
            <p:cNvSpPr txBox="1"/>
            <p:nvPr/>
          </p:nvSpPr>
          <p:spPr>
            <a:xfrm>
              <a:off x="5078" y="3297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u</a:t>
              </a:r>
              <a:endParaRPr lang="en-US" altLang="zh-CN" sz="2400" b="1" i="1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Group 107"/>
          <p:cNvGrpSpPr/>
          <p:nvPr/>
        </p:nvGrpSpPr>
        <p:grpSpPr>
          <a:xfrm>
            <a:off x="2078038" y="3375025"/>
            <a:ext cx="3600450" cy="2520950"/>
            <a:chOff x="2647" y="1019"/>
            <a:chExt cx="2268" cy="1588"/>
          </a:xfrm>
        </p:grpSpPr>
        <p:sp>
          <p:nvSpPr>
            <p:cNvPr id="40981" name="Line 108"/>
            <p:cNvSpPr/>
            <p:nvPr/>
          </p:nvSpPr>
          <p:spPr>
            <a:xfrm flipV="1">
              <a:off x="3101" y="1110"/>
              <a:ext cx="0" cy="149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0982" name="Line 109"/>
            <p:cNvSpPr/>
            <p:nvPr/>
          </p:nvSpPr>
          <p:spPr>
            <a:xfrm>
              <a:off x="2647" y="2108"/>
              <a:ext cx="213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0983" name="Line 110"/>
            <p:cNvSpPr/>
            <p:nvPr/>
          </p:nvSpPr>
          <p:spPr>
            <a:xfrm>
              <a:off x="3101" y="1428"/>
              <a:ext cx="1452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dash"/>
              <a:headEnd type="none" w="med" len="med"/>
              <a:tailEnd type="none" w="lg" len="lg"/>
            </a:ln>
          </p:spPr>
        </p:sp>
        <p:sp>
          <p:nvSpPr>
            <p:cNvPr id="40984" name="Line 111"/>
            <p:cNvSpPr/>
            <p:nvPr/>
          </p:nvSpPr>
          <p:spPr>
            <a:xfrm>
              <a:off x="3101" y="1428"/>
              <a:ext cx="1451" cy="408"/>
            </a:xfrm>
            <a:prstGeom prst="line">
              <a:avLst/>
            </a:prstGeom>
            <a:ln w="25400" cap="flat" cmpd="sng">
              <a:solidFill>
                <a:srgbClr val="FF00FF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5" name="Rectangle 112"/>
            <p:cNvSpPr/>
            <p:nvPr/>
          </p:nvSpPr>
          <p:spPr>
            <a:xfrm>
              <a:off x="3010" y="1655"/>
              <a:ext cx="15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  <a:latin typeface="Arial" panose="020B0604020202020204" pitchFamily="34" charset="0"/>
                </a:rPr>
                <a:t>    </a:t>
              </a: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u=u</a:t>
              </a:r>
              <a:r>
                <a:rPr lang="en-US" altLang="zh-CN" sz="2400" b="1" i="1" baseline="-25000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 – R</a:t>
              </a:r>
              <a:r>
                <a:rPr lang="en-US" altLang="zh-CN" sz="2400" b="1" i="1" baseline="-25000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i    </a:t>
              </a:r>
              <a:endParaRPr lang="en-US" altLang="zh-CN" sz="2400" b="1" i="1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0986" name="Text Box 113"/>
            <p:cNvSpPr txBox="1"/>
            <p:nvPr/>
          </p:nvSpPr>
          <p:spPr>
            <a:xfrm>
              <a:off x="3101" y="1019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u</a:t>
              </a:r>
              <a:endParaRPr lang="en-US" altLang="zh-CN" sz="2400" b="1" i="1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0987" name="Text Box 114"/>
            <p:cNvSpPr txBox="1"/>
            <p:nvPr/>
          </p:nvSpPr>
          <p:spPr>
            <a:xfrm>
              <a:off x="2799" y="1287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altLang="zh-CN" sz="2400" b="1" i="1" baseline="-25000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S</a:t>
              </a:r>
              <a:endParaRPr lang="en-US" altLang="zh-CN" sz="2400" b="1" i="1" baseline="-25000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40988" name="Text Box 115"/>
            <p:cNvSpPr txBox="1"/>
            <p:nvPr/>
          </p:nvSpPr>
          <p:spPr>
            <a:xfrm>
              <a:off x="2920" y="215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3333CC"/>
                  </a:solidFill>
                </a:rPr>
                <a:t>0</a:t>
              </a:r>
            </a:p>
          </p:txBody>
        </p:sp>
        <p:sp>
          <p:nvSpPr>
            <p:cNvPr id="40989" name="Text Box 116"/>
            <p:cNvSpPr txBox="1"/>
            <p:nvPr/>
          </p:nvSpPr>
          <p:spPr>
            <a:xfrm>
              <a:off x="4507" y="2153"/>
              <a:ext cx="40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3333CC"/>
                  </a:solidFill>
                  <a:cs typeface="Times New Roman" panose="02020603050405020304" pitchFamily="18" charset="0"/>
                </a:rPr>
                <a:t>i</a:t>
              </a:r>
              <a:endParaRPr lang="en-US" altLang="zh-CN" sz="2400" b="1" i="1" dirty="0">
                <a:solidFill>
                  <a:srgbClr val="3333CC"/>
                </a:solidFill>
                <a:ea typeface="Times New Roman" panose="02020603050405020304" pitchFamily="18" charset="0"/>
              </a:endParaRPr>
            </a:p>
          </p:txBody>
        </p:sp>
      </p:grpSp>
      <p:sp>
        <p:nvSpPr>
          <p:cNvPr id="40977" name="AutoShape 119">
            <a:hlinkClick r:id="" action="ppaction://hlinkshowjump?jump=firstslide"/>
          </p:cNvPr>
          <p:cNvSpPr/>
          <p:nvPr/>
        </p:nvSpPr>
        <p:spPr>
          <a:xfrm>
            <a:off x="9515475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40978" name="AutoShape 120">
            <a:hlinkClick r:id="" action="ppaction://hlinkshowjump?jump=nextslide"/>
          </p:cNvPr>
          <p:cNvSpPr/>
          <p:nvPr/>
        </p:nvSpPr>
        <p:spPr>
          <a:xfrm>
            <a:off x="10287000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40979" name="AutoShape 121">
            <a:hlinkClick r:id="" action="ppaction://hlinkshowjump?jump=previousslide"/>
          </p:cNvPr>
          <p:cNvSpPr/>
          <p:nvPr/>
        </p:nvSpPr>
        <p:spPr>
          <a:xfrm>
            <a:off x="9901238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sp>
        <p:nvSpPr>
          <p:cNvPr id="632954" name="Line 122"/>
          <p:cNvSpPr/>
          <p:nvPr/>
        </p:nvSpPr>
        <p:spPr>
          <a:xfrm>
            <a:off x="9515475" y="6561138"/>
            <a:ext cx="1152525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6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63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63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63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63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5" grpId="0"/>
      <p:bldP spid="632856" grpId="0" animBg="1"/>
      <p:bldP spid="632857" grpId="0" animBg="1"/>
      <p:bldP spid="632858" grpId="0"/>
      <p:bldP spid="632859" grpId="0"/>
      <p:bldP spid="63288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 descr="水滴"/>
          <p:cNvSpPr>
            <a:spLocks noGrp="1"/>
          </p:cNvSpPr>
          <p:nvPr>
            <p:ph type="title" idx="4294967295"/>
          </p:nvPr>
        </p:nvSpPr>
        <p:spPr>
          <a:xfrm>
            <a:off x="4068763" y="150813"/>
            <a:ext cx="4259262" cy="541337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zh-CN" sz="3200" b="1" dirty="0">
                <a:solidFill>
                  <a:srgbClr val="A50021"/>
                </a:solidFill>
                <a:ea typeface="华文行楷" panose="02010800040101010101" pitchFamily="2" charset="-122"/>
              </a:rPr>
              <a:t>§4-6  </a:t>
            </a:r>
            <a:r>
              <a:rPr lang="zh-CN" altLang="en-US" sz="3200" b="1" dirty="0">
                <a:solidFill>
                  <a:srgbClr val="A50021"/>
                </a:solidFill>
                <a:ea typeface="华文行楷" panose="02010800040101010101" pitchFamily="2" charset="-122"/>
              </a:rPr>
              <a:t>戴维南定理</a:t>
            </a:r>
          </a:p>
        </p:txBody>
      </p:sp>
      <p:sp>
        <p:nvSpPr>
          <p:cNvPr id="52227" name="Text Box 3"/>
          <p:cNvSpPr txBox="1"/>
          <p:nvPr/>
        </p:nvSpPr>
        <p:spPr>
          <a:xfrm>
            <a:off x="919163" y="574675"/>
            <a:ext cx="383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1.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戴维南定理的内容</a:t>
            </a:r>
          </a:p>
        </p:txBody>
      </p:sp>
      <p:sp>
        <p:nvSpPr>
          <p:cNvPr id="361476" name="Text Box 4"/>
          <p:cNvSpPr txBox="1"/>
          <p:nvPr/>
        </p:nvSpPr>
        <p:spPr>
          <a:xfrm>
            <a:off x="920750" y="981075"/>
            <a:ext cx="10701338" cy="2600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含电源和线性电阻、受控源的单口网络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，就其端口来说，可等效为一个电压源串联电阻支路。电压源的电压等于该网络</a:t>
            </a:r>
            <a:r>
              <a:rPr lang="zh-CN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的开路电压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OC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；串联电阻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等于该网络中所有独立源为零值时所得网络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的等效电阻 。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5711825" y="3357563"/>
            <a:ext cx="2255838" cy="1787525"/>
            <a:chOff x="3077" y="2758"/>
            <a:chExt cx="1421" cy="1126"/>
          </a:xfrm>
        </p:grpSpPr>
        <p:sp>
          <p:nvSpPr>
            <p:cNvPr id="52262" name="Oval 6"/>
            <p:cNvSpPr/>
            <p:nvPr/>
          </p:nvSpPr>
          <p:spPr>
            <a:xfrm>
              <a:off x="3479" y="3314"/>
              <a:ext cx="272" cy="272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rgbClr val="99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63" name="Oval 7"/>
            <p:cNvSpPr/>
            <p:nvPr/>
          </p:nvSpPr>
          <p:spPr>
            <a:xfrm>
              <a:off x="4441" y="3827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64" name="Oval 8"/>
            <p:cNvSpPr/>
            <p:nvPr/>
          </p:nvSpPr>
          <p:spPr>
            <a:xfrm>
              <a:off x="4441" y="3071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2265" name="Group 9"/>
            <p:cNvGrpSpPr/>
            <p:nvPr/>
          </p:nvGrpSpPr>
          <p:grpSpPr>
            <a:xfrm>
              <a:off x="3616" y="3098"/>
              <a:ext cx="837" cy="756"/>
              <a:chOff x="1318" y="3401"/>
              <a:chExt cx="609" cy="568"/>
            </a:xfrm>
          </p:grpSpPr>
          <p:sp>
            <p:nvSpPr>
              <p:cNvPr id="52272" name="Line 10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3" name="Line 11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66" name="Line 12"/>
            <p:cNvSpPr/>
            <p:nvPr/>
          </p:nvSpPr>
          <p:spPr>
            <a:xfrm flipH="1">
              <a:off x="3616" y="3090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7" name="Rectangle 13"/>
            <p:cNvSpPr/>
            <p:nvPr/>
          </p:nvSpPr>
          <p:spPr>
            <a:xfrm rot="-5400000" flipV="1">
              <a:off x="3978" y="2971"/>
              <a:ext cx="91" cy="252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99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68" name="Rectangle 14"/>
            <p:cNvSpPr/>
            <p:nvPr/>
          </p:nvSpPr>
          <p:spPr>
            <a:xfrm>
              <a:off x="3875" y="2758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9" name="Text Box 15"/>
            <p:cNvSpPr txBox="1"/>
            <p:nvPr/>
          </p:nvSpPr>
          <p:spPr>
            <a:xfrm>
              <a:off x="3392" y="3492"/>
              <a:ext cx="336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70" name="Text Box 16"/>
            <p:cNvSpPr txBox="1"/>
            <p:nvPr/>
          </p:nvSpPr>
          <p:spPr>
            <a:xfrm>
              <a:off x="3384" y="3113"/>
              <a:ext cx="336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71" name="Rectangle 17"/>
            <p:cNvSpPr/>
            <p:nvPr/>
          </p:nvSpPr>
          <p:spPr>
            <a:xfrm>
              <a:off x="3077" y="3282"/>
              <a:ext cx="41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OC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4" name="Group 18"/>
          <p:cNvGrpSpPr/>
          <p:nvPr/>
        </p:nvGrpSpPr>
        <p:grpSpPr>
          <a:xfrm>
            <a:off x="2351088" y="3789363"/>
            <a:ext cx="1733550" cy="1295400"/>
            <a:chOff x="1020" y="2894"/>
            <a:chExt cx="1092" cy="816"/>
          </a:xfrm>
        </p:grpSpPr>
        <p:sp>
          <p:nvSpPr>
            <p:cNvPr id="52256" name="Text Box 19"/>
            <p:cNvSpPr txBox="1"/>
            <p:nvPr/>
          </p:nvSpPr>
          <p:spPr>
            <a:xfrm>
              <a:off x="1020" y="2894"/>
              <a:ext cx="612" cy="816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lnSpc>
                  <a:spcPct val="90000"/>
                </a:lnSpc>
              </a:pP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52257" name="Group 20"/>
            <p:cNvGrpSpPr/>
            <p:nvPr/>
          </p:nvGrpSpPr>
          <p:grpSpPr>
            <a:xfrm>
              <a:off x="1635" y="3000"/>
              <a:ext cx="428" cy="635"/>
              <a:chOff x="1318" y="3401"/>
              <a:chExt cx="609" cy="568"/>
            </a:xfrm>
          </p:grpSpPr>
          <p:sp>
            <p:nvSpPr>
              <p:cNvPr id="52260" name="Line 21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61" name="Line 22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58" name="Oval 23"/>
            <p:cNvSpPr/>
            <p:nvPr/>
          </p:nvSpPr>
          <p:spPr>
            <a:xfrm>
              <a:off x="2055" y="3608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59" name="Oval 24"/>
            <p:cNvSpPr/>
            <p:nvPr/>
          </p:nvSpPr>
          <p:spPr>
            <a:xfrm>
              <a:off x="2055" y="2973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1497" name="AutoShape 25"/>
          <p:cNvSpPr/>
          <p:nvPr/>
        </p:nvSpPr>
        <p:spPr>
          <a:xfrm>
            <a:off x="4584700" y="4352925"/>
            <a:ext cx="719138" cy="288925"/>
          </a:xfrm>
          <a:custGeom>
            <a:avLst/>
            <a:gdLst>
              <a:gd name="txL" fmla="*/ 3375 w 21600"/>
              <a:gd name="txT" fmla="*/ 5459 h 21600"/>
              <a:gd name="txR" fmla="*/ 17049 w 21600"/>
              <a:gd name="txB" fmla="*/ 16141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2397" y="0"/>
                </a:moveTo>
                <a:lnTo>
                  <a:pt x="12397" y="5459"/>
                </a:lnTo>
                <a:lnTo>
                  <a:pt x="3375" y="5459"/>
                </a:lnTo>
                <a:lnTo>
                  <a:pt x="3375" y="16141"/>
                </a:lnTo>
                <a:lnTo>
                  <a:pt x="12397" y="16141"/>
                </a:lnTo>
                <a:lnTo>
                  <a:pt x="12397" y="21600"/>
                </a:lnTo>
                <a:lnTo>
                  <a:pt x="21600" y="10800"/>
                </a:lnTo>
                <a:lnTo>
                  <a:pt x="12397" y="0"/>
                </a:lnTo>
                <a:close/>
              </a:path>
              <a:path w="21600" h="21600">
                <a:moveTo>
                  <a:pt x="1350" y="5459"/>
                </a:moveTo>
                <a:lnTo>
                  <a:pt x="1350" y="16141"/>
                </a:lnTo>
                <a:lnTo>
                  <a:pt x="2700" y="16141"/>
                </a:lnTo>
                <a:lnTo>
                  <a:pt x="2700" y="5459"/>
                </a:lnTo>
                <a:lnTo>
                  <a:pt x="1350" y="5459"/>
                </a:lnTo>
                <a:close/>
              </a:path>
              <a:path w="21600" h="21600">
                <a:moveTo>
                  <a:pt x="0" y="5459"/>
                </a:moveTo>
                <a:lnTo>
                  <a:pt x="0" y="16141"/>
                </a:lnTo>
                <a:lnTo>
                  <a:pt x="675" y="16141"/>
                </a:lnTo>
                <a:lnTo>
                  <a:pt x="675" y="5459"/>
                </a:lnTo>
                <a:lnTo>
                  <a:pt x="0" y="5459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28575" cap="flat" cmpd="sng">
            <a:solidFill>
              <a:srgbClr val="9900F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1498" name="Rectangle 26"/>
          <p:cNvSpPr/>
          <p:nvPr/>
        </p:nvSpPr>
        <p:spPr>
          <a:xfrm>
            <a:off x="8918575" y="4295775"/>
            <a:ext cx="1433513" cy="841375"/>
          </a:xfrm>
          <a:prstGeom prst="rect">
            <a:avLst/>
          </a:prstGeom>
          <a:solidFill>
            <a:srgbClr val="FFFF99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戴维南</a:t>
            </a:r>
          </a:p>
          <a:p>
            <a:pPr eaLnBrk="1" hangingPunct="1"/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等效电路</a:t>
            </a:r>
          </a:p>
        </p:txBody>
      </p:sp>
      <p:sp>
        <p:nvSpPr>
          <p:cNvPr id="52233" name="AutoShape 28">
            <a:hlinkClick r:id="" action="ppaction://hlinkshowjump?jump=firstslide"/>
          </p:cNvPr>
          <p:cNvSpPr/>
          <p:nvPr/>
        </p:nvSpPr>
        <p:spPr>
          <a:xfrm>
            <a:off x="9380538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234" name="AutoShape 29">
            <a:hlinkClick r:id="" action="ppaction://hlinkshowjump?jump=nextslide"/>
          </p:cNvPr>
          <p:cNvSpPr/>
          <p:nvPr/>
        </p:nvSpPr>
        <p:spPr>
          <a:xfrm>
            <a:off x="10294938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235" name="AutoShape 30">
            <a:hlinkClick r:id="" action="ppaction://hlinkshowjump?jump=previousslide"/>
          </p:cNvPr>
          <p:cNvSpPr/>
          <p:nvPr/>
        </p:nvSpPr>
        <p:spPr>
          <a:xfrm>
            <a:off x="9837738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1503" name="Line 31"/>
          <p:cNvSpPr/>
          <p:nvPr/>
        </p:nvSpPr>
        <p:spPr>
          <a:xfrm>
            <a:off x="9398000" y="6538913"/>
            <a:ext cx="1293813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" name="Group 32"/>
          <p:cNvGrpSpPr/>
          <p:nvPr/>
        </p:nvGrpSpPr>
        <p:grpSpPr>
          <a:xfrm>
            <a:off x="2387600" y="5446713"/>
            <a:ext cx="2052638" cy="1295400"/>
            <a:chOff x="2336" y="936"/>
            <a:chExt cx="1293" cy="816"/>
          </a:xfrm>
        </p:grpSpPr>
        <p:sp>
          <p:nvSpPr>
            <p:cNvPr id="52248" name="Text Box 33"/>
            <p:cNvSpPr txBox="1"/>
            <p:nvPr/>
          </p:nvSpPr>
          <p:spPr>
            <a:xfrm>
              <a:off x="2336" y="936"/>
              <a:ext cx="612" cy="816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lnSpc>
                  <a:spcPct val="90000"/>
                </a:lnSpc>
              </a:pP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52249" name="Line 34"/>
            <p:cNvSpPr/>
            <p:nvPr/>
          </p:nvSpPr>
          <p:spPr>
            <a:xfrm>
              <a:off x="2951" y="1008"/>
              <a:ext cx="42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0" name="Line 35"/>
            <p:cNvSpPr/>
            <p:nvPr/>
          </p:nvSpPr>
          <p:spPr>
            <a:xfrm>
              <a:off x="2951" y="1685"/>
              <a:ext cx="428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1" name="Oval 36"/>
            <p:cNvSpPr/>
            <p:nvPr/>
          </p:nvSpPr>
          <p:spPr>
            <a:xfrm>
              <a:off x="3371" y="1658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52" name="Oval 37"/>
            <p:cNvSpPr/>
            <p:nvPr/>
          </p:nvSpPr>
          <p:spPr>
            <a:xfrm>
              <a:off x="3371" y="981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53" name="Text Box 38"/>
            <p:cNvSpPr txBox="1"/>
            <p:nvPr/>
          </p:nvSpPr>
          <p:spPr>
            <a:xfrm>
              <a:off x="3288" y="1426"/>
              <a:ext cx="336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4" name="Text Box 39"/>
            <p:cNvSpPr txBox="1"/>
            <p:nvPr/>
          </p:nvSpPr>
          <p:spPr>
            <a:xfrm>
              <a:off x="3280" y="991"/>
              <a:ext cx="336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5" name="Rectangle 40"/>
            <p:cNvSpPr/>
            <p:nvPr/>
          </p:nvSpPr>
          <p:spPr>
            <a:xfrm>
              <a:off x="3214" y="1192"/>
              <a:ext cx="41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OC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7" name="Group 41"/>
          <p:cNvGrpSpPr/>
          <p:nvPr/>
        </p:nvGrpSpPr>
        <p:grpSpPr>
          <a:xfrm>
            <a:off x="6240463" y="5446713"/>
            <a:ext cx="2160587" cy="1295400"/>
            <a:chOff x="4195" y="1005"/>
            <a:chExt cx="1361" cy="816"/>
          </a:xfrm>
        </p:grpSpPr>
        <p:sp>
          <p:nvSpPr>
            <p:cNvPr id="52239" name="AutoShape 42"/>
            <p:cNvSpPr/>
            <p:nvPr/>
          </p:nvSpPr>
          <p:spPr>
            <a:xfrm flipH="1">
              <a:off x="4975" y="1367"/>
              <a:ext cx="273" cy="136"/>
            </a:xfrm>
            <a:prstGeom prst="rightArrow">
              <a:avLst>
                <a:gd name="adj1" fmla="val 61425"/>
                <a:gd name="adj2" fmla="val 108936"/>
              </a:avLst>
            </a:prstGeom>
            <a:solidFill>
              <a:srgbClr val="66FF33"/>
            </a:solidFill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2240" name="Group 43"/>
            <p:cNvGrpSpPr/>
            <p:nvPr/>
          </p:nvGrpSpPr>
          <p:grpSpPr>
            <a:xfrm>
              <a:off x="4195" y="1005"/>
              <a:ext cx="1092" cy="816"/>
              <a:chOff x="1020" y="2894"/>
              <a:chExt cx="1092" cy="816"/>
            </a:xfrm>
          </p:grpSpPr>
          <p:sp>
            <p:nvSpPr>
              <p:cNvPr id="52242" name="Text Box 44"/>
              <p:cNvSpPr txBox="1"/>
              <p:nvPr/>
            </p:nvSpPr>
            <p:spPr>
              <a:xfrm>
                <a:off x="1020" y="2894"/>
                <a:ext cx="612" cy="816"/>
              </a:xfrm>
              <a:prstGeom prst="rect">
                <a:avLst/>
              </a:prstGeom>
              <a:solidFill>
                <a:srgbClr val="FFFFCC"/>
              </a:solidFill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>
                  <a:lnSpc>
                    <a:spcPct val="90000"/>
                  </a:lnSpc>
                </a:pPr>
                <a:endPara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52243" name="Group 45"/>
              <p:cNvGrpSpPr/>
              <p:nvPr/>
            </p:nvGrpSpPr>
            <p:grpSpPr>
              <a:xfrm>
                <a:off x="1635" y="3000"/>
                <a:ext cx="428" cy="635"/>
                <a:chOff x="1318" y="3401"/>
                <a:chExt cx="609" cy="568"/>
              </a:xfrm>
            </p:grpSpPr>
            <p:sp>
              <p:nvSpPr>
                <p:cNvPr id="52246" name="Line 46"/>
                <p:cNvSpPr/>
                <p:nvPr/>
              </p:nvSpPr>
              <p:spPr>
                <a:xfrm>
                  <a:off x="1318" y="3401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7" name="Line 47"/>
                <p:cNvSpPr/>
                <p:nvPr/>
              </p:nvSpPr>
              <p:spPr>
                <a:xfrm>
                  <a:off x="1318" y="3969"/>
                  <a:ext cx="609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244" name="Oval 48"/>
              <p:cNvSpPr/>
              <p:nvPr/>
            </p:nvSpPr>
            <p:spPr>
              <a:xfrm>
                <a:off x="2055" y="3608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45" name="Oval 49"/>
              <p:cNvSpPr/>
              <p:nvPr/>
            </p:nvSpPr>
            <p:spPr>
              <a:xfrm>
                <a:off x="2055" y="2973"/>
                <a:ext cx="57" cy="57"/>
              </a:xfrm>
              <a:prstGeom prst="ellipse">
                <a:avLst/>
              </a:prstGeom>
              <a:solidFill>
                <a:srgbClr val="99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41" name="Rectangle 50"/>
            <p:cNvSpPr/>
            <p:nvPr/>
          </p:nvSpPr>
          <p:spPr>
            <a:xfrm>
              <a:off x="5248" y="1276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1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614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1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61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61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6" grpId="0" build="p" advAuto="1000"/>
      <p:bldP spid="361498" grpId="0" build="p" animBg="1" advAuto="100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 descr="水滴"/>
          <p:cNvSpPr>
            <a:spLocks noGrp="1"/>
          </p:cNvSpPr>
          <p:nvPr>
            <p:ph type="title" idx="4294967295"/>
          </p:nvPr>
        </p:nvSpPr>
        <p:spPr>
          <a:xfrm>
            <a:off x="4008438" y="142875"/>
            <a:ext cx="3744912" cy="549275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zh-CN" sz="3600" b="1" dirty="0">
                <a:solidFill>
                  <a:srgbClr val="A50021"/>
                </a:solidFill>
                <a:ea typeface="华文行楷" panose="02010800040101010101" pitchFamily="2" charset="-122"/>
              </a:rPr>
              <a:t>§4-7  </a:t>
            </a:r>
            <a:r>
              <a:rPr lang="zh-CN" altLang="en-US" sz="3600" b="1" dirty="0">
                <a:solidFill>
                  <a:srgbClr val="A50021"/>
                </a:solidFill>
                <a:ea typeface="华文行楷" panose="02010800040101010101" pitchFamily="2" charset="-122"/>
              </a:rPr>
              <a:t>诺顿定理</a:t>
            </a:r>
          </a:p>
        </p:txBody>
      </p:sp>
      <p:sp>
        <p:nvSpPr>
          <p:cNvPr id="77827" name="Rectangle 3"/>
          <p:cNvSpPr/>
          <p:nvPr/>
        </p:nvSpPr>
        <p:spPr>
          <a:xfrm>
            <a:off x="414338" y="517525"/>
            <a:ext cx="35941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1. 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诺顿定理的内容</a:t>
            </a:r>
          </a:p>
        </p:txBody>
      </p:sp>
      <p:sp>
        <p:nvSpPr>
          <p:cNvPr id="77828" name="Text Box 4"/>
          <p:cNvSpPr txBox="1"/>
          <p:nvPr/>
        </p:nvSpPr>
        <p:spPr>
          <a:xfrm>
            <a:off x="803275" y="969963"/>
            <a:ext cx="10585450" cy="2600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   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由线性电阻、线性受控源和独立源组成的线性单口网络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，就其端口来看，可以等效为一个电流源与电阻并联的组合。电流源的电流等于网络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的短路电流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SC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；电阻等于网络中所有独立源为零值时的入端等效电阻。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2208213" y="3952875"/>
            <a:ext cx="1531937" cy="1152525"/>
            <a:chOff x="521" y="2309"/>
            <a:chExt cx="965" cy="726"/>
          </a:xfrm>
        </p:grpSpPr>
        <p:sp>
          <p:nvSpPr>
            <p:cNvPr id="77873" name="Text Box 7"/>
            <p:cNvSpPr txBox="1"/>
            <p:nvPr/>
          </p:nvSpPr>
          <p:spPr>
            <a:xfrm>
              <a:off x="521" y="2309"/>
              <a:ext cx="567" cy="726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lnSpc>
                  <a:spcPct val="80000"/>
                </a:lnSpc>
              </a:pP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77874" name="Group 8"/>
            <p:cNvGrpSpPr/>
            <p:nvPr/>
          </p:nvGrpSpPr>
          <p:grpSpPr>
            <a:xfrm>
              <a:off x="1091" y="2399"/>
              <a:ext cx="338" cy="565"/>
              <a:chOff x="1318" y="3401"/>
              <a:chExt cx="609" cy="568"/>
            </a:xfrm>
          </p:grpSpPr>
          <p:sp>
            <p:nvSpPr>
              <p:cNvPr id="77877" name="Line 9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8" name="Line 10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75" name="Oval 11"/>
            <p:cNvSpPr/>
            <p:nvPr/>
          </p:nvSpPr>
          <p:spPr>
            <a:xfrm>
              <a:off x="1429" y="2936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76" name="Oval 12"/>
            <p:cNvSpPr/>
            <p:nvPr/>
          </p:nvSpPr>
          <p:spPr>
            <a:xfrm>
              <a:off x="1429" y="2372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3533" name="AutoShape 13"/>
          <p:cNvSpPr/>
          <p:nvPr/>
        </p:nvSpPr>
        <p:spPr>
          <a:xfrm>
            <a:off x="3865563" y="4392613"/>
            <a:ext cx="574675" cy="288925"/>
          </a:xfrm>
          <a:custGeom>
            <a:avLst/>
            <a:gdLst>
              <a:gd name="txL" fmla="*/ 3375 w 21600"/>
              <a:gd name="txT" fmla="*/ 5459 h 21600"/>
              <a:gd name="txR" fmla="*/ 17049 w 21600"/>
              <a:gd name="txB" fmla="*/ 16141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2397" y="0"/>
                </a:moveTo>
                <a:lnTo>
                  <a:pt x="12397" y="5459"/>
                </a:lnTo>
                <a:lnTo>
                  <a:pt x="3375" y="5459"/>
                </a:lnTo>
                <a:lnTo>
                  <a:pt x="3375" y="16141"/>
                </a:lnTo>
                <a:lnTo>
                  <a:pt x="12397" y="16141"/>
                </a:lnTo>
                <a:lnTo>
                  <a:pt x="12397" y="21600"/>
                </a:lnTo>
                <a:lnTo>
                  <a:pt x="21600" y="10800"/>
                </a:lnTo>
                <a:lnTo>
                  <a:pt x="12397" y="0"/>
                </a:lnTo>
                <a:close/>
              </a:path>
              <a:path w="21600" h="21600">
                <a:moveTo>
                  <a:pt x="1350" y="5459"/>
                </a:moveTo>
                <a:lnTo>
                  <a:pt x="1350" y="16141"/>
                </a:lnTo>
                <a:lnTo>
                  <a:pt x="2700" y="16141"/>
                </a:lnTo>
                <a:lnTo>
                  <a:pt x="2700" y="5459"/>
                </a:lnTo>
                <a:lnTo>
                  <a:pt x="1350" y="5459"/>
                </a:lnTo>
                <a:close/>
              </a:path>
              <a:path w="21600" h="21600">
                <a:moveTo>
                  <a:pt x="0" y="5459"/>
                </a:moveTo>
                <a:lnTo>
                  <a:pt x="0" y="16141"/>
                </a:lnTo>
                <a:lnTo>
                  <a:pt x="675" y="16141"/>
                </a:lnTo>
                <a:lnTo>
                  <a:pt x="675" y="5459"/>
                </a:lnTo>
                <a:lnTo>
                  <a:pt x="0" y="5459"/>
                </a:lnTo>
                <a:close/>
              </a:path>
            </a:pathLst>
          </a:custGeom>
          <a:solidFill>
            <a:srgbClr val="FFFF00">
              <a:alpha val="100000"/>
            </a:srgbClr>
          </a:solidFill>
          <a:ln w="28575" cap="flat" cmpd="sng">
            <a:solidFill>
              <a:srgbClr val="9900FF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3534" name="Rectangle 14"/>
          <p:cNvSpPr/>
          <p:nvPr/>
        </p:nvSpPr>
        <p:spPr>
          <a:xfrm>
            <a:off x="4513263" y="5545138"/>
            <a:ext cx="2159000" cy="476250"/>
          </a:xfrm>
          <a:prstGeom prst="rect">
            <a:avLst/>
          </a:prstGeom>
          <a:solidFill>
            <a:srgbClr val="FFFF99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诺顿等效电路</a:t>
            </a:r>
          </a:p>
        </p:txBody>
      </p:sp>
      <p:grpSp>
        <p:nvGrpSpPr>
          <p:cNvPr id="4" name="Group 15"/>
          <p:cNvGrpSpPr/>
          <p:nvPr/>
        </p:nvGrpSpPr>
        <p:grpSpPr>
          <a:xfrm>
            <a:off x="7177088" y="5157788"/>
            <a:ext cx="2038350" cy="1079500"/>
            <a:chOff x="3728" y="3091"/>
            <a:chExt cx="1284" cy="680"/>
          </a:xfrm>
        </p:grpSpPr>
        <p:sp>
          <p:nvSpPr>
            <p:cNvPr id="77865" name="AutoShape 16"/>
            <p:cNvSpPr/>
            <p:nvPr/>
          </p:nvSpPr>
          <p:spPr>
            <a:xfrm flipH="1">
              <a:off x="4431" y="3381"/>
              <a:ext cx="273" cy="136"/>
            </a:xfrm>
            <a:prstGeom prst="rightArrow">
              <a:avLst>
                <a:gd name="adj1" fmla="val 61425"/>
                <a:gd name="adj2" fmla="val 108936"/>
              </a:avLst>
            </a:prstGeom>
            <a:solidFill>
              <a:srgbClr val="66FF33"/>
            </a:solidFill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66" name="Text Box 17"/>
            <p:cNvSpPr txBox="1"/>
            <p:nvPr/>
          </p:nvSpPr>
          <p:spPr>
            <a:xfrm>
              <a:off x="3728" y="3091"/>
              <a:ext cx="544" cy="680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lnSpc>
                  <a:spcPct val="80000"/>
                </a:lnSpc>
              </a:pP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77867" name="Group 18"/>
            <p:cNvGrpSpPr/>
            <p:nvPr/>
          </p:nvGrpSpPr>
          <p:grpSpPr>
            <a:xfrm>
              <a:off x="4266" y="3157"/>
              <a:ext cx="428" cy="565"/>
              <a:chOff x="1318" y="3401"/>
              <a:chExt cx="609" cy="568"/>
            </a:xfrm>
          </p:grpSpPr>
          <p:sp>
            <p:nvSpPr>
              <p:cNvPr id="77871" name="Line 19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72" name="Line 20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68" name="Oval 21"/>
            <p:cNvSpPr/>
            <p:nvPr/>
          </p:nvSpPr>
          <p:spPr>
            <a:xfrm>
              <a:off x="4686" y="3692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69" name="Oval 22"/>
            <p:cNvSpPr/>
            <p:nvPr/>
          </p:nvSpPr>
          <p:spPr>
            <a:xfrm>
              <a:off x="4686" y="3130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70" name="Rectangle 23"/>
            <p:cNvSpPr/>
            <p:nvPr/>
          </p:nvSpPr>
          <p:spPr>
            <a:xfrm>
              <a:off x="4704" y="3290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4"/>
          <p:cNvGrpSpPr/>
          <p:nvPr/>
        </p:nvGrpSpPr>
        <p:grpSpPr>
          <a:xfrm>
            <a:off x="7177088" y="3695700"/>
            <a:ext cx="1644650" cy="1079500"/>
            <a:chOff x="3651" y="2147"/>
            <a:chExt cx="1036" cy="680"/>
          </a:xfrm>
        </p:grpSpPr>
        <p:sp>
          <p:nvSpPr>
            <p:cNvPr id="77856" name="Freeform 25"/>
            <p:cNvSpPr/>
            <p:nvPr/>
          </p:nvSpPr>
          <p:spPr>
            <a:xfrm>
              <a:off x="4647" y="2236"/>
              <a:ext cx="38" cy="521"/>
            </a:xfrm>
            <a:custGeom>
              <a:avLst/>
              <a:gdLst>
                <a:gd name="txL" fmla="*/ 0 w 38"/>
                <a:gd name="txT" fmla="*/ 0 h 521"/>
                <a:gd name="txR" fmla="*/ 38 w 38"/>
                <a:gd name="txB" fmla="*/ 521 h 521"/>
              </a:gdLst>
              <a:ahLst/>
              <a:cxnLst>
                <a:cxn ang="0">
                  <a:pos x="0" y="0"/>
                </a:cxn>
                <a:cxn ang="0">
                  <a:pos x="33" y="140"/>
                </a:cxn>
                <a:cxn ang="0">
                  <a:pos x="33" y="383"/>
                </a:cxn>
                <a:cxn ang="0">
                  <a:pos x="0" y="521"/>
                </a:cxn>
              </a:cxnLst>
              <a:rect l="txL" t="txT" r="txR" b="txB"/>
              <a:pathLst>
                <a:path w="38" h="521">
                  <a:moveTo>
                    <a:pt x="0" y="0"/>
                  </a:moveTo>
                  <a:cubicBezTo>
                    <a:pt x="6" y="23"/>
                    <a:pt x="28" y="76"/>
                    <a:pt x="33" y="140"/>
                  </a:cubicBezTo>
                  <a:cubicBezTo>
                    <a:pt x="38" y="204"/>
                    <a:pt x="38" y="320"/>
                    <a:pt x="33" y="383"/>
                  </a:cubicBezTo>
                  <a:cubicBezTo>
                    <a:pt x="28" y="446"/>
                    <a:pt x="7" y="492"/>
                    <a:pt x="0" y="521"/>
                  </a:cubicBezTo>
                </a:path>
              </a:pathLst>
            </a:custGeom>
            <a:noFill/>
            <a:ln w="28575" cap="flat" cmpd="sng">
              <a:solidFill>
                <a:srgbClr val="99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7" name="Line 26"/>
            <p:cNvSpPr/>
            <p:nvPr/>
          </p:nvSpPr>
          <p:spPr>
            <a:xfrm rot="5400000">
              <a:off x="4607" y="2491"/>
              <a:ext cx="159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77858" name="Text Box 27"/>
            <p:cNvSpPr txBox="1"/>
            <p:nvPr/>
          </p:nvSpPr>
          <p:spPr>
            <a:xfrm>
              <a:off x="4399" y="2334"/>
              <a:ext cx="268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SC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7859" name="Text Box 28"/>
            <p:cNvSpPr txBox="1"/>
            <p:nvPr/>
          </p:nvSpPr>
          <p:spPr>
            <a:xfrm>
              <a:off x="3651" y="2147"/>
              <a:ext cx="544" cy="680"/>
            </a:xfrm>
            <a:prstGeom prst="rect">
              <a:avLst/>
            </a:prstGeom>
            <a:solidFill>
              <a:srgbClr val="FFFFCC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>
                <a:lnSpc>
                  <a:spcPct val="80000"/>
                </a:lnSpc>
              </a:pP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77860" name="Group 29"/>
            <p:cNvGrpSpPr/>
            <p:nvPr/>
          </p:nvGrpSpPr>
          <p:grpSpPr>
            <a:xfrm>
              <a:off x="4189" y="2213"/>
              <a:ext cx="428" cy="565"/>
              <a:chOff x="1318" y="3401"/>
              <a:chExt cx="609" cy="568"/>
            </a:xfrm>
          </p:grpSpPr>
          <p:sp>
            <p:nvSpPr>
              <p:cNvPr id="77863" name="Line 30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4" name="Line 31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61" name="Oval 32"/>
            <p:cNvSpPr/>
            <p:nvPr/>
          </p:nvSpPr>
          <p:spPr>
            <a:xfrm>
              <a:off x="4609" y="2750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62" name="Oval 33"/>
            <p:cNvSpPr/>
            <p:nvPr/>
          </p:nvSpPr>
          <p:spPr>
            <a:xfrm>
              <a:off x="4609" y="2186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3554" name="Rectangle 34"/>
          <p:cNvSpPr/>
          <p:nvPr/>
        </p:nvSpPr>
        <p:spPr>
          <a:xfrm>
            <a:off x="9274175" y="4008438"/>
            <a:ext cx="985838" cy="425450"/>
          </a:xfrm>
          <a:prstGeom prst="rect">
            <a:avLst/>
          </a:prstGeom>
          <a:solidFill>
            <a:srgbClr val="FFFF00">
              <a:alpha val="38823"/>
            </a:srgbClr>
          </a:solidFill>
          <a:ln w="254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GB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GB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  <a:r>
              <a:rPr lang="en-GB" altLang="zh-CN" sz="1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GB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GB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GB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GB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SC</a:t>
            </a:r>
            <a:endParaRPr lang="en-US" altLang="zh-CN" sz="2400" b="1" baseline="-25000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63555" name="Rectangle 35"/>
          <p:cNvSpPr/>
          <p:nvPr/>
        </p:nvSpPr>
        <p:spPr>
          <a:xfrm>
            <a:off x="9313863" y="5457825"/>
            <a:ext cx="944562" cy="461963"/>
          </a:xfrm>
          <a:prstGeom prst="rect">
            <a:avLst/>
          </a:prstGeom>
          <a:solidFill>
            <a:srgbClr val="FFFF00">
              <a:alpha val="38823"/>
            </a:srgbClr>
          </a:solidFill>
          <a:ln w="254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6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8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8" name="Group 36"/>
          <p:cNvGrpSpPr/>
          <p:nvPr/>
        </p:nvGrpSpPr>
        <p:grpSpPr>
          <a:xfrm>
            <a:off x="4610100" y="3767138"/>
            <a:ext cx="1906588" cy="1511300"/>
            <a:chOff x="2034" y="2192"/>
            <a:chExt cx="1201" cy="952"/>
          </a:xfrm>
        </p:grpSpPr>
        <p:sp>
          <p:nvSpPr>
            <p:cNvPr id="77841" name="Oval 37"/>
            <p:cNvSpPr/>
            <p:nvPr/>
          </p:nvSpPr>
          <p:spPr>
            <a:xfrm>
              <a:off x="3178" y="3028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7842" name="Oval 38"/>
            <p:cNvSpPr/>
            <p:nvPr/>
          </p:nvSpPr>
          <p:spPr>
            <a:xfrm>
              <a:off x="3178" y="2272"/>
              <a:ext cx="57" cy="57"/>
            </a:xfrm>
            <a:prstGeom prst="ellipse">
              <a:avLst/>
            </a:prstGeom>
            <a:solidFill>
              <a:srgbClr val="99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7843" name="Group 39"/>
            <p:cNvGrpSpPr/>
            <p:nvPr/>
          </p:nvGrpSpPr>
          <p:grpSpPr>
            <a:xfrm>
              <a:off x="2398" y="2299"/>
              <a:ext cx="791" cy="756"/>
              <a:chOff x="1318" y="3401"/>
              <a:chExt cx="609" cy="568"/>
            </a:xfrm>
          </p:grpSpPr>
          <p:sp>
            <p:nvSpPr>
              <p:cNvPr id="77854" name="Line 40"/>
              <p:cNvSpPr/>
              <p:nvPr/>
            </p:nvSpPr>
            <p:spPr>
              <a:xfrm>
                <a:off x="1318" y="3401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55" name="Line 41"/>
              <p:cNvSpPr/>
              <p:nvPr/>
            </p:nvSpPr>
            <p:spPr>
              <a:xfrm>
                <a:off x="1318" y="3969"/>
                <a:ext cx="609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44" name="Line 42"/>
            <p:cNvSpPr/>
            <p:nvPr/>
          </p:nvSpPr>
          <p:spPr>
            <a:xfrm flipH="1">
              <a:off x="2401" y="2291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5" name="Line 43"/>
            <p:cNvSpPr/>
            <p:nvPr/>
          </p:nvSpPr>
          <p:spPr>
            <a:xfrm flipH="1">
              <a:off x="2857" y="2288"/>
              <a:ext cx="0" cy="7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6" name="Rectangle 44"/>
            <p:cNvSpPr/>
            <p:nvPr/>
          </p:nvSpPr>
          <p:spPr>
            <a:xfrm rot="-10800000" flipV="1">
              <a:off x="2813" y="2571"/>
              <a:ext cx="91" cy="252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99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7847" name="Group 45"/>
            <p:cNvGrpSpPr/>
            <p:nvPr/>
          </p:nvGrpSpPr>
          <p:grpSpPr>
            <a:xfrm>
              <a:off x="2264" y="2555"/>
              <a:ext cx="272" cy="272"/>
              <a:chOff x="3923" y="3500"/>
              <a:chExt cx="272" cy="272"/>
            </a:xfrm>
          </p:grpSpPr>
          <p:sp>
            <p:nvSpPr>
              <p:cNvPr id="77852" name="Oval 46"/>
              <p:cNvSpPr/>
              <p:nvPr/>
            </p:nvSpPr>
            <p:spPr>
              <a:xfrm>
                <a:off x="3923" y="3500"/>
                <a:ext cx="272" cy="272"/>
              </a:xfrm>
              <a:prstGeom prst="ellipse">
                <a:avLst/>
              </a:prstGeom>
              <a:solidFill>
                <a:srgbClr val="FFFFCC"/>
              </a:solidFill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853" name="Line 47"/>
              <p:cNvSpPr/>
              <p:nvPr/>
            </p:nvSpPr>
            <p:spPr>
              <a:xfrm>
                <a:off x="3923" y="3636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99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48" name="Rectangle 48"/>
            <p:cNvSpPr/>
            <p:nvPr/>
          </p:nvSpPr>
          <p:spPr>
            <a:xfrm>
              <a:off x="2594" y="2544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7849" name="Line 49"/>
            <p:cNvSpPr/>
            <p:nvPr/>
          </p:nvSpPr>
          <p:spPr>
            <a:xfrm rot="5400000" flipH="1" flipV="1">
              <a:off x="2307" y="2431"/>
              <a:ext cx="18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77850" name="Rectangle 50"/>
            <p:cNvSpPr/>
            <p:nvPr/>
          </p:nvSpPr>
          <p:spPr>
            <a:xfrm>
              <a:off x="2037" y="2515"/>
              <a:ext cx="24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7851" name="Rectangle 51"/>
            <p:cNvSpPr/>
            <p:nvPr/>
          </p:nvSpPr>
          <p:spPr>
            <a:xfrm>
              <a:off x="2034" y="2192"/>
              <a:ext cx="974" cy="952"/>
            </a:xfrm>
            <a:prstGeom prst="rect">
              <a:avLst/>
            </a:prstGeom>
            <a:noFill/>
            <a:ln w="22225" cap="flat" cmpd="sng">
              <a:solidFill>
                <a:srgbClr val="990033"/>
              </a:solidFill>
              <a:prstDash val="lgDash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7837" name="AutoShape 53">
            <a:hlinkClick r:id="" action="ppaction://hlinkshowjump?jump=firstslide"/>
          </p:cNvPr>
          <p:cNvSpPr/>
          <p:nvPr/>
        </p:nvSpPr>
        <p:spPr>
          <a:xfrm>
            <a:off x="9380538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38" name="AutoShape 54">
            <a:hlinkClick r:id="" action="ppaction://hlinkshowjump?jump=nextslide"/>
          </p:cNvPr>
          <p:cNvSpPr/>
          <p:nvPr/>
        </p:nvSpPr>
        <p:spPr>
          <a:xfrm>
            <a:off x="10294938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39" name="AutoShape 55">
            <a:hlinkClick r:id="" action="ppaction://hlinkshowjump?jump=previousslide"/>
          </p:cNvPr>
          <p:cNvSpPr/>
          <p:nvPr/>
        </p:nvSpPr>
        <p:spPr>
          <a:xfrm>
            <a:off x="9837738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3576" name="Line 56"/>
          <p:cNvSpPr/>
          <p:nvPr/>
        </p:nvSpPr>
        <p:spPr>
          <a:xfrm>
            <a:off x="9398000" y="6538913"/>
            <a:ext cx="1293813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6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34" grpId="0" animBg="1"/>
      <p:bldP spid="363554" grpId="0" animBg="1"/>
      <p:bldP spid="3635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5">
            <a:hlinkClick r:id="" action="ppaction://noaction"/>
          </p:cNvPr>
          <p:cNvSpPr txBox="1"/>
          <p:nvPr/>
        </p:nvSpPr>
        <p:spPr>
          <a:xfrm>
            <a:off x="631825" y="296863"/>
            <a:ext cx="3448050" cy="684212"/>
          </a:xfrm>
          <a:prstGeom prst="rect">
            <a:avLst/>
          </a:prstGeom>
          <a:solidFill>
            <a:srgbClr val="FFFF00">
              <a:alpha val="38823"/>
            </a:srgbClr>
          </a:solidFill>
          <a:ln w="222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5000"/>
              </a:lnSpc>
              <a:spcBef>
                <a:spcPct val="40000"/>
              </a:spcBef>
              <a:spcAft>
                <a:spcPct val="10000"/>
              </a:spcAft>
            </a:pPr>
            <a:r>
              <a:rPr lang="zh-CN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小结</a:t>
            </a:r>
            <a:endParaRPr lang="zh-CN" altLang="en-US" sz="4400" b="1" dirty="0">
              <a:solidFill>
                <a:srgbClr val="FF0000"/>
              </a:solidFill>
              <a:latin typeface="宋体" panose="0201060003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06" name="Text Box 6">
            <a:hlinkClick r:id="" action="ppaction://noaction"/>
          </p:cNvPr>
          <p:cNvSpPr txBox="1"/>
          <p:nvPr/>
        </p:nvSpPr>
        <p:spPr>
          <a:xfrm>
            <a:off x="2057400" y="4557713"/>
            <a:ext cx="7543800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求有源单口网络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的开路电压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OC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或短路电流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SC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lang="en-US" altLang="zh-CN" sz="2400" b="1" baseline="-25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8" name="Text Box 7">
            <a:hlinkClick r:id="" action="ppaction://noaction"/>
          </p:cNvPr>
          <p:cNvSpPr txBox="1"/>
          <p:nvPr/>
        </p:nvSpPr>
        <p:spPr>
          <a:xfrm>
            <a:off x="1793875" y="1333500"/>
            <a:ext cx="8874125" cy="1954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戴维南定理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</a:rPr>
              <a:t>：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任意线性有源单口网络可以用电压源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OC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串电阻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来等效代替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诺顿定理：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任意线性有源单口网络可以用电流源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SC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并电阻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来等效代替。</a:t>
            </a:r>
          </a:p>
        </p:txBody>
      </p:sp>
      <p:sp>
        <p:nvSpPr>
          <p:cNvPr id="82949" name="Rectangle 8"/>
          <p:cNvSpPr/>
          <p:nvPr/>
        </p:nvSpPr>
        <p:spPr>
          <a:xfrm>
            <a:off x="1774825" y="3351213"/>
            <a:ext cx="7821613" cy="52387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利用戴维南定理或诺顿定理求解电路的步骤</a:t>
            </a:r>
          </a:p>
        </p:txBody>
      </p:sp>
      <p:sp>
        <p:nvSpPr>
          <p:cNvPr id="307209" name="Text Box 9">
            <a:hlinkClick r:id="" action="ppaction://noaction"/>
          </p:cNvPr>
          <p:cNvSpPr txBox="1"/>
          <p:nvPr/>
        </p:nvSpPr>
        <p:spPr>
          <a:xfrm>
            <a:off x="2057400" y="4024313"/>
            <a:ext cx="8458200" cy="465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将欲求支路的电路元件去掉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其余部分作为有源单口网络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N;</a:t>
            </a:r>
            <a:endParaRPr lang="en-US" altLang="zh-CN" sz="24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10" name="Text Box 10">
            <a:hlinkClick r:id="" action="ppaction://noaction"/>
          </p:cNvPr>
          <p:cNvSpPr txBox="1"/>
          <p:nvPr/>
        </p:nvSpPr>
        <p:spPr>
          <a:xfrm>
            <a:off x="2057400" y="5167313"/>
            <a:ext cx="7848600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将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除源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使其成为无源单口网络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求等效电阻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307211" name="Text Box 11">
            <a:hlinkClick r:id="" action="ppaction://noaction"/>
          </p:cNvPr>
          <p:cNvSpPr txBox="1"/>
          <p:nvPr/>
        </p:nvSpPr>
        <p:spPr>
          <a:xfrm>
            <a:off x="2057400" y="5776913"/>
            <a:ext cx="8305800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将原支路接在戴维南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诺顿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等效电路上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求电量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1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82953" name="AutoShape 14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954" name="AutoShape 15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955" name="AutoShape 16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17" name="Line 17"/>
          <p:cNvSpPr/>
          <p:nvPr/>
        </p:nvSpPr>
        <p:spPr>
          <a:xfrm flipV="1">
            <a:off x="9510713" y="6523038"/>
            <a:ext cx="1131887" cy="127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6" grpId="0" build="p" advAuto="1000"/>
      <p:bldP spid="307209" grpId="0" build="p" advAuto="1000"/>
      <p:bldP spid="307210" grpId="0" build="p" advAuto="1000"/>
      <p:bldP spid="307211" grpId="0" build="p" advAuto="100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/>
          <p:nvPr/>
        </p:nvSpPr>
        <p:spPr>
          <a:xfrm>
            <a:off x="766763" y="620713"/>
            <a:ext cx="10945812" cy="1135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求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OC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SC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可用所学过的所有方法：如节点分析法、网孔分析法、叠加原理、支路电流法、分压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分流公式等等。     </a:t>
            </a:r>
            <a:r>
              <a:rPr lang="zh-CN" altLang="en-US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303107" name="Rectangle 3"/>
          <p:cNvSpPr/>
          <p:nvPr/>
        </p:nvSpPr>
        <p:spPr>
          <a:xfrm>
            <a:off x="766763" y="1876425"/>
            <a:ext cx="26654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求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的方法 </a:t>
            </a:r>
          </a:p>
        </p:txBody>
      </p:sp>
      <p:sp>
        <p:nvSpPr>
          <p:cNvPr id="303108" name="Rectangle 4"/>
          <p:cNvSpPr/>
          <p:nvPr/>
        </p:nvSpPr>
        <p:spPr>
          <a:xfrm>
            <a:off x="2138363" y="2225675"/>
            <a:ext cx="8278812" cy="2066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buNone/>
            </a:pPr>
            <a:r>
              <a: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★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单口网络中所有独立源为零值，用串并联公式化简；</a:t>
            </a:r>
          </a:p>
          <a:p>
            <a:pPr>
              <a:lnSpc>
                <a:spcPct val="135000"/>
              </a:lnSpc>
              <a:buNone/>
            </a:pPr>
            <a:r>
              <a:rPr lang="zh-CN" altLang="en-US" sz="2400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★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单口网络中所有独立源为零值，端钮上加电压源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</a:p>
          <a:p>
            <a:pPr>
              <a:lnSpc>
                <a:spcPct val="135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(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或电流源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，求入端电流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或端钮电压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；</a:t>
            </a:r>
          </a:p>
          <a:p>
            <a:pPr>
              <a:lnSpc>
                <a:spcPct val="135000"/>
              </a:lnSpc>
              <a:buNone/>
            </a:pPr>
            <a:r>
              <a:rPr lang="zh-CN" altLang="en-US" sz="2400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★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开路电压比短路电流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303110" name="Rectangle 6"/>
          <p:cNvSpPr/>
          <p:nvPr/>
        </p:nvSpPr>
        <p:spPr>
          <a:xfrm>
            <a:off x="798513" y="4305300"/>
            <a:ext cx="43926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(3)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含受控源电路的分析方法 </a:t>
            </a:r>
          </a:p>
        </p:txBody>
      </p:sp>
      <p:sp>
        <p:nvSpPr>
          <p:cNvPr id="303111" name="Rectangle 7"/>
          <p:cNvSpPr/>
          <p:nvPr/>
        </p:nvSpPr>
        <p:spPr>
          <a:xfrm>
            <a:off x="2100263" y="4762500"/>
            <a:ext cx="8134350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★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控制量和被控制量要在同一部分（明确的单口网络）。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★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求等效电阻时要计入受控源的作用，独立源为零值时，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受控源要保留。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★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求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时只能用外加电源法和开路电压除以短路电流法。</a:t>
            </a:r>
          </a:p>
        </p:txBody>
      </p:sp>
      <p:sp>
        <p:nvSpPr>
          <p:cNvPr id="83975" name="Rectangle 13"/>
          <p:cNvSpPr/>
          <p:nvPr/>
        </p:nvSpPr>
        <p:spPr>
          <a:xfrm>
            <a:off x="496888" y="96838"/>
            <a:ext cx="8175625" cy="52387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利用戴维南定理或诺顿定理求解电路的方法</a:t>
            </a:r>
          </a:p>
        </p:txBody>
      </p:sp>
      <p:graphicFrame>
        <p:nvGraphicFramePr>
          <p:cNvPr id="303121" name="Object 17"/>
          <p:cNvGraphicFramePr>
            <a:graphicFrameLocks noChangeAspect="1"/>
          </p:cNvGraphicFramePr>
          <p:nvPr/>
        </p:nvGraphicFramePr>
        <p:xfrm>
          <a:off x="8783638" y="3308350"/>
          <a:ext cx="10572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r:id="rId3" imgW="936625" imgH="437515" progId="Equation.3">
                  <p:embed/>
                </p:oleObj>
              </mc:Choice>
              <mc:Fallback>
                <p:oleObj r:id="rId3" imgW="936625" imgH="437515" progId="Equation.3">
                  <p:embed/>
                  <p:pic>
                    <p:nvPicPr>
                      <p:cNvPr id="303121" name="Object 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783638" y="3308350"/>
                        <a:ext cx="10572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22" name="Object 18"/>
          <p:cNvGraphicFramePr>
            <a:graphicFrameLocks noChangeAspect="1"/>
          </p:cNvGraphicFramePr>
          <p:nvPr/>
        </p:nvGraphicFramePr>
        <p:xfrm>
          <a:off x="5699125" y="3873500"/>
          <a:ext cx="15382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r:id="rId5" imgW="1397000" imgH="532765" progId="Equation.3">
                  <p:embed/>
                </p:oleObj>
              </mc:Choice>
              <mc:Fallback>
                <p:oleObj r:id="rId5" imgW="1397000" imgH="532765" progId="Equation.3">
                  <p:embed/>
                  <p:pic>
                    <p:nvPicPr>
                      <p:cNvPr id="303122" name="Object 1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99125" y="3873500"/>
                        <a:ext cx="1538288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8" name="AutoShape 20">
            <a:hlinkClick r:id="" action="ppaction://hlinkshowjump?jump=firstslide"/>
          </p:cNvPr>
          <p:cNvSpPr/>
          <p:nvPr/>
        </p:nvSpPr>
        <p:spPr>
          <a:xfrm>
            <a:off x="9486900" y="66103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979" name="AutoShape 21">
            <a:hlinkClick r:id="" action="ppaction://hlinkshowjump?jump=nextslide"/>
          </p:cNvPr>
          <p:cNvSpPr/>
          <p:nvPr/>
        </p:nvSpPr>
        <p:spPr>
          <a:xfrm>
            <a:off x="10274300" y="66103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980" name="AutoShape 22">
            <a:hlinkClick r:id="" action="ppaction://hlinkshowjump?jump=previousslide"/>
          </p:cNvPr>
          <p:cNvSpPr/>
          <p:nvPr/>
        </p:nvSpPr>
        <p:spPr>
          <a:xfrm>
            <a:off x="9880600" y="66103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3127" name="Line 23"/>
          <p:cNvSpPr/>
          <p:nvPr/>
        </p:nvSpPr>
        <p:spPr>
          <a:xfrm flipV="1">
            <a:off x="9510713" y="6523038"/>
            <a:ext cx="1131887" cy="127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08" grpId="0"/>
      <p:bldP spid="303110" grpId="0"/>
      <p:bldP spid="3031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 descr="水滴"/>
          <p:cNvSpPr>
            <a:spLocks noGrp="1"/>
          </p:cNvSpPr>
          <p:nvPr>
            <p:ph type="title" idx="4294967295"/>
          </p:nvPr>
        </p:nvSpPr>
        <p:spPr>
          <a:xfrm>
            <a:off x="3143250" y="261938"/>
            <a:ext cx="5543550" cy="503237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zh-CN" sz="3600" b="1" dirty="0">
                <a:solidFill>
                  <a:srgbClr val="A50021"/>
                </a:solidFill>
                <a:ea typeface="华文行楷" panose="02010800040101010101" pitchFamily="2" charset="-122"/>
              </a:rPr>
              <a:t>§4-8  </a:t>
            </a:r>
            <a:r>
              <a:rPr lang="zh-CN" altLang="en-US" sz="3600" b="1" dirty="0">
                <a:solidFill>
                  <a:srgbClr val="A50021"/>
                </a:solidFill>
                <a:ea typeface="华文行楷" panose="02010800040101010101" pitchFamily="2" charset="-122"/>
              </a:rPr>
              <a:t>最大功率传递定理</a:t>
            </a:r>
          </a:p>
        </p:txBody>
      </p:sp>
      <p:sp>
        <p:nvSpPr>
          <p:cNvPr id="88067" name="Rectangle 3"/>
          <p:cNvSpPr/>
          <p:nvPr/>
        </p:nvSpPr>
        <p:spPr>
          <a:xfrm>
            <a:off x="1458913" y="863600"/>
            <a:ext cx="9467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一个含源单口网络总可以化简成戴维南或诺顿等效电路。 </a:t>
            </a:r>
          </a:p>
        </p:txBody>
      </p:sp>
      <p:sp>
        <p:nvSpPr>
          <p:cNvPr id="365572" name="Text Box 4"/>
          <p:cNvSpPr txBox="1"/>
          <p:nvPr/>
        </p:nvSpPr>
        <p:spPr>
          <a:xfrm>
            <a:off x="4398963" y="5483225"/>
            <a:ext cx="248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</a:p>
        </p:txBody>
      </p:sp>
      <p:sp>
        <p:nvSpPr>
          <p:cNvPr id="365573" name="Text Box 5"/>
          <p:cNvSpPr txBox="1"/>
          <p:nvPr/>
        </p:nvSpPr>
        <p:spPr>
          <a:xfrm>
            <a:off x="2063750" y="6049963"/>
            <a:ext cx="5256213" cy="528637"/>
          </a:xfrm>
          <a:prstGeom prst="rect">
            <a:avLst/>
          </a:prstGeom>
          <a:solidFill>
            <a:srgbClr val="FFFF66">
              <a:alpha val="50195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800" b="1" i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结论：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时获得最大功率</a:t>
            </a:r>
            <a:endParaRPr lang="zh-CN" altLang="en-US" sz="2800" b="1" baseline="-25000" dirty="0">
              <a:solidFill>
                <a:srgbClr val="FF33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65574" name="Text Box 6"/>
          <p:cNvSpPr txBox="1"/>
          <p:nvPr/>
        </p:nvSpPr>
        <p:spPr>
          <a:xfrm>
            <a:off x="1428750" y="1871663"/>
            <a:ext cx="2546350" cy="920750"/>
          </a:xfrm>
          <a:prstGeom prst="rect">
            <a:avLst/>
          </a:prstGeom>
          <a:noFill/>
          <a:ln w="9525">
            <a:noFill/>
          </a:ln>
        </p:spPr>
        <p:txBody>
          <a:bodyPr lIns="18000" tIns="36000" rIns="18000" bIns="36000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GB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若 </a:t>
            </a:r>
            <a:r>
              <a:rPr lang="en-GB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GB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OC</a:t>
            </a:r>
            <a:r>
              <a:rPr lang="en-GB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GB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GB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GB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不变，</a:t>
            </a:r>
            <a:r>
              <a:rPr lang="en-GB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GB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zh-CN" altLang="en-GB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可变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365605" name="Object 37"/>
          <p:cNvGraphicFramePr>
            <a:graphicFrameLocks noChangeAspect="1"/>
          </p:cNvGraphicFramePr>
          <p:nvPr/>
        </p:nvGraphicFramePr>
        <p:xfrm>
          <a:off x="2351088" y="3573463"/>
          <a:ext cx="1455737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r:id="rId3" imgW="1312545" imgH="656590" progId="Equation.3">
                  <p:embed/>
                </p:oleObj>
              </mc:Choice>
              <mc:Fallback>
                <p:oleObj r:id="rId3" imgW="1312545" imgH="656590" progId="Equation.3">
                  <p:embed/>
                  <p:pic>
                    <p:nvPicPr>
                      <p:cNvPr id="365605" name="Object 3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51088" y="3573463"/>
                        <a:ext cx="1455737" cy="763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606" name="Object 38"/>
          <p:cNvGraphicFramePr>
            <a:graphicFrameLocks noChangeAspect="1"/>
          </p:cNvGraphicFramePr>
          <p:nvPr/>
        </p:nvGraphicFramePr>
        <p:xfrm>
          <a:off x="4906963" y="3573463"/>
          <a:ext cx="34925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r:id="rId5" imgW="3270250" imgH="695325" progId="Equation.3">
                  <p:embed/>
                </p:oleObj>
              </mc:Choice>
              <mc:Fallback>
                <p:oleObj r:id="rId5" imgW="3270250" imgH="695325" progId="Equation.3">
                  <p:embed/>
                  <p:pic>
                    <p:nvPicPr>
                      <p:cNvPr id="365606" name="Object 3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06963" y="3573463"/>
                        <a:ext cx="3492500" cy="798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607" name="Object 39"/>
          <p:cNvGraphicFramePr>
            <a:graphicFrameLocks noChangeAspect="1"/>
          </p:cNvGraphicFramePr>
          <p:nvPr/>
        </p:nvGraphicFramePr>
        <p:xfrm>
          <a:off x="2309813" y="4497388"/>
          <a:ext cx="54276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6" r:id="rId7" imgW="5116195" imgH="796290" progId="Equation.3">
                  <p:embed/>
                </p:oleObj>
              </mc:Choice>
              <mc:Fallback>
                <p:oleObj r:id="rId7" imgW="5116195" imgH="796290" progId="Equation.3">
                  <p:embed/>
                  <p:pic>
                    <p:nvPicPr>
                      <p:cNvPr id="365607" name="Object 3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09813" y="4497388"/>
                        <a:ext cx="5427662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608" name="Object 40"/>
          <p:cNvGraphicFramePr>
            <a:graphicFrameLocks noChangeAspect="1"/>
          </p:cNvGraphicFramePr>
          <p:nvPr/>
        </p:nvGraphicFramePr>
        <p:xfrm>
          <a:off x="8328025" y="5216525"/>
          <a:ext cx="204311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7" r:id="rId9" imgW="1609725" imgH="712470" progId="Equation.3">
                  <p:embed/>
                </p:oleObj>
              </mc:Choice>
              <mc:Fallback>
                <p:oleObj r:id="rId9" imgW="1609725" imgH="712470" progId="Equation.3">
                  <p:embed/>
                  <p:pic>
                    <p:nvPicPr>
                      <p:cNvPr id="365608" name="Object 4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CC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28025" y="5216525"/>
                        <a:ext cx="2043113" cy="955675"/>
                      </a:xfrm>
                      <a:prstGeom prst="rect">
                        <a:avLst/>
                      </a:prstGeom>
                      <a:solidFill>
                        <a:srgbClr val="FFFF66">
                          <a:alpha val="50195"/>
                        </a:srgbClr>
                      </a:solidFill>
                      <a:ln w="9525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609" name="Rectangle 41"/>
          <p:cNvSpPr/>
          <p:nvPr/>
        </p:nvSpPr>
        <p:spPr>
          <a:xfrm>
            <a:off x="2179638" y="5502275"/>
            <a:ext cx="24003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由分子</a:t>
            </a:r>
            <a:r>
              <a:rPr lang="zh-CN" altLang="en-US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，得</a:t>
            </a:r>
          </a:p>
        </p:txBody>
      </p:sp>
      <p:sp>
        <p:nvSpPr>
          <p:cNvPr id="88076" name="AutoShape 43">
            <a:hlinkClick r:id="" action="ppaction://hlinkshowjump?jump=firstslide"/>
          </p:cNvPr>
          <p:cNvSpPr/>
          <p:nvPr/>
        </p:nvSpPr>
        <p:spPr>
          <a:xfrm>
            <a:off x="9380538" y="6623050"/>
            <a:ext cx="381000" cy="228600"/>
          </a:xfrm>
          <a:prstGeom prst="actionButtonBeginning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8077" name="AutoShape 44">
            <a:hlinkClick r:id="" action="ppaction://hlinkshowjump?jump=nextslide"/>
          </p:cNvPr>
          <p:cNvSpPr/>
          <p:nvPr/>
        </p:nvSpPr>
        <p:spPr>
          <a:xfrm>
            <a:off x="10294938" y="6623050"/>
            <a:ext cx="381000" cy="228600"/>
          </a:xfrm>
          <a:prstGeom prst="actionButtonForwardNext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8078" name="AutoShape 45">
            <a:hlinkClick r:id="" action="ppaction://hlinkshowjump?jump=previousslide"/>
          </p:cNvPr>
          <p:cNvSpPr/>
          <p:nvPr/>
        </p:nvSpPr>
        <p:spPr>
          <a:xfrm>
            <a:off x="9837738" y="6623050"/>
            <a:ext cx="381000" cy="228600"/>
          </a:xfrm>
          <a:prstGeom prst="actionButtonBackPrevious">
            <a:avLst/>
          </a:prstGeom>
          <a:solidFill>
            <a:srgbClr val="66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5614" name="Line 46"/>
          <p:cNvSpPr/>
          <p:nvPr/>
        </p:nvSpPr>
        <p:spPr>
          <a:xfrm>
            <a:off x="9398000" y="6538913"/>
            <a:ext cx="1293813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88080" name="Group 18"/>
          <p:cNvGrpSpPr/>
          <p:nvPr/>
        </p:nvGrpSpPr>
        <p:grpSpPr>
          <a:xfrm>
            <a:off x="4106863" y="1855788"/>
            <a:ext cx="2762250" cy="1558925"/>
            <a:chOff x="249" y="1159"/>
            <a:chExt cx="1740" cy="982"/>
          </a:xfrm>
        </p:grpSpPr>
        <p:sp>
          <p:nvSpPr>
            <p:cNvPr id="88092" name="Text Box 19"/>
            <p:cNvSpPr txBox="1"/>
            <p:nvPr/>
          </p:nvSpPr>
          <p:spPr>
            <a:xfrm>
              <a:off x="1802" y="1235"/>
              <a:ext cx="187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93" name="Text Box 20"/>
            <p:cNvSpPr txBox="1"/>
            <p:nvPr/>
          </p:nvSpPr>
          <p:spPr>
            <a:xfrm>
              <a:off x="468" y="1303"/>
              <a:ext cx="216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+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94" name="Text Box 21"/>
            <p:cNvSpPr txBox="1"/>
            <p:nvPr/>
          </p:nvSpPr>
          <p:spPr>
            <a:xfrm>
              <a:off x="468" y="1721"/>
              <a:ext cx="203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GB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–</a:t>
              </a:r>
            </a:p>
          </p:txBody>
        </p:sp>
        <p:sp>
          <p:nvSpPr>
            <p:cNvPr id="88095" name="Oval 22"/>
            <p:cNvSpPr/>
            <p:nvPr/>
          </p:nvSpPr>
          <p:spPr>
            <a:xfrm>
              <a:off x="249" y="1514"/>
              <a:ext cx="272" cy="272"/>
            </a:xfrm>
            <a:prstGeom prst="ellipse">
              <a:avLst/>
            </a:prstGeom>
            <a:solidFill>
              <a:srgbClr val="FFFF99">
                <a:alpha val="76862"/>
              </a:srgbClr>
            </a:solidFill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88096" name="Group 23"/>
            <p:cNvGrpSpPr/>
            <p:nvPr/>
          </p:nvGrpSpPr>
          <p:grpSpPr>
            <a:xfrm>
              <a:off x="385" y="1207"/>
              <a:ext cx="1356" cy="907"/>
              <a:chOff x="213" y="1135"/>
              <a:chExt cx="1528" cy="979"/>
            </a:xfrm>
          </p:grpSpPr>
          <p:sp>
            <p:nvSpPr>
              <p:cNvPr id="88106" name="Line 24"/>
              <p:cNvSpPr/>
              <p:nvPr/>
            </p:nvSpPr>
            <p:spPr>
              <a:xfrm flipH="1">
                <a:off x="1741" y="1135"/>
                <a:ext cx="0" cy="97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8107" name="Line 25"/>
              <p:cNvSpPr/>
              <p:nvPr/>
            </p:nvSpPr>
            <p:spPr>
              <a:xfrm>
                <a:off x="213" y="1135"/>
                <a:ext cx="152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88108" name="Line 26"/>
              <p:cNvSpPr/>
              <p:nvPr/>
            </p:nvSpPr>
            <p:spPr>
              <a:xfrm>
                <a:off x="213" y="2114"/>
                <a:ext cx="152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lg" len="lg"/>
              </a:ln>
            </p:spPr>
          </p:sp>
          <p:sp>
            <p:nvSpPr>
              <p:cNvPr id="88109" name="Line 27"/>
              <p:cNvSpPr/>
              <p:nvPr/>
            </p:nvSpPr>
            <p:spPr>
              <a:xfrm flipH="1">
                <a:off x="213" y="1140"/>
                <a:ext cx="4" cy="9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8097" name="Rectangle 28"/>
            <p:cNvSpPr/>
            <p:nvPr/>
          </p:nvSpPr>
          <p:spPr>
            <a:xfrm flipV="1">
              <a:off x="725" y="1159"/>
              <a:ext cx="295" cy="102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99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8098" name="Oval 29"/>
            <p:cNvSpPr/>
            <p:nvPr/>
          </p:nvSpPr>
          <p:spPr>
            <a:xfrm>
              <a:off x="1327" y="2084"/>
              <a:ext cx="57" cy="57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8099" name="Line 30"/>
            <p:cNvSpPr/>
            <p:nvPr/>
          </p:nvSpPr>
          <p:spPr>
            <a:xfrm rot="-5400000" flipH="1">
              <a:off x="1653" y="1377"/>
              <a:ext cx="175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88100" name="Text Box 31"/>
            <p:cNvSpPr txBox="1"/>
            <p:nvPr/>
          </p:nvSpPr>
          <p:spPr>
            <a:xfrm>
              <a:off x="557" y="1525"/>
              <a:ext cx="373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36000" rIns="18000" bIns="36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OC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101" name="Text Box 32"/>
            <p:cNvSpPr txBox="1"/>
            <p:nvPr/>
          </p:nvSpPr>
          <p:spPr>
            <a:xfrm flipH="1">
              <a:off x="748" y="1229"/>
              <a:ext cx="40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R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88102" name="Oval 33"/>
            <p:cNvSpPr/>
            <p:nvPr/>
          </p:nvSpPr>
          <p:spPr>
            <a:xfrm>
              <a:off x="1338" y="1178"/>
              <a:ext cx="57" cy="57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8103" name="Rectangle 34"/>
            <p:cNvSpPr/>
            <p:nvPr/>
          </p:nvSpPr>
          <p:spPr>
            <a:xfrm rot="5400000" flipV="1">
              <a:off x="1596" y="1621"/>
              <a:ext cx="295" cy="102"/>
            </a:xfrm>
            <a:prstGeom prst="rect">
              <a:avLst/>
            </a:prstGeom>
            <a:solidFill>
              <a:srgbClr val="FFFF99"/>
            </a:solidFill>
            <a:ln w="38100" cap="flat" cmpd="sng">
              <a:solidFill>
                <a:srgbClr val="99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8104" name="Line 35"/>
            <p:cNvSpPr/>
            <p:nvPr/>
          </p:nvSpPr>
          <p:spPr>
            <a:xfrm flipV="1">
              <a:off x="1607" y="1528"/>
              <a:ext cx="274" cy="3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88105" name="Rectangle 36"/>
            <p:cNvSpPr/>
            <p:nvPr/>
          </p:nvSpPr>
          <p:spPr>
            <a:xfrm>
              <a:off x="1362" y="1496"/>
              <a:ext cx="329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GB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R</a:t>
              </a:r>
              <a:r>
                <a:rPr lang="en-GB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L</a:t>
              </a:r>
              <a:endPara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22" name="Group 7"/>
          <p:cNvGrpSpPr/>
          <p:nvPr/>
        </p:nvGrpSpPr>
        <p:grpSpPr>
          <a:xfrm>
            <a:off x="7142163" y="1535113"/>
            <a:ext cx="3784600" cy="2089150"/>
            <a:chOff x="3238" y="1040"/>
            <a:chExt cx="2384" cy="1316"/>
          </a:xfrm>
        </p:grpSpPr>
        <p:sp>
          <p:nvSpPr>
            <p:cNvPr id="88082" name="Text Box 8"/>
            <p:cNvSpPr txBox="1"/>
            <p:nvPr/>
          </p:nvSpPr>
          <p:spPr>
            <a:xfrm>
              <a:off x="3646" y="1105"/>
              <a:ext cx="14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None/>
              </a:pPr>
              <a:r>
                <a:rPr lang="en-GB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p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有一个极大值</a:t>
              </a:r>
            </a:p>
          </p:txBody>
        </p:sp>
        <p:sp>
          <p:nvSpPr>
            <p:cNvPr id="88083" name="Text Box 9"/>
            <p:cNvSpPr txBox="1"/>
            <p:nvPr/>
          </p:nvSpPr>
          <p:spPr>
            <a:xfrm flipH="1">
              <a:off x="5209" y="1963"/>
              <a:ext cx="4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L</a:t>
              </a:r>
            </a:p>
          </p:txBody>
        </p:sp>
        <p:sp>
          <p:nvSpPr>
            <p:cNvPr id="88084" name="Line 10"/>
            <p:cNvSpPr/>
            <p:nvPr/>
          </p:nvSpPr>
          <p:spPr>
            <a:xfrm>
              <a:off x="3283" y="2110"/>
              <a:ext cx="206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88085" name="Line 11"/>
            <p:cNvSpPr/>
            <p:nvPr/>
          </p:nvSpPr>
          <p:spPr>
            <a:xfrm flipH="1" flipV="1">
              <a:off x="3429" y="1159"/>
              <a:ext cx="2" cy="11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88086" name="Group 12"/>
            <p:cNvGrpSpPr/>
            <p:nvPr/>
          </p:nvGrpSpPr>
          <p:grpSpPr>
            <a:xfrm>
              <a:off x="3436" y="1369"/>
              <a:ext cx="1579" cy="741"/>
              <a:chOff x="3359" y="1429"/>
              <a:chExt cx="2222" cy="1011"/>
            </a:xfrm>
          </p:grpSpPr>
          <p:sp>
            <p:nvSpPr>
              <p:cNvPr id="88090" name="Freeform 13"/>
              <p:cNvSpPr/>
              <p:nvPr/>
            </p:nvSpPr>
            <p:spPr>
              <a:xfrm>
                <a:off x="3359" y="1429"/>
                <a:ext cx="1290" cy="1011"/>
              </a:xfrm>
              <a:custGeom>
                <a:avLst/>
                <a:gdLst>
                  <a:gd name="txL" fmla="*/ 0 w 1298"/>
                  <a:gd name="txT" fmla="*/ 0 h 1011"/>
                  <a:gd name="txR" fmla="*/ 1298 w 1298"/>
                  <a:gd name="txB" fmla="*/ 1011 h 1011"/>
                </a:gdLst>
                <a:ahLst/>
                <a:cxnLst>
                  <a:cxn ang="0">
                    <a:pos x="0" y="976"/>
                  </a:cxn>
                  <a:cxn ang="0">
                    <a:pos x="127" y="862"/>
                  </a:cxn>
                  <a:cxn ang="0">
                    <a:pos x="679" y="84"/>
                  </a:cxn>
                  <a:cxn ang="0">
                    <a:pos x="1154" y="360"/>
                  </a:cxn>
                </a:cxnLst>
                <a:rect l="txL" t="txT" r="txR" b="txB"/>
                <a:pathLst>
                  <a:path w="1298" h="1011">
                    <a:moveTo>
                      <a:pt x="0" y="976"/>
                    </a:moveTo>
                    <a:cubicBezTo>
                      <a:pt x="9" y="993"/>
                      <a:pt x="19" y="1011"/>
                      <a:pt x="146" y="862"/>
                    </a:cubicBezTo>
                    <a:cubicBezTo>
                      <a:pt x="273" y="713"/>
                      <a:pt x="570" y="168"/>
                      <a:pt x="762" y="84"/>
                    </a:cubicBezTo>
                    <a:cubicBezTo>
                      <a:pt x="954" y="0"/>
                      <a:pt x="1209" y="314"/>
                      <a:pt x="1298" y="360"/>
                    </a:cubicBezTo>
                  </a:path>
                </a:pathLst>
              </a:custGeom>
              <a:noFill/>
              <a:ln w="38100" cap="flat" cmpd="sng">
                <a:solidFill>
                  <a:srgbClr val="CC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91" name="Freeform 14"/>
              <p:cNvSpPr/>
              <p:nvPr/>
            </p:nvSpPr>
            <p:spPr>
              <a:xfrm>
                <a:off x="4624" y="1771"/>
                <a:ext cx="957" cy="504"/>
              </a:xfrm>
              <a:custGeom>
                <a:avLst/>
                <a:gdLst>
                  <a:gd name="txL" fmla="*/ 0 w 933"/>
                  <a:gd name="txT" fmla="*/ 0 h 519"/>
                  <a:gd name="txR" fmla="*/ 933 w 933"/>
                  <a:gd name="txB" fmla="*/ 519 h 519"/>
                </a:gdLst>
                <a:ahLst/>
                <a:cxnLst>
                  <a:cxn ang="0">
                    <a:pos x="0" y="0"/>
                  </a:cxn>
                  <a:cxn ang="0">
                    <a:pos x="632" y="178"/>
                  </a:cxn>
                  <a:cxn ang="0">
                    <a:pos x="1512" y="296"/>
                  </a:cxn>
                </a:cxnLst>
                <a:rect l="txL" t="txT" r="txR" b="txB"/>
                <a:pathLst>
                  <a:path w="933" h="519">
                    <a:moveTo>
                      <a:pt x="0" y="0"/>
                    </a:moveTo>
                    <a:cubicBezTo>
                      <a:pt x="117" y="111"/>
                      <a:pt x="235" y="223"/>
                      <a:pt x="390" y="309"/>
                    </a:cubicBezTo>
                    <a:cubicBezTo>
                      <a:pt x="545" y="395"/>
                      <a:pt x="739" y="457"/>
                      <a:pt x="933" y="519"/>
                    </a:cubicBezTo>
                  </a:path>
                </a:pathLst>
              </a:custGeom>
              <a:noFill/>
              <a:ln w="38100" cap="flat" cmpd="sng">
                <a:solidFill>
                  <a:srgbClr val="CC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8087" name="Text Box 15"/>
            <p:cNvSpPr txBox="1"/>
            <p:nvPr/>
          </p:nvSpPr>
          <p:spPr>
            <a:xfrm flipH="1">
              <a:off x="3238" y="1040"/>
              <a:ext cx="1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p</a:t>
              </a:r>
            </a:p>
          </p:txBody>
        </p:sp>
        <p:sp>
          <p:nvSpPr>
            <p:cNvPr id="88088" name="Text Box 16"/>
            <p:cNvSpPr txBox="1"/>
            <p:nvPr/>
          </p:nvSpPr>
          <p:spPr>
            <a:xfrm flipH="1">
              <a:off x="3243" y="2069"/>
              <a:ext cx="183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0</a:t>
              </a:r>
            </a:p>
          </p:txBody>
        </p:sp>
        <p:sp>
          <p:nvSpPr>
            <p:cNvPr id="88089" name="Oval 17"/>
            <p:cNvSpPr/>
            <p:nvPr/>
          </p:nvSpPr>
          <p:spPr>
            <a:xfrm>
              <a:off x="3988" y="1389"/>
              <a:ext cx="57" cy="57"/>
            </a:xfrm>
            <a:prstGeom prst="ellipse">
              <a:avLst/>
            </a:prstGeom>
            <a:solidFill>
              <a:srgbClr val="FFFF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6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2" grpId="0"/>
      <p:bldP spid="365573" grpId="0" animBg="1"/>
      <p:bldP spid="365574" grpId="0" build="p" advAuto="1000"/>
      <p:bldP spid="36560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2"/>
          <p:cNvSpPr txBox="1"/>
          <p:nvPr/>
        </p:nvSpPr>
        <p:spPr>
          <a:xfrm>
            <a:off x="2352675" y="1665288"/>
            <a:ext cx="66135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第五章 电容元件和电感元件</a:t>
            </a:r>
          </a:p>
        </p:txBody>
      </p:sp>
      <p:sp>
        <p:nvSpPr>
          <p:cNvPr id="2091" name="Text Box 43">
            <a:hlinkClick r:id="" action="ppaction://noaction"/>
          </p:cNvPr>
          <p:cNvSpPr txBox="1"/>
          <p:nvPr/>
        </p:nvSpPr>
        <p:spPr>
          <a:xfrm>
            <a:off x="2352675" y="2355850"/>
            <a:ext cx="53276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5-1</a:t>
            </a:r>
            <a:r>
              <a:rPr lang="en-US" altLang="zh-CN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电容元件</a:t>
            </a:r>
          </a:p>
        </p:txBody>
      </p:sp>
      <p:sp>
        <p:nvSpPr>
          <p:cNvPr id="2093" name="Text Box 45">
            <a:hlinkClick r:id="" action="ppaction://noaction"/>
          </p:cNvPr>
          <p:cNvSpPr txBox="1"/>
          <p:nvPr/>
        </p:nvSpPr>
        <p:spPr>
          <a:xfrm>
            <a:off x="2352675" y="4067175"/>
            <a:ext cx="37433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5-4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电容的储能</a:t>
            </a:r>
          </a:p>
        </p:txBody>
      </p:sp>
      <p:sp>
        <p:nvSpPr>
          <p:cNvPr id="2094" name="Text Box 46">
            <a:hlinkClick r:id="" action="ppaction://noaction"/>
          </p:cNvPr>
          <p:cNvSpPr txBox="1"/>
          <p:nvPr/>
        </p:nvSpPr>
        <p:spPr>
          <a:xfrm>
            <a:off x="2352675" y="3497263"/>
            <a:ext cx="799941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5-3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电容电压的连续性质和记忆性质</a:t>
            </a:r>
          </a:p>
        </p:txBody>
      </p:sp>
      <p:sp>
        <p:nvSpPr>
          <p:cNvPr id="2095" name="Text Box 47">
            <a:hlinkClick r:id="" action="ppaction://noaction"/>
          </p:cNvPr>
          <p:cNvSpPr txBox="1"/>
          <p:nvPr/>
        </p:nvSpPr>
        <p:spPr>
          <a:xfrm>
            <a:off x="2352675" y="4638675"/>
            <a:ext cx="57959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5-5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电感元件</a:t>
            </a:r>
          </a:p>
        </p:txBody>
      </p:sp>
      <p:sp>
        <p:nvSpPr>
          <p:cNvPr id="2101" name="Text Box 53" descr="水滴"/>
          <p:cNvSpPr txBox="1">
            <a:spLocks noChangeArrowheads="1"/>
          </p:cNvSpPr>
          <p:nvPr/>
        </p:nvSpPr>
        <p:spPr bwMode="auto">
          <a:xfrm>
            <a:off x="2333625" y="728663"/>
            <a:ext cx="7524750" cy="665163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17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85000"/>
              </a:lnSpc>
              <a:buClrTx/>
              <a:buSzTx/>
              <a:buFontTx/>
              <a:buNone/>
              <a:defRPr/>
            </a:pPr>
            <a:r>
              <a:rPr kumimoji="1" lang="zh-CN" altLang="en-US" sz="44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第二篇 动态电路的时域分析</a:t>
            </a:r>
          </a:p>
        </p:txBody>
      </p:sp>
      <p:sp>
        <p:nvSpPr>
          <p:cNvPr id="2103" name="Text Box 55">
            <a:hlinkClick r:id="" action="ppaction://noaction"/>
          </p:cNvPr>
          <p:cNvSpPr txBox="1"/>
          <p:nvPr/>
        </p:nvSpPr>
        <p:spPr>
          <a:xfrm>
            <a:off x="2352675" y="5778500"/>
            <a:ext cx="70929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5-7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电容与电感的对偶性  状态变量</a:t>
            </a:r>
          </a:p>
        </p:txBody>
      </p:sp>
      <p:sp>
        <p:nvSpPr>
          <p:cNvPr id="2106" name="Text Box 58">
            <a:hlinkClick r:id="" action="ppaction://noaction"/>
          </p:cNvPr>
          <p:cNvSpPr txBox="1"/>
          <p:nvPr/>
        </p:nvSpPr>
        <p:spPr>
          <a:xfrm>
            <a:off x="2352675" y="2927350"/>
            <a:ext cx="53276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5-2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电容的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VCR</a:t>
            </a:r>
          </a:p>
        </p:txBody>
      </p:sp>
      <p:sp>
        <p:nvSpPr>
          <p:cNvPr id="2107" name="Text Box 59">
            <a:hlinkClick r:id="" action="ppaction://noaction"/>
          </p:cNvPr>
          <p:cNvSpPr txBox="1"/>
          <p:nvPr/>
        </p:nvSpPr>
        <p:spPr>
          <a:xfrm>
            <a:off x="2352675" y="5208588"/>
            <a:ext cx="57959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5-6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电感的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VCR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1" grpId="0"/>
      <p:bldP spid="2093" grpId="0"/>
      <p:bldP spid="2094" grpId="0"/>
      <p:bldP spid="2095" grpId="0"/>
      <p:bldP spid="2103" grpId="0"/>
      <p:bldP spid="2106" grpId="0"/>
      <p:bldP spid="21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69" name="Rectangle 73"/>
          <p:cNvSpPr/>
          <p:nvPr/>
        </p:nvSpPr>
        <p:spPr>
          <a:xfrm>
            <a:off x="2281238" y="2581275"/>
            <a:ext cx="1943100" cy="827088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67" name="Text Box 28"/>
          <p:cNvSpPr txBox="1"/>
          <p:nvPr/>
        </p:nvSpPr>
        <p:spPr>
          <a:xfrm>
            <a:off x="1258888" y="1006475"/>
            <a:ext cx="22558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微分关系 </a:t>
            </a:r>
          </a:p>
        </p:txBody>
      </p:sp>
      <p:sp>
        <p:nvSpPr>
          <p:cNvPr id="80926" name="Text Box 30"/>
          <p:cNvSpPr txBox="1"/>
          <p:nvPr/>
        </p:nvSpPr>
        <p:spPr>
          <a:xfrm>
            <a:off x="4970463" y="2911475"/>
            <a:ext cx="2303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关联参考方向</a:t>
            </a:r>
          </a:p>
        </p:txBody>
      </p:sp>
      <p:sp>
        <p:nvSpPr>
          <p:cNvPr id="80928" name="Text Box 32"/>
          <p:cNvSpPr txBox="1"/>
          <p:nvPr/>
        </p:nvSpPr>
        <p:spPr>
          <a:xfrm>
            <a:off x="4862513" y="3719513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非关联参考方向</a:t>
            </a:r>
          </a:p>
        </p:txBody>
      </p:sp>
      <p:graphicFrame>
        <p:nvGraphicFramePr>
          <p:cNvPr id="80929" name="Object 33"/>
          <p:cNvGraphicFramePr>
            <a:graphicFrameLocks noChangeAspect="1"/>
          </p:cNvGraphicFramePr>
          <p:nvPr/>
        </p:nvGraphicFramePr>
        <p:xfrm>
          <a:off x="2411413" y="1690688"/>
          <a:ext cx="3136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r:id="rId3" imgW="2726055" imgH="633730" progId="Equation.3">
                  <p:embed/>
                </p:oleObj>
              </mc:Choice>
              <mc:Fallback>
                <p:oleObj r:id="rId3" imgW="2726055" imgH="633730" progId="Equation.3">
                  <p:embed/>
                  <p:pic>
                    <p:nvPicPr>
                      <p:cNvPr id="80929" name="Object 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1690688"/>
                        <a:ext cx="31369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0" name="Object 34"/>
          <p:cNvGraphicFramePr>
            <a:graphicFrameLocks noChangeAspect="1"/>
          </p:cNvGraphicFramePr>
          <p:nvPr/>
        </p:nvGraphicFramePr>
        <p:xfrm>
          <a:off x="2484438" y="2595563"/>
          <a:ext cx="1485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r:id="rId5" imgW="1268095" imgH="633730" progId="Equation.3">
                  <p:embed/>
                </p:oleObj>
              </mc:Choice>
              <mc:Fallback>
                <p:oleObj r:id="rId5" imgW="1268095" imgH="633730" progId="Equation.3">
                  <p:embed/>
                  <p:pic>
                    <p:nvPicPr>
                      <p:cNvPr id="80930" name="Object 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2595563"/>
                        <a:ext cx="14859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31" name="Object 35"/>
          <p:cNvGraphicFramePr>
            <a:graphicFrameLocks noChangeAspect="1"/>
          </p:cNvGraphicFramePr>
          <p:nvPr/>
        </p:nvGraphicFramePr>
        <p:xfrm>
          <a:off x="2411413" y="3567113"/>
          <a:ext cx="1739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r:id="rId7" imgW="1497965" imgH="633730" progId="Equation.3">
                  <p:embed/>
                </p:oleObj>
              </mc:Choice>
              <mc:Fallback>
                <p:oleObj r:id="rId7" imgW="1497965" imgH="633730" progId="Equation.3">
                  <p:embed/>
                  <p:pic>
                    <p:nvPicPr>
                      <p:cNvPr id="80931" name="Object 3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3567113"/>
                        <a:ext cx="17399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0"/>
          <p:cNvGrpSpPr/>
          <p:nvPr/>
        </p:nvGrpSpPr>
        <p:grpSpPr>
          <a:xfrm>
            <a:off x="2392363" y="4857749"/>
            <a:ext cx="7956550" cy="1625600"/>
            <a:chOff x="499" y="2975"/>
            <a:chExt cx="5012" cy="1024"/>
          </a:xfrm>
        </p:grpSpPr>
        <p:sp>
          <p:nvSpPr>
            <p:cNvPr id="11304" name="Text Box 29"/>
            <p:cNvSpPr txBox="1"/>
            <p:nvPr/>
          </p:nvSpPr>
          <p:spPr>
            <a:xfrm>
              <a:off x="499" y="3113"/>
              <a:ext cx="5012" cy="8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457200" indent="-457200" eaLnBrk="1" hangingPunct="1">
                <a:lnSpc>
                  <a:spcPct val="12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(1)</a:t>
              </a:r>
              <a:r>
                <a:rPr lang="en-US" altLang="zh-CN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与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的变化率       成正比，不是与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成比例。</a:t>
              </a:r>
            </a:p>
            <a:p>
              <a:pPr marL="457200" indent="-457200" eaLnBrk="1" hangingPunct="1">
                <a:lnSpc>
                  <a:spcPct val="120000"/>
                </a:lnSpc>
              </a:pPr>
              <a:endPara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pPr marL="457200" indent="-457200" eaLnBrk="1" hangingPunct="1">
                <a:lnSpc>
                  <a:spcPct val="12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(2) 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为有限值，则       为有限值，即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 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不能跃变。</a:t>
              </a:r>
            </a:p>
          </p:txBody>
        </p:sp>
        <p:graphicFrame>
          <p:nvGraphicFramePr>
            <p:cNvPr id="11305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1531144"/>
                </p:ext>
              </p:extLst>
            </p:nvPr>
          </p:nvGraphicFramePr>
          <p:xfrm>
            <a:off x="1892" y="2975"/>
            <a:ext cx="2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9" r:id="rId9" imgW="353695" imgH="633730" progId="Equation.3">
                    <p:embed/>
                  </p:oleObj>
                </mc:Choice>
                <mc:Fallback>
                  <p:oleObj r:id="rId9" imgW="353695" imgH="633730" progId="Equation.3">
                    <p:embed/>
                    <p:pic>
                      <p:nvPicPr>
                        <p:cNvPr id="11305" name="Object 3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92" y="2975"/>
                          <a:ext cx="280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6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2890057"/>
                </p:ext>
              </p:extLst>
            </p:nvPr>
          </p:nvGraphicFramePr>
          <p:xfrm>
            <a:off x="1843" y="3450"/>
            <a:ext cx="2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0" r:id="rId11" imgW="353695" imgH="633730" progId="Equation.3">
                    <p:embed/>
                  </p:oleObj>
                </mc:Choice>
                <mc:Fallback>
                  <p:oleObj r:id="rId11" imgW="353695" imgH="633730" progId="Equation.3">
                    <p:embed/>
                    <p:pic>
                      <p:nvPicPr>
                        <p:cNvPr id="11306" name="Object 37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43" y="3450"/>
                          <a:ext cx="280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7"/>
          <p:cNvGrpSpPr/>
          <p:nvPr/>
        </p:nvGrpSpPr>
        <p:grpSpPr>
          <a:xfrm>
            <a:off x="8288338" y="3017838"/>
            <a:ext cx="2647950" cy="1778000"/>
            <a:chOff x="3934" y="1668"/>
            <a:chExt cx="1668" cy="1120"/>
          </a:xfrm>
        </p:grpSpPr>
        <p:sp>
          <p:nvSpPr>
            <p:cNvPr id="11292" name="Line 54"/>
            <p:cNvSpPr/>
            <p:nvPr/>
          </p:nvSpPr>
          <p:spPr>
            <a:xfrm>
              <a:off x="4162" y="2056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11293" name="Group 55"/>
            <p:cNvGrpSpPr/>
            <p:nvPr/>
          </p:nvGrpSpPr>
          <p:grpSpPr>
            <a:xfrm>
              <a:off x="4740" y="1920"/>
              <a:ext cx="91" cy="272"/>
              <a:chOff x="2925" y="1434"/>
              <a:chExt cx="91" cy="272"/>
            </a:xfrm>
          </p:grpSpPr>
          <p:sp>
            <p:nvSpPr>
              <p:cNvPr id="11302" name="Line 56"/>
              <p:cNvSpPr/>
              <p:nvPr/>
            </p:nvSpPr>
            <p:spPr>
              <a:xfrm>
                <a:off x="2925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3" name="Line 57"/>
              <p:cNvSpPr/>
              <p:nvPr/>
            </p:nvSpPr>
            <p:spPr>
              <a:xfrm>
                <a:off x="3016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294" name="Line 58"/>
            <p:cNvSpPr/>
            <p:nvPr/>
          </p:nvSpPr>
          <p:spPr>
            <a:xfrm>
              <a:off x="4495" y="2056"/>
              <a:ext cx="2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5" name="Line 59"/>
            <p:cNvSpPr/>
            <p:nvPr/>
          </p:nvSpPr>
          <p:spPr>
            <a:xfrm>
              <a:off x="4830" y="2056"/>
              <a:ext cx="43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6" name="Text Box 60"/>
            <p:cNvSpPr txBox="1"/>
            <p:nvPr/>
          </p:nvSpPr>
          <p:spPr>
            <a:xfrm>
              <a:off x="4231" y="1751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1297" name="Text Box 61"/>
            <p:cNvSpPr txBox="1"/>
            <p:nvPr/>
          </p:nvSpPr>
          <p:spPr>
            <a:xfrm>
              <a:off x="4665" y="1668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298" name="Text Box 62"/>
            <p:cNvSpPr txBox="1"/>
            <p:nvPr/>
          </p:nvSpPr>
          <p:spPr>
            <a:xfrm>
              <a:off x="4422" y="2183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FF"/>
                  </a:solidFill>
                  <a:latin typeface="宋体" panose="02010600030101010101" pitchFamily="2" charset="-122"/>
                </a:rPr>
                <a:t>–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zh-CN" sz="2200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1299" name="Text Box 63"/>
            <p:cNvSpPr txBox="1"/>
            <p:nvPr/>
          </p:nvSpPr>
          <p:spPr>
            <a:xfrm>
              <a:off x="3934" y="2500"/>
              <a:ext cx="16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非关联参考方向</a:t>
              </a:r>
            </a:p>
          </p:txBody>
        </p:sp>
        <p:sp>
          <p:nvSpPr>
            <p:cNvPr id="11300" name="Oval 64"/>
            <p:cNvSpPr/>
            <p:nvPr/>
          </p:nvSpPr>
          <p:spPr>
            <a:xfrm>
              <a:off x="4166" y="2027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301" name="Oval 65"/>
            <p:cNvSpPr/>
            <p:nvPr/>
          </p:nvSpPr>
          <p:spPr>
            <a:xfrm>
              <a:off x="5260" y="2027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0965" name="Text Box 69"/>
          <p:cNvSpPr txBox="1"/>
          <p:nvPr/>
        </p:nvSpPr>
        <p:spPr>
          <a:xfrm>
            <a:off x="1781175" y="4471988"/>
            <a:ext cx="1728788" cy="5540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zh-CN" altLang="en-US" sz="36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注意： </a:t>
            </a:r>
          </a:p>
        </p:txBody>
      </p:sp>
      <p:sp>
        <p:nvSpPr>
          <p:cNvPr id="11276" name="Line 71"/>
          <p:cNvSpPr/>
          <p:nvPr/>
        </p:nvSpPr>
        <p:spPr>
          <a:xfrm>
            <a:off x="8343900" y="2851150"/>
            <a:ext cx="2592388" cy="0"/>
          </a:xfrm>
          <a:prstGeom prst="line">
            <a:avLst/>
          </a:prstGeom>
          <a:ln w="76200" cap="flat" cmpd="sng">
            <a:pattFill prst="lgConfetti">
              <a:fgClr>
                <a:srgbClr val="CC00FF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11277" name="Text Box 72">
            <a:hlinkClick r:id="" action="ppaction://noaction"/>
          </p:cNvPr>
          <p:cNvSpPr txBox="1"/>
          <p:nvPr/>
        </p:nvSpPr>
        <p:spPr>
          <a:xfrm>
            <a:off x="3795713" y="214313"/>
            <a:ext cx="41036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5-2  </a:t>
            </a:r>
            <a:r>
              <a:rPr lang="zh-CN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电容的</a:t>
            </a: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VCR</a:t>
            </a:r>
          </a:p>
        </p:txBody>
      </p:sp>
      <p:grpSp>
        <p:nvGrpSpPr>
          <p:cNvPr id="5" name="Group 78"/>
          <p:cNvGrpSpPr/>
          <p:nvPr/>
        </p:nvGrpSpPr>
        <p:grpSpPr>
          <a:xfrm>
            <a:off x="8612188" y="871538"/>
            <a:ext cx="2216150" cy="1790700"/>
            <a:chOff x="4138" y="346"/>
            <a:chExt cx="1396" cy="1127"/>
          </a:xfrm>
        </p:grpSpPr>
        <p:sp>
          <p:nvSpPr>
            <p:cNvPr id="11280" name="Line 75"/>
            <p:cNvSpPr/>
            <p:nvPr/>
          </p:nvSpPr>
          <p:spPr>
            <a:xfrm>
              <a:off x="4238" y="734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11281" name="Group 40"/>
            <p:cNvGrpSpPr/>
            <p:nvPr/>
          </p:nvGrpSpPr>
          <p:grpSpPr>
            <a:xfrm>
              <a:off x="4773" y="598"/>
              <a:ext cx="91" cy="272"/>
              <a:chOff x="2925" y="1434"/>
              <a:chExt cx="91" cy="272"/>
            </a:xfrm>
          </p:grpSpPr>
          <p:sp>
            <p:nvSpPr>
              <p:cNvPr id="11290" name="Line 41"/>
              <p:cNvSpPr/>
              <p:nvPr/>
            </p:nvSpPr>
            <p:spPr>
              <a:xfrm>
                <a:off x="2925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1" name="Line 42"/>
              <p:cNvSpPr/>
              <p:nvPr/>
            </p:nvSpPr>
            <p:spPr>
              <a:xfrm>
                <a:off x="3016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282" name="Line 43"/>
            <p:cNvSpPr/>
            <p:nvPr/>
          </p:nvSpPr>
          <p:spPr>
            <a:xfrm>
              <a:off x="4528" y="734"/>
              <a:ext cx="2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3" name="Line 44"/>
            <p:cNvSpPr/>
            <p:nvPr/>
          </p:nvSpPr>
          <p:spPr>
            <a:xfrm>
              <a:off x="4863" y="734"/>
              <a:ext cx="43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4" name="Text Box 45"/>
            <p:cNvSpPr txBox="1"/>
            <p:nvPr/>
          </p:nvSpPr>
          <p:spPr>
            <a:xfrm>
              <a:off x="4264" y="414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1285" name="Text Box 46"/>
            <p:cNvSpPr txBox="1"/>
            <p:nvPr/>
          </p:nvSpPr>
          <p:spPr>
            <a:xfrm>
              <a:off x="4698" y="346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1286" name="Text Box 47"/>
            <p:cNvSpPr txBox="1"/>
            <p:nvPr/>
          </p:nvSpPr>
          <p:spPr>
            <a:xfrm>
              <a:off x="4467" y="861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200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b="1" dirty="0">
                  <a:solidFill>
                    <a:srgbClr val="FF00FF"/>
                  </a:solidFill>
                  <a:latin typeface="宋体" panose="02010600030101010101" pitchFamily="2" charset="-122"/>
                </a:rPr>
                <a:t>–</a:t>
              </a:r>
            </a:p>
          </p:txBody>
        </p:sp>
        <p:sp>
          <p:nvSpPr>
            <p:cNvPr id="11287" name="Text Box 48"/>
            <p:cNvSpPr txBox="1"/>
            <p:nvPr/>
          </p:nvSpPr>
          <p:spPr>
            <a:xfrm>
              <a:off x="4138" y="1185"/>
              <a:ext cx="13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关联参考方向</a:t>
              </a:r>
            </a:p>
          </p:txBody>
        </p:sp>
        <p:sp>
          <p:nvSpPr>
            <p:cNvPr id="11288" name="Oval 49"/>
            <p:cNvSpPr/>
            <p:nvPr/>
          </p:nvSpPr>
          <p:spPr>
            <a:xfrm>
              <a:off x="4199" y="705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9" name="Oval 50"/>
            <p:cNvSpPr/>
            <p:nvPr/>
          </p:nvSpPr>
          <p:spPr>
            <a:xfrm>
              <a:off x="5293" y="705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279" name="Rectangle 90"/>
          <p:cNvSpPr/>
          <p:nvPr/>
        </p:nvSpPr>
        <p:spPr>
          <a:xfrm>
            <a:off x="11388725" y="133350"/>
            <a:ext cx="514350" cy="3667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FF9900"/>
                </a:solidFill>
                <a:latin typeface="Arial" panose="020B0604020202020204" pitchFamily="34" charset="0"/>
              </a:rPr>
              <a:t>6-2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5" dur="1000"/>
                                        <p:tgtEl>
                                          <p:spTgt spid="8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8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70" decel="100000"/>
                                        <p:tgtEl>
                                          <p:spTgt spid="809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770" decel="100000"/>
                                        <p:tgtEl>
                                          <p:spTgt spid="8096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8" dur="770" fill="hold"/>
                                        <p:tgtEl>
                                          <p:spTgt spid="8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0" dur="770" fill="hold"/>
                                        <p:tgtEl>
                                          <p:spTgt spid="8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69" grpId="0" animBg="1"/>
      <p:bldP spid="80926" grpId="0"/>
      <p:bldP spid="80928" grpId="0"/>
      <p:bldP spid="8096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/>
          <p:nvPr/>
        </p:nvSpPr>
        <p:spPr>
          <a:xfrm>
            <a:off x="920750" y="334963"/>
            <a:ext cx="229235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积分关系</a:t>
            </a:r>
          </a:p>
        </p:txBody>
      </p:sp>
      <p:sp>
        <p:nvSpPr>
          <p:cNvPr id="113744" name="Rectangle 80"/>
          <p:cNvSpPr/>
          <p:nvPr/>
        </p:nvSpPr>
        <p:spPr>
          <a:xfrm>
            <a:off x="6488113" y="4997450"/>
            <a:ext cx="36766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 —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电容电压初始值</a:t>
            </a:r>
          </a:p>
        </p:txBody>
      </p:sp>
      <p:sp>
        <p:nvSpPr>
          <p:cNvPr id="113765" name="Rectangle 101"/>
          <p:cNvSpPr/>
          <p:nvPr/>
        </p:nvSpPr>
        <p:spPr>
          <a:xfrm>
            <a:off x="1751013" y="2603500"/>
            <a:ext cx="8916987" cy="1004888"/>
          </a:xfrm>
          <a:prstGeom prst="rect">
            <a:avLst/>
          </a:prstGeom>
          <a:solidFill>
            <a:srgbClr val="FFFFA3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电容电压 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 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取决于从</a:t>
            </a:r>
            <a:r>
              <a:rPr lang="en-US" altLang="zh-CN" b="1" dirty="0">
                <a:solidFill>
                  <a:srgbClr val="CC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–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到 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所有时刻的电流值。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具有“记忆”电流的作用，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为“记忆”元件，又称惯性元件。</a:t>
            </a:r>
          </a:p>
        </p:txBody>
      </p:sp>
      <p:graphicFrame>
        <p:nvGraphicFramePr>
          <p:cNvPr id="14341" name="Object 107"/>
          <p:cNvGraphicFramePr>
            <a:graphicFrameLocks noChangeAspect="1"/>
          </p:cNvGraphicFramePr>
          <p:nvPr/>
        </p:nvGraphicFramePr>
        <p:xfrm>
          <a:off x="2809875" y="963613"/>
          <a:ext cx="1485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r:id="rId3" imgW="1268095" imgH="633730" progId="Equation.3">
                  <p:embed/>
                </p:oleObj>
              </mc:Choice>
              <mc:Fallback>
                <p:oleObj r:id="rId3" imgW="1268095" imgH="633730" progId="Equation.3">
                  <p:embed/>
                  <p:pic>
                    <p:nvPicPr>
                      <p:cNvPr id="14341" name="Object 10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09875" y="963613"/>
                        <a:ext cx="14859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72" name="Object 108"/>
          <p:cNvGraphicFramePr>
            <a:graphicFrameLocks noChangeAspect="1"/>
          </p:cNvGraphicFramePr>
          <p:nvPr/>
        </p:nvGraphicFramePr>
        <p:xfrm>
          <a:off x="2797175" y="1828800"/>
          <a:ext cx="2578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r:id="rId5" imgW="2238375" imgH="633730" progId="Equation.3">
                  <p:embed/>
                </p:oleObj>
              </mc:Choice>
              <mc:Fallback>
                <p:oleObj r:id="rId5" imgW="2238375" imgH="633730" progId="Equation.3">
                  <p:embed/>
                  <p:pic>
                    <p:nvPicPr>
                      <p:cNvPr id="113772" name="Object 10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97175" y="1828800"/>
                        <a:ext cx="25781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73" name="Object 109"/>
          <p:cNvGraphicFramePr>
            <a:graphicFrameLocks noChangeAspect="1"/>
          </p:cNvGraphicFramePr>
          <p:nvPr/>
        </p:nvGraphicFramePr>
        <p:xfrm>
          <a:off x="2222500" y="3829050"/>
          <a:ext cx="450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2" r:id="rId7" imgW="3938270" imgH="633730" progId="Equation.3">
                  <p:embed/>
                </p:oleObj>
              </mc:Choice>
              <mc:Fallback>
                <p:oleObj r:id="rId7" imgW="3938270" imgH="633730" progId="Equation.3">
                  <p:embed/>
                  <p:pic>
                    <p:nvPicPr>
                      <p:cNvPr id="113773" name="Object 10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22500" y="3829050"/>
                        <a:ext cx="45085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74" name="Object 110"/>
          <p:cNvGraphicFramePr>
            <a:graphicFrameLocks noChangeAspect="1"/>
          </p:cNvGraphicFramePr>
          <p:nvPr/>
        </p:nvGraphicFramePr>
        <p:xfrm>
          <a:off x="2222500" y="4852988"/>
          <a:ext cx="3441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3" r:id="rId9" imgW="2995930" imgH="633730" progId="Equation.3">
                  <p:embed/>
                </p:oleObj>
              </mc:Choice>
              <mc:Fallback>
                <p:oleObj r:id="rId9" imgW="2995930" imgH="633730" progId="Equation.3">
                  <p:embed/>
                  <p:pic>
                    <p:nvPicPr>
                      <p:cNvPr id="113774" name="Object 11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22500" y="4852988"/>
                        <a:ext cx="34417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75" name="Object 111"/>
          <p:cNvGraphicFramePr>
            <a:graphicFrameLocks noChangeAspect="1"/>
          </p:cNvGraphicFramePr>
          <p:nvPr/>
        </p:nvGraphicFramePr>
        <p:xfrm>
          <a:off x="4484688" y="5691188"/>
          <a:ext cx="3340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r:id="rId11" imgW="2911475" imgH="633730" progId="Equation.3">
                  <p:embed/>
                </p:oleObj>
              </mc:Choice>
              <mc:Fallback>
                <p:oleObj r:id="rId11" imgW="2911475" imgH="633730" progId="Equation.3">
                  <p:embed/>
                  <p:pic>
                    <p:nvPicPr>
                      <p:cNvPr id="113775" name="Object 11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84688" y="5691188"/>
                        <a:ext cx="33401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12"/>
          <p:cNvSpPr/>
          <p:nvPr/>
        </p:nvSpPr>
        <p:spPr>
          <a:xfrm>
            <a:off x="2147888" y="1098550"/>
            <a:ext cx="70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</a:p>
        </p:txBody>
      </p:sp>
      <p:sp>
        <p:nvSpPr>
          <p:cNvPr id="113777" name="Rectangle 113"/>
          <p:cNvSpPr/>
          <p:nvPr/>
        </p:nvSpPr>
        <p:spPr>
          <a:xfrm>
            <a:off x="2147888" y="1973263"/>
            <a:ext cx="70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有</a:t>
            </a:r>
          </a:p>
        </p:txBody>
      </p:sp>
      <p:sp>
        <p:nvSpPr>
          <p:cNvPr id="113792" name="Text Box 128"/>
          <p:cNvSpPr txBox="1"/>
          <p:nvPr/>
        </p:nvSpPr>
        <p:spPr>
          <a:xfrm>
            <a:off x="2176463" y="5842000"/>
            <a:ext cx="22637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若 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solidFill>
                  <a:srgbClr val="CC00FF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= 0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则有</a:t>
            </a:r>
          </a:p>
        </p:txBody>
      </p:sp>
      <p:grpSp>
        <p:nvGrpSpPr>
          <p:cNvPr id="14349" name="Group 154"/>
          <p:cNvGrpSpPr/>
          <p:nvPr/>
        </p:nvGrpSpPr>
        <p:grpSpPr>
          <a:xfrm>
            <a:off x="7859713" y="615950"/>
            <a:ext cx="2232025" cy="1789113"/>
            <a:chOff x="3991" y="459"/>
            <a:chExt cx="1406" cy="1127"/>
          </a:xfrm>
        </p:grpSpPr>
        <p:sp>
          <p:nvSpPr>
            <p:cNvPr id="14350" name="Line 130"/>
            <p:cNvSpPr/>
            <p:nvPr/>
          </p:nvSpPr>
          <p:spPr>
            <a:xfrm>
              <a:off x="3991" y="847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grpSp>
          <p:nvGrpSpPr>
            <p:cNvPr id="14351" name="Group 131"/>
            <p:cNvGrpSpPr/>
            <p:nvPr/>
          </p:nvGrpSpPr>
          <p:grpSpPr>
            <a:xfrm>
              <a:off x="4569" y="711"/>
              <a:ext cx="91" cy="272"/>
              <a:chOff x="2925" y="1434"/>
              <a:chExt cx="91" cy="272"/>
            </a:xfrm>
          </p:grpSpPr>
          <p:sp>
            <p:nvSpPr>
              <p:cNvPr id="14360" name="Line 132"/>
              <p:cNvSpPr/>
              <p:nvPr/>
            </p:nvSpPr>
            <p:spPr>
              <a:xfrm>
                <a:off x="2925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61" name="Line 133"/>
              <p:cNvSpPr/>
              <p:nvPr/>
            </p:nvSpPr>
            <p:spPr>
              <a:xfrm>
                <a:off x="3016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4352" name="Line 134"/>
            <p:cNvSpPr/>
            <p:nvPr/>
          </p:nvSpPr>
          <p:spPr>
            <a:xfrm>
              <a:off x="4324" y="847"/>
              <a:ext cx="2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3" name="Line 135"/>
            <p:cNvSpPr/>
            <p:nvPr/>
          </p:nvSpPr>
          <p:spPr>
            <a:xfrm>
              <a:off x="4659" y="847"/>
              <a:ext cx="43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4" name="Text Box 136"/>
            <p:cNvSpPr txBox="1"/>
            <p:nvPr/>
          </p:nvSpPr>
          <p:spPr>
            <a:xfrm>
              <a:off x="4060" y="542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355" name="Text Box 137"/>
            <p:cNvSpPr txBox="1"/>
            <p:nvPr/>
          </p:nvSpPr>
          <p:spPr>
            <a:xfrm>
              <a:off x="4494" y="459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356" name="Text Box 138"/>
            <p:cNvSpPr txBox="1"/>
            <p:nvPr/>
          </p:nvSpPr>
          <p:spPr>
            <a:xfrm>
              <a:off x="4263" y="974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b="1" dirty="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–</a:t>
              </a:r>
            </a:p>
          </p:txBody>
        </p:sp>
        <p:sp>
          <p:nvSpPr>
            <p:cNvPr id="14357" name="Text Box 139"/>
            <p:cNvSpPr txBox="1"/>
            <p:nvPr/>
          </p:nvSpPr>
          <p:spPr>
            <a:xfrm>
              <a:off x="4001" y="1298"/>
              <a:ext cx="13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关联参考方向</a:t>
              </a:r>
            </a:p>
          </p:txBody>
        </p:sp>
        <p:sp>
          <p:nvSpPr>
            <p:cNvPr id="14358" name="Oval 140"/>
            <p:cNvSpPr/>
            <p:nvPr/>
          </p:nvSpPr>
          <p:spPr>
            <a:xfrm>
              <a:off x="3995" y="818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359" name="Oval 141"/>
            <p:cNvSpPr/>
            <p:nvPr/>
          </p:nvSpPr>
          <p:spPr>
            <a:xfrm>
              <a:off x="5089" y="818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137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1377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377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3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376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1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3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1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3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3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44" grpId="0"/>
      <p:bldP spid="113765" grpId="0" build="p" animBg="1" advAuto="1000"/>
      <p:bldP spid="113777" grpId="0"/>
      <p:bldP spid="11379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hlinkClick r:id="" action="ppaction://noaction"/>
          </p:cNvPr>
          <p:cNvSpPr txBox="1"/>
          <p:nvPr/>
        </p:nvSpPr>
        <p:spPr>
          <a:xfrm>
            <a:off x="2133600" y="50800"/>
            <a:ext cx="82438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5-3  </a:t>
            </a:r>
            <a:r>
              <a:rPr lang="zh-CN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电容电压的连续性质和记忆性质</a:t>
            </a:r>
          </a:p>
        </p:txBody>
      </p:sp>
      <p:sp>
        <p:nvSpPr>
          <p:cNvPr id="111621" name="Rectangle 5"/>
          <p:cNvSpPr/>
          <p:nvPr/>
        </p:nvSpPr>
        <p:spPr>
          <a:xfrm>
            <a:off x="1092200" y="3162300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电容电压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的连续性质表述如下：</a:t>
            </a:r>
          </a:p>
        </p:txBody>
      </p:sp>
      <p:grpSp>
        <p:nvGrpSpPr>
          <p:cNvPr id="2" name="Group 52"/>
          <p:cNvGrpSpPr/>
          <p:nvPr/>
        </p:nvGrpSpPr>
        <p:grpSpPr>
          <a:xfrm>
            <a:off x="7716838" y="1651000"/>
            <a:ext cx="3227387" cy="3582988"/>
            <a:chOff x="3682" y="958"/>
            <a:chExt cx="2033" cy="2257"/>
          </a:xfrm>
        </p:grpSpPr>
        <p:sp>
          <p:nvSpPr>
            <p:cNvPr id="16395" name="Line 38"/>
            <p:cNvSpPr/>
            <p:nvPr/>
          </p:nvSpPr>
          <p:spPr>
            <a:xfrm>
              <a:off x="4196" y="1836"/>
              <a:ext cx="0" cy="1163"/>
            </a:xfrm>
            <a:prstGeom prst="line">
              <a:avLst/>
            </a:prstGeom>
            <a:ln w="19050" cap="flat" cmpd="sng">
              <a:solidFill>
                <a:srgbClr val="0033CC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6396" name="Line 3"/>
            <p:cNvSpPr/>
            <p:nvPr/>
          </p:nvSpPr>
          <p:spPr>
            <a:xfrm>
              <a:off x="4877" y="2186"/>
              <a:ext cx="0" cy="813"/>
            </a:xfrm>
            <a:prstGeom prst="line">
              <a:avLst/>
            </a:prstGeom>
            <a:ln w="19050" cap="flat" cmpd="sng">
              <a:solidFill>
                <a:srgbClr val="0033CC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6397" name="Line 4"/>
            <p:cNvSpPr/>
            <p:nvPr/>
          </p:nvSpPr>
          <p:spPr>
            <a:xfrm>
              <a:off x="4423" y="2110"/>
              <a:ext cx="0" cy="889"/>
            </a:xfrm>
            <a:prstGeom prst="line">
              <a:avLst/>
            </a:prstGeom>
            <a:ln w="19050" cap="flat" cmpd="sng">
              <a:solidFill>
                <a:srgbClr val="0033CC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6398" name="Line 6"/>
            <p:cNvSpPr/>
            <p:nvPr/>
          </p:nvSpPr>
          <p:spPr>
            <a:xfrm flipV="1">
              <a:off x="3969" y="1238"/>
              <a:ext cx="0" cy="108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6399" name="Line 7"/>
            <p:cNvSpPr/>
            <p:nvPr/>
          </p:nvSpPr>
          <p:spPr>
            <a:xfrm>
              <a:off x="3743" y="1970"/>
              <a:ext cx="149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6400" name="Text Box 8"/>
            <p:cNvSpPr txBox="1"/>
            <p:nvPr/>
          </p:nvSpPr>
          <p:spPr>
            <a:xfrm>
              <a:off x="3698" y="1366"/>
              <a:ext cx="453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6401" name="Text Box 11"/>
            <p:cNvSpPr txBox="1"/>
            <p:nvPr/>
          </p:nvSpPr>
          <p:spPr>
            <a:xfrm>
              <a:off x="3788" y="1751"/>
              <a:ext cx="363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0</a:t>
              </a:r>
            </a:p>
          </p:txBody>
        </p:sp>
        <p:sp>
          <p:nvSpPr>
            <p:cNvPr id="16402" name="Text Box 12"/>
            <p:cNvSpPr txBox="1"/>
            <p:nvPr/>
          </p:nvSpPr>
          <p:spPr>
            <a:xfrm>
              <a:off x="4042" y="1756"/>
              <a:ext cx="3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2</a:t>
              </a:r>
            </a:p>
          </p:txBody>
        </p:sp>
        <p:sp>
          <p:nvSpPr>
            <p:cNvPr id="16403" name="Text Box 13"/>
            <p:cNvSpPr txBox="1"/>
            <p:nvPr/>
          </p:nvSpPr>
          <p:spPr>
            <a:xfrm>
              <a:off x="3750" y="958"/>
              <a:ext cx="635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i</a:t>
              </a:r>
              <a:r>
                <a:rPr lang="en-US" altLang="zh-CN" sz="20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 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/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A</a:t>
              </a:r>
            </a:p>
          </p:txBody>
        </p:sp>
        <p:sp>
          <p:nvSpPr>
            <p:cNvPr id="16404" name="Text Box 14"/>
            <p:cNvSpPr txBox="1"/>
            <p:nvPr/>
          </p:nvSpPr>
          <p:spPr>
            <a:xfrm>
              <a:off x="3682" y="2063"/>
              <a:ext cx="453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–</a:t>
              </a: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6405" name="Line 15"/>
            <p:cNvSpPr/>
            <p:nvPr/>
          </p:nvSpPr>
          <p:spPr>
            <a:xfrm>
              <a:off x="4198" y="1970"/>
              <a:ext cx="226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6" name="Line 16"/>
            <p:cNvSpPr/>
            <p:nvPr/>
          </p:nvSpPr>
          <p:spPr>
            <a:xfrm>
              <a:off x="4433" y="2199"/>
              <a:ext cx="451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7" name="Line 17"/>
            <p:cNvSpPr/>
            <p:nvPr/>
          </p:nvSpPr>
          <p:spPr>
            <a:xfrm>
              <a:off x="3970" y="1465"/>
              <a:ext cx="226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08" name="Line 18"/>
            <p:cNvSpPr/>
            <p:nvPr/>
          </p:nvSpPr>
          <p:spPr>
            <a:xfrm>
              <a:off x="4196" y="1465"/>
              <a:ext cx="0" cy="499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6409" name="Group 19"/>
            <p:cNvGrpSpPr/>
            <p:nvPr/>
          </p:nvGrpSpPr>
          <p:grpSpPr>
            <a:xfrm>
              <a:off x="4423" y="1964"/>
              <a:ext cx="454" cy="249"/>
              <a:chOff x="1610" y="1760"/>
              <a:chExt cx="454" cy="318"/>
            </a:xfrm>
          </p:grpSpPr>
          <p:sp>
            <p:nvSpPr>
              <p:cNvPr id="16427" name="Line 20"/>
              <p:cNvSpPr/>
              <p:nvPr/>
            </p:nvSpPr>
            <p:spPr>
              <a:xfrm>
                <a:off x="1610" y="1760"/>
                <a:ext cx="0" cy="31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28" name="Line 21"/>
              <p:cNvSpPr/>
              <p:nvPr/>
            </p:nvSpPr>
            <p:spPr>
              <a:xfrm>
                <a:off x="2064" y="1760"/>
                <a:ext cx="0" cy="31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410" name="Text Box 22"/>
            <p:cNvSpPr txBox="1"/>
            <p:nvPr/>
          </p:nvSpPr>
          <p:spPr>
            <a:xfrm>
              <a:off x="5239" y="1820"/>
              <a:ext cx="47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t</a:t>
              </a:r>
              <a:r>
                <a:rPr lang="en-US" altLang="zh-CN" b="1" i="1" baseline="-25000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 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(s)</a:t>
              </a:r>
            </a:p>
          </p:txBody>
        </p:sp>
        <p:sp>
          <p:nvSpPr>
            <p:cNvPr id="16411" name="Text Box 23"/>
            <p:cNvSpPr txBox="1"/>
            <p:nvPr/>
          </p:nvSpPr>
          <p:spPr>
            <a:xfrm>
              <a:off x="4311" y="1750"/>
              <a:ext cx="3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412" name="Text Box 24"/>
            <p:cNvSpPr txBox="1"/>
            <p:nvPr/>
          </p:nvSpPr>
          <p:spPr>
            <a:xfrm>
              <a:off x="4772" y="1750"/>
              <a:ext cx="3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6413" name="Line 25"/>
            <p:cNvSpPr/>
            <p:nvPr/>
          </p:nvSpPr>
          <p:spPr>
            <a:xfrm>
              <a:off x="3978" y="2199"/>
              <a:ext cx="451" cy="0"/>
            </a:xfrm>
            <a:prstGeom prst="line">
              <a:avLst/>
            </a:prstGeom>
            <a:ln w="19050" cap="flat" cmpd="sng">
              <a:solidFill>
                <a:srgbClr val="0033CC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6414" name="Line 26"/>
            <p:cNvSpPr/>
            <p:nvPr/>
          </p:nvSpPr>
          <p:spPr>
            <a:xfrm flipV="1">
              <a:off x="3963" y="2535"/>
              <a:ext cx="0" cy="59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6415" name="Line 27"/>
            <p:cNvSpPr/>
            <p:nvPr/>
          </p:nvSpPr>
          <p:spPr>
            <a:xfrm>
              <a:off x="3737" y="2997"/>
              <a:ext cx="149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16416" name="Text Box 28"/>
            <p:cNvSpPr txBox="1"/>
            <p:nvPr/>
          </p:nvSpPr>
          <p:spPr>
            <a:xfrm>
              <a:off x="3692" y="2598"/>
              <a:ext cx="453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6417" name="Text Box 31"/>
            <p:cNvSpPr txBox="1"/>
            <p:nvPr/>
          </p:nvSpPr>
          <p:spPr>
            <a:xfrm>
              <a:off x="3782" y="2961"/>
              <a:ext cx="363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0</a:t>
              </a:r>
            </a:p>
          </p:txBody>
        </p:sp>
        <p:sp>
          <p:nvSpPr>
            <p:cNvPr id="16418" name="Text Box 32"/>
            <p:cNvSpPr txBox="1"/>
            <p:nvPr/>
          </p:nvSpPr>
          <p:spPr>
            <a:xfrm>
              <a:off x="4095" y="2965"/>
              <a:ext cx="3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2</a:t>
              </a:r>
            </a:p>
          </p:txBody>
        </p:sp>
        <p:sp>
          <p:nvSpPr>
            <p:cNvPr id="16419" name="Text Box 33"/>
            <p:cNvSpPr txBox="1"/>
            <p:nvPr/>
          </p:nvSpPr>
          <p:spPr>
            <a:xfrm>
              <a:off x="3759" y="2285"/>
              <a:ext cx="635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0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 </a:t>
              </a: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/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6420" name="Text Box 34"/>
            <p:cNvSpPr txBox="1"/>
            <p:nvPr/>
          </p:nvSpPr>
          <p:spPr>
            <a:xfrm>
              <a:off x="5233" y="2847"/>
              <a:ext cx="47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t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0033CC"/>
                  </a:solidFill>
                  <a:latin typeface="Times New Roman" panose="02020603050405020304" pitchFamily="18" charset="0"/>
                  <a:ea typeface="New Gulim" pitchFamily="18" charset="-127"/>
                </a:rPr>
                <a:t>(s)</a:t>
              </a:r>
            </a:p>
          </p:txBody>
        </p:sp>
        <p:sp>
          <p:nvSpPr>
            <p:cNvPr id="16421" name="Text Box 35"/>
            <p:cNvSpPr txBox="1"/>
            <p:nvPr/>
          </p:nvSpPr>
          <p:spPr>
            <a:xfrm>
              <a:off x="4305" y="2965"/>
              <a:ext cx="3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422" name="Text Box 36"/>
            <p:cNvSpPr txBox="1"/>
            <p:nvPr/>
          </p:nvSpPr>
          <p:spPr>
            <a:xfrm>
              <a:off x="4766" y="2965"/>
              <a:ext cx="317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6423" name="Line 37"/>
            <p:cNvSpPr/>
            <p:nvPr/>
          </p:nvSpPr>
          <p:spPr>
            <a:xfrm>
              <a:off x="3963" y="2734"/>
              <a:ext cx="270" cy="0"/>
            </a:xfrm>
            <a:prstGeom prst="line">
              <a:avLst/>
            </a:prstGeom>
            <a:ln w="19050" cap="flat" cmpd="sng">
              <a:solidFill>
                <a:srgbClr val="0033CC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6424" name="Line 39"/>
            <p:cNvSpPr/>
            <p:nvPr/>
          </p:nvSpPr>
          <p:spPr>
            <a:xfrm>
              <a:off x="4200" y="2734"/>
              <a:ext cx="226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5" name="Line 40"/>
            <p:cNvSpPr/>
            <p:nvPr/>
          </p:nvSpPr>
          <p:spPr>
            <a:xfrm flipV="1">
              <a:off x="3963" y="2726"/>
              <a:ext cx="249" cy="272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26" name="Line 41"/>
            <p:cNvSpPr/>
            <p:nvPr/>
          </p:nvSpPr>
          <p:spPr>
            <a:xfrm flipH="1" flipV="1">
              <a:off x="4417" y="2734"/>
              <a:ext cx="467" cy="258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6389" name="Object 42"/>
          <p:cNvGraphicFramePr>
            <a:graphicFrameLocks noChangeAspect="1"/>
          </p:cNvGraphicFramePr>
          <p:nvPr/>
        </p:nvGraphicFramePr>
        <p:xfrm>
          <a:off x="2514600" y="1233488"/>
          <a:ext cx="3441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r:id="rId3" imgW="2995930" imgH="633730" progId="Equation.3">
                  <p:embed/>
                </p:oleObj>
              </mc:Choice>
              <mc:Fallback>
                <p:oleObj r:id="rId3" imgW="2995930" imgH="633730" progId="Equation.3">
                  <p:embed/>
                  <p:pic>
                    <p:nvPicPr>
                      <p:cNvPr id="16389" name="Object 4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1233488"/>
                        <a:ext cx="34417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43"/>
          <p:cNvSpPr txBox="1"/>
          <p:nvPr/>
        </p:nvSpPr>
        <p:spPr>
          <a:xfrm>
            <a:off x="628650" y="749300"/>
            <a:ext cx="4271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电容电压的连续性质</a:t>
            </a:r>
          </a:p>
        </p:txBody>
      </p:sp>
      <p:sp>
        <p:nvSpPr>
          <p:cNvPr id="111662" name="Rectangle 46"/>
          <p:cNvSpPr/>
          <p:nvPr/>
        </p:nvSpPr>
        <p:spPr>
          <a:xfrm>
            <a:off x="1106488" y="2024063"/>
            <a:ext cx="54864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当电容电流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不连续时，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电容电压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是连续的。</a:t>
            </a:r>
          </a:p>
        </p:txBody>
      </p:sp>
      <p:sp>
        <p:nvSpPr>
          <p:cNvPr id="111663" name="Rectangle 47"/>
          <p:cNvSpPr/>
          <p:nvPr/>
        </p:nvSpPr>
        <p:spPr>
          <a:xfrm>
            <a:off x="830263" y="3663950"/>
            <a:ext cx="6670675" cy="1689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当电容电流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 (t)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在闭区间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[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]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内为有界的，则电容电压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u(t)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在开区间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)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内为连续的。特别是，对任意时刻</a:t>
            </a:r>
            <a:r>
              <a:rPr lang="zh-CN" altLang="en-US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，且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&lt;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&lt;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，有</a:t>
            </a:r>
          </a:p>
        </p:txBody>
      </p:sp>
      <p:sp>
        <p:nvSpPr>
          <p:cNvPr id="111664" name="Rectangle 48"/>
          <p:cNvSpPr/>
          <p:nvPr/>
        </p:nvSpPr>
        <p:spPr>
          <a:xfrm>
            <a:off x="2133600" y="5483225"/>
            <a:ext cx="2859088" cy="538163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solidFill>
                  <a:srgbClr val="FF3300"/>
                </a:solidFill>
                <a:latin typeface="宋体" panose="02010600030101010101" pitchFamily="2" charset="-122"/>
              </a:rPr>
              <a:t>-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rgbClr val="FF3300"/>
                </a:solidFill>
                <a:latin typeface="宋体-方正超大字符集" pitchFamily="65" charset="-122"/>
                <a:ea typeface="宋体-方正超大字符集" pitchFamily="65" charset="-122"/>
              </a:rPr>
              <a:t>=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1666" name="Rectangle 50"/>
          <p:cNvSpPr/>
          <p:nvPr/>
        </p:nvSpPr>
        <p:spPr>
          <a:xfrm>
            <a:off x="2128838" y="6180138"/>
            <a:ext cx="6156325" cy="538162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文字表述为：电容电压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C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不能跃变。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1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62" grpId="0" build="p" advAuto="1000"/>
      <p:bldP spid="111663" grpId="0" build="p" advAuto="1000"/>
      <p:bldP spid="111664" grpId="0" animBg="1"/>
      <p:bldP spid="11166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/>
          <p:nvPr/>
        </p:nvSpPr>
        <p:spPr>
          <a:xfrm>
            <a:off x="349250" y="260350"/>
            <a:ext cx="4054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280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电容电压的记忆性质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481388" y="758825"/>
          <a:ext cx="2578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r:id="rId3" imgW="2238375" imgH="633730" progId="Equation.3">
                  <p:embed/>
                </p:oleObj>
              </mc:Choice>
              <mc:Fallback>
                <p:oleObj r:id="rId3" imgW="2238375" imgH="633730" progId="Equation.3">
                  <p:embed/>
                  <p:pic>
                    <p:nvPicPr>
                      <p:cNvPr id="17411" name="Object 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81388" y="758825"/>
                        <a:ext cx="25781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4"/>
          <p:cNvSpPr/>
          <p:nvPr/>
        </p:nvSpPr>
        <p:spPr>
          <a:xfrm>
            <a:off x="2566988" y="873125"/>
            <a:ext cx="708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</a:p>
        </p:txBody>
      </p:sp>
      <p:sp>
        <p:nvSpPr>
          <p:cNvPr id="17413" name="Rectangle 5"/>
          <p:cNvSpPr/>
          <p:nvPr/>
        </p:nvSpPr>
        <p:spPr>
          <a:xfrm>
            <a:off x="1271588" y="1508125"/>
            <a:ext cx="9648825" cy="1308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可知：电容电压的大小取决于电容电流的全部历史，所以说电容电压具有“记忆”电流的性质。</a:t>
            </a:r>
          </a:p>
        </p:txBody>
      </p:sp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5175250" y="2882900"/>
          <a:ext cx="3441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r:id="rId5" imgW="2995930" imgH="633730" progId="Equation.3">
                  <p:embed/>
                </p:oleObj>
              </mc:Choice>
              <mc:Fallback>
                <p:oleObj r:id="rId5" imgW="2995930" imgH="633730" progId="Equation.3">
                  <p:embed/>
                  <p:pic>
                    <p:nvPicPr>
                      <p:cNvPr id="110599" name="Object 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75250" y="2882900"/>
                        <a:ext cx="34417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Rectangle 8"/>
          <p:cNvSpPr/>
          <p:nvPr/>
        </p:nvSpPr>
        <p:spPr>
          <a:xfrm>
            <a:off x="3422650" y="2959100"/>
            <a:ext cx="16557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关系式</a:t>
            </a:r>
          </a:p>
        </p:txBody>
      </p:sp>
      <p:sp>
        <p:nvSpPr>
          <p:cNvPr id="110601" name="Rectangle 9"/>
          <p:cNvSpPr/>
          <p:nvPr/>
        </p:nvSpPr>
        <p:spPr>
          <a:xfrm>
            <a:off x="1450975" y="3738563"/>
            <a:ext cx="9613900" cy="661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是更具有实际意义的、反映电容电压“记忆”性质关系式。</a:t>
            </a:r>
          </a:p>
        </p:txBody>
      </p:sp>
      <p:sp>
        <p:nvSpPr>
          <p:cNvPr id="110603" name="Rectangle 11"/>
          <p:cNvSpPr/>
          <p:nvPr/>
        </p:nvSpPr>
        <p:spPr>
          <a:xfrm>
            <a:off x="1163638" y="4751388"/>
            <a:ext cx="10009187" cy="1630362"/>
          </a:xfrm>
          <a:prstGeom prst="rect">
            <a:avLst/>
          </a:prstGeom>
          <a:solidFill>
            <a:srgbClr val="FFFFA3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在分析 </a:t>
            </a:r>
            <a:r>
              <a:rPr lang="en-US" altLang="zh-CN" sz="2800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i="1" baseline="-250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≥</a:t>
            </a:r>
            <a:r>
              <a:rPr lang="en-US" altLang="zh-CN" sz="2800" i="1" baseline="-250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aseline="-250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、含电容元件的动态电路时，电容电压初始值是一个必备的条件，即必须考虑 </a:t>
            </a:r>
            <a:r>
              <a:rPr lang="en-US" altLang="zh-CN" sz="2800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</a:t>
            </a:r>
            <a:r>
              <a:rPr lang="en-US" altLang="zh-CN" sz="2800" i="1" baseline="-250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i="1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aseline="-250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en-US" altLang="zh-CN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 </a:t>
            </a:r>
            <a:r>
              <a:rPr lang="zh-CN" altLang="en-US" sz="2800" dirty="0">
                <a:solidFill>
                  <a:srgbClr val="CC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对电路响应的影响，因此，这是一个非常重要的概念。</a:t>
            </a:r>
          </a:p>
        </p:txBody>
      </p:sp>
      <p:sp>
        <p:nvSpPr>
          <p:cNvPr id="17418" name="Rectangle 12"/>
          <p:cNvSpPr/>
          <p:nvPr/>
        </p:nvSpPr>
        <p:spPr>
          <a:xfrm>
            <a:off x="11606213" y="76200"/>
            <a:ext cx="514350" cy="3667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800" dirty="0">
                <a:solidFill>
                  <a:srgbClr val="FF9900"/>
                </a:solidFill>
                <a:latin typeface="Arial" panose="020B0604020202020204" pitchFamily="34" charset="0"/>
              </a:rPr>
              <a:t>6-3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060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0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0" grpId="0"/>
      <p:bldP spid="110601" grpId="0"/>
      <p:bldP spid="110603" grpId="0" build="p" animBg="1" advAuto="100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2554288" y="1011238"/>
          <a:ext cx="450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r:id="rId3" imgW="3938270" imgH="633730" progId="Equation.3">
                  <p:embed/>
                </p:oleObj>
              </mc:Choice>
              <mc:Fallback>
                <p:oleObj r:id="rId3" imgW="3938270" imgH="633730" progId="Equation.3">
                  <p:embed/>
                  <p:pic>
                    <p:nvPicPr>
                      <p:cNvPr id="18434" name="Object 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4288" y="1011238"/>
                        <a:ext cx="45085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547938" y="1874838"/>
          <a:ext cx="3441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r:id="rId5" imgW="2995930" imgH="633730" progId="Equation.3">
                  <p:embed/>
                </p:oleObj>
              </mc:Choice>
              <mc:Fallback>
                <p:oleObj r:id="rId5" imgW="2995930" imgH="633730" progId="Equation.3">
                  <p:embed/>
                  <p:pic>
                    <p:nvPicPr>
                      <p:cNvPr id="18435" name="Object 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47938" y="1874838"/>
                        <a:ext cx="34417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/>
          <p:nvPr/>
        </p:nvSpPr>
        <p:spPr>
          <a:xfrm>
            <a:off x="587375" y="317500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电容初始电压 </a:t>
            </a:r>
            <a:r>
              <a:rPr lang="en-US" altLang="zh-CN" sz="2800" b="1" i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lang="en-US" altLang="zh-CN" sz="2800" b="1" i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b="1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的等效电路</a:t>
            </a:r>
          </a:p>
        </p:txBody>
      </p:sp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6126163" y="2087563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r:id="rId7" imgW="1397000" imgH="291465" progId="Equation.3">
                  <p:embed/>
                </p:oleObj>
              </mc:Choice>
              <mc:Fallback>
                <p:oleObj r:id="rId7" imgW="1397000" imgH="291465" progId="Equation.3">
                  <p:embed/>
                  <p:pic>
                    <p:nvPicPr>
                      <p:cNvPr id="112645" name="Object 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26163" y="2087563"/>
                        <a:ext cx="1625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6" name="Text Box 6"/>
          <p:cNvSpPr txBox="1"/>
          <p:nvPr/>
        </p:nvSpPr>
        <p:spPr>
          <a:xfrm>
            <a:off x="8172450" y="2071688"/>
            <a:ext cx="16922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2" name="Group 73"/>
          <p:cNvGrpSpPr/>
          <p:nvPr/>
        </p:nvGrpSpPr>
        <p:grpSpPr>
          <a:xfrm>
            <a:off x="2173288" y="2852738"/>
            <a:ext cx="3270250" cy="2252662"/>
            <a:chOff x="408" y="1956"/>
            <a:chExt cx="2060" cy="1419"/>
          </a:xfrm>
        </p:grpSpPr>
        <p:sp>
          <p:nvSpPr>
            <p:cNvPr id="18463" name="Rectangle 22"/>
            <p:cNvSpPr/>
            <p:nvPr/>
          </p:nvSpPr>
          <p:spPr>
            <a:xfrm>
              <a:off x="839" y="3048"/>
              <a:ext cx="1225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-方正超大字符集" pitchFamily="65" charset="-122"/>
                  <a:ea typeface="宋体-方正超大字符集" pitchFamily="65" charset="-122"/>
                </a:rPr>
                <a:t>=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8464" name="Group 69"/>
            <p:cNvGrpSpPr/>
            <p:nvPr/>
          </p:nvGrpSpPr>
          <p:grpSpPr>
            <a:xfrm>
              <a:off x="408" y="1956"/>
              <a:ext cx="2060" cy="952"/>
              <a:chOff x="567" y="2115"/>
              <a:chExt cx="2060" cy="952"/>
            </a:xfrm>
          </p:grpSpPr>
          <p:grpSp>
            <p:nvGrpSpPr>
              <p:cNvPr id="18465" name="Group 56"/>
              <p:cNvGrpSpPr/>
              <p:nvPr/>
            </p:nvGrpSpPr>
            <p:grpSpPr>
              <a:xfrm>
                <a:off x="1268" y="2642"/>
                <a:ext cx="816" cy="334"/>
                <a:chOff x="1406" y="2574"/>
                <a:chExt cx="816" cy="272"/>
              </a:xfrm>
            </p:grpSpPr>
            <p:sp>
              <p:nvSpPr>
                <p:cNvPr id="18474" name="Line 10"/>
                <p:cNvSpPr/>
                <p:nvPr/>
              </p:nvSpPr>
              <p:spPr>
                <a:xfrm>
                  <a:off x="1406" y="2846"/>
                  <a:ext cx="816" cy="0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75" name="Line 19"/>
                <p:cNvSpPr/>
                <p:nvPr/>
              </p:nvSpPr>
              <p:spPr>
                <a:xfrm>
                  <a:off x="2222" y="2574"/>
                  <a:ext cx="0" cy="27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8466" name="Text Box 20"/>
              <p:cNvSpPr txBox="1"/>
              <p:nvPr/>
            </p:nvSpPr>
            <p:spPr>
              <a:xfrm>
                <a:off x="2218" y="2432"/>
                <a:ext cx="409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8467" name="Rectangle 21"/>
              <p:cNvSpPr/>
              <p:nvPr/>
            </p:nvSpPr>
            <p:spPr>
              <a:xfrm>
                <a:off x="1377" y="2213"/>
                <a:ext cx="574" cy="82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+</a:t>
                </a:r>
              </a:p>
              <a:p>
                <a:pPr algn="ctr" eaLnBrk="1" hangingPunct="1"/>
                <a:r>
                  <a:rPr lang="en-US" altLang="zh-CN" sz="28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800" b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)</a:t>
                </a:r>
              </a:p>
              <a:p>
                <a:pPr algn="ctr" eaLnBrk="1" hangingPunct="1"/>
                <a:r>
                  <a:rPr lang="en-US" altLang="zh-CN" sz="2800" b="1" dirty="0">
                    <a:solidFill>
                      <a:srgbClr val="0000FF"/>
                    </a:solidFill>
                    <a:latin typeface="宋体" panose="02010600030101010101" pitchFamily="2" charset="-122"/>
                  </a:rPr>
                  <a:t>–</a:t>
                </a:r>
                <a:endParaRPr lang="en-US" altLang="zh-CN" sz="2800" b="1" u="sng" dirty="0">
                  <a:solidFill>
                    <a:srgbClr val="0000FF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8468" name="Line 16"/>
              <p:cNvSpPr/>
              <p:nvPr/>
            </p:nvSpPr>
            <p:spPr>
              <a:xfrm>
                <a:off x="1951" y="2642"/>
                <a:ext cx="272" cy="0"/>
              </a:xfrm>
              <a:prstGeom prst="line">
                <a:avLst/>
              </a:prstGeom>
              <a:ln w="4445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9" name="Line 17"/>
              <p:cNvSpPr/>
              <p:nvPr/>
            </p:nvSpPr>
            <p:spPr>
              <a:xfrm>
                <a:off x="1951" y="2551"/>
                <a:ext cx="272" cy="0"/>
              </a:xfrm>
              <a:prstGeom prst="line">
                <a:avLst/>
              </a:prstGeom>
              <a:ln w="4445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18470" name="Group 57"/>
              <p:cNvGrpSpPr/>
              <p:nvPr/>
            </p:nvGrpSpPr>
            <p:grpSpPr>
              <a:xfrm>
                <a:off x="1268" y="2205"/>
                <a:ext cx="816" cy="340"/>
                <a:chOff x="1406" y="2205"/>
                <a:chExt cx="816" cy="272"/>
              </a:xfrm>
            </p:grpSpPr>
            <p:sp>
              <p:nvSpPr>
                <p:cNvPr id="18472" name="Line 9"/>
                <p:cNvSpPr/>
                <p:nvPr/>
              </p:nvSpPr>
              <p:spPr>
                <a:xfrm>
                  <a:off x="1406" y="2205"/>
                  <a:ext cx="816" cy="0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73" name="Line 53"/>
                <p:cNvSpPr/>
                <p:nvPr/>
              </p:nvSpPr>
              <p:spPr>
                <a:xfrm>
                  <a:off x="2222" y="2205"/>
                  <a:ext cx="0" cy="27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8471" name="Rectangle 55"/>
              <p:cNvSpPr/>
              <p:nvPr/>
            </p:nvSpPr>
            <p:spPr>
              <a:xfrm>
                <a:off x="567" y="2115"/>
                <a:ext cx="704" cy="952"/>
              </a:xfrm>
              <a:prstGeom prst="rect">
                <a:avLst/>
              </a:prstGeom>
              <a:solidFill>
                <a:srgbClr val="FFFFCC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>
                  <a:lnSpc>
                    <a:spcPct val="80000"/>
                  </a:lnSpc>
                </a:pPr>
                <a:r>
                  <a:rPr lang="en-US" altLang="zh-CN" sz="3200" b="1" dirty="0">
                    <a:solidFill>
                      <a:srgbClr val="CC00FF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</p:grpSp>
      </p:grpSp>
      <p:sp>
        <p:nvSpPr>
          <p:cNvPr id="112711" name="AutoShape 71"/>
          <p:cNvSpPr/>
          <p:nvPr/>
        </p:nvSpPr>
        <p:spPr>
          <a:xfrm>
            <a:off x="5376863" y="3429000"/>
            <a:ext cx="865187" cy="468313"/>
          </a:xfrm>
          <a:prstGeom prst="rightArrow">
            <a:avLst>
              <a:gd name="adj1" fmla="val 51861"/>
              <a:gd name="adj2" fmla="val 115303"/>
            </a:avLst>
          </a:prstGeom>
          <a:solidFill>
            <a:srgbClr val="99FFCC"/>
          </a:solidFill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12" name="Rectangle 72" descr="水滴"/>
          <p:cNvSpPr/>
          <p:nvPr/>
        </p:nvSpPr>
        <p:spPr>
          <a:xfrm>
            <a:off x="1271588" y="5424488"/>
            <a:ext cx="9612312" cy="1028700"/>
          </a:xfrm>
          <a:prstGeom prst="rect">
            <a:avLst/>
          </a:prstGeom>
          <a:blipFill rotWithShape="1">
            <a:blip r:embed="rId9"/>
          </a:blip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</a:pP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：可将电压初始值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800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宋体-方正超大字符集" pitchFamily="65" charset="-122"/>
                <a:ea typeface="宋体-方正超大字符集" pitchFamily="65" charset="-122"/>
              </a:rPr>
              <a:t>=</a:t>
            </a:r>
            <a:r>
              <a:rPr lang="en-US" altLang="zh-CN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的电容等效为一个未充电的电容与电压源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的串联。</a:t>
            </a:r>
          </a:p>
        </p:txBody>
      </p:sp>
      <p:sp>
        <p:nvSpPr>
          <p:cNvPr id="18442" name="Rectangle 75"/>
          <p:cNvSpPr/>
          <p:nvPr/>
        </p:nvSpPr>
        <p:spPr>
          <a:xfrm>
            <a:off x="11391900" y="195263"/>
            <a:ext cx="514350" cy="3667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FF9900"/>
                </a:solidFill>
                <a:latin typeface="Arial" panose="020B0604020202020204" pitchFamily="34" charset="0"/>
              </a:rPr>
              <a:t>6-3</a:t>
            </a:r>
          </a:p>
        </p:txBody>
      </p:sp>
      <p:sp>
        <p:nvSpPr>
          <p:cNvPr id="112716" name="Rectangle 76"/>
          <p:cNvSpPr/>
          <p:nvPr/>
        </p:nvSpPr>
        <p:spPr>
          <a:xfrm>
            <a:off x="10153650" y="4381500"/>
            <a:ext cx="1260475" cy="841375"/>
          </a:xfrm>
          <a:prstGeom prst="rect">
            <a:avLst/>
          </a:prstGeom>
          <a:solidFill>
            <a:srgbClr val="FFFF99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  <a:r>
              <a:rPr lang="en-US" altLang="zh-CN" b="1" i="1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endParaRPr lang="en-US" altLang="zh-CN" b="1" dirty="0">
              <a:solidFill>
                <a:srgbClr val="FF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 eaLnBrk="1" hangingPunct="1"/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的方向</a:t>
            </a:r>
          </a:p>
        </p:txBody>
      </p:sp>
      <p:grpSp>
        <p:nvGrpSpPr>
          <p:cNvPr id="3" name="Group 77"/>
          <p:cNvGrpSpPr/>
          <p:nvPr/>
        </p:nvGrpSpPr>
        <p:grpSpPr>
          <a:xfrm>
            <a:off x="6667500" y="2808288"/>
            <a:ext cx="3795713" cy="2439987"/>
            <a:chOff x="3130" y="1706"/>
            <a:chExt cx="2391" cy="1537"/>
          </a:xfrm>
        </p:grpSpPr>
        <p:sp>
          <p:nvSpPr>
            <p:cNvPr id="18445" name="Oval 34"/>
            <p:cNvSpPr/>
            <p:nvPr/>
          </p:nvSpPr>
          <p:spPr>
            <a:xfrm>
              <a:off x="4626" y="2364"/>
              <a:ext cx="272" cy="272"/>
            </a:xfrm>
            <a:prstGeom prst="ellipse">
              <a:avLst/>
            </a:prstGeom>
            <a:solidFill>
              <a:srgbClr val="FFFFA3"/>
            </a:solidFill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446" name="Rectangle 45"/>
            <p:cNvSpPr/>
            <p:nvPr/>
          </p:nvSpPr>
          <p:spPr>
            <a:xfrm>
              <a:off x="4936" y="1719"/>
              <a:ext cx="585" cy="59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70000"/>
                </a:lnSpc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18447" name="Group 46"/>
            <p:cNvGrpSpPr/>
            <p:nvPr/>
          </p:nvGrpSpPr>
          <p:grpSpPr>
            <a:xfrm>
              <a:off x="3198" y="2659"/>
              <a:ext cx="182" cy="182"/>
              <a:chOff x="4332" y="1752"/>
              <a:chExt cx="182" cy="182"/>
            </a:xfrm>
          </p:grpSpPr>
          <p:sp>
            <p:nvSpPr>
              <p:cNvPr id="18461" name="Line 47"/>
              <p:cNvSpPr/>
              <p:nvPr/>
            </p:nvSpPr>
            <p:spPr>
              <a:xfrm>
                <a:off x="4332" y="1842"/>
                <a:ext cx="182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2" name="Line 48"/>
              <p:cNvSpPr/>
              <p:nvPr/>
            </p:nvSpPr>
            <p:spPr>
              <a:xfrm rot="5400000">
                <a:off x="4331" y="1843"/>
                <a:ext cx="182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48" name="Rectangle 50"/>
            <p:cNvSpPr/>
            <p:nvPr/>
          </p:nvSpPr>
          <p:spPr>
            <a:xfrm>
              <a:off x="3674" y="2970"/>
              <a:ext cx="1112" cy="273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</a:pP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-方正超大字符集" pitchFamily="65" charset="-122"/>
                  <a:ea typeface="宋体-方正超大字符集" pitchFamily="65" charset="-122"/>
                </a:rPr>
                <a:t>=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8449" name="Group 58"/>
            <p:cNvGrpSpPr/>
            <p:nvPr/>
          </p:nvGrpSpPr>
          <p:grpSpPr>
            <a:xfrm>
              <a:off x="3833" y="2115"/>
              <a:ext cx="931" cy="657"/>
              <a:chOff x="1406" y="2574"/>
              <a:chExt cx="816" cy="272"/>
            </a:xfrm>
          </p:grpSpPr>
          <p:sp>
            <p:nvSpPr>
              <p:cNvPr id="18459" name="Line 59"/>
              <p:cNvSpPr/>
              <p:nvPr/>
            </p:nvSpPr>
            <p:spPr>
              <a:xfrm>
                <a:off x="1406" y="2846"/>
                <a:ext cx="81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60" name="Line 60"/>
              <p:cNvSpPr/>
              <p:nvPr/>
            </p:nvSpPr>
            <p:spPr>
              <a:xfrm>
                <a:off x="2222" y="2574"/>
                <a:ext cx="0" cy="27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450" name="Text Box 61"/>
            <p:cNvSpPr txBox="1"/>
            <p:nvPr/>
          </p:nvSpPr>
          <p:spPr>
            <a:xfrm>
              <a:off x="4377" y="1888"/>
              <a:ext cx="409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451" name="Rectangle 62"/>
            <p:cNvSpPr/>
            <p:nvPr/>
          </p:nvSpPr>
          <p:spPr>
            <a:xfrm>
              <a:off x="3855" y="1710"/>
              <a:ext cx="574" cy="107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40000"/>
                </a:lnSpc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18452" name="Line 63"/>
            <p:cNvSpPr/>
            <p:nvPr/>
          </p:nvSpPr>
          <p:spPr>
            <a:xfrm>
              <a:off x="4631" y="2111"/>
              <a:ext cx="272" cy="0"/>
            </a:xfrm>
            <a:prstGeom prst="line">
              <a:avLst/>
            </a:prstGeom>
            <a:ln w="4445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3" name="Line 64"/>
            <p:cNvSpPr/>
            <p:nvPr/>
          </p:nvSpPr>
          <p:spPr>
            <a:xfrm>
              <a:off x="4631" y="2020"/>
              <a:ext cx="272" cy="0"/>
            </a:xfrm>
            <a:prstGeom prst="line">
              <a:avLst/>
            </a:prstGeom>
            <a:ln w="4445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54" name="Group 65"/>
            <p:cNvGrpSpPr/>
            <p:nvPr/>
          </p:nvGrpSpPr>
          <p:grpSpPr>
            <a:xfrm>
              <a:off x="3833" y="1797"/>
              <a:ext cx="931" cy="227"/>
              <a:chOff x="1406" y="2205"/>
              <a:chExt cx="816" cy="272"/>
            </a:xfrm>
          </p:grpSpPr>
          <p:sp>
            <p:nvSpPr>
              <p:cNvPr id="18457" name="Line 66"/>
              <p:cNvSpPr/>
              <p:nvPr/>
            </p:nvSpPr>
            <p:spPr>
              <a:xfrm>
                <a:off x="1406" y="2205"/>
                <a:ext cx="81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8" name="Line 67"/>
              <p:cNvSpPr/>
              <p:nvPr/>
            </p:nvSpPr>
            <p:spPr>
              <a:xfrm>
                <a:off x="2222" y="2205"/>
                <a:ext cx="0" cy="27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5" name="Rectangle 68"/>
            <p:cNvSpPr>
              <a:spLocks noChangeArrowheads="1"/>
            </p:cNvSpPr>
            <p:nvPr/>
          </p:nvSpPr>
          <p:spPr bwMode="auto">
            <a:xfrm>
              <a:off x="3130" y="1706"/>
              <a:ext cx="704" cy="113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CC00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18456" name="Rectangle 70"/>
            <p:cNvSpPr/>
            <p:nvPr/>
          </p:nvSpPr>
          <p:spPr>
            <a:xfrm>
              <a:off x="4936" y="2241"/>
              <a:ext cx="410" cy="59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70000"/>
                </a:lnSpc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zh-CN" sz="28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7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1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127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1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7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2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800"/>
                            </p:stCondLst>
                            <p:childTnLst>
                              <p:par>
                                <p:cTn id="4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/>
      <p:bldP spid="112711" grpId="0" animBg="1"/>
      <p:bldP spid="112712" grpId="0" build="p" animBg="1"/>
      <p:bldP spid="112716" grpId="0" build="p" animBg="1" advAuto="100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/>
          <p:nvPr/>
        </p:nvSpPr>
        <p:spPr>
          <a:xfrm>
            <a:off x="1524000" y="2855913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648" name="Text Box 8"/>
          <p:cNvSpPr txBox="1"/>
          <p:nvPr/>
        </p:nvSpPr>
        <p:spPr>
          <a:xfrm>
            <a:off x="442913" y="2082800"/>
            <a:ext cx="10855325" cy="1309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某一时刻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的电容电压反映该时刻储能状况，电容电压的连续性和记忆性均来自电容的储能本性。</a:t>
            </a:r>
          </a:p>
        </p:txBody>
      </p:sp>
      <p:sp>
        <p:nvSpPr>
          <p:cNvPr id="112649" name="Text Box 9" descr="画布"/>
          <p:cNvSpPr txBox="1"/>
          <p:nvPr/>
        </p:nvSpPr>
        <p:spPr>
          <a:xfrm>
            <a:off x="1609725" y="5399088"/>
            <a:ext cx="10190163" cy="955675"/>
          </a:xfrm>
          <a:prstGeom prst="rect">
            <a:avLst/>
          </a:prstGeom>
          <a:blipFill rotWithShape="1">
            <a:blip r:embed="rId3"/>
          </a:blipFill>
          <a:ln w="9525">
            <a:noFill/>
          </a:ln>
          <a:effectLst>
            <a:prstShdw prst="shdw17" dist="17961" dir="2699999">
              <a:srgbClr val="99997A"/>
            </a:prstShdw>
          </a:effectLst>
        </p:spPr>
        <p:txBody>
          <a:bodyPr>
            <a:spAutoFit/>
          </a:bodyPr>
          <a:lstStyle/>
          <a:p>
            <a:pPr marL="342900" indent="-342900"/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）由状态变量可确定电路中任一变量</a:t>
            </a:r>
            <a:r>
              <a:rPr lang="en-US" altLang="zh-CN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见下章</a:t>
            </a:r>
            <a:r>
              <a:rPr lang="en-US" altLang="zh-CN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。作为状态变量，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是分析含电容动态电路时的主要对象。</a:t>
            </a:r>
          </a:p>
        </p:txBody>
      </p:sp>
      <p:sp>
        <p:nvSpPr>
          <p:cNvPr id="23557" name="Rectangle 14"/>
          <p:cNvSpPr/>
          <p:nvPr/>
        </p:nvSpPr>
        <p:spPr>
          <a:xfrm>
            <a:off x="1524000" y="-230187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558" name="Rectangle 16"/>
          <p:cNvSpPr/>
          <p:nvPr/>
        </p:nvSpPr>
        <p:spPr>
          <a:xfrm>
            <a:off x="1524000" y="-230187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559" name="Rectangle 18"/>
          <p:cNvSpPr/>
          <p:nvPr/>
        </p:nvSpPr>
        <p:spPr>
          <a:xfrm>
            <a:off x="1524000" y="-230187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803275" y="1123950"/>
            <a:ext cx="6804025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电容是储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存电场能的元件。某时刻储能为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112659" name="Object 19"/>
          <p:cNvGraphicFramePr>
            <a:graphicFrameLocks noChangeAspect="1"/>
          </p:cNvGraphicFramePr>
          <p:nvPr/>
        </p:nvGraphicFramePr>
        <p:xfrm>
          <a:off x="7424738" y="981075"/>
          <a:ext cx="302895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r:id="rId4" imgW="1116965" imgH="393700" progId="Equation.3">
                  <p:embed/>
                </p:oleObj>
              </mc:Choice>
              <mc:Fallback>
                <p:oleObj r:id="rId4" imgW="1116965" imgH="393700" progId="Equation.3">
                  <p:embed/>
                  <p:pic>
                    <p:nvPicPr>
                      <p:cNvPr id="112659" name="Object 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24738" y="981075"/>
                        <a:ext cx="3028950" cy="10588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765E76"/>
                          </a:gs>
                          <a:gs pos="100000">
                            <a:srgbClr val="FFCCFF"/>
                          </a:gs>
                        </a:gsLst>
                        <a:lin ang="27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60" name="Text Box 20"/>
          <p:cNvSpPr txBox="1"/>
          <p:nvPr/>
        </p:nvSpPr>
        <p:spPr>
          <a:xfrm>
            <a:off x="784225" y="3627438"/>
            <a:ext cx="80391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电容电压属动态电路分析中的状态（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state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）变量。</a:t>
            </a:r>
          </a:p>
        </p:txBody>
      </p:sp>
      <p:sp>
        <p:nvSpPr>
          <p:cNvPr id="112661" name="Text Box 21"/>
          <p:cNvSpPr txBox="1"/>
          <p:nvPr/>
        </p:nvSpPr>
        <p:spPr>
          <a:xfrm>
            <a:off x="212725" y="4210050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它满足：</a:t>
            </a:r>
          </a:p>
        </p:txBody>
      </p:sp>
      <p:sp>
        <p:nvSpPr>
          <p:cNvPr id="112662" name="Text Box 22" descr="画布"/>
          <p:cNvSpPr txBox="1"/>
          <p:nvPr/>
        </p:nvSpPr>
        <p:spPr>
          <a:xfrm>
            <a:off x="1622425" y="4268788"/>
            <a:ext cx="10190163" cy="954087"/>
          </a:xfrm>
          <a:prstGeom prst="rect">
            <a:avLst/>
          </a:prstGeom>
          <a:blipFill rotWithShape="1">
            <a:blip r:embed="rId3"/>
          </a:blipFill>
          <a:ln w="9525">
            <a:noFill/>
          </a:ln>
          <a:effectLst>
            <a:prstShdw prst="shdw17" dist="17961" dir="2699999">
              <a:srgbClr val="99997A"/>
            </a:prstShdw>
          </a:effec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）给定初始状态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和所有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≥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的输入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)]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就能确定在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≥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时的状态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。见</a:t>
            </a:r>
            <a:r>
              <a:rPr lang="en-US" altLang="zh-CN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VCR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的积分形式。</a:t>
            </a:r>
          </a:p>
        </p:txBody>
      </p:sp>
      <p:sp>
        <p:nvSpPr>
          <p:cNvPr id="23565" name="Text Box 2">
            <a:hlinkClick r:id="" action="ppaction://noaction"/>
          </p:cNvPr>
          <p:cNvSpPr txBox="1"/>
          <p:nvPr/>
        </p:nvSpPr>
        <p:spPr>
          <a:xfrm>
            <a:off x="3759200" y="179388"/>
            <a:ext cx="43561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5-4  </a:t>
            </a:r>
            <a:r>
              <a:rPr lang="zh-CN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电容的储能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12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11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8" grpId="0"/>
      <p:bldP spid="112649" grpId="0" animBg="1"/>
      <p:bldP spid="112646" grpId="0"/>
      <p:bldP spid="112660" grpId="0"/>
      <p:bldP spid="112661" grpId="0"/>
      <p:bldP spid="11266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/>
          <p:nvPr/>
        </p:nvSpPr>
        <p:spPr>
          <a:xfrm>
            <a:off x="2281238" y="2362200"/>
            <a:ext cx="1943100" cy="827088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960438" y="714375"/>
            <a:ext cx="22558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微分关系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4932" name="Text Box 4"/>
          <p:cNvSpPr txBox="1"/>
          <p:nvPr/>
        </p:nvSpPr>
        <p:spPr>
          <a:xfrm>
            <a:off x="4764088" y="2576513"/>
            <a:ext cx="2303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关联参考方向</a:t>
            </a:r>
          </a:p>
        </p:txBody>
      </p:sp>
      <p:sp>
        <p:nvSpPr>
          <p:cNvPr id="124933" name="Text Box 5"/>
          <p:cNvSpPr txBox="1"/>
          <p:nvPr/>
        </p:nvSpPr>
        <p:spPr>
          <a:xfrm>
            <a:off x="4656138" y="3705225"/>
            <a:ext cx="25923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非关联参考方向</a:t>
            </a:r>
          </a:p>
        </p:txBody>
      </p:sp>
      <p:graphicFrame>
        <p:nvGraphicFramePr>
          <p:cNvPr id="124934" name="Object 6"/>
          <p:cNvGraphicFramePr>
            <a:graphicFrameLocks noChangeAspect="1"/>
          </p:cNvGraphicFramePr>
          <p:nvPr/>
        </p:nvGraphicFramePr>
        <p:xfrm>
          <a:off x="2398713" y="1371600"/>
          <a:ext cx="3162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r:id="rId3" imgW="2754630" imgH="633730" progId="Equation.3">
                  <p:embed/>
                </p:oleObj>
              </mc:Choice>
              <mc:Fallback>
                <p:oleObj r:id="rId3" imgW="2754630" imgH="633730" progId="Equation.3">
                  <p:embed/>
                  <p:pic>
                    <p:nvPicPr>
                      <p:cNvPr id="124934" name="Object 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98713" y="1371600"/>
                        <a:ext cx="31623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5" name="Object 7"/>
          <p:cNvGraphicFramePr>
            <a:graphicFrameLocks noChangeAspect="1"/>
          </p:cNvGraphicFramePr>
          <p:nvPr/>
        </p:nvGraphicFramePr>
        <p:xfrm>
          <a:off x="2508250" y="2381250"/>
          <a:ext cx="1460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1" r:id="rId5" imgW="1245235" imgH="633730" progId="Equation.3">
                  <p:embed/>
                </p:oleObj>
              </mc:Choice>
              <mc:Fallback>
                <p:oleObj r:id="rId5" imgW="1245235" imgH="633730" progId="Equation.3">
                  <p:embed/>
                  <p:pic>
                    <p:nvPicPr>
                      <p:cNvPr id="124935" name="Object 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08250" y="2381250"/>
                        <a:ext cx="14605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6" name="Object 8"/>
          <p:cNvGraphicFramePr>
            <a:graphicFrameLocks noChangeAspect="1"/>
          </p:cNvGraphicFramePr>
          <p:nvPr/>
        </p:nvGraphicFramePr>
        <p:xfrm>
          <a:off x="2424113" y="3597275"/>
          <a:ext cx="1714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2" r:id="rId7" imgW="1475105" imgH="633730" progId="Equation.3">
                  <p:embed/>
                </p:oleObj>
              </mc:Choice>
              <mc:Fallback>
                <p:oleObj r:id="rId7" imgW="1475105" imgH="633730" progId="Equation.3">
                  <p:embed/>
                  <p:pic>
                    <p:nvPicPr>
                      <p:cNvPr id="124936" name="Object 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24113" y="3597275"/>
                        <a:ext cx="17145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2387600" y="4887914"/>
            <a:ext cx="7956550" cy="1603375"/>
            <a:chOff x="499" y="2989"/>
            <a:chExt cx="5012" cy="1010"/>
          </a:xfrm>
        </p:grpSpPr>
        <p:sp>
          <p:nvSpPr>
            <p:cNvPr id="35893" name="Text Box 10"/>
            <p:cNvSpPr txBox="1"/>
            <p:nvPr/>
          </p:nvSpPr>
          <p:spPr>
            <a:xfrm>
              <a:off x="499" y="3113"/>
              <a:ext cx="5012" cy="8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457200" indent="-457200" eaLnBrk="1" hangingPunct="1">
                <a:lnSpc>
                  <a:spcPct val="12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(1)</a:t>
              </a:r>
              <a:r>
                <a:rPr lang="en-US" altLang="zh-CN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与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的变化率       成正比，而与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的数值无关。</a:t>
              </a:r>
            </a:p>
            <a:p>
              <a:pPr marL="457200" indent="-457200" eaLnBrk="1" hangingPunct="1">
                <a:lnSpc>
                  <a:spcPct val="120000"/>
                </a:lnSpc>
              </a:pPr>
              <a:endPara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pPr marL="457200" indent="-457200" eaLnBrk="1" hangingPunct="1">
                <a:lnSpc>
                  <a:spcPct val="120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(2)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为有限值，则       为有限值，即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r>
                <a:rPr lang="en-US" altLang="zh-CN" sz="1800" baseline="-25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 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不能跃变。</a:t>
              </a:r>
            </a:p>
          </p:txBody>
        </p:sp>
        <p:graphicFrame>
          <p:nvGraphicFramePr>
            <p:cNvPr id="3589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6707703"/>
                </p:ext>
              </p:extLst>
            </p:nvPr>
          </p:nvGraphicFramePr>
          <p:xfrm>
            <a:off x="1917" y="2989"/>
            <a:ext cx="2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3" r:id="rId9" imgW="291465" imgH="633730" progId="Equation.3">
                    <p:embed/>
                  </p:oleObj>
                </mc:Choice>
                <mc:Fallback>
                  <p:oleObj r:id="rId9" imgW="291465" imgH="633730" progId="Equation.3">
                    <p:embed/>
                    <p:pic>
                      <p:nvPicPr>
                        <p:cNvPr id="35894" name="Object 1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17" y="2989"/>
                          <a:ext cx="240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1725225"/>
                </p:ext>
              </p:extLst>
            </p:nvPr>
          </p:nvGraphicFramePr>
          <p:xfrm>
            <a:off x="1876" y="3440"/>
            <a:ext cx="2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84" r:id="rId11" imgW="291465" imgH="633730" progId="Equation.3">
                    <p:embed/>
                  </p:oleObj>
                </mc:Choice>
                <mc:Fallback>
                  <p:oleObj r:id="rId11" imgW="291465" imgH="633730" progId="Equation.3">
                    <p:embed/>
                    <p:pic>
                      <p:nvPicPr>
                        <p:cNvPr id="35895" name="Object 1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76" y="3440"/>
                          <a:ext cx="240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4969" name="Text Box 41"/>
          <p:cNvSpPr txBox="1"/>
          <p:nvPr/>
        </p:nvSpPr>
        <p:spPr>
          <a:xfrm>
            <a:off x="1487488" y="4467225"/>
            <a:ext cx="1728787" cy="554038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</a:pPr>
            <a:r>
              <a:rPr lang="zh-CN" altLang="en-US" sz="3600" b="1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注意： </a:t>
            </a:r>
          </a:p>
        </p:txBody>
      </p:sp>
      <p:sp>
        <p:nvSpPr>
          <p:cNvPr id="35851" name="Line 42"/>
          <p:cNvSpPr/>
          <p:nvPr/>
        </p:nvSpPr>
        <p:spPr>
          <a:xfrm>
            <a:off x="7999413" y="2855913"/>
            <a:ext cx="2592387" cy="0"/>
          </a:xfrm>
          <a:prstGeom prst="line">
            <a:avLst/>
          </a:prstGeom>
          <a:ln w="76200" cap="flat" cmpd="sng">
            <a:pattFill prst="lgConfetti">
              <a:fgClr>
                <a:srgbClr val="CC00FF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35852" name="Text Box 43">
            <a:hlinkClick r:id="" action="ppaction://noaction"/>
          </p:cNvPr>
          <p:cNvSpPr txBox="1"/>
          <p:nvPr/>
        </p:nvSpPr>
        <p:spPr>
          <a:xfrm>
            <a:off x="4138613" y="103188"/>
            <a:ext cx="41036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</a:t>
            </a: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5-6  </a:t>
            </a:r>
            <a:r>
              <a:rPr lang="zh-CN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电感的</a:t>
            </a: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VCR</a:t>
            </a:r>
          </a:p>
        </p:txBody>
      </p:sp>
      <p:grpSp>
        <p:nvGrpSpPr>
          <p:cNvPr id="3" name="Group 99"/>
          <p:cNvGrpSpPr/>
          <p:nvPr/>
        </p:nvGrpSpPr>
        <p:grpSpPr>
          <a:xfrm>
            <a:off x="8304213" y="974725"/>
            <a:ext cx="2216150" cy="1582738"/>
            <a:chOff x="4138" y="476"/>
            <a:chExt cx="1396" cy="997"/>
          </a:xfrm>
        </p:grpSpPr>
        <p:sp>
          <p:nvSpPr>
            <p:cNvPr id="35874" name="Text Box 22"/>
            <p:cNvSpPr txBox="1"/>
            <p:nvPr/>
          </p:nvSpPr>
          <p:spPr>
            <a:xfrm>
              <a:off x="4467" y="861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200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zh-CN" b="1" dirty="0">
                  <a:solidFill>
                    <a:srgbClr val="FF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-</a:t>
              </a:r>
            </a:p>
          </p:txBody>
        </p:sp>
        <p:sp>
          <p:nvSpPr>
            <p:cNvPr id="35875" name="Text Box 23"/>
            <p:cNvSpPr txBox="1"/>
            <p:nvPr/>
          </p:nvSpPr>
          <p:spPr>
            <a:xfrm>
              <a:off x="4138" y="1185"/>
              <a:ext cx="13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关联参考方向</a:t>
              </a:r>
            </a:p>
          </p:txBody>
        </p:sp>
        <p:sp>
          <p:nvSpPr>
            <p:cNvPr id="35876" name="Line 45"/>
            <p:cNvSpPr/>
            <p:nvPr/>
          </p:nvSpPr>
          <p:spPr>
            <a:xfrm>
              <a:off x="4195" y="837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5877" name="Text Box 46"/>
            <p:cNvSpPr txBox="1"/>
            <p:nvPr/>
          </p:nvSpPr>
          <p:spPr>
            <a:xfrm>
              <a:off x="4232" y="522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5878" name="Line 50"/>
            <p:cNvSpPr/>
            <p:nvPr/>
          </p:nvSpPr>
          <p:spPr>
            <a:xfrm>
              <a:off x="4999" y="837"/>
              <a:ext cx="3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9" name="Text Box 51"/>
            <p:cNvSpPr txBox="1"/>
            <p:nvPr/>
          </p:nvSpPr>
          <p:spPr>
            <a:xfrm>
              <a:off x="4712" y="476"/>
              <a:ext cx="3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5880" name="Oval 52"/>
            <p:cNvSpPr/>
            <p:nvPr/>
          </p:nvSpPr>
          <p:spPr>
            <a:xfrm>
              <a:off x="5295" y="804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881" name="Line 53"/>
            <p:cNvSpPr/>
            <p:nvPr/>
          </p:nvSpPr>
          <p:spPr>
            <a:xfrm>
              <a:off x="4410" y="837"/>
              <a:ext cx="21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5882" name="Group 54"/>
            <p:cNvGrpSpPr/>
            <p:nvPr/>
          </p:nvGrpSpPr>
          <p:grpSpPr>
            <a:xfrm rot="-5400000" flipV="1">
              <a:off x="4764" y="621"/>
              <a:ext cx="84" cy="363"/>
              <a:chOff x="3946" y="3029"/>
              <a:chExt cx="96" cy="432"/>
            </a:xfrm>
          </p:grpSpPr>
          <p:grpSp>
            <p:nvGrpSpPr>
              <p:cNvPr id="35884" name="Group 55"/>
              <p:cNvGrpSpPr/>
              <p:nvPr/>
            </p:nvGrpSpPr>
            <p:grpSpPr>
              <a:xfrm rot="-10800000" flipH="1">
                <a:off x="3946" y="3317"/>
                <a:ext cx="96" cy="144"/>
                <a:chOff x="4176" y="2553"/>
                <a:chExt cx="144" cy="288"/>
              </a:xfrm>
            </p:grpSpPr>
            <p:sp>
              <p:nvSpPr>
                <p:cNvPr id="35891" name="Arc 56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2" name="Arc 57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885" name="Group 58"/>
              <p:cNvGrpSpPr/>
              <p:nvPr/>
            </p:nvGrpSpPr>
            <p:grpSpPr>
              <a:xfrm rot="-10800000" flipH="1">
                <a:off x="3946" y="3174"/>
                <a:ext cx="96" cy="144"/>
                <a:chOff x="4176" y="2553"/>
                <a:chExt cx="144" cy="288"/>
              </a:xfrm>
            </p:grpSpPr>
            <p:sp>
              <p:nvSpPr>
                <p:cNvPr id="35889" name="Arc 59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0" name="Arc 60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886" name="Group 61"/>
              <p:cNvGrpSpPr/>
              <p:nvPr/>
            </p:nvGrpSpPr>
            <p:grpSpPr>
              <a:xfrm rot="-10800000" flipH="1">
                <a:off x="3946" y="3029"/>
                <a:ext cx="96" cy="144"/>
                <a:chOff x="4176" y="2553"/>
                <a:chExt cx="144" cy="288"/>
              </a:xfrm>
            </p:grpSpPr>
            <p:sp>
              <p:nvSpPr>
                <p:cNvPr id="35887" name="Arc 62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8" name="Arc 63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5883" name="Oval 64"/>
            <p:cNvSpPr/>
            <p:nvPr/>
          </p:nvSpPr>
          <p:spPr>
            <a:xfrm>
              <a:off x="4150" y="810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100"/>
          <p:cNvGrpSpPr/>
          <p:nvPr/>
        </p:nvGrpSpPr>
        <p:grpSpPr>
          <a:xfrm>
            <a:off x="7980363" y="3143250"/>
            <a:ext cx="2647950" cy="1501775"/>
            <a:chOff x="3934" y="1842"/>
            <a:chExt cx="1668" cy="946"/>
          </a:xfrm>
        </p:grpSpPr>
        <p:sp>
          <p:nvSpPr>
            <p:cNvPr id="35855" name="Text Box 36"/>
            <p:cNvSpPr txBox="1"/>
            <p:nvPr/>
          </p:nvSpPr>
          <p:spPr>
            <a:xfrm>
              <a:off x="4422" y="2183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-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zh-CN" sz="2200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5856" name="Text Box 37"/>
            <p:cNvSpPr txBox="1"/>
            <p:nvPr/>
          </p:nvSpPr>
          <p:spPr>
            <a:xfrm>
              <a:off x="3934" y="2500"/>
              <a:ext cx="16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非关联参考方向</a:t>
              </a:r>
            </a:p>
          </p:txBody>
        </p:sp>
        <p:sp>
          <p:nvSpPr>
            <p:cNvPr id="35857" name="Line 82"/>
            <p:cNvSpPr/>
            <p:nvPr/>
          </p:nvSpPr>
          <p:spPr>
            <a:xfrm>
              <a:off x="4218" y="2203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5858" name="Text Box 83"/>
            <p:cNvSpPr txBox="1"/>
            <p:nvPr/>
          </p:nvSpPr>
          <p:spPr>
            <a:xfrm>
              <a:off x="4255" y="1888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5859" name="Line 84"/>
            <p:cNvSpPr/>
            <p:nvPr/>
          </p:nvSpPr>
          <p:spPr>
            <a:xfrm>
              <a:off x="5022" y="2203"/>
              <a:ext cx="3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0" name="Text Box 85"/>
            <p:cNvSpPr txBox="1"/>
            <p:nvPr/>
          </p:nvSpPr>
          <p:spPr>
            <a:xfrm>
              <a:off x="4735" y="1842"/>
              <a:ext cx="3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5861" name="Oval 86"/>
            <p:cNvSpPr/>
            <p:nvPr/>
          </p:nvSpPr>
          <p:spPr>
            <a:xfrm>
              <a:off x="5318" y="2170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862" name="Line 87"/>
            <p:cNvSpPr/>
            <p:nvPr/>
          </p:nvSpPr>
          <p:spPr>
            <a:xfrm>
              <a:off x="4433" y="2203"/>
              <a:ext cx="21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5863" name="Group 88"/>
            <p:cNvGrpSpPr/>
            <p:nvPr/>
          </p:nvGrpSpPr>
          <p:grpSpPr>
            <a:xfrm rot="-5400000" flipV="1">
              <a:off x="4787" y="1987"/>
              <a:ext cx="84" cy="363"/>
              <a:chOff x="3946" y="3029"/>
              <a:chExt cx="96" cy="432"/>
            </a:xfrm>
          </p:grpSpPr>
          <p:grpSp>
            <p:nvGrpSpPr>
              <p:cNvPr id="35865" name="Group 89"/>
              <p:cNvGrpSpPr/>
              <p:nvPr/>
            </p:nvGrpSpPr>
            <p:grpSpPr>
              <a:xfrm rot="-10800000" flipH="1">
                <a:off x="3946" y="3317"/>
                <a:ext cx="96" cy="144"/>
                <a:chOff x="4176" y="2553"/>
                <a:chExt cx="144" cy="288"/>
              </a:xfrm>
            </p:grpSpPr>
            <p:sp>
              <p:nvSpPr>
                <p:cNvPr id="35872" name="Arc 90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3" name="Arc 91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866" name="Group 92"/>
              <p:cNvGrpSpPr/>
              <p:nvPr/>
            </p:nvGrpSpPr>
            <p:grpSpPr>
              <a:xfrm rot="-10800000" flipH="1">
                <a:off x="3946" y="3174"/>
                <a:ext cx="96" cy="144"/>
                <a:chOff x="4176" y="2553"/>
                <a:chExt cx="144" cy="288"/>
              </a:xfrm>
            </p:grpSpPr>
            <p:sp>
              <p:nvSpPr>
                <p:cNvPr id="35870" name="Arc 93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1" name="Arc 94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867" name="Group 95"/>
              <p:cNvGrpSpPr/>
              <p:nvPr/>
            </p:nvGrpSpPr>
            <p:grpSpPr>
              <a:xfrm rot="-10800000" flipH="1">
                <a:off x="3946" y="3029"/>
                <a:ext cx="96" cy="144"/>
                <a:chOff x="4176" y="2553"/>
                <a:chExt cx="144" cy="288"/>
              </a:xfrm>
            </p:grpSpPr>
            <p:sp>
              <p:nvSpPr>
                <p:cNvPr id="35868" name="Arc 96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9" name="Arc 97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5864" name="Oval 98"/>
            <p:cNvSpPr/>
            <p:nvPr/>
          </p:nvSpPr>
          <p:spPr>
            <a:xfrm>
              <a:off x="4173" y="2176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1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5" dur="10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32" grpId="0"/>
      <p:bldP spid="124933" grpId="0"/>
      <p:bldP spid="12496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/>
          <p:nvPr/>
        </p:nvSpPr>
        <p:spPr>
          <a:xfrm>
            <a:off x="1001713" y="309563"/>
            <a:ext cx="22923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积分关系</a:t>
            </a:r>
          </a:p>
        </p:txBody>
      </p:sp>
      <p:sp>
        <p:nvSpPr>
          <p:cNvPr id="125955" name="Rectangle 3"/>
          <p:cNvSpPr/>
          <p:nvPr/>
        </p:nvSpPr>
        <p:spPr>
          <a:xfrm>
            <a:off x="6853238" y="5048250"/>
            <a:ext cx="36766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 —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电感电流初始值</a:t>
            </a:r>
          </a:p>
        </p:txBody>
      </p:sp>
      <p:sp>
        <p:nvSpPr>
          <p:cNvPr id="125956" name="Text Box 4"/>
          <p:cNvSpPr txBox="1"/>
          <p:nvPr/>
        </p:nvSpPr>
        <p:spPr>
          <a:xfrm>
            <a:off x="2176463" y="5883275"/>
            <a:ext cx="22637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若 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solidFill>
                  <a:srgbClr val="CC00FF"/>
                </a:solidFill>
                <a:latin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= 0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则有</a:t>
            </a:r>
          </a:p>
        </p:txBody>
      </p:sp>
      <p:sp>
        <p:nvSpPr>
          <p:cNvPr id="125957" name="Rectangle 5"/>
          <p:cNvSpPr/>
          <p:nvPr/>
        </p:nvSpPr>
        <p:spPr>
          <a:xfrm>
            <a:off x="1524000" y="2782888"/>
            <a:ext cx="9036050" cy="1103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电感电流 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取决于从 </a:t>
            </a:r>
            <a:r>
              <a:rPr lang="en-US" altLang="zh-CN" b="1" dirty="0">
                <a:solidFill>
                  <a:srgbClr val="CC00FF"/>
                </a:solidFill>
                <a:latin typeface="宋体" panose="02010600030101010101" pitchFamily="2" charset="-122"/>
              </a:rPr>
              <a:t>-</a:t>
            </a:r>
            <a:r>
              <a:rPr lang="en-US" altLang="zh-CN" b="1" dirty="0">
                <a:solidFill>
                  <a:srgbClr val="CC00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到 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所有时刻的电压值。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CC00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具有“记忆”电压的作用，</a:t>
            </a:r>
            <a:r>
              <a:rPr lang="en-US" altLang="zh-CN" b="1" i="1" dirty="0">
                <a:solidFill>
                  <a:srgbClr val="CC00FF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solidFill>
                  <a:srgbClr val="CC00FF"/>
                </a:solidFill>
                <a:latin typeface="Times New Roman" panose="02020603050405020304" pitchFamily="18" charset="0"/>
              </a:rPr>
              <a:t>为“记忆”元件，也称惯性元件。</a:t>
            </a:r>
          </a:p>
        </p:txBody>
      </p:sp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2889250" y="1784350"/>
          <a:ext cx="3530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r:id="rId3" imgW="3079750" imgH="622935" progId="Equation.3">
                  <p:embed/>
                </p:oleObj>
              </mc:Choice>
              <mc:Fallback>
                <p:oleObj r:id="rId3" imgW="3079750" imgH="622935" progId="Equation.3">
                  <p:embed/>
                  <p:pic>
                    <p:nvPicPr>
                      <p:cNvPr id="125959" name="Object 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89250" y="1784350"/>
                        <a:ext cx="35306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/>
        </p:nvGraphicFramePr>
        <p:xfrm>
          <a:off x="2279650" y="4041775"/>
          <a:ext cx="4572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r:id="rId5" imgW="3999865" imgH="622935" progId="Equation.3">
                  <p:embed/>
                </p:oleObj>
              </mc:Choice>
              <mc:Fallback>
                <p:oleObj r:id="rId5" imgW="3999865" imgH="622935" progId="Equation.3">
                  <p:embed/>
                  <p:pic>
                    <p:nvPicPr>
                      <p:cNvPr id="125960" name="Object 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79650" y="4041775"/>
                        <a:ext cx="45720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1" name="Object 9"/>
          <p:cNvGraphicFramePr>
            <a:graphicFrameLocks noChangeAspect="1"/>
          </p:cNvGraphicFramePr>
          <p:nvPr/>
        </p:nvGraphicFramePr>
        <p:xfrm>
          <a:off x="2254250" y="4900613"/>
          <a:ext cx="3378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r:id="rId7" imgW="2945130" imgH="622935" progId="Equation.3">
                  <p:embed/>
                </p:oleObj>
              </mc:Choice>
              <mc:Fallback>
                <p:oleObj r:id="rId7" imgW="2945130" imgH="622935" progId="Equation.3">
                  <p:embed/>
                  <p:pic>
                    <p:nvPicPr>
                      <p:cNvPr id="125961" name="Object 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54250" y="4900613"/>
                        <a:ext cx="33782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11"/>
          <p:cNvSpPr/>
          <p:nvPr/>
        </p:nvSpPr>
        <p:spPr>
          <a:xfrm>
            <a:off x="2147888" y="1003300"/>
            <a:ext cx="70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</a:p>
        </p:txBody>
      </p:sp>
      <p:sp>
        <p:nvSpPr>
          <p:cNvPr id="125964" name="Rectangle 12"/>
          <p:cNvSpPr/>
          <p:nvPr/>
        </p:nvSpPr>
        <p:spPr>
          <a:xfrm>
            <a:off x="2147888" y="1922463"/>
            <a:ext cx="708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36875" name="Object 48"/>
          <p:cNvGraphicFramePr>
            <a:graphicFrameLocks noChangeAspect="1"/>
          </p:cNvGraphicFramePr>
          <p:nvPr/>
        </p:nvGraphicFramePr>
        <p:xfrm>
          <a:off x="2906713" y="869950"/>
          <a:ext cx="1460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r:id="rId9" imgW="1245235" imgH="633730" progId="Equation.3">
                  <p:embed/>
                </p:oleObj>
              </mc:Choice>
              <mc:Fallback>
                <p:oleObj r:id="rId9" imgW="1245235" imgH="633730" progId="Equation.3">
                  <p:embed/>
                  <p:pic>
                    <p:nvPicPr>
                      <p:cNvPr id="36875" name="Object 4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06713" y="869950"/>
                        <a:ext cx="14605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01" name="Object 49"/>
          <p:cNvGraphicFramePr>
            <a:graphicFrameLocks noChangeAspect="1"/>
          </p:cNvGraphicFramePr>
          <p:nvPr/>
        </p:nvGraphicFramePr>
        <p:xfrm>
          <a:off x="4441825" y="5762625"/>
          <a:ext cx="323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r:id="rId11" imgW="2821940" imgH="633730" progId="Equation.3">
                  <p:embed/>
                </p:oleObj>
              </mc:Choice>
              <mc:Fallback>
                <p:oleObj r:id="rId11" imgW="2821940" imgH="633730" progId="Equation.3">
                  <p:embed/>
                  <p:pic>
                    <p:nvPicPr>
                      <p:cNvPr id="126001" name="Object 4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41825" y="5762625"/>
                        <a:ext cx="32385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7" name="Group 51"/>
          <p:cNvGrpSpPr/>
          <p:nvPr/>
        </p:nvGrpSpPr>
        <p:grpSpPr>
          <a:xfrm>
            <a:off x="8313738" y="1131888"/>
            <a:ext cx="2216150" cy="1582737"/>
            <a:chOff x="4138" y="476"/>
            <a:chExt cx="1396" cy="997"/>
          </a:xfrm>
        </p:grpSpPr>
        <p:sp>
          <p:nvSpPr>
            <p:cNvPr id="36879" name="Text Box 52"/>
            <p:cNvSpPr txBox="1"/>
            <p:nvPr/>
          </p:nvSpPr>
          <p:spPr>
            <a:xfrm>
              <a:off x="4467" y="861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zh-CN" b="1" dirty="0">
                  <a:solidFill>
                    <a:srgbClr val="FF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36880" name="Text Box 53"/>
            <p:cNvSpPr txBox="1"/>
            <p:nvPr/>
          </p:nvSpPr>
          <p:spPr>
            <a:xfrm>
              <a:off x="4138" y="1185"/>
              <a:ext cx="13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关联参考方向</a:t>
              </a:r>
            </a:p>
          </p:txBody>
        </p:sp>
        <p:sp>
          <p:nvSpPr>
            <p:cNvPr id="36881" name="Line 54"/>
            <p:cNvSpPr/>
            <p:nvPr/>
          </p:nvSpPr>
          <p:spPr>
            <a:xfrm>
              <a:off x="4195" y="837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6882" name="Text Box 55"/>
            <p:cNvSpPr txBox="1"/>
            <p:nvPr/>
          </p:nvSpPr>
          <p:spPr>
            <a:xfrm>
              <a:off x="4232" y="522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6883" name="Line 56"/>
            <p:cNvSpPr/>
            <p:nvPr/>
          </p:nvSpPr>
          <p:spPr>
            <a:xfrm>
              <a:off x="4999" y="837"/>
              <a:ext cx="3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4" name="Text Box 57"/>
            <p:cNvSpPr txBox="1"/>
            <p:nvPr/>
          </p:nvSpPr>
          <p:spPr>
            <a:xfrm>
              <a:off x="4712" y="476"/>
              <a:ext cx="3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6885" name="Oval 58"/>
            <p:cNvSpPr/>
            <p:nvPr/>
          </p:nvSpPr>
          <p:spPr>
            <a:xfrm>
              <a:off x="5295" y="804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86" name="Line 59"/>
            <p:cNvSpPr/>
            <p:nvPr/>
          </p:nvSpPr>
          <p:spPr>
            <a:xfrm>
              <a:off x="4410" y="837"/>
              <a:ext cx="21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887" name="Group 60"/>
            <p:cNvGrpSpPr/>
            <p:nvPr/>
          </p:nvGrpSpPr>
          <p:grpSpPr>
            <a:xfrm rot="-5400000" flipV="1">
              <a:off x="4764" y="621"/>
              <a:ext cx="84" cy="363"/>
              <a:chOff x="3946" y="3029"/>
              <a:chExt cx="96" cy="432"/>
            </a:xfrm>
          </p:grpSpPr>
          <p:grpSp>
            <p:nvGrpSpPr>
              <p:cNvPr id="36889" name="Group 61"/>
              <p:cNvGrpSpPr/>
              <p:nvPr/>
            </p:nvGrpSpPr>
            <p:grpSpPr>
              <a:xfrm rot="-10800000" flipH="1">
                <a:off x="3946" y="3317"/>
                <a:ext cx="96" cy="144"/>
                <a:chOff x="4176" y="2553"/>
                <a:chExt cx="144" cy="288"/>
              </a:xfrm>
            </p:grpSpPr>
            <p:sp>
              <p:nvSpPr>
                <p:cNvPr id="36896" name="Arc 62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97" name="Arc 63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890" name="Group 64"/>
              <p:cNvGrpSpPr/>
              <p:nvPr/>
            </p:nvGrpSpPr>
            <p:grpSpPr>
              <a:xfrm rot="-10800000" flipH="1">
                <a:off x="3946" y="3174"/>
                <a:ext cx="96" cy="144"/>
                <a:chOff x="4176" y="2553"/>
                <a:chExt cx="144" cy="288"/>
              </a:xfrm>
            </p:grpSpPr>
            <p:sp>
              <p:nvSpPr>
                <p:cNvPr id="36894" name="Arc 65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95" name="Arc 66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891" name="Group 67"/>
              <p:cNvGrpSpPr/>
              <p:nvPr/>
            </p:nvGrpSpPr>
            <p:grpSpPr>
              <a:xfrm rot="-10800000" flipH="1">
                <a:off x="3946" y="3029"/>
                <a:ext cx="96" cy="144"/>
                <a:chOff x="4176" y="2553"/>
                <a:chExt cx="144" cy="288"/>
              </a:xfrm>
            </p:grpSpPr>
            <p:sp>
              <p:nvSpPr>
                <p:cNvPr id="36892" name="Arc 68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93" name="Arc 69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6888" name="Oval 70"/>
            <p:cNvSpPr/>
            <p:nvPr/>
          </p:nvSpPr>
          <p:spPr>
            <a:xfrm>
              <a:off x="4150" y="810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878" name="Rectangle 90"/>
          <p:cNvSpPr/>
          <p:nvPr/>
        </p:nvSpPr>
        <p:spPr>
          <a:xfrm>
            <a:off x="11460163" y="115888"/>
            <a:ext cx="514350" cy="3667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FF9900"/>
                </a:solidFill>
                <a:latin typeface="Arial" panose="020B0604020202020204" pitchFamily="34" charset="0"/>
              </a:rPr>
              <a:t>6-6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2596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5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59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/>
      <p:bldP spid="125956" grpId="0"/>
      <p:bldP spid="125957" grpId="0" build="p" advAuto="1000"/>
      <p:bldP spid="12596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217" name="Group 193"/>
          <p:cNvGraphicFramePr>
            <a:graphicFrameLocks noGrp="1"/>
          </p:cNvGraphicFramePr>
          <p:nvPr/>
        </p:nvGraphicFramePr>
        <p:xfrm>
          <a:off x="1739900" y="858838"/>
          <a:ext cx="8748713" cy="5665788"/>
        </p:xfrm>
        <a:graphic>
          <a:graphicData uri="http://schemas.openxmlformats.org/drawingml/2006/table">
            <a:tbl>
              <a:tblPr/>
              <a:tblGrid>
                <a:gridCol w="434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电 容 元 件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电 感 元 件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-方正超大字符集" pitchFamily="65" charset="-122"/>
                          <a:ea typeface="宋体-方正超大字符集" pitchFamily="65" charset="-122"/>
                        </a:rPr>
                        <a:t>=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-方正超大字符集" pitchFamily="65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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-方正超大字符集" pitchFamily="65" charset="-122"/>
                          <a:ea typeface="宋体-方正超大字符集" pitchFamily="65" charset="-122"/>
                        </a:rPr>
                        <a:t>=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-方正超大字符集" pitchFamily="65" charset="-122"/>
                          <a:ea typeface="宋体-方正超大字符集" pitchFamily="65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-方正超大字符集" pitchFamily="65" charset="-122"/>
                          <a:ea typeface="宋体-方正超大字符集" pitchFamily="65" charset="-122"/>
                        </a:rPr>
                        <a:t>=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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-方正超大字符集" pitchFamily="65" charset="-122"/>
                          <a:ea typeface="宋体-方正超大字符集" pitchFamily="65" charset="-122"/>
                        </a:rPr>
                        <a:t>=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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电流为有限值时</a:t>
                      </a: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</a:t>
                      </a: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电压不能跃变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电压为有限值时</a:t>
                      </a:r>
                      <a:r>
                        <a:rPr kumimoji="0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</a:t>
                      </a:r>
                      <a:r>
                        <a:rPr kumimoji="0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电流不能跃变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3039" name="Object 125"/>
          <p:cNvGraphicFramePr>
            <a:graphicFrameLocks noChangeAspect="1"/>
          </p:cNvGraphicFramePr>
          <p:nvPr/>
        </p:nvGraphicFramePr>
        <p:xfrm>
          <a:off x="7494588" y="3068638"/>
          <a:ext cx="1473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" r:id="rId3" imgW="1262380" imgH="633730" progId="Equation.3">
                  <p:embed/>
                </p:oleObj>
              </mc:Choice>
              <mc:Fallback>
                <p:oleObj r:id="rId3" imgW="1262380" imgH="633730" progId="Equation.3">
                  <p:embed/>
                  <p:pic>
                    <p:nvPicPr>
                      <p:cNvPr id="43039" name="Object 1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94588" y="3068638"/>
                        <a:ext cx="14732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0" name="Object 126"/>
          <p:cNvGraphicFramePr>
            <a:graphicFrameLocks noChangeAspect="1"/>
          </p:cNvGraphicFramePr>
          <p:nvPr/>
        </p:nvGraphicFramePr>
        <p:xfrm>
          <a:off x="3173413" y="3068638"/>
          <a:ext cx="1498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r:id="rId5" imgW="1278890" imgH="633730" progId="Equation.3">
                  <p:embed/>
                </p:oleObj>
              </mc:Choice>
              <mc:Fallback>
                <p:oleObj r:id="rId5" imgW="1278890" imgH="633730" progId="Equation.3">
                  <p:embed/>
                  <p:pic>
                    <p:nvPicPr>
                      <p:cNvPr id="43040" name="Object 12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73413" y="3068638"/>
                        <a:ext cx="14986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1" name="Object 128"/>
          <p:cNvGraphicFramePr>
            <a:graphicFrameLocks noChangeAspect="1"/>
          </p:cNvGraphicFramePr>
          <p:nvPr/>
        </p:nvGraphicFramePr>
        <p:xfrm>
          <a:off x="6348413" y="3881438"/>
          <a:ext cx="3898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8" r:id="rId7" imgW="3399790" imgH="622935" progId="Equation.3">
                  <p:embed/>
                </p:oleObj>
              </mc:Choice>
              <mc:Fallback>
                <p:oleObj r:id="rId7" imgW="3399790" imgH="622935" progId="Equation.3">
                  <p:embed/>
                  <p:pic>
                    <p:nvPicPr>
                      <p:cNvPr id="43041" name="Object 12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48413" y="3881438"/>
                        <a:ext cx="38989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2" name="Object 129"/>
          <p:cNvGraphicFramePr>
            <a:graphicFrameLocks noChangeAspect="1"/>
          </p:cNvGraphicFramePr>
          <p:nvPr/>
        </p:nvGraphicFramePr>
        <p:xfrm>
          <a:off x="1919288" y="3881438"/>
          <a:ext cx="4013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9" r:id="rId9" imgW="3500755" imgH="633730" progId="Equation.3">
                  <p:embed/>
                </p:oleObj>
              </mc:Choice>
              <mc:Fallback>
                <p:oleObj r:id="rId9" imgW="3500755" imgH="633730" progId="Equation.3">
                  <p:embed/>
                  <p:pic>
                    <p:nvPicPr>
                      <p:cNvPr id="43042" name="Object 12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19288" y="3881438"/>
                        <a:ext cx="40132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3" name="Object 131"/>
          <p:cNvGraphicFramePr>
            <a:graphicFrameLocks noChangeAspect="1"/>
          </p:cNvGraphicFramePr>
          <p:nvPr/>
        </p:nvGraphicFramePr>
        <p:xfrm>
          <a:off x="7175500" y="5199063"/>
          <a:ext cx="2235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0" r:id="rId11" imgW="1935480" imgH="622935" progId="Equation.3">
                  <p:embed/>
                </p:oleObj>
              </mc:Choice>
              <mc:Fallback>
                <p:oleObj r:id="rId11" imgW="1935480" imgH="622935" progId="Equation.3">
                  <p:embed/>
                  <p:pic>
                    <p:nvPicPr>
                      <p:cNvPr id="43043" name="Object 13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75500" y="5199063"/>
                        <a:ext cx="22352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4" name="Object 135"/>
          <p:cNvGraphicFramePr>
            <a:graphicFrameLocks noChangeAspect="1"/>
          </p:cNvGraphicFramePr>
          <p:nvPr/>
        </p:nvGraphicFramePr>
        <p:xfrm>
          <a:off x="2674938" y="5199063"/>
          <a:ext cx="2324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1" r:id="rId13" imgW="2014220" imgH="622935" progId="Equation.3">
                  <p:embed/>
                </p:oleObj>
              </mc:Choice>
              <mc:Fallback>
                <p:oleObj r:id="rId13" imgW="2014220" imgH="622935" progId="Equation.3">
                  <p:embed/>
                  <p:pic>
                    <p:nvPicPr>
                      <p:cNvPr id="43044" name="Object 13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74938" y="5199063"/>
                        <a:ext cx="23241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45" name="Group 136"/>
          <p:cNvGrpSpPr/>
          <p:nvPr/>
        </p:nvGrpSpPr>
        <p:grpSpPr>
          <a:xfrm>
            <a:off x="7356475" y="1468438"/>
            <a:ext cx="1908175" cy="969962"/>
            <a:chOff x="2563" y="324"/>
            <a:chExt cx="1202" cy="611"/>
          </a:xfrm>
        </p:grpSpPr>
        <p:sp>
          <p:nvSpPr>
            <p:cNvPr id="43059" name="Text Box 137"/>
            <p:cNvSpPr txBox="1"/>
            <p:nvPr/>
          </p:nvSpPr>
          <p:spPr>
            <a:xfrm>
              <a:off x="2926" y="647"/>
              <a:ext cx="7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43060" name="Line 138"/>
            <p:cNvSpPr/>
            <p:nvPr/>
          </p:nvSpPr>
          <p:spPr>
            <a:xfrm>
              <a:off x="2608" y="685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43061" name="Text Box 139"/>
            <p:cNvSpPr txBox="1"/>
            <p:nvPr/>
          </p:nvSpPr>
          <p:spPr>
            <a:xfrm>
              <a:off x="2668" y="346"/>
              <a:ext cx="3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3062" name="Line 140"/>
            <p:cNvSpPr/>
            <p:nvPr/>
          </p:nvSpPr>
          <p:spPr>
            <a:xfrm>
              <a:off x="3412" y="685"/>
              <a:ext cx="3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3" name="Text Box 141"/>
            <p:cNvSpPr txBox="1"/>
            <p:nvPr/>
          </p:nvSpPr>
          <p:spPr>
            <a:xfrm>
              <a:off x="3125" y="324"/>
              <a:ext cx="3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3064" name="Oval 142"/>
            <p:cNvSpPr/>
            <p:nvPr/>
          </p:nvSpPr>
          <p:spPr>
            <a:xfrm>
              <a:off x="3708" y="652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065" name="Line 143"/>
            <p:cNvSpPr/>
            <p:nvPr/>
          </p:nvSpPr>
          <p:spPr>
            <a:xfrm>
              <a:off x="2823" y="685"/>
              <a:ext cx="21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3066" name="Group 144"/>
            <p:cNvGrpSpPr/>
            <p:nvPr/>
          </p:nvGrpSpPr>
          <p:grpSpPr>
            <a:xfrm rot="-5400000" flipV="1">
              <a:off x="3177" y="469"/>
              <a:ext cx="84" cy="363"/>
              <a:chOff x="3946" y="3029"/>
              <a:chExt cx="96" cy="432"/>
            </a:xfrm>
          </p:grpSpPr>
          <p:grpSp>
            <p:nvGrpSpPr>
              <p:cNvPr id="43068" name="Group 145"/>
              <p:cNvGrpSpPr/>
              <p:nvPr/>
            </p:nvGrpSpPr>
            <p:grpSpPr>
              <a:xfrm rot="-10800000" flipH="1">
                <a:off x="3946" y="3317"/>
                <a:ext cx="96" cy="144"/>
                <a:chOff x="4176" y="2553"/>
                <a:chExt cx="144" cy="288"/>
              </a:xfrm>
            </p:grpSpPr>
            <p:sp>
              <p:nvSpPr>
                <p:cNvPr id="43075" name="Arc 146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6" name="Arc 147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069" name="Group 148"/>
              <p:cNvGrpSpPr/>
              <p:nvPr/>
            </p:nvGrpSpPr>
            <p:grpSpPr>
              <a:xfrm rot="-10800000" flipH="1">
                <a:off x="3946" y="3174"/>
                <a:ext cx="96" cy="144"/>
                <a:chOff x="4176" y="2553"/>
                <a:chExt cx="144" cy="288"/>
              </a:xfrm>
            </p:grpSpPr>
            <p:sp>
              <p:nvSpPr>
                <p:cNvPr id="43073" name="Arc 149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4" name="Arc 150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070" name="Group 151"/>
              <p:cNvGrpSpPr/>
              <p:nvPr/>
            </p:nvGrpSpPr>
            <p:grpSpPr>
              <a:xfrm rot="-10800000" flipH="1">
                <a:off x="3946" y="3029"/>
                <a:ext cx="96" cy="144"/>
                <a:chOff x="4176" y="2553"/>
                <a:chExt cx="144" cy="288"/>
              </a:xfrm>
            </p:grpSpPr>
            <p:sp>
              <p:nvSpPr>
                <p:cNvPr id="43071" name="Arc 152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2" name="Arc 153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3067" name="Oval 154"/>
            <p:cNvSpPr/>
            <p:nvPr/>
          </p:nvSpPr>
          <p:spPr>
            <a:xfrm>
              <a:off x="2563" y="658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046" name="Group 158"/>
          <p:cNvGrpSpPr/>
          <p:nvPr/>
        </p:nvGrpSpPr>
        <p:grpSpPr>
          <a:xfrm>
            <a:off x="3035300" y="1362075"/>
            <a:ext cx="1836738" cy="1166813"/>
            <a:chOff x="2381" y="398"/>
            <a:chExt cx="1157" cy="735"/>
          </a:xfrm>
        </p:grpSpPr>
        <p:sp>
          <p:nvSpPr>
            <p:cNvPr id="43048" name="Line 159"/>
            <p:cNvSpPr/>
            <p:nvPr/>
          </p:nvSpPr>
          <p:spPr>
            <a:xfrm>
              <a:off x="2381" y="786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grpSp>
          <p:nvGrpSpPr>
            <p:cNvPr id="43049" name="Group 160"/>
            <p:cNvGrpSpPr/>
            <p:nvPr/>
          </p:nvGrpSpPr>
          <p:grpSpPr>
            <a:xfrm>
              <a:off x="2959" y="650"/>
              <a:ext cx="91" cy="272"/>
              <a:chOff x="2925" y="1434"/>
              <a:chExt cx="91" cy="272"/>
            </a:xfrm>
          </p:grpSpPr>
          <p:sp>
            <p:nvSpPr>
              <p:cNvPr id="43057" name="Line 161"/>
              <p:cNvSpPr/>
              <p:nvPr/>
            </p:nvSpPr>
            <p:spPr>
              <a:xfrm>
                <a:off x="2925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58" name="Line 162"/>
              <p:cNvSpPr/>
              <p:nvPr/>
            </p:nvSpPr>
            <p:spPr>
              <a:xfrm>
                <a:off x="3016" y="1434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3050" name="Line 163"/>
            <p:cNvSpPr/>
            <p:nvPr/>
          </p:nvSpPr>
          <p:spPr>
            <a:xfrm>
              <a:off x="2714" y="786"/>
              <a:ext cx="2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1" name="Line 164"/>
            <p:cNvSpPr/>
            <p:nvPr/>
          </p:nvSpPr>
          <p:spPr>
            <a:xfrm>
              <a:off x="3049" y="786"/>
              <a:ext cx="43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2" name="Text Box 165"/>
            <p:cNvSpPr txBox="1"/>
            <p:nvPr/>
          </p:nvSpPr>
          <p:spPr>
            <a:xfrm>
              <a:off x="2518" y="459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i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3053" name="Text Box 166"/>
            <p:cNvSpPr txBox="1"/>
            <p:nvPr/>
          </p:nvSpPr>
          <p:spPr>
            <a:xfrm>
              <a:off x="2884" y="398"/>
              <a:ext cx="4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3054" name="Text Box 167"/>
            <p:cNvSpPr txBox="1"/>
            <p:nvPr/>
          </p:nvSpPr>
          <p:spPr>
            <a:xfrm>
              <a:off x="2722" y="845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b="1" baseline="-25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43055" name="Oval 168"/>
            <p:cNvSpPr/>
            <p:nvPr/>
          </p:nvSpPr>
          <p:spPr>
            <a:xfrm>
              <a:off x="2385" y="757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056" name="Oval 169"/>
            <p:cNvSpPr/>
            <p:nvPr/>
          </p:nvSpPr>
          <p:spPr>
            <a:xfrm>
              <a:off x="3479" y="757"/>
              <a:ext cx="57" cy="57"/>
            </a:xfrm>
            <a:prstGeom prst="ellipse">
              <a:avLst/>
            </a:prstGeom>
            <a:solidFill>
              <a:srgbClr val="00FFFF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" name="Text Box 3">
            <a:hlinkClick r:id="" action="ppaction://noaction"/>
          </p:cNvPr>
          <p:cNvSpPr txBox="1"/>
          <p:nvPr/>
        </p:nvSpPr>
        <p:spPr>
          <a:xfrm>
            <a:off x="2006600" y="106363"/>
            <a:ext cx="80645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None/>
            </a:pPr>
            <a:r>
              <a:rPr lang="en-US" altLang="zh-CN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zh-CN" altLang="en-US" sz="3600" b="1" dirty="0">
                <a:solidFill>
                  <a:srgbClr val="A5002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电容与电感的对偶性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 descr="水滴"/>
          <p:cNvSpPr txBox="1"/>
          <p:nvPr/>
        </p:nvSpPr>
        <p:spPr>
          <a:xfrm>
            <a:off x="3417888" y="334963"/>
            <a:ext cx="5329237" cy="769937"/>
          </a:xfrm>
          <a:prstGeom prst="rect">
            <a:avLst/>
          </a:prstGeom>
          <a:blipFill rotWithShape="1">
            <a:blip r:embed="rId2"/>
          </a:blipFill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FF0000"/>
                </a:solidFill>
                <a:ea typeface="华文新魏" panose="02010800040101010101" pitchFamily="2" charset="-122"/>
              </a:rPr>
              <a:t>第六章  一阶电路</a:t>
            </a:r>
          </a:p>
        </p:txBody>
      </p:sp>
      <p:sp>
        <p:nvSpPr>
          <p:cNvPr id="1137668" name="Text Box 4">
            <a:hlinkClick r:id="" action="ppaction://noaction"/>
          </p:cNvPr>
          <p:cNvSpPr txBox="1"/>
          <p:nvPr/>
        </p:nvSpPr>
        <p:spPr>
          <a:xfrm>
            <a:off x="1717675" y="1301750"/>
            <a:ext cx="70453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§6-1  </a:t>
            </a:r>
            <a:r>
              <a:rPr lang="zh-CN" altLang="en-US" sz="2800" b="1" dirty="0">
                <a:solidFill>
                  <a:srgbClr val="0000FF"/>
                </a:solidFill>
              </a:rPr>
              <a:t>分解方法在动态电路分析中的运用</a:t>
            </a:r>
          </a:p>
        </p:txBody>
      </p:sp>
      <p:sp>
        <p:nvSpPr>
          <p:cNvPr id="1137669" name="Text Box 5">
            <a:hlinkClick r:id="" action="ppaction://noaction"/>
          </p:cNvPr>
          <p:cNvSpPr txBox="1"/>
          <p:nvPr/>
        </p:nvSpPr>
        <p:spPr>
          <a:xfrm>
            <a:off x="1717675" y="1876425"/>
            <a:ext cx="4883150" cy="52387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§6-2  </a:t>
            </a:r>
            <a:r>
              <a:rPr lang="zh-CN" altLang="en-US" sz="2800" b="1" dirty="0">
                <a:solidFill>
                  <a:srgbClr val="0000FF"/>
                </a:solidFill>
              </a:rPr>
              <a:t>零状态响应</a:t>
            </a:r>
          </a:p>
        </p:txBody>
      </p:sp>
      <p:sp>
        <p:nvSpPr>
          <p:cNvPr id="1137670" name="Text Box 6">
            <a:hlinkClick r:id="" action="ppaction://noaction"/>
          </p:cNvPr>
          <p:cNvSpPr txBox="1"/>
          <p:nvPr/>
        </p:nvSpPr>
        <p:spPr>
          <a:xfrm>
            <a:off x="1717675" y="3028950"/>
            <a:ext cx="41322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§6-4  </a:t>
            </a:r>
            <a:r>
              <a:rPr lang="zh-CN" altLang="en-US" sz="2800" b="1" dirty="0">
                <a:solidFill>
                  <a:srgbClr val="0000FF"/>
                </a:solidFill>
              </a:rPr>
              <a:t>零输入响应</a:t>
            </a:r>
          </a:p>
        </p:txBody>
      </p:sp>
      <p:sp>
        <p:nvSpPr>
          <p:cNvPr id="1137671" name="Text Box 7">
            <a:hlinkClick r:id="" action="ppaction://noaction"/>
          </p:cNvPr>
          <p:cNvSpPr txBox="1"/>
          <p:nvPr/>
        </p:nvSpPr>
        <p:spPr>
          <a:xfrm>
            <a:off x="1717675" y="2452688"/>
            <a:ext cx="50085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§6-3  </a:t>
            </a:r>
            <a:r>
              <a:rPr lang="zh-CN" altLang="en-US" sz="2800" b="1" dirty="0">
                <a:solidFill>
                  <a:srgbClr val="0000FF"/>
                </a:solidFill>
              </a:rPr>
              <a:t>阶跃响应  冲激响应</a:t>
            </a:r>
          </a:p>
        </p:txBody>
      </p:sp>
      <p:sp>
        <p:nvSpPr>
          <p:cNvPr id="1137672" name="Text Box 8">
            <a:hlinkClick r:id="" action="ppaction://noaction"/>
          </p:cNvPr>
          <p:cNvSpPr txBox="1"/>
          <p:nvPr/>
        </p:nvSpPr>
        <p:spPr>
          <a:xfrm>
            <a:off x="1717675" y="3605213"/>
            <a:ext cx="57197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§6-5  </a:t>
            </a:r>
            <a:r>
              <a:rPr lang="zh-CN" altLang="en-US" sz="2800" b="1" dirty="0">
                <a:solidFill>
                  <a:srgbClr val="0000FF"/>
                </a:solidFill>
              </a:rPr>
              <a:t>线性动态电路的叠加原理</a:t>
            </a:r>
          </a:p>
        </p:txBody>
      </p:sp>
      <p:sp>
        <p:nvSpPr>
          <p:cNvPr id="1137673" name="Text Box 9">
            <a:hlinkClick r:id="" action="ppaction://noaction"/>
          </p:cNvPr>
          <p:cNvSpPr txBox="1"/>
          <p:nvPr/>
        </p:nvSpPr>
        <p:spPr>
          <a:xfrm>
            <a:off x="1758950" y="4403725"/>
            <a:ext cx="77771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§6-6  </a:t>
            </a:r>
            <a:r>
              <a:rPr lang="zh-CN" altLang="en-US" sz="2800" b="1" dirty="0">
                <a:solidFill>
                  <a:srgbClr val="0000FF"/>
                </a:solidFill>
              </a:rPr>
              <a:t>三要素法</a:t>
            </a:r>
          </a:p>
        </p:txBody>
      </p:sp>
      <p:sp>
        <p:nvSpPr>
          <p:cNvPr id="4105" name="AutoShape 11">
            <a:hlinkClick r:id="" action="ppaction://hlinkshowjump?jump=firstslide"/>
          </p:cNvPr>
          <p:cNvSpPr/>
          <p:nvPr/>
        </p:nvSpPr>
        <p:spPr>
          <a:xfrm>
            <a:off x="9558338" y="6642100"/>
            <a:ext cx="360362" cy="215900"/>
          </a:xfrm>
          <a:prstGeom prst="actionButtonBeginning">
            <a:avLst/>
          </a:prstGeom>
          <a:solidFill>
            <a:srgbClr val="FFFF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106" name="AutoShape 12">
            <a:hlinkClick r:id="" action="ppaction://hlinkshowjump?jump=previousslide"/>
          </p:cNvPr>
          <p:cNvSpPr/>
          <p:nvPr/>
        </p:nvSpPr>
        <p:spPr>
          <a:xfrm>
            <a:off x="9926638" y="6642100"/>
            <a:ext cx="360362" cy="21590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107" name="AutoShape 13">
            <a:hlinkClick r:id="" action="ppaction://hlinkshowjump?jump=nextslide"/>
          </p:cNvPr>
          <p:cNvSpPr/>
          <p:nvPr/>
        </p:nvSpPr>
        <p:spPr>
          <a:xfrm>
            <a:off x="10307638" y="6642100"/>
            <a:ext cx="360362" cy="215900"/>
          </a:xfrm>
          <a:prstGeom prst="actionButtonForwardNext">
            <a:avLst/>
          </a:prstGeom>
          <a:solidFill>
            <a:srgbClr val="FF99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137678" name="Line 14"/>
          <p:cNvSpPr/>
          <p:nvPr/>
        </p:nvSpPr>
        <p:spPr>
          <a:xfrm>
            <a:off x="9601200" y="6553200"/>
            <a:ext cx="1066800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lg"/>
          </a:ln>
        </p:spPr>
      </p:sp>
      <p:sp>
        <p:nvSpPr>
          <p:cNvPr id="1137682" name="Text Box 18"/>
          <p:cNvSpPr txBox="1"/>
          <p:nvPr/>
        </p:nvSpPr>
        <p:spPr>
          <a:xfrm>
            <a:off x="1744663" y="4949825"/>
            <a:ext cx="36353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§6-7  </a:t>
            </a:r>
            <a:r>
              <a:rPr lang="zh-CN" altLang="en-US" sz="2800" b="1" dirty="0">
                <a:solidFill>
                  <a:srgbClr val="0000FF"/>
                </a:solidFill>
              </a:rPr>
              <a:t>瞬态和稳态       </a:t>
            </a:r>
          </a:p>
        </p:txBody>
      </p:sp>
      <p:sp>
        <p:nvSpPr>
          <p:cNvPr id="1137683" name="Text Box 19"/>
          <p:cNvSpPr txBox="1"/>
          <p:nvPr/>
        </p:nvSpPr>
        <p:spPr>
          <a:xfrm>
            <a:off x="1758950" y="5572125"/>
            <a:ext cx="86471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*§6-8  </a:t>
            </a:r>
            <a:r>
              <a:rPr lang="zh-CN" altLang="en-US" sz="2800" b="1" dirty="0">
                <a:solidFill>
                  <a:srgbClr val="0000FF"/>
                </a:solidFill>
              </a:rPr>
              <a:t>子区间分析</a:t>
            </a:r>
            <a:r>
              <a:rPr lang="en-US" altLang="zh-CN" sz="2800" b="1" dirty="0">
                <a:solidFill>
                  <a:srgbClr val="0000FF"/>
                </a:solidFill>
              </a:rPr>
              <a:t>----</a:t>
            </a:r>
            <a:r>
              <a:rPr lang="zh-CN" altLang="en-US" sz="2800" b="1" dirty="0">
                <a:solidFill>
                  <a:srgbClr val="0000FF"/>
                </a:solidFill>
              </a:rPr>
              <a:t>方波激励的过渡过程和稳态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3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3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3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3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3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668" grpId="0"/>
      <p:bldP spid="1137669" grpId="0"/>
      <p:bldP spid="1137670" grpId="0"/>
      <p:bldP spid="1137671" grpId="0"/>
      <p:bldP spid="1137672" grpId="0"/>
      <p:bldP spid="1137673" grpId="0"/>
      <p:bldP spid="1137682" grpId="0"/>
      <p:bldP spid="113768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4" name="Text Box 24"/>
          <p:cNvSpPr txBox="1">
            <a:spLocks noChangeArrowheads="1"/>
          </p:cNvSpPr>
          <p:nvPr/>
        </p:nvSpPr>
        <p:spPr bwMode="gray">
          <a:xfrm>
            <a:off x="2855913" y="1144588"/>
            <a:ext cx="4875213" cy="10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endParaRPr kumimoji="1" lang="en-US" altLang="zh-CN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R="0" algn="ctr" defTabSz="914400">
              <a:buClrTx/>
              <a:buSzTx/>
              <a:buFontTx/>
              <a:buNone/>
              <a:defRPr/>
            </a:pPr>
            <a:endParaRPr kumimoji="1" lang="en-US" altLang="zh-CN" kern="1200" cap="none" spc="0" normalizeH="0" baseline="0" noProof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56"/>
          <p:cNvSpPr/>
          <p:nvPr/>
        </p:nvSpPr>
        <p:spPr>
          <a:xfrm>
            <a:off x="6167438" y="3322638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46140" name="Text Box 60"/>
          <p:cNvSpPr txBox="1">
            <a:spLocks noChangeArrowheads="1"/>
          </p:cNvSpPr>
          <p:nvPr/>
        </p:nvSpPr>
        <p:spPr bwMode="auto">
          <a:xfrm>
            <a:off x="1390705" y="1414671"/>
            <a:ext cx="914400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marR="0" indent="-342900" algn="ctr" defTabSz="914400"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电容电压、电感电流的连续性</a:t>
            </a:r>
            <a:r>
              <a:rPr kumimoji="1" lang="zh-CN" altLang="en-US" sz="3600" kern="1200" cap="none" spc="0" normalizeH="0" baseline="0" noProof="0" dirty="0">
                <a:solidFill>
                  <a:schemeClr val="accent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</a:t>
            </a:r>
            <a:r>
              <a:rPr kumimoji="1" lang="zh-CN" altLang="en-US" sz="4000" kern="1200" cap="none" spc="0" normalizeH="0" baseline="0" noProof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即</a:t>
            </a:r>
          </a:p>
        </p:txBody>
      </p:sp>
      <p:sp>
        <p:nvSpPr>
          <p:cNvPr id="6149" name="Text Box 63"/>
          <p:cNvSpPr txBox="1"/>
          <p:nvPr/>
        </p:nvSpPr>
        <p:spPr>
          <a:xfrm>
            <a:off x="4486275" y="354013"/>
            <a:ext cx="24193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chemeClr val="tx2"/>
                </a:solidFill>
                <a:ea typeface="华文新魏" panose="02010800040101010101" pitchFamily="2" charset="-122"/>
              </a:rPr>
              <a:t>关键概念</a:t>
            </a:r>
          </a:p>
        </p:txBody>
      </p:sp>
      <p:graphicFrame>
        <p:nvGraphicFramePr>
          <p:cNvPr id="46144" name="Object 64"/>
          <p:cNvGraphicFramePr>
            <a:graphicFrameLocks noChangeAspect="1"/>
          </p:cNvGraphicFramePr>
          <p:nvPr/>
        </p:nvGraphicFramePr>
        <p:xfrm>
          <a:off x="2546350" y="2751138"/>
          <a:ext cx="28432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r:id="rId3" imgW="990600" imgH="228600" progId="Equation.3">
                  <p:embed/>
                </p:oleObj>
              </mc:Choice>
              <mc:Fallback>
                <p:oleObj r:id="rId3" imgW="990600" imgH="228600" progId="Equation.3">
                  <p:embed/>
                  <p:pic>
                    <p:nvPicPr>
                      <p:cNvPr id="46144" name="Object 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46350" y="2751138"/>
                        <a:ext cx="2843213" cy="7239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5E7676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6" name="Object 66"/>
          <p:cNvGraphicFramePr>
            <a:graphicFrameLocks noChangeAspect="1"/>
          </p:cNvGraphicFramePr>
          <p:nvPr/>
        </p:nvGraphicFramePr>
        <p:xfrm>
          <a:off x="6351588" y="2755900"/>
          <a:ext cx="29305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r:id="rId5" imgW="901065" imgH="215900" progId="Equation.3">
                  <p:embed/>
                </p:oleObj>
              </mc:Choice>
              <mc:Fallback>
                <p:oleObj r:id="rId5" imgW="901065" imgH="215900" progId="Equation.3">
                  <p:embed/>
                  <p:pic>
                    <p:nvPicPr>
                      <p:cNvPr id="46146" name="Object 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51588" y="2755900"/>
                        <a:ext cx="2930525" cy="7191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765E5E"/>
                          </a:gs>
                          <a:gs pos="100000">
                            <a:srgbClr val="FFCCCC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/>
          <p:nvPr/>
        </p:nvGrpSpPr>
        <p:grpSpPr>
          <a:xfrm>
            <a:off x="2144713" y="3976688"/>
            <a:ext cx="7570787" cy="1323975"/>
            <a:chOff x="-282" y="2311"/>
            <a:chExt cx="4769" cy="834"/>
          </a:xfrm>
        </p:grpSpPr>
        <p:graphicFrame>
          <p:nvGraphicFramePr>
            <p:cNvPr id="6154" name="Object 68"/>
            <p:cNvGraphicFramePr>
              <a:graphicFrameLocks noChangeAspect="1"/>
            </p:cNvGraphicFramePr>
            <p:nvPr/>
          </p:nvGraphicFramePr>
          <p:xfrm>
            <a:off x="3353" y="2338"/>
            <a:ext cx="1134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8" r:id="rId7" imgW="444500" imgH="228600" progId="Equation.3">
                    <p:embed/>
                  </p:oleObj>
                </mc:Choice>
                <mc:Fallback>
                  <p:oleObj r:id="rId7" imgW="444500" imgH="228600" progId="Equation.3">
                    <p:embed/>
                    <p:pic>
                      <p:nvPicPr>
                        <p:cNvPr id="6154" name="Object 6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53" y="2338"/>
                          <a:ext cx="1134" cy="409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76762F"/>
                            </a:gs>
                            <a:gs pos="50000">
                              <a:srgbClr val="FFFF66"/>
                            </a:gs>
                            <a:gs pos="100000">
                              <a:srgbClr val="76762F"/>
                            </a:gs>
                          </a:gsLst>
                          <a:lin ang="27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5" name="Text Box 70"/>
            <p:cNvSpPr txBox="1"/>
            <p:nvPr/>
          </p:nvSpPr>
          <p:spPr>
            <a:xfrm>
              <a:off x="-282" y="2311"/>
              <a:ext cx="3671" cy="8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chemeClr val="tx2"/>
                  </a:solidFill>
                  <a:ea typeface="华文楷体" panose="02010600040101010101" pitchFamily="2" charset="-122"/>
                </a:rPr>
                <a:t>其他电流、电压，特别是</a:t>
              </a:r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chemeClr val="tx2"/>
                  </a:solidFill>
                  <a:ea typeface="华文楷体" panose="02010600040101010101" pitchFamily="2" charset="-122"/>
                </a:rPr>
                <a:t>不一定是连续的。</a:t>
              </a:r>
              <a:endParaRPr lang="zh-CN" altLang="en-US" sz="4000" b="1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11" name="Rectangle 6"/>
          <p:cNvSpPr/>
          <p:nvPr/>
        </p:nvSpPr>
        <p:spPr>
          <a:xfrm>
            <a:off x="893763" y="5461000"/>
            <a:ext cx="10823575" cy="1303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换路定律：换路瞬间（</a:t>
            </a:r>
            <a:r>
              <a:rPr lang="en-US" altLang="zh-CN" sz="2800" b="1" dirty="0">
                <a:ea typeface="黑体" panose="02010609060101010101" pitchFamily="49" charset="-122"/>
              </a:rPr>
              <a:t>t=0</a:t>
            </a:r>
            <a:r>
              <a:rPr lang="zh-CN" altLang="en-US" sz="2800" b="1" dirty="0">
                <a:ea typeface="黑体" panose="02010609060101010101" pitchFamily="49" charset="-122"/>
              </a:rPr>
              <a:t>时刻），电容电压和电感电流是连续的（不发生突变）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 decel="100000"/>
                                        <p:tgtEl>
                                          <p:spTgt spid="46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461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46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6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 decel="100000"/>
                                        <p:tgtEl>
                                          <p:spTgt spid="4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461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4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4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40" grpId="0"/>
      <p:bldP spid="11" grpId="0" build="p" advAuto="100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930" name="Text Box 2"/>
          <p:cNvSpPr txBox="1"/>
          <p:nvPr/>
        </p:nvSpPr>
        <p:spPr>
          <a:xfrm>
            <a:off x="885825" y="512763"/>
            <a:ext cx="3548063" cy="5238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RC</a:t>
            </a:r>
            <a:r>
              <a:rPr lang="zh-CN" altLang="en-US" sz="2800" b="1" dirty="0">
                <a:solidFill>
                  <a:srgbClr val="FF0000"/>
                </a:solidFill>
              </a:rPr>
              <a:t>电路的零状态响应</a:t>
            </a:r>
            <a:endParaRPr lang="zh-CN" altLang="en-US" sz="2800" b="1" dirty="0">
              <a:solidFill>
                <a:srgbClr val="FF9900"/>
              </a:solidFill>
            </a:endParaRPr>
          </a:p>
        </p:txBody>
      </p:sp>
      <p:sp>
        <p:nvSpPr>
          <p:cNvPr id="1020931" name="Text Box 3"/>
          <p:cNvSpPr txBox="1"/>
          <p:nvPr/>
        </p:nvSpPr>
        <p:spPr>
          <a:xfrm>
            <a:off x="809625" y="879475"/>
            <a:ext cx="10672763" cy="194945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零状态响应</a:t>
            </a:r>
            <a:r>
              <a:rPr lang="zh-CN" altLang="en-US" sz="2800" b="1" dirty="0">
                <a:solidFill>
                  <a:srgbClr val="0000FF"/>
                </a:solidFill>
              </a:rPr>
              <a:t>是指换路前电容元件未储有能量</a:t>
            </a:r>
            <a:r>
              <a:rPr lang="en-US" altLang="zh-CN" sz="2800" b="1" dirty="0">
                <a:solidFill>
                  <a:srgbClr val="0000FF"/>
                </a:solidFill>
              </a:rPr>
              <a:t>, </a:t>
            </a:r>
            <a:r>
              <a:rPr lang="en-US" altLang="zh-CN" sz="2800" b="1" i="1" dirty="0">
                <a:solidFill>
                  <a:srgbClr val="0000FF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FF"/>
                </a:solidFill>
              </a:rPr>
              <a:t>C</a:t>
            </a:r>
            <a:r>
              <a:rPr lang="en-US" altLang="zh-CN" sz="2800" b="1" dirty="0">
                <a:solidFill>
                  <a:srgbClr val="0000FF"/>
                </a:solidFill>
              </a:rPr>
              <a:t>(0</a:t>
            </a:r>
            <a:r>
              <a:rPr lang="en-US" altLang="zh-CN" sz="2800" b="1" baseline="-25000" dirty="0">
                <a:solidFill>
                  <a:srgbClr val="0000FF"/>
                </a:solidFill>
              </a:rPr>
              <a:t>–</a:t>
            </a:r>
            <a:r>
              <a:rPr lang="en-US" altLang="zh-CN" sz="2800" b="1" dirty="0">
                <a:solidFill>
                  <a:srgbClr val="0000FF"/>
                </a:solidFill>
              </a:rPr>
              <a:t>)=0</a:t>
            </a:r>
            <a:r>
              <a:rPr lang="zh-CN" altLang="en-US" sz="2800" b="1" dirty="0">
                <a:solidFill>
                  <a:srgbClr val="0000FF"/>
                </a:solidFill>
              </a:rPr>
              <a:t>，由电源激励在电路中所产生的响应。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分析</a:t>
            </a:r>
            <a:r>
              <a:rPr lang="en-US" altLang="zh-CN" sz="2800" b="1" i="1" dirty="0">
                <a:solidFill>
                  <a:srgbClr val="0000FF"/>
                </a:solidFill>
              </a:rPr>
              <a:t>RC</a:t>
            </a:r>
            <a:r>
              <a:rPr lang="zh-CN" altLang="en-US" sz="2800" b="1" dirty="0">
                <a:solidFill>
                  <a:srgbClr val="0000FF"/>
                </a:solidFill>
              </a:rPr>
              <a:t>电路的零状态响应，实际上就是分析它的充电过程。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20932" name="Text Box 4"/>
          <p:cNvSpPr txBox="1"/>
          <p:nvPr/>
        </p:nvSpPr>
        <p:spPr>
          <a:xfrm>
            <a:off x="758825" y="2947988"/>
            <a:ext cx="10672763" cy="1077912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下图中，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=0</a:t>
            </a:r>
            <a:r>
              <a:rPr lang="zh-CN" altLang="en-US" sz="2800" b="1" dirty="0">
                <a:solidFill>
                  <a:schemeClr val="accent2"/>
                </a:solidFill>
              </a:rPr>
              <a:t>时开关</a:t>
            </a:r>
            <a:r>
              <a:rPr lang="en-US" altLang="zh-CN" sz="2800" b="1" dirty="0">
                <a:solidFill>
                  <a:schemeClr val="accent2"/>
                </a:solidFill>
              </a:rPr>
              <a:t>S</a:t>
            </a:r>
            <a:r>
              <a:rPr lang="zh-CN" altLang="en-US" sz="2800" b="1" dirty="0">
                <a:solidFill>
                  <a:schemeClr val="accent2"/>
                </a:solidFill>
              </a:rPr>
              <a:t>由</a:t>
            </a:r>
            <a:r>
              <a:rPr lang="en-US" altLang="zh-CN" sz="2800" b="1" dirty="0">
                <a:solidFill>
                  <a:schemeClr val="accent2"/>
                </a:solidFill>
              </a:rPr>
              <a:t>b</a:t>
            </a:r>
            <a:r>
              <a:rPr lang="zh-CN" altLang="en-US" sz="2800" b="1" dirty="0">
                <a:solidFill>
                  <a:schemeClr val="accent2"/>
                </a:solidFill>
              </a:rPr>
              <a:t>点合向</a:t>
            </a:r>
            <a:r>
              <a:rPr lang="en-US" altLang="zh-CN" sz="2800" b="1" dirty="0">
                <a:solidFill>
                  <a:schemeClr val="accent2"/>
                </a:solidFill>
              </a:rPr>
              <a:t>a</a:t>
            </a:r>
            <a:r>
              <a:rPr lang="zh-CN" altLang="en-US" sz="2800" b="1" dirty="0">
                <a:solidFill>
                  <a:schemeClr val="accent2"/>
                </a:solidFill>
              </a:rPr>
              <a:t>点，称为换路。相当于输入一个阶跃电压</a:t>
            </a:r>
            <a:r>
              <a:rPr lang="en-US" altLang="zh-CN" sz="3600" b="1" i="1" dirty="0">
                <a:solidFill>
                  <a:srgbClr val="660033"/>
                </a:solidFill>
                <a:ea typeface="黑体" panose="02010609060101010101" pitchFamily="49" charset="-122"/>
              </a:rPr>
              <a:t>u</a:t>
            </a:r>
            <a:r>
              <a:rPr lang="zh-CN" altLang="en-US" sz="2800" b="1" dirty="0">
                <a:solidFill>
                  <a:srgbClr val="660033"/>
                </a:solidFill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solidFill>
                  <a:schemeClr val="accent2"/>
                </a:solidFill>
              </a:rPr>
              <a:t>其表示式为</a:t>
            </a:r>
          </a:p>
        </p:txBody>
      </p:sp>
      <p:sp>
        <p:nvSpPr>
          <p:cNvPr id="1020933" name="Text Box 5"/>
          <p:cNvSpPr txBox="1"/>
          <p:nvPr/>
        </p:nvSpPr>
        <p:spPr>
          <a:xfrm>
            <a:off x="4459288" y="3462338"/>
            <a:ext cx="641350" cy="6413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3600" b="1" i="1" dirty="0">
                <a:solidFill>
                  <a:srgbClr val="660033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800" b="1" i="1" dirty="0">
                <a:solidFill>
                  <a:srgbClr val="660033"/>
                </a:solidFill>
                <a:ea typeface="黑体" panose="02010609060101010101" pitchFamily="49" charset="-122"/>
              </a:rPr>
              <a:t>=</a:t>
            </a:r>
            <a:endParaRPr lang="en-US" altLang="zh-CN" sz="3600" b="1" i="1" dirty="0">
              <a:solidFill>
                <a:srgbClr val="660033"/>
              </a:solidFill>
              <a:ea typeface="黑体" panose="02010609060101010101" pitchFamily="49" charset="-122"/>
            </a:endParaRPr>
          </a:p>
        </p:txBody>
      </p:sp>
      <p:sp>
        <p:nvSpPr>
          <p:cNvPr id="1020934" name="AutoShape 6"/>
          <p:cNvSpPr/>
          <p:nvPr/>
        </p:nvSpPr>
        <p:spPr>
          <a:xfrm>
            <a:off x="5129213" y="3500438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20935" name="Text Box 7"/>
          <p:cNvSpPr txBox="1"/>
          <p:nvPr/>
        </p:nvSpPr>
        <p:spPr>
          <a:xfrm>
            <a:off x="5249863" y="3335338"/>
            <a:ext cx="1565275" cy="5238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800" b="1" dirty="0"/>
              <a:t>0       </a:t>
            </a:r>
            <a:r>
              <a:rPr lang="en-US" altLang="zh-CN" sz="2800" b="1" i="1" dirty="0"/>
              <a:t>t </a:t>
            </a:r>
            <a:r>
              <a:rPr lang="en-US" altLang="zh-CN" sz="2800" b="1" dirty="0"/>
              <a:t>&lt;0</a:t>
            </a:r>
          </a:p>
        </p:txBody>
      </p:sp>
      <p:sp>
        <p:nvSpPr>
          <p:cNvPr id="1020936" name="Text Box 8"/>
          <p:cNvSpPr txBox="1"/>
          <p:nvPr/>
        </p:nvSpPr>
        <p:spPr>
          <a:xfrm>
            <a:off x="5194300" y="3887788"/>
            <a:ext cx="1600200" cy="5238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800" b="1" i="1" dirty="0"/>
              <a:t>U</a:t>
            </a:r>
            <a:r>
              <a:rPr lang="en-US" altLang="zh-CN" sz="2800" b="1" baseline="-25000" dirty="0"/>
              <a:t>S</a:t>
            </a:r>
            <a:r>
              <a:rPr lang="en-US" altLang="zh-CN" sz="2800" b="1" i="1" dirty="0"/>
              <a:t>     t &gt;0</a:t>
            </a:r>
            <a:endParaRPr lang="en-US" altLang="zh-CN" sz="2800" b="1" dirty="0"/>
          </a:p>
        </p:txBody>
      </p:sp>
      <p:grpSp>
        <p:nvGrpSpPr>
          <p:cNvPr id="2" name="Group 9"/>
          <p:cNvGrpSpPr/>
          <p:nvPr/>
        </p:nvGrpSpPr>
        <p:grpSpPr>
          <a:xfrm>
            <a:off x="6605588" y="4430713"/>
            <a:ext cx="3063875" cy="2376487"/>
            <a:chOff x="3201" y="2791"/>
            <a:chExt cx="1930" cy="1497"/>
          </a:xfrm>
        </p:grpSpPr>
        <p:sp>
          <p:nvSpPr>
            <p:cNvPr id="17456" name="Line 10"/>
            <p:cNvSpPr/>
            <p:nvPr/>
          </p:nvSpPr>
          <p:spPr>
            <a:xfrm>
              <a:off x="3600" y="3856"/>
              <a:ext cx="134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sm" len="lg"/>
            </a:ln>
          </p:spPr>
        </p:sp>
        <p:sp>
          <p:nvSpPr>
            <p:cNvPr id="17457" name="Line 11"/>
            <p:cNvSpPr/>
            <p:nvPr/>
          </p:nvSpPr>
          <p:spPr>
            <a:xfrm flipV="1">
              <a:off x="3600" y="2944"/>
              <a:ext cx="0" cy="91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sm" len="lg"/>
            </a:ln>
          </p:spPr>
        </p:sp>
        <p:sp>
          <p:nvSpPr>
            <p:cNvPr id="17458" name="Text Box 12"/>
            <p:cNvSpPr txBox="1"/>
            <p:nvPr/>
          </p:nvSpPr>
          <p:spPr>
            <a:xfrm>
              <a:off x="3456" y="378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800" dirty="0"/>
                <a:t>o</a:t>
              </a:r>
              <a:endParaRPr lang="en-US" altLang="zh-CN" i="1" dirty="0">
                <a:solidFill>
                  <a:srgbClr val="FF33CC"/>
                </a:solidFill>
              </a:endParaRPr>
            </a:p>
          </p:txBody>
        </p:sp>
        <p:sp>
          <p:nvSpPr>
            <p:cNvPr id="17459" name="Freeform 13"/>
            <p:cNvSpPr/>
            <p:nvPr/>
          </p:nvSpPr>
          <p:spPr>
            <a:xfrm>
              <a:off x="3360" y="3280"/>
              <a:ext cx="1104" cy="576"/>
            </a:xfrm>
            <a:custGeom>
              <a:avLst/>
              <a:gdLst>
                <a:gd name="txL" fmla="*/ 0 w 1104"/>
                <a:gd name="txT" fmla="*/ 0 h 576"/>
                <a:gd name="txR" fmla="*/ 1104 w 1104"/>
                <a:gd name="txB" fmla="*/ 576 h 576"/>
              </a:gdLst>
              <a:ahLst/>
              <a:cxnLst>
                <a:cxn ang="0">
                  <a:pos x="0" y="576"/>
                </a:cxn>
                <a:cxn ang="0">
                  <a:pos x="240" y="576"/>
                </a:cxn>
                <a:cxn ang="0">
                  <a:pos x="240" y="0"/>
                </a:cxn>
                <a:cxn ang="0">
                  <a:pos x="1104" y="0"/>
                </a:cxn>
              </a:cxnLst>
              <a:rect l="txL" t="txT" r="txR" b="txB"/>
              <a:pathLst>
                <a:path w="1104" h="576">
                  <a:moveTo>
                    <a:pt x="0" y="576"/>
                  </a:moveTo>
                  <a:lnTo>
                    <a:pt x="240" y="576"/>
                  </a:lnTo>
                  <a:lnTo>
                    <a:pt x="240" y="0"/>
                  </a:lnTo>
                  <a:lnTo>
                    <a:pt x="1104" y="0"/>
                  </a:lnTo>
                </a:path>
              </a:pathLst>
            </a:custGeom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Text Box 14"/>
            <p:cNvSpPr txBox="1"/>
            <p:nvPr/>
          </p:nvSpPr>
          <p:spPr>
            <a:xfrm>
              <a:off x="3201" y="3117"/>
              <a:ext cx="364" cy="33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800" b="1" i="1" dirty="0"/>
                <a:t>U</a:t>
              </a:r>
              <a:r>
                <a:rPr lang="en-US" altLang="zh-CN" sz="2800" b="1" baseline="-25000" dirty="0"/>
                <a:t>S</a:t>
              </a:r>
            </a:p>
          </p:txBody>
        </p:sp>
        <p:sp>
          <p:nvSpPr>
            <p:cNvPr id="17461" name="Text Box 15"/>
            <p:cNvSpPr txBox="1"/>
            <p:nvPr/>
          </p:nvSpPr>
          <p:spPr>
            <a:xfrm>
              <a:off x="3606" y="2791"/>
              <a:ext cx="276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36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u</a:t>
              </a:r>
            </a:p>
          </p:txBody>
        </p:sp>
        <p:sp>
          <p:nvSpPr>
            <p:cNvPr id="17462" name="Text Box 16"/>
            <p:cNvSpPr txBox="1"/>
            <p:nvPr/>
          </p:nvSpPr>
          <p:spPr>
            <a:xfrm>
              <a:off x="4944" y="3664"/>
              <a:ext cx="187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b="1" i="1" dirty="0"/>
                <a:t>t</a:t>
              </a:r>
              <a:endParaRPr lang="en-US" altLang="zh-CN" dirty="0">
                <a:solidFill>
                  <a:srgbClr val="FF33CC"/>
                </a:solidFill>
              </a:endParaRPr>
            </a:p>
          </p:txBody>
        </p:sp>
        <p:sp>
          <p:nvSpPr>
            <p:cNvPr id="17463" name="Text Box 17"/>
            <p:cNvSpPr txBox="1"/>
            <p:nvPr/>
          </p:nvSpPr>
          <p:spPr>
            <a:xfrm>
              <a:off x="3682" y="4000"/>
              <a:ext cx="8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/>
                <a:t>阶跃电压</a:t>
              </a:r>
            </a:p>
          </p:txBody>
        </p:sp>
      </p:grpSp>
      <p:sp>
        <p:nvSpPr>
          <p:cNvPr id="17418" name="AutoShape 18">
            <a:hlinkClick r:id="" action="ppaction://hlinkshowjump?jump=previousslide"/>
          </p:cNvPr>
          <p:cNvSpPr/>
          <p:nvPr/>
        </p:nvSpPr>
        <p:spPr>
          <a:xfrm>
            <a:off x="9848850" y="6642100"/>
            <a:ext cx="360363" cy="21590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7419" name="AutoShape 19">
            <a:hlinkClick r:id="" action="ppaction://hlinkshowjump?jump=nextslide"/>
          </p:cNvPr>
          <p:cNvSpPr/>
          <p:nvPr/>
        </p:nvSpPr>
        <p:spPr>
          <a:xfrm>
            <a:off x="10307638" y="6642100"/>
            <a:ext cx="360362" cy="215900"/>
          </a:xfrm>
          <a:prstGeom prst="actionButtonForwardNext">
            <a:avLst/>
          </a:prstGeom>
          <a:solidFill>
            <a:srgbClr val="FF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7420" name="AutoShape 20">
            <a:hlinkClick r:id="" action="ppaction://hlinkshowjump?jump=firstslide"/>
          </p:cNvPr>
          <p:cNvSpPr/>
          <p:nvPr/>
        </p:nvSpPr>
        <p:spPr>
          <a:xfrm>
            <a:off x="9390063" y="6642100"/>
            <a:ext cx="360362" cy="215900"/>
          </a:xfrm>
          <a:prstGeom prst="actionButtonBeginning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20949" name="Line 21"/>
          <p:cNvSpPr/>
          <p:nvPr/>
        </p:nvSpPr>
        <p:spPr>
          <a:xfrm>
            <a:off x="9448800" y="6553200"/>
            <a:ext cx="1219200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lg"/>
          </a:ln>
        </p:spPr>
      </p:sp>
      <p:sp>
        <p:nvSpPr>
          <p:cNvPr id="1020950" name="Rectangle 22"/>
          <p:cNvSpPr/>
          <p:nvPr/>
        </p:nvSpPr>
        <p:spPr>
          <a:xfrm>
            <a:off x="2789238" y="-25400"/>
            <a:ext cx="5327650" cy="5413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accent2"/>
                </a:solidFill>
              </a:rPr>
              <a:t>      </a:t>
            </a:r>
            <a:r>
              <a:rPr lang="en-US" altLang="zh-CN" b="1" dirty="0">
                <a:solidFill>
                  <a:schemeClr val="accent2"/>
                </a:solidFill>
              </a:rPr>
              <a:t>§6-2    </a:t>
            </a:r>
            <a:r>
              <a:rPr lang="zh-CN" altLang="en-US" b="1" dirty="0">
                <a:solidFill>
                  <a:schemeClr val="accent2"/>
                </a:solidFill>
              </a:rPr>
              <a:t>零状态响应</a:t>
            </a:r>
            <a:r>
              <a:rPr lang="zh-CN" altLang="en-US" sz="4400" b="1" dirty="0">
                <a:solidFill>
                  <a:schemeClr val="accent2"/>
                </a:solidFill>
              </a:rPr>
              <a:t> </a:t>
            </a:r>
          </a:p>
        </p:txBody>
      </p:sp>
      <p:grpSp>
        <p:nvGrpSpPr>
          <p:cNvPr id="17423" name="Group 23"/>
          <p:cNvGrpSpPr/>
          <p:nvPr/>
        </p:nvGrpSpPr>
        <p:grpSpPr>
          <a:xfrm>
            <a:off x="1812925" y="4051300"/>
            <a:ext cx="4400550" cy="2498725"/>
            <a:chOff x="182" y="2552"/>
            <a:chExt cx="2772" cy="1574"/>
          </a:xfrm>
        </p:grpSpPr>
        <p:grpSp>
          <p:nvGrpSpPr>
            <p:cNvPr id="17429" name="Group 24"/>
            <p:cNvGrpSpPr/>
            <p:nvPr/>
          </p:nvGrpSpPr>
          <p:grpSpPr>
            <a:xfrm rot="-5400000">
              <a:off x="2330" y="3266"/>
              <a:ext cx="102" cy="288"/>
              <a:chOff x="768" y="1344"/>
              <a:chExt cx="108" cy="288"/>
            </a:xfrm>
          </p:grpSpPr>
          <p:sp>
            <p:nvSpPr>
              <p:cNvPr id="17454" name="Line 25"/>
              <p:cNvSpPr/>
              <p:nvPr/>
            </p:nvSpPr>
            <p:spPr>
              <a:xfrm>
                <a:off x="768" y="1344"/>
                <a:ext cx="0" cy="28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55" name="Line 26"/>
              <p:cNvSpPr/>
              <p:nvPr/>
            </p:nvSpPr>
            <p:spPr>
              <a:xfrm>
                <a:off x="876" y="1344"/>
                <a:ext cx="0" cy="288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30" name="Oval 27"/>
            <p:cNvSpPr/>
            <p:nvPr/>
          </p:nvSpPr>
          <p:spPr>
            <a:xfrm>
              <a:off x="941" y="2888"/>
              <a:ext cx="48" cy="48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7431" name="Oval 28"/>
            <p:cNvSpPr/>
            <p:nvPr/>
          </p:nvSpPr>
          <p:spPr>
            <a:xfrm>
              <a:off x="1334" y="2879"/>
              <a:ext cx="48" cy="48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7432" name="Text Box 29"/>
            <p:cNvSpPr txBox="1"/>
            <p:nvPr/>
          </p:nvSpPr>
          <p:spPr>
            <a:xfrm>
              <a:off x="307" y="3133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/>
                <a:t>R</a:t>
              </a:r>
            </a:p>
          </p:txBody>
        </p:sp>
        <p:sp>
          <p:nvSpPr>
            <p:cNvPr id="17433" name="Text Box 30"/>
            <p:cNvSpPr txBox="1"/>
            <p:nvPr/>
          </p:nvSpPr>
          <p:spPr>
            <a:xfrm>
              <a:off x="2111" y="3464"/>
              <a:ext cx="24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i="1" dirty="0"/>
                <a:t>C</a:t>
              </a:r>
              <a:endParaRPr lang="en-US" altLang="zh-CN" sz="2800" b="1" dirty="0"/>
            </a:p>
          </p:txBody>
        </p:sp>
        <p:sp>
          <p:nvSpPr>
            <p:cNvPr id="17434" name="Text Box 31"/>
            <p:cNvSpPr txBox="1"/>
            <p:nvPr/>
          </p:nvSpPr>
          <p:spPr>
            <a:xfrm>
              <a:off x="1227" y="3448"/>
              <a:ext cx="335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baseline="-14000" dirty="0">
                  <a:solidFill>
                    <a:srgbClr val="660033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660033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baseline="-25000" dirty="0">
                <a:solidFill>
                  <a:srgbClr val="660066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7435" name="Line 32"/>
            <p:cNvSpPr/>
            <p:nvPr/>
          </p:nvSpPr>
          <p:spPr>
            <a:xfrm flipH="1" flipV="1">
              <a:off x="1391" y="2888"/>
              <a:ext cx="986" cy="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6" name="Oval 33"/>
            <p:cNvSpPr/>
            <p:nvPr/>
          </p:nvSpPr>
          <p:spPr>
            <a:xfrm>
              <a:off x="1129" y="3176"/>
              <a:ext cx="48" cy="48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7437" name="Line 34"/>
            <p:cNvSpPr/>
            <p:nvPr/>
          </p:nvSpPr>
          <p:spPr>
            <a:xfrm flipH="1">
              <a:off x="1143" y="3224"/>
              <a:ext cx="4" cy="87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8" name="Freeform 35"/>
            <p:cNvSpPr/>
            <p:nvPr/>
          </p:nvSpPr>
          <p:spPr>
            <a:xfrm>
              <a:off x="649" y="3242"/>
              <a:ext cx="1728" cy="846"/>
            </a:xfrm>
            <a:custGeom>
              <a:avLst/>
              <a:gdLst>
                <a:gd name="txL" fmla="*/ 0 w 1728"/>
                <a:gd name="txT" fmla="*/ 0 h 624"/>
                <a:gd name="txR" fmla="*/ 1728 w 1728"/>
                <a:gd name="txB" fmla="*/ 624 h 624"/>
              </a:gdLst>
              <a:ahLst/>
              <a:cxnLst>
                <a:cxn ang="0">
                  <a:pos x="0" y="0"/>
                </a:cxn>
                <a:cxn ang="0">
                  <a:pos x="0" y="44236"/>
                </a:cxn>
                <a:cxn ang="0">
                  <a:pos x="1728" y="44236"/>
                </a:cxn>
              </a:cxnLst>
              <a:rect l="txL" t="txT" r="txR" b="txB"/>
              <a:pathLst>
                <a:path w="1728" h="624">
                  <a:moveTo>
                    <a:pt x="0" y="0"/>
                  </a:moveTo>
                  <a:lnTo>
                    <a:pt x="0" y="624"/>
                  </a:lnTo>
                  <a:lnTo>
                    <a:pt x="1728" y="624"/>
                  </a:lnTo>
                </a:path>
              </a:pathLst>
            </a:custGeom>
            <a:noFill/>
            <a:ln w="381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Oval 36"/>
            <p:cNvSpPr/>
            <p:nvPr/>
          </p:nvSpPr>
          <p:spPr>
            <a:xfrm>
              <a:off x="526" y="3653"/>
              <a:ext cx="240" cy="24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7440" name="Line 37"/>
            <p:cNvSpPr/>
            <p:nvPr/>
          </p:nvSpPr>
          <p:spPr>
            <a:xfrm rot="657528" flipH="1">
              <a:off x="1151" y="2891"/>
              <a:ext cx="155" cy="294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41" name="Text Box 38"/>
            <p:cNvSpPr txBox="1"/>
            <p:nvPr/>
          </p:nvSpPr>
          <p:spPr>
            <a:xfrm>
              <a:off x="959" y="2552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solidFill>
                    <a:srgbClr val="FF0066"/>
                  </a:solidFill>
                </a:rPr>
                <a:t>t</a:t>
              </a:r>
              <a:r>
                <a:rPr lang="en-US" altLang="zh-CN" sz="2800" b="1" dirty="0">
                  <a:solidFill>
                    <a:srgbClr val="FF0066"/>
                  </a:solidFill>
                </a:rPr>
                <a:t>=</a:t>
              </a:r>
              <a:r>
                <a:rPr lang="en-US" altLang="zh-CN" sz="2400" b="1" dirty="0">
                  <a:solidFill>
                    <a:srgbClr val="FF0066"/>
                  </a:solidFill>
                </a:rPr>
                <a:t>0</a:t>
              </a:r>
              <a:endParaRPr lang="en-US" altLang="zh-CN" sz="2400" b="1" dirty="0"/>
            </a:p>
          </p:txBody>
        </p:sp>
        <p:sp>
          <p:nvSpPr>
            <p:cNvPr id="17442" name="Text Box 39"/>
            <p:cNvSpPr txBox="1"/>
            <p:nvPr/>
          </p:nvSpPr>
          <p:spPr>
            <a:xfrm>
              <a:off x="1167" y="3074"/>
              <a:ext cx="24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b</a:t>
              </a:r>
            </a:p>
          </p:txBody>
        </p:sp>
        <p:sp>
          <p:nvSpPr>
            <p:cNvPr id="17443" name="Text Box 40"/>
            <p:cNvSpPr txBox="1"/>
            <p:nvPr/>
          </p:nvSpPr>
          <p:spPr>
            <a:xfrm>
              <a:off x="737" y="2603"/>
              <a:ext cx="2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a</a:t>
              </a:r>
            </a:p>
          </p:txBody>
        </p:sp>
        <p:sp>
          <p:nvSpPr>
            <p:cNvPr id="17444" name="Text Box 41"/>
            <p:cNvSpPr txBox="1"/>
            <p:nvPr/>
          </p:nvSpPr>
          <p:spPr>
            <a:xfrm>
              <a:off x="361" y="3492"/>
              <a:ext cx="225" cy="63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66"/>
                  </a:solidFill>
                </a:rPr>
                <a:t>+</a:t>
              </a:r>
              <a:endParaRPr lang="en-US" altLang="zh-CN" sz="2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FF0066"/>
                  </a:solidFill>
                </a:rPr>
                <a:t>-</a:t>
              </a:r>
              <a:endParaRPr lang="en-US" altLang="zh-CN" sz="2800" b="1" dirty="0"/>
            </a:p>
          </p:txBody>
        </p:sp>
        <p:sp>
          <p:nvSpPr>
            <p:cNvPr id="17445" name="Text Box 42"/>
            <p:cNvSpPr txBox="1"/>
            <p:nvPr/>
          </p:nvSpPr>
          <p:spPr>
            <a:xfrm>
              <a:off x="182" y="3624"/>
              <a:ext cx="364" cy="33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/>
                <a:t>U</a:t>
              </a:r>
              <a:r>
                <a:rPr lang="en-US" altLang="zh-CN" sz="2800" b="1" baseline="-25000" dirty="0"/>
                <a:t>S</a:t>
              </a:r>
            </a:p>
          </p:txBody>
        </p:sp>
        <p:sp>
          <p:nvSpPr>
            <p:cNvPr id="17446" name="Freeform 43"/>
            <p:cNvSpPr/>
            <p:nvPr/>
          </p:nvSpPr>
          <p:spPr>
            <a:xfrm>
              <a:off x="1871" y="3320"/>
              <a:ext cx="278" cy="428"/>
            </a:xfrm>
            <a:custGeom>
              <a:avLst/>
              <a:gdLst>
                <a:gd name="txL" fmla="*/ 0 w 278"/>
                <a:gd name="txT" fmla="*/ 0 h 428"/>
                <a:gd name="txR" fmla="*/ 278 w 278"/>
                <a:gd name="txB" fmla="*/ 428 h 428"/>
              </a:gdLst>
              <a:ahLst/>
              <a:cxnLst>
                <a:cxn ang="0">
                  <a:pos x="0" y="20"/>
                </a:cxn>
                <a:cxn ang="0">
                  <a:pos x="240" y="68"/>
                </a:cxn>
                <a:cxn ang="0">
                  <a:pos x="229" y="428"/>
                </a:cxn>
              </a:cxnLst>
              <a:rect l="txL" t="txT" r="txR" b="txB"/>
              <a:pathLst>
                <a:path w="278" h="428">
                  <a:moveTo>
                    <a:pt x="0" y="20"/>
                  </a:moveTo>
                  <a:cubicBezTo>
                    <a:pt x="100" y="12"/>
                    <a:pt x="202" y="0"/>
                    <a:pt x="240" y="68"/>
                  </a:cubicBezTo>
                  <a:cubicBezTo>
                    <a:pt x="278" y="136"/>
                    <a:pt x="231" y="353"/>
                    <a:pt x="229" y="428"/>
                  </a:cubicBezTo>
                </a:path>
              </a:pathLst>
            </a:custGeom>
            <a:noFill/>
            <a:ln w="28575" cap="flat" cmpd="sng">
              <a:solidFill>
                <a:srgbClr val="FF0066">
                  <a:alpha val="100000"/>
                </a:srgbClr>
              </a:solidFill>
              <a:prstDash val="solid"/>
              <a:round/>
              <a:headEnd type="none" w="med" len="med"/>
              <a:tailEnd type="stealth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7" name="Text Box 44"/>
            <p:cNvSpPr txBox="1"/>
            <p:nvPr/>
          </p:nvSpPr>
          <p:spPr>
            <a:xfrm>
              <a:off x="1823" y="3272"/>
              <a:ext cx="205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i</a:t>
              </a:r>
              <a:endParaRPr lang="en-US" altLang="zh-CN" i="1" dirty="0">
                <a:solidFill>
                  <a:srgbClr val="FF33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7448" name="Text Box 45"/>
            <p:cNvSpPr txBox="1"/>
            <p:nvPr/>
          </p:nvSpPr>
          <p:spPr>
            <a:xfrm>
              <a:off x="1343" y="2888"/>
              <a:ext cx="24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S</a:t>
              </a:r>
              <a:endParaRPr lang="en-US" altLang="zh-CN" sz="2800" b="1" dirty="0"/>
            </a:p>
          </p:txBody>
        </p:sp>
        <p:sp>
          <p:nvSpPr>
            <p:cNvPr id="17449" name="Line 47"/>
            <p:cNvSpPr/>
            <p:nvPr/>
          </p:nvSpPr>
          <p:spPr>
            <a:xfrm>
              <a:off x="2360" y="2888"/>
              <a:ext cx="0" cy="48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50" name="Text Box 48"/>
            <p:cNvSpPr txBox="1"/>
            <p:nvPr/>
          </p:nvSpPr>
          <p:spPr>
            <a:xfrm>
              <a:off x="2550" y="3128"/>
              <a:ext cx="40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4000" b="1" i="1" dirty="0">
                  <a:solidFill>
                    <a:srgbClr val="660033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660066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17451" name="Line 49"/>
            <p:cNvSpPr/>
            <p:nvPr/>
          </p:nvSpPr>
          <p:spPr>
            <a:xfrm>
              <a:off x="2369" y="3464"/>
              <a:ext cx="0" cy="62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52" name="Freeform 50"/>
            <p:cNvSpPr/>
            <p:nvPr/>
          </p:nvSpPr>
          <p:spPr>
            <a:xfrm>
              <a:off x="653" y="2915"/>
              <a:ext cx="288" cy="336"/>
            </a:xfrm>
            <a:custGeom>
              <a:avLst/>
              <a:gdLst>
                <a:gd name="txL" fmla="*/ 0 w 288"/>
                <a:gd name="txT" fmla="*/ 0 h 336"/>
                <a:gd name="txR" fmla="*/ 288 w 288"/>
                <a:gd name="txB" fmla="*/ 336 h 336"/>
              </a:gdLst>
              <a:ahLst/>
              <a:cxnLst>
                <a:cxn ang="0">
                  <a:pos x="0" y="336"/>
                </a:cxn>
                <a:cxn ang="0">
                  <a:pos x="0" y="0"/>
                </a:cxn>
                <a:cxn ang="0">
                  <a:pos x="288" y="0"/>
                </a:cxn>
              </a:cxnLst>
              <a:rect l="txL" t="txT" r="txR" b="txB"/>
              <a:pathLst>
                <a:path w="288" h="336">
                  <a:moveTo>
                    <a:pt x="0" y="336"/>
                  </a:moveTo>
                  <a:lnTo>
                    <a:pt x="0" y="0"/>
                  </a:lnTo>
                  <a:lnTo>
                    <a:pt x="288" y="0"/>
                  </a:lnTo>
                </a:path>
              </a:pathLst>
            </a:custGeom>
            <a:noFill/>
            <a:ln w="381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Text Box 52"/>
            <p:cNvSpPr txBox="1"/>
            <p:nvPr/>
          </p:nvSpPr>
          <p:spPr>
            <a:xfrm>
              <a:off x="2410" y="2955"/>
              <a:ext cx="225" cy="9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66"/>
                  </a:solidFill>
                </a:rPr>
                <a:t>+</a:t>
              </a:r>
              <a:endParaRPr lang="en-US" altLang="zh-CN" sz="2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endParaRPr lang="en-US" altLang="zh-CN" sz="3600" b="1" dirty="0">
                <a:solidFill>
                  <a:srgbClr val="FF0066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FF0066"/>
                  </a:solidFill>
                </a:rPr>
                <a:t>-</a:t>
              </a:r>
              <a:endParaRPr lang="en-US" altLang="zh-CN" sz="2800" b="1" dirty="0"/>
            </a:p>
          </p:txBody>
        </p:sp>
      </p:grpSp>
      <p:sp>
        <p:nvSpPr>
          <p:cNvPr id="1020981" name="Rectangle 53"/>
          <p:cNvSpPr/>
          <p:nvPr/>
        </p:nvSpPr>
        <p:spPr>
          <a:xfrm>
            <a:off x="3103563" y="4546600"/>
            <a:ext cx="525462" cy="5016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7425" name="Freeform 54"/>
          <p:cNvSpPr/>
          <p:nvPr/>
        </p:nvSpPr>
        <p:spPr>
          <a:xfrm>
            <a:off x="3249613" y="4692650"/>
            <a:ext cx="457200" cy="266700"/>
          </a:xfrm>
          <a:custGeom>
            <a:avLst/>
            <a:gdLst>
              <a:gd name="txL" fmla="*/ 0 w 288"/>
              <a:gd name="txT" fmla="*/ 0 h 168"/>
              <a:gd name="txR" fmla="*/ 288 w 288"/>
              <a:gd name="txB" fmla="*/ 168 h 168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88" h="168">
                <a:moveTo>
                  <a:pt x="288" y="144"/>
                </a:moveTo>
                <a:cubicBezTo>
                  <a:pt x="240" y="156"/>
                  <a:pt x="192" y="168"/>
                  <a:pt x="144" y="144"/>
                </a:cubicBezTo>
                <a:cubicBezTo>
                  <a:pt x="96" y="120"/>
                  <a:pt x="48" y="60"/>
                  <a:pt x="0" y="0"/>
                </a:cubicBezTo>
              </a:path>
            </a:pathLst>
          </a:custGeom>
          <a:noFill/>
          <a:ln w="38100" cap="flat" cmpd="sng">
            <a:solidFill>
              <a:srgbClr val="FF0066">
                <a:alpha val="100000"/>
              </a:srgbClr>
            </a:solidFill>
            <a:prstDash val="solid"/>
            <a:round/>
            <a:headEnd type="none" w="med" len="med"/>
            <a:tailEnd type="stealth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0983" name="Line 55"/>
          <p:cNvSpPr/>
          <p:nvPr/>
        </p:nvSpPr>
        <p:spPr>
          <a:xfrm>
            <a:off x="3076575" y="4597400"/>
            <a:ext cx="601663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27" name="Rectangle 46"/>
          <p:cNvSpPr/>
          <p:nvPr/>
        </p:nvSpPr>
        <p:spPr>
          <a:xfrm rot="10800000">
            <a:off x="3230563" y="5510213"/>
            <a:ext cx="228600" cy="5334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7428" name="Rectangle 46"/>
          <p:cNvSpPr/>
          <p:nvPr/>
        </p:nvSpPr>
        <p:spPr>
          <a:xfrm rot="10800000">
            <a:off x="2443163" y="4924425"/>
            <a:ext cx="228600" cy="5334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2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0" grpId="0"/>
      <p:bldP spid="1020931" grpId="0"/>
      <p:bldP spid="1020932" grpId="0"/>
      <p:bldP spid="1020933" grpId="0"/>
      <p:bldP spid="1020934" grpId="0" animBg="1"/>
      <p:bldP spid="1020935" grpId="0"/>
      <p:bldP spid="1020936" grpId="0"/>
      <p:bldP spid="1020950" grpId="0"/>
      <p:bldP spid="102098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/>
          <p:nvPr/>
        </p:nvSpPr>
        <p:spPr>
          <a:xfrm>
            <a:off x="841375" y="877888"/>
            <a:ext cx="10693400" cy="2327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如图所示</a:t>
            </a:r>
            <a:r>
              <a:rPr lang="en-US" altLang="zh-CN" b="1" i="1" dirty="0">
                <a:ea typeface="华文楷体" panose="02010600040101010101" pitchFamily="2" charset="-122"/>
              </a:rPr>
              <a:t>RL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电路</a:t>
            </a:r>
            <a:r>
              <a:rPr lang="en-US" altLang="zh-CN" b="1" i="1" dirty="0">
                <a:ea typeface="华文楷体" panose="02010600040101010101" pitchFamily="2" charset="-122"/>
              </a:rPr>
              <a:t>t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≥</a:t>
            </a:r>
            <a:r>
              <a:rPr lang="en-US" altLang="zh-CN" b="1" dirty="0">
                <a:ea typeface="华文楷体" panose="02010600040101010101" pitchFamily="2" charset="-122"/>
              </a:rPr>
              <a:t>0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时的零状态响应反映电感储能从无到有的增长过程，即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从零增长到直流稳态值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b="1" dirty="0">
                <a:solidFill>
                  <a:srgbClr val="FF0000"/>
                </a:solidFill>
                <a:ea typeface="华文楷体" panose="02010600040101010101" pitchFamily="2" charset="-122"/>
              </a:rPr>
              <a:t>/</a:t>
            </a:r>
            <a:r>
              <a:rPr lang="en-US" altLang="zh-CN" b="1" i="1" dirty="0">
                <a:solidFill>
                  <a:srgbClr val="FF0000"/>
                </a:solidFill>
                <a:ea typeface="华文楷体" panose="02010600040101010101" pitchFamily="2" charset="-122"/>
              </a:rPr>
              <a:t>R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的过程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按指数律增长。             </a:t>
            </a:r>
          </a:p>
        </p:txBody>
      </p:sp>
      <p:sp>
        <p:nvSpPr>
          <p:cNvPr id="32771" name="Text Box 6"/>
          <p:cNvSpPr txBox="1"/>
          <p:nvPr/>
        </p:nvSpPr>
        <p:spPr>
          <a:xfrm>
            <a:off x="600075" y="212725"/>
            <a:ext cx="63484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>
                <a:srgbClr val="FF6600"/>
              </a:buClr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/>
              <a:t> </a:t>
            </a:r>
            <a:r>
              <a:rPr lang="en-US" altLang="zh-CN" sz="3600" b="1" i="1" dirty="0">
                <a:solidFill>
                  <a:schemeClr val="tx2"/>
                </a:solidFill>
                <a:ea typeface="华文楷体" panose="02010600040101010101" pitchFamily="2" charset="-122"/>
              </a:rPr>
              <a:t>RL</a:t>
            </a:r>
            <a:r>
              <a:rPr lang="zh-CN" altLang="en-US" sz="36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一阶电路的零状态响应</a:t>
            </a:r>
            <a:r>
              <a:rPr lang="en-US" altLang="zh-CN" sz="36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36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36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en-US" altLang="zh-CN" sz="3600" b="1" dirty="0">
              <a:solidFill>
                <a:schemeClr val="hlink"/>
              </a:solidFill>
            </a:endParaRPr>
          </a:p>
        </p:txBody>
      </p:sp>
      <p:sp>
        <p:nvSpPr>
          <p:cNvPr id="130055" name="Text Box 7"/>
          <p:cNvSpPr txBox="1"/>
          <p:nvPr/>
        </p:nvSpPr>
        <p:spPr>
          <a:xfrm>
            <a:off x="3073400" y="6105525"/>
            <a:ext cx="70453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b="1" dirty="0">
                <a:solidFill>
                  <a:srgbClr val="FF0000"/>
                </a:solidFill>
                <a:ea typeface="华文楷体" panose="02010600040101010101" pitchFamily="2" charset="-122"/>
              </a:rPr>
              <a:t>/</a:t>
            </a:r>
            <a:r>
              <a:rPr lang="en-US" altLang="zh-CN" b="1" i="1" dirty="0">
                <a:solidFill>
                  <a:srgbClr val="FF0000"/>
                </a:solidFill>
                <a:ea typeface="华文楷体" panose="02010600040101010101" pitchFamily="2" charset="-122"/>
              </a:rPr>
              <a:t>R</a:t>
            </a:r>
            <a:r>
              <a:rPr lang="en-US" altLang="zh-CN" b="1" i="1" dirty="0">
                <a:solidFill>
                  <a:schemeClr val="hlink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en-US" altLang="zh-CN" sz="36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3600" b="1" i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36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最终将达到的稳态值。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1866900" y="3335338"/>
            <a:ext cx="4321175" cy="2808287"/>
            <a:chOff x="2835" y="1797"/>
            <a:chExt cx="2722" cy="1769"/>
          </a:xfrm>
        </p:grpSpPr>
        <p:sp>
          <p:nvSpPr>
            <p:cNvPr id="32778" name="Rectangle 10"/>
            <p:cNvSpPr/>
            <p:nvPr/>
          </p:nvSpPr>
          <p:spPr>
            <a:xfrm>
              <a:off x="2835" y="1797"/>
              <a:ext cx="2722" cy="176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  <a:effectLst>
              <a:prstShdw prst="shdw17" dist="17961" dir="2699999">
                <a:srgbClr val="00003D"/>
              </a:prst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graphicFrame>
          <p:nvGraphicFramePr>
            <p:cNvPr id="32779" name="Object 9"/>
            <p:cNvGraphicFramePr>
              <a:graphicFrameLocks noChangeAspect="1"/>
            </p:cNvGraphicFramePr>
            <p:nvPr/>
          </p:nvGraphicFramePr>
          <p:xfrm>
            <a:off x="2925" y="1842"/>
            <a:ext cx="2540" cy="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1" r:id="rId3" imgW="5576570" imgH="3657600" progId="Visio.Drawing.11">
                    <p:embed/>
                  </p:oleObj>
                </mc:Choice>
                <mc:Fallback>
                  <p:oleObj r:id="rId3" imgW="5576570" imgH="3657600" progId="Visio.Drawing.11">
                    <p:embed/>
                    <p:pic>
                      <p:nvPicPr>
                        <p:cNvPr id="32779" name="Object 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25" y="1842"/>
                          <a:ext cx="2540" cy="1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4" name="Rectangle 13"/>
          <p:cNvSpPr/>
          <p:nvPr/>
        </p:nvSpPr>
        <p:spPr>
          <a:xfrm>
            <a:off x="6003925" y="2952750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130060" name="Object 12"/>
          <p:cNvGraphicFramePr>
            <a:graphicFrameLocks noChangeAspect="1"/>
          </p:cNvGraphicFramePr>
          <p:nvPr/>
        </p:nvGraphicFramePr>
        <p:xfrm>
          <a:off x="6948488" y="3429000"/>
          <a:ext cx="38258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2" r:id="rId5" imgW="1892300" imgH="431800" progId="Equation.3">
                  <p:embed/>
                </p:oleObj>
              </mc:Choice>
              <mc:Fallback>
                <p:oleObj r:id="rId5" imgW="1892300" imgH="431800" progId="Equation.3">
                  <p:embed/>
                  <p:pic>
                    <p:nvPicPr>
                      <p:cNvPr id="130060" name="Object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48488" y="3429000"/>
                        <a:ext cx="3825875" cy="868363"/>
                      </a:xfrm>
                      <a:prstGeom prst="rect">
                        <a:avLst/>
                      </a:prstGeom>
                      <a:blipFill rotWithShape="1">
                        <a:blip r:embed="rId7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Rectangle 15"/>
          <p:cNvSpPr/>
          <p:nvPr/>
        </p:nvSpPr>
        <p:spPr>
          <a:xfrm>
            <a:off x="6003925" y="2971800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graphicFrame>
        <p:nvGraphicFramePr>
          <p:cNvPr id="130062" name="Object 14"/>
          <p:cNvGraphicFramePr>
            <a:graphicFrameLocks noChangeAspect="1"/>
          </p:cNvGraphicFramePr>
          <p:nvPr/>
        </p:nvGraphicFramePr>
        <p:xfrm>
          <a:off x="8104188" y="4867275"/>
          <a:ext cx="12969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3" r:id="rId8" imgW="405765" imgH="393065" progId="Equation.3">
                  <p:embed/>
                </p:oleObj>
              </mc:Choice>
              <mc:Fallback>
                <p:oleObj r:id="rId8" imgW="405765" imgH="393065" progId="Equation.3">
                  <p:embed/>
                  <p:pic>
                    <p:nvPicPr>
                      <p:cNvPr id="130062" name="Object 1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04188" y="4867275"/>
                        <a:ext cx="1296987" cy="809625"/>
                      </a:xfrm>
                      <a:prstGeom prst="rect">
                        <a:avLst/>
                      </a:prstGeom>
                      <a:blipFill rotWithShape="1">
                        <a:blip r:embed="rId7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500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500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 decel="1000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/>
      <p:bldP spid="13005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0" name="Text Box 2"/>
          <p:cNvSpPr txBox="1"/>
          <p:nvPr/>
        </p:nvSpPr>
        <p:spPr>
          <a:xfrm>
            <a:off x="338138" y="4575175"/>
            <a:ext cx="11752262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4. </a:t>
            </a:r>
            <a:r>
              <a:rPr lang="zh-CN" altLang="en-US" sz="2800" b="1" dirty="0"/>
              <a:t>一阶电路的零状态响应是输入的线性函数。输入扩大</a:t>
            </a:r>
            <a:r>
              <a:rPr lang="en-US" altLang="zh-CN" sz="2800" b="1" i="1" dirty="0"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cs typeface="Times New Roman" panose="02020603050405020304" pitchFamily="18" charset="0"/>
              </a:rPr>
              <a:t>倍，零状态响应也扩大</a:t>
            </a:r>
            <a:r>
              <a:rPr lang="en-US" altLang="zh-CN" sz="2800" b="1" i="1" dirty="0"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cs typeface="Times New Roman" panose="02020603050405020304" pitchFamily="18" charset="0"/>
              </a:rPr>
              <a:t>倍。如有多个直流独立电源作用，也可用叠加定理来求零状态响应。 </a:t>
            </a:r>
            <a:endParaRPr lang="zh-CN" altLang="en-US" sz="2800" b="1" dirty="0"/>
          </a:p>
        </p:txBody>
      </p:sp>
      <p:sp>
        <p:nvSpPr>
          <p:cNvPr id="1031171" name="Rectangle 3"/>
          <p:cNvSpPr/>
          <p:nvPr/>
        </p:nvSpPr>
        <p:spPr>
          <a:xfrm>
            <a:off x="338138" y="2797175"/>
            <a:ext cx="11947525" cy="6715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800" b="1" dirty="0"/>
              <a:t>2. </a:t>
            </a:r>
            <a:r>
              <a:rPr lang="en-US" altLang="zh-CN" sz="2800" b="1" i="1" dirty="0"/>
              <a:t>u</a:t>
            </a:r>
            <a:r>
              <a:rPr lang="en-US" altLang="zh-CN" sz="2800" b="1" i="1" baseline="-25000" dirty="0"/>
              <a:t>C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、</a:t>
            </a:r>
            <a:r>
              <a:rPr lang="en-US" altLang="zh-CN" sz="2800" b="1" i="1" dirty="0"/>
              <a:t>i</a:t>
            </a:r>
            <a:r>
              <a:rPr lang="en-US" altLang="zh-CN" sz="2800" b="1" i="1" baseline="-25000" dirty="0"/>
              <a:t>L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 零状态响应由零向稳态值按指数规律上升，</a:t>
            </a:r>
            <a:r>
              <a:rPr lang="en-US" altLang="zh-CN" sz="2800" b="1" dirty="0">
                <a:cs typeface="Times New Roman" panose="02020603050405020304" pitchFamily="18" charset="0"/>
              </a:rPr>
              <a:t>τ</a:t>
            </a:r>
            <a:r>
              <a:rPr lang="zh-CN" altLang="en-US" sz="2800" b="1" dirty="0">
                <a:cs typeface="Times New Roman" panose="02020603050405020304" pitchFamily="18" charset="0"/>
              </a:rPr>
              <a:t>越小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cs typeface="Times New Roman" panose="02020603050405020304" pitchFamily="18" charset="0"/>
              </a:rPr>
              <a:t>上升越快。</a:t>
            </a:r>
            <a:endParaRPr lang="zh-CN" altLang="en-US" sz="2800" b="1" dirty="0"/>
          </a:p>
        </p:txBody>
      </p:sp>
      <p:sp>
        <p:nvSpPr>
          <p:cNvPr id="1031172" name="Text Box 4"/>
          <p:cNvSpPr txBox="1"/>
          <p:nvPr/>
        </p:nvSpPr>
        <p:spPr>
          <a:xfrm>
            <a:off x="338138" y="3468688"/>
            <a:ext cx="11625262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仿宋_GB2312" pitchFamily="49" charset="-122"/>
              </a:rPr>
              <a:t>3. </a:t>
            </a:r>
            <a:r>
              <a:rPr lang="zh-CN" altLang="en-US" sz="2800" b="1" dirty="0">
                <a:solidFill>
                  <a:schemeClr val="accent2"/>
                </a:solidFill>
                <a:ea typeface="仿宋_GB2312" pitchFamily="49" charset="-122"/>
              </a:rPr>
              <a:t>求出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、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，根据置换定理，电容用电压值为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的电压源置换，电感用电流值为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的电流源置换，在置换后的电路中求其它电压和电流。</a:t>
            </a:r>
          </a:p>
        </p:txBody>
      </p:sp>
      <p:sp>
        <p:nvSpPr>
          <p:cNvPr id="1031173" name="Text Box 5"/>
          <p:cNvSpPr txBox="1"/>
          <p:nvPr/>
        </p:nvSpPr>
        <p:spPr>
          <a:xfrm>
            <a:off x="338138" y="6064250"/>
            <a:ext cx="111109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5. </a:t>
            </a:r>
            <a:r>
              <a:rPr lang="zh-CN" altLang="en-US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如果是非直流激励电路，则需列微分方程求解</a:t>
            </a:r>
            <a:r>
              <a:rPr lang="zh-CN" altLang="en-US" sz="2800" b="1" dirty="0">
                <a:solidFill>
                  <a:schemeClr val="accent2"/>
                </a:solidFill>
              </a:rPr>
              <a:t>。</a:t>
            </a:r>
            <a:r>
              <a:rPr lang="zh-CN" altLang="en-US" sz="2800" b="1" i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031175" name="Text Box 7"/>
          <p:cNvSpPr txBox="1"/>
          <p:nvPr/>
        </p:nvSpPr>
        <p:spPr>
          <a:xfrm>
            <a:off x="338138" y="565150"/>
            <a:ext cx="83883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1.</a:t>
            </a:r>
            <a:r>
              <a:rPr lang="zh-CN" altLang="en-US" sz="2800" b="1" dirty="0">
                <a:solidFill>
                  <a:schemeClr val="accent2"/>
                </a:solidFill>
              </a:rPr>
              <a:t>恒定输入（</a:t>
            </a:r>
            <a:r>
              <a:rPr lang="zh-CN" altLang="en-US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直流激励</a:t>
            </a:r>
            <a:r>
              <a:rPr lang="zh-CN" altLang="en-US" sz="2800" b="1" dirty="0">
                <a:solidFill>
                  <a:schemeClr val="accent2"/>
                </a:solidFill>
              </a:rPr>
              <a:t>）下，一阶电路的零状态响应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1416050" y="1133475"/>
            <a:ext cx="4500563" cy="1541463"/>
            <a:chOff x="181" y="567"/>
            <a:chExt cx="2835" cy="971"/>
          </a:xfrm>
        </p:grpSpPr>
        <p:sp>
          <p:nvSpPr>
            <p:cNvPr id="39960" name="Text Box 9"/>
            <p:cNvSpPr txBox="1"/>
            <p:nvPr/>
          </p:nvSpPr>
          <p:spPr>
            <a:xfrm>
              <a:off x="213" y="567"/>
              <a:ext cx="11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GB" altLang="zh-CN" sz="2400" b="1" i="1" dirty="0">
                  <a:solidFill>
                    <a:schemeClr val="accent2"/>
                  </a:solidFill>
                </a:rPr>
                <a:t>RC</a:t>
              </a:r>
              <a:r>
                <a:rPr lang="zh-CN" altLang="en-GB" sz="2400" b="1" dirty="0">
                  <a:solidFill>
                    <a:schemeClr val="accent2"/>
                  </a:solidFill>
                </a:rPr>
                <a:t>电路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39961" name="Text Box 10"/>
            <p:cNvSpPr txBox="1"/>
            <p:nvPr/>
          </p:nvSpPr>
          <p:spPr>
            <a:xfrm>
              <a:off x="221" y="1211"/>
              <a:ext cx="112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</a:t>
              </a:r>
              <a:r>
                <a:rPr lang="en-US" altLang="zh-CN" sz="2800" b="1" i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800" b="1" dirty="0">
                  <a:solidFill>
                    <a:schemeClr val="accent2"/>
                  </a:solidFill>
                </a:rPr>
                <a:t>= </a:t>
              </a:r>
              <a:r>
                <a:rPr lang="en-US" altLang="zh-CN" sz="2400" b="1" i="1" dirty="0">
                  <a:solidFill>
                    <a:schemeClr val="accent2"/>
                  </a:solidFill>
                </a:rPr>
                <a:t>RC</a:t>
              </a:r>
            </a:p>
          </p:txBody>
        </p:sp>
        <p:sp>
          <p:nvSpPr>
            <p:cNvPr id="39962" name="Text Box 11"/>
            <p:cNvSpPr txBox="1"/>
            <p:nvPr/>
          </p:nvSpPr>
          <p:spPr>
            <a:xfrm>
              <a:off x="181" y="855"/>
              <a:ext cx="17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000" b="1" i="1" baseline="-25000" dirty="0">
                  <a:solidFill>
                    <a:schemeClr val="accent2"/>
                  </a:solidFill>
                </a:rPr>
                <a:t>C</a:t>
              </a:r>
              <a:r>
                <a:rPr lang="en-US" altLang="zh-CN" sz="2800" b="1" dirty="0">
                  <a:solidFill>
                    <a:schemeClr val="accent2"/>
                  </a:solidFill>
                </a:rPr>
                <a:t>(</a:t>
              </a:r>
              <a:r>
                <a:rPr lang="en-US" altLang="zh-CN" sz="2800" b="1" i="1" dirty="0">
                  <a:solidFill>
                    <a:schemeClr val="accent2"/>
                  </a:solidFill>
                </a:rPr>
                <a:t>t</a:t>
              </a:r>
              <a:r>
                <a:rPr lang="en-US" altLang="zh-CN" sz="2800" b="1" dirty="0">
                  <a:solidFill>
                    <a:schemeClr val="accent2"/>
                  </a:solidFill>
                </a:rPr>
                <a:t>) = </a:t>
              </a:r>
              <a:r>
                <a:rPr lang="en-US" altLang="zh-CN" sz="2800" b="1" i="1" dirty="0">
                  <a:solidFill>
                    <a:schemeClr val="accent2"/>
                  </a:solidFill>
                </a:rPr>
                <a:t>u</a:t>
              </a:r>
              <a:r>
                <a:rPr lang="en-US" altLang="zh-CN" sz="2000" b="1" i="1" baseline="-25000" dirty="0">
                  <a:solidFill>
                    <a:schemeClr val="accent2"/>
                  </a:solidFill>
                </a:rPr>
                <a:t>C</a:t>
              </a:r>
              <a:r>
                <a:rPr lang="en-US" altLang="zh-CN" sz="2800" b="1" dirty="0">
                  <a:solidFill>
                    <a:schemeClr val="accent2"/>
                  </a:solidFill>
                </a:rPr>
                <a:t>(</a:t>
              </a:r>
              <a:r>
                <a:rPr lang="en-US" altLang="zh-CN" sz="2800" b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∞)</a:t>
              </a:r>
              <a:r>
                <a:rPr lang="en-US" altLang="zh-CN" sz="2000" b="1" i="1" baseline="-25000" dirty="0">
                  <a:solidFill>
                    <a:schemeClr val="accent2"/>
                  </a:solidFill>
                </a:rPr>
                <a:t> </a:t>
              </a:r>
              <a:r>
                <a:rPr lang="en-US" altLang="zh-CN" sz="2800" b="1" dirty="0">
                  <a:solidFill>
                    <a:schemeClr val="accent2"/>
                  </a:solidFill>
                </a:rPr>
                <a:t>(1-e</a:t>
              </a:r>
            </a:p>
          </p:txBody>
        </p:sp>
        <p:sp>
          <p:nvSpPr>
            <p:cNvPr id="39963" name="Text Box 12"/>
            <p:cNvSpPr txBox="1"/>
            <p:nvPr/>
          </p:nvSpPr>
          <p:spPr>
            <a:xfrm>
              <a:off x="2086" y="846"/>
              <a:ext cx="9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)    </a:t>
              </a:r>
              <a:r>
                <a:rPr lang="en-US" altLang="zh-CN" sz="2800" b="1" i="1" dirty="0">
                  <a:solidFill>
                    <a:schemeClr val="accent2"/>
                  </a:solidFill>
                </a:rPr>
                <a:t>t</a:t>
              </a:r>
              <a:r>
                <a:rPr lang="en-US" altLang="zh-CN" sz="2800" b="1" dirty="0">
                  <a:solidFill>
                    <a:schemeClr val="accent2"/>
                  </a:solidFill>
                  <a:cs typeface="Times New Roman" panose="02020603050405020304" pitchFamily="18" charset="0"/>
                </a:rPr>
                <a:t>≥0</a:t>
              </a:r>
              <a:endParaRPr lang="en-US" altLang="zh-CN" sz="2000" b="1" baseline="-25000" dirty="0">
                <a:solidFill>
                  <a:schemeClr val="accent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39964" name="Text Box 13"/>
            <p:cNvSpPr txBox="1"/>
            <p:nvPr/>
          </p:nvSpPr>
          <p:spPr>
            <a:xfrm>
              <a:off x="1899" y="905"/>
              <a:ext cx="3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</a:t>
              </a:r>
              <a:endParaRPr lang="el-GR" altLang="zh-CN" sz="2000" b="1" i="1" dirty="0">
                <a:solidFill>
                  <a:schemeClr val="accent2"/>
                </a:solidFill>
              </a:endParaRPr>
            </a:p>
          </p:txBody>
        </p:sp>
        <p:sp>
          <p:nvSpPr>
            <p:cNvPr id="39965" name="Text Box 14"/>
            <p:cNvSpPr txBox="1"/>
            <p:nvPr/>
          </p:nvSpPr>
          <p:spPr>
            <a:xfrm>
              <a:off x="1752" y="803"/>
              <a:ext cx="4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- —</a:t>
              </a:r>
            </a:p>
          </p:txBody>
        </p:sp>
        <p:sp>
          <p:nvSpPr>
            <p:cNvPr id="39966" name="Text Box 15"/>
            <p:cNvSpPr txBox="1"/>
            <p:nvPr/>
          </p:nvSpPr>
          <p:spPr>
            <a:xfrm>
              <a:off x="1915" y="730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solidFill>
                    <a:schemeClr val="accent2"/>
                  </a:solidFill>
                </a:rPr>
                <a:t>t</a:t>
              </a:r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6384925" y="1065213"/>
            <a:ext cx="4321175" cy="1730375"/>
            <a:chOff x="3106" y="537"/>
            <a:chExt cx="2722" cy="1090"/>
          </a:xfrm>
        </p:grpSpPr>
        <p:sp>
          <p:nvSpPr>
            <p:cNvPr id="39950" name="Text Box 17"/>
            <p:cNvSpPr txBox="1"/>
            <p:nvPr/>
          </p:nvSpPr>
          <p:spPr>
            <a:xfrm>
              <a:off x="3106" y="537"/>
              <a:ext cx="11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GB" altLang="zh-CN" sz="2400" b="1" i="1" dirty="0">
                  <a:solidFill>
                    <a:schemeClr val="tx2"/>
                  </a:solidFill>
                </a:rPr>
                <a:t>RL</a:t>
              </a:r>
              <a:r>
                <a:rPr lang="zh-CN" altLang="en-GB" sz="2400" b="1" dirty="0">
                  <a:solidFill>
                    <a:schemeClr val="tx2"/>
                  </a:solidFill>
                </a:rPr>
                <a:t>电路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39951" name="Text Box 18"/>
            <p:cNvSpPr txBox="1"/>
            <p:nvPr/>
          </p:nvSpPr>
          <p:spPr>
            <a:xfrm>
              <a:off x="3106" y="845"/>
              <a:ext cx="17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chemeClr val="tx2"/>
                  </a:solidFill>
                </a:rPr>
                <a:t>i</a:t>
              </a:r>
              <a:r>
                <a:rPr lang="en-US" altLang="zh-CN" sz="2000" b="1" i="1" baseline="-25000" dirty="0">
                  <a:solidFill>
                    <a:schemeClr val="tx2"/>
                  </a:solidFill>
                </a:rPr>
                <a:t>L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(</a:t>
              </a:r>
              <a:r>
                <a:rPr lang="en-US" altLang="zh-CN" sz="2800" b="1" i="1" dirty="0">
                  <a:solidFill>
                    <a:schemeClr val="tx2"/>
                  </a:solidFill>
                </a:rPr>
                <a:t>t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) = </a:t>
              </a:r>
              <a:r>
                <a:rPr lang="en-US" altLang="zh-CN" sz="2800" b="1" i="1" dirty="0">
                  <a:solidFill>
                    <a:schemeClr val="tx2"/>
                  </a:solidFill>
                </a:rPr>
                <a:t>i</a:t>
              </a:r>
              <a:r>
                <a:rPr lang="en-US" altLang="zh-CN" sz="2000" b="1" i="1" baseline="-25000" dirty="0">
                  <a:solidFill>
                    <a:schemeClr val="tx2"/>
                  </a:solidFill>
                </a:rPr>
                <a:t>L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(</a:t>
              </a:r>
              <a:r>
                <a:rPr lang="en-US" altLang="zh-CN" sz="28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∞)</a:t>
              </a:r>
              <a:r>
                <a:rPr lang="en-US" altLang="zh-CN" sz="2000" b="1" i="1" baseline="-25000" dirty="0">
                  <a:solidFill>
                    <a:schemeClr val="tx2"/>
                  </a:solidFill>
                </a:rPr>
                <a:t>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(1-e</a:t>
              </a:r>
            </a:p>
          </p:txBody>
        </p:sp>
        <p:sp>
          <p:nvSpPr>
            <p:cNvPr id="39952" name="Text Box 19"/>
            <p:cNvSpPr txBox="1"/>
            <p:nvPr/>
          </p:nvSpPr>
          <p:spPr>
            <a:xfrm>
              <a:off x="4898" y="836"/>
              <a:ext cx="9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)    </a:t>
              </a:r>
              <a:r>
                <a:rPr lang="en-US" altLang="zh-CN" sz="2800" b="1" i="1" dirty="0">
                  <a:solidFill>
                    <a:schemeClr val="tx2"/>
                  </a:solidFill>
                </a:rPr>
                <a:t>t</a:t>
              </a:r>
              <a:r>
                <a:rPr lang="en-US" altLang="zh-CN" sz="2800" b="1" dirty="0">
                  <a:solidFill>
                    <a:schemeClr val="tx2"/>
                  </a:solidFill>
                  <a:cs typeface="Times New Roman" panose="02020603050405020304" pitchFamily="18" charset="0"/>
                </a:rPr>
                <a:t>≥0</a:t>
              </a:r>
              <a:endParaRPr lang="en-US" altLang="zh-CN" sz="2000" b="1" baseline="-25000" dirty="0">
                <a:solidFill>
                  <a:schemeClr val="tx2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39953" name="Text Box 20"/>
            <p:cNvSpPr txBox="1"/>
            <p:nvPr/>
          </p:nvSpPr>
          <p:spPr>
            <a:xfrm>
              <a:off x="4703" y="700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</a:rPr>
                <a:t>t</a:t>
              </a:r>
            </a:p>
          </p:txBody>
        </p:sp>
        <p:sp>
          <p:nvSpPr>
            <p:cNvPr id="39954" name="Text Box 21"/>
            <p:cNvSpPr txBox="1"/>
            <p:nvPr/>
          </p:nvSpPr>
          <p:spPr>
            <a:xfrm>
              <a:off x="4530" y="780"/>
              <a:ext cx="4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- —</a:t>
              </a:r>
            </a:p>
          </p:txBody>
        </p:sp>
        <p:sp>
          <p:nvSpPr>
            <p:cNvPr id="39955" name="Text Box 22"/>
            <p:cNvSpPr txBox="1"/>
            <p:nvPr/>
          </p:nvSpPr>
          <p:spPr>
            <a:xfrm>
              <a:off x="4676" y="883"/>
              <a:ext cx="31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  <a:sym typeface="Symbol" panose="05050102010706020507" pitchFamily="18" charset="2"/>
                </a:rPr>
                <a:t></a:t>
              </a:r>
              <a:endParaRPr lang="el-GR" altLang="zh-CN" sz="2000" b="1" i="1" dirty="0">
                <a:solidFill>
                  <a:schemeClr val="tx2"/>
                </a:solidFill>
              </a:endParaRPr>
            </a:p>
          </p:txBody>
        </p:sp>
        <p:grpSp>
          <p:nvGrpSpPr>
            <p:cNvPr id="39956" name="Group 23"/>
            <p:cNvGrpSpPr/>
            <p:nvPr/>
          </p:nvGrpSpPr>
          <p:grpSpPr>
            <a:xfrm>
              <a:off x="3117" y="1119"/>
              <a:ext cx="1453" cy="508"/>
              <a:chOff x="2925" y="1119"/>
              <a:chExt cx="1453" cy="508"/>
            </a:xfrm>
          </p:grpSpPr>
          <p:sp>
            <p:nvSpPr>
              <p:cNvPr id="39957" name="Text Box 24"/>
              <p:cNvSpPr txBox="1"/>
              <p:nvPr/>
            </p:nvSpPr>
            <p:spPr>
              <a:xfrm>
                <a:off x="2925" y="1172"/>
                <a:ext cx="14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i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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= — = </a:t>
                </a:r>
                <a:r>
                  <a:rPr lang="en-US" altLang="zh-CN" sz="2400" b="1" i="1" dirty="0">
                    <a:solidFill>
                      <a:schemeClr val="tx2"/>
                    </a:solidFill>
                  </a:rPr>
                  <a:t>GL</a:t>
                </a:r>
              </a:p>
            </p:txBody>
          </p:sp>
          <p:sp>
            <p:nvSpPr>
              <p:cNvPr id="39958" name="Text Box 25"/>
              <p:cNvSpPr txBox="1"/>
              <p:nvPr/>
            </p:nvSpPr>
            <p:spPr>
              <a:xfrm>
                <a:off x="3278" y="1119"/>
                <a:ext cx="30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i="1" dirty="0">
                    <a:solidFill>
                      <a:schemeClr val="tx2"/>
                    </a:solidFill>
                  </a:rPr>
                  <a:t>L</a:t>
                </a:r>
              </a:p>
            </p:txBody>
          </p:sp>
          <p:sp>
            <p:nvSpPr>
              <p:cNvPr id="39959" name="Text Box 26"/>
              <p:cNvSpPr txBox="1"/>
              <p:nvPr/>
            </p:nvSpPr>
            <p:spPr>
              <a:xfrm>
                <a:off x="3254" y="1339"/>
                <a:ext cx="30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i="1" dirty="0">
                    <a:solidFill>
                      <a:schemeClr val="tx2"/>
                    </a:solidFill>
                  </a:rPr>
                  <a:t>R</a:t>
                </a:r>
              </a:p>
            </p:txBody>
          </p:sp>
        </p:grpSp>
      </p:grpSp>
      <p:sp>
        <p:nvSpPr>
          <p:cNvPr id="39945" name="AutoShape 27">
            <a:hlinkClick r:id="" action="ppaction://hlinkshowjump?jump=previousslide"/>
          </p:cNvPr>
          <p:cNvSpPr/>
          <p:nvPr/>
        </p:nvSpPr>
        <p:spPr>
          <a:xfrm>
            <a:off x="9848850" y="6635750"/>
            <a:ext cx="360363" cy="21590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39946" name="AutoShape 28">
            <a:hlinkClick r:id="" action="ppaction://hlinkshowjump?jump=nextslide"/>
          </p:cNvPr>
          <p:cNvSpPr/>
          <p:nvPr/>
        </p:nvSpPr>
        <p:spPr>
          <a:xfrm>
            <a:off x="10307638" y="6635750"/>
            <a:ext cx="360362" cy="215900"/>
          </a:xfrm>
          <a:prstGeom prst="actionButtonForwardNext">
            <a:avLst/>
          </a:prstGeom>
          <a:solidFill>
            <a:srgbClr val="FF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39947" name="AutoShape 29">
            <a:hlinkClick r:id="" action="ppaction://hlinkshowjump?jump=firstslide"/>
          </p:cNvPr>
          <p:cNvSpPr/>
          <p:nvPr/>
        </p:nvSpPr>
        <p:spPr>
          <a:xfrm>
            <a:off x="9390063" y="6635750"/>
            <a:ext cx="360362" cy="215900"/>
          </a:xfrm>
          <a:prstGeom prst="actionButtonBeginning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31198" name="Line 30"/>
          <p:cNvSpPr/>
          <p:nvPr/>
        </p:nvSpPr>
        <p:spPr>
          <a:xfrm>
            <a:off x="9448800" y="6627813"/>
            <a:ext cx="1219200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lg"/>
          </a:ln>
        </p:spPr>
      </p:sp>
      <p:sp>
        <p:nvSpPr>
          <p:cNvPr id="1031199" name="Text Box 31"/>
          <p:cNvSpPr txBox="1"/>
          <p:nvPr/>
        </p:nvSpPr>
        <p:spPr>
          <a:xfrm>
            <a:off x="4237038" y="-36512"/>
            <a:ext cx="395446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u="sng" dirty="0">
                <a:solidFill>
                  <a:srgbClr val="00B05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零状态响应小结 </a:t>
            </a:r>
            <a:r>
              <a:rPr lang="zh-CN" altLang="en-US" b="1" dirty="0">
                <a:solidFill>
                  <a:srgbClr val="00B05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 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31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1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1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1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3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1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31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0" grpId="0"/>
      <p:bldP spid="1031171" grpId="0"/>
      <p:bldP spid="1031172" grpId="0"/>
      <p:bldP spid="1031173" grpId="0"/>
      <p:bldP spid="1031175" grpId="0"/>
      <p:bldP spid="103119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Text Box 2"/>
          <p:cNvSpPr txBox="1"/>
          <p:nvPr/>
        </p:nvSpPr>
        <p:spPr>
          <a:xfrm>
            <a:off x="371475" y="4732338"/>
            <a:ext cx="107632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AutoNum type="arabicPeriod" startAt="4"/>
            </a:pPr>
            <a:r>
              <a:rPr lang="zh-CN" altLang="en-US" sz="2800" b="1" dirty="0">
                <a:solidFill>
                  <a:schemeClr val="tx2"/>
                </a:solidFill>
              </a:rPr>
              <a:t>一阶电路的</a:t>
            </a:r>
            <a:r>
              <a:rPr lang="zh-CN" altLang="en-US" sz="2800" b="1" dirty="0">
                <a:solidFill>
                  <a:srgbClr val="FF00FF"/>
                </a:solidFill>
              </a:rPr>
              <a:t>零输入响应</a:t>
            </a:r>
            <a:r>
              <a:rPr lang="zh-CN" altLang="en-US" sz="2800" b="1" dirty="0">
                <a:solidFill>
                  <a:schemeClr val="tx2"/>
                </a:solidFill>
              </a:rPr>
              <a:t>代表了电路的固有性质，又称为</a:t>
            </a:r>
            <a:r>
              <a:rPr lang="zh-CN" altLang="en-US" sz="2800" b="1" dirty="0">
                <a:solidFill>
                  <a:srgbClr val="FF00FF"/>
                </a:solidFill>
              </a:rPr>
              <a:t>固有响应</a:t>
            </a:r>
            <a:r>
              <a:rPr lang="zh-CN" altLang="en-US" sz="2800" b="1" dirty="0">
                <a:solidFill>
                  <a:schemeClr val="tx2"/>
                </a:solidFill>
              </a:rPr>
              <a:t>，特征根 </a:t>
            </a:r>
            <a:r>
              <a:rPr lang="en-US" altLang="zh-CN" sz="2800" b="1" dirty="0">
                <a:solidFill>
                  <a:schemeClr val="tx2"/>
                </a:solidFill>
              </a:rPr>
              <a:t>s=</a:t>
            </a:r>
            <a:r>
              <a:rPr lang="zh-CN" altLang="en-US" sz="2800" b="1" dirty="0">
                <a:solidFill>
                  <a:schemeClr val="tx2"/>
                </a:solidFill>
                <a:ea typeface="隶书" panose="02010509060101010101" pitchFamily="49" charset="-122"/>
              </a:rPr>
              <a:t>－</a:t>
            </a:r>
            <a:r>
              <a:rPr lang="en-US" altLang="zh-CN" sz="2800" b="1" dirty="0">
                <a:solidFill>
                  <a:schemeClr val="tx2"/>
                </a:solidFill>
              </a:rPr>
              <a:t>1/</a:t>
            </a:r>
            <a:r>
              <a:rPr lang="en-US" altLang="zh-CN" sz="2800" b="1" i="1" dirty="0">
                <a:solidFill>
                  <a:schemeClr val="tx2"/>
                </a:solidFill>
                <a:sym typeface="Symbol" panose="05050102010706020507" pitchFamily="18" charset="2"/>
              </a:rPr>
              <a:t></a:t>
            </a:r>
            <a:r>
              <a:rPr lang="zh-CN" altLang="en-US" sz="2800" b="1" dirty="0">
                <a:solidFill>
                  <a:schemeClr val="tx2"/>
                </a:solidFill>
              </a:rPr>
              <a:t>又称为固有频率。   </a:t>
            </a:r>
          </a:p>
        </p:txBody>
      </p:sp>
      <p:sp>
        <p:nvSpPr>
          <p:cNvPr id="1019907" name="Rectangle 3"/>
          <p:cNvSpPr/>
          <p:nvPr/>
        </p:nvSpPr>
        <p:spPr>
          <a:xfrm>
            <a:off x="371475" y="2687638"/>
            <a:ext cx="11449050" cy="93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33400" lvl="0" indent="-533400" eaLnBrk="1" hangingPunct="1">
              <a:buAutoNum type="arabicPeriod" startAt="2"/>
            </a:pPr>
            <a:r>
              <a:rPr lang="zh-CN" altLang="en-US" sz="2800" b="1" dirty="0">
                <a:solidFill>
                  <a:schemeClr val="tx2"/>
                </a:solidFill>
              </a:rPr>
              <a:t>一阶电路的零输入响应是按指数规律衰减的，衰减的快慢由时间常数</a:t>
            </a:r>
            <a:r>
              <a:rPr lang="en-US" altLang="zh-CN" sz="2800" b="1" i="1" dirty="0">
                <a:solidFill>
                  <a:schemeClr val="tx2"/>
                </a:solidFill>
              </a:rPr>
              <a:t>τ</a:t>
            </a:r>
            <a:r>
              <a:rPr lang="zh-CN" altLang="en-US" sz="2800" b="1" dirty="0">
                <a:solidFill>
                  <a:schemeClr val="tx2"/>
                </a:solidFill>
              </a:rPr>
              <a:t>决定，</a:t>
            </a:r>
            <a:r>
              <a:rPr lang="en-US" altLang="zh-CN" sz="2800" b="1" i="1" dirty="0">
                <a:solidFill>
                  <a:schemeClr val="tx2"/>
                </a:solidFill>
              </a:rPr>
              <a:t>τ</a:t>
            </a:r>
            <a:r>
              <a:rPr lang="zh-CN" altLang="en-US" sz="2800" b="1" dirty="0">
                <a:solidFill>
                  <a:schemeClr val="tx2"/>
                </a:solidFill>
              </a:rPr>
              <a:t>越小，衰减越快。</a:t>
            </a:r>
          </a:p>
        </p:txBody>
      </p:sp>
      <p:sp>
        <p:nvSpPr>
          <p:cNvPr id="1019908" name="Text Box 4"/>
          <p:cNvSpPr txBox="1"/>
          <p:nvPr/>
        </p:nvSpPr>
        <p:spPr>
          <a:xfrm>
            <a:off x="371475" y="3670300"/>
            <a:ext cx="11596688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AutoNum type="arabicPeriod" startAt="3"/>
            </a:pPr>
            <a:r>
              <a:rPr lang="zh-CN" altLang="en-US" sz="2800" b="1" dirty="0">
                <a:solidFill>
                  <a:schemeClr val="accent2"/>
                </a:solidFill>
              </a:rPr>
              <a:t>求出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或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再根据置换定理，用电压为</a:t>
            </a:r>
            <a:r>
              <a:rPr lang="en-US" altLang="zh-CN" sz="2800" b="1" i="1" dirty="0">
                <a:solidFill>
                  <a:schemeClr val="accent2"/>
                </a:solidFill>
              </a:rPr>
              <a:t>u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的电压源置换电容，用电流值为</a:t>
            </a:r>
            <a:r>
              <a:rPr lang="en-US" altLang="zh-CN" sz="2800" b="1" i="1" dirty="0">
                <a:solidFill>
                  <a:schemeClr val="accent2"/>
                </a:solidFill>
              </a:rPr>
              <a:t>i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的电流源置换电感，在置换后的电路中求其他电压电流。</a:t>
            </a:r>
          </a:p>
        </p:txBody>
      </p:sp>
      <p:sp>
        <p:nvSpPr>
          <p:cNvPr id="1019909" name="Text Box 5"/>
          <p:cNvSpPr txBox="1"/>
          <p:nvPr/>
        </p:nvSpPr>
        <p:spPr>
          <a:xfrm>
            <a:off x="371475" y="5738813"/>
            <a:ext cx="110394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AutoNum type="arabicPeriod" startAt="5"/>
            </a:pPr>
            <a:r>
              <a:rPr lang="zh-CN" altLang="en-US" sz="2800" b="1" dirty="0">
                <a:solidFill>
                  <a:schemeClr val="accent2"/>
                </a:solidFill>
              </a:rPr>
              <a:t>线性一阶电路的零输入响应是初始状态的线性函数，即初始状态增大</a:t>
            </a:r>
            <a:r>
              <a:rPr lang="zh-CN" altLang="en-US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k </a:t>
            </a:r>
            <a:r>
              <a:rPr lang="zh-CN" altLang="en-US" sz="2800" b="1" dirty="0">
                <a:solidFill>
                  <a:schemeClr val="accent2"/>
                </a:solidFill>
              </a:rPr>
              <a:t>倍，零输入响应也增大 </a:t>
            </a:r>
            <a:r>
              <a:rPr lang="en-US" altLang="zh-CN" sz="2800" b="1" i="1" dirty="0">
                <a:solidFill>
                  <a:schemeClr val="accent2"/>
                </a:solidFill>
              </a:rPr>
              <a:t>k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</a:rPr>
              <a:t>倍。</a:t>
            </a:r>
          </a:p>
        </p:txBody>
      </p:sp>
      <p:sp>
        <p:nvSpPr>
          <p:cNvPr id="1019910" name="Text Box 6"/>
          <p:cNvSpPr txBox="1"/>
          <p:nvPr/>
        </p:nvSpPr>
        <p:spPr>
          <a:xfrm>
            <a:off x="4530725" y="-4762"/>
            <a:ext cx="39544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70C0"/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</a:rPr>
              <a:t>零输入响应小结  </a:t>
            </a:r>
          </a:p>
        </p:txBody>
      </p:sp>
      <p:sp>
        <p:nvSpPr>
          <p:cNvPr id="1019911" name="Text Box 7"/>
          <p:cNvSpPr txBox="1"/>
          <p:nvPr/>
        </p:nvSpPr>
        <p:spPr>
          <a:xfrm>
            <a:off x="371475" y="503238"/>
            <a:ext cx="4387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仿宋_GB2312" pitchFamily="49" charset="-122"/>
              </a:rPr>
              <a:t>1.  </a:t>
            </a:r>
            <a:r>
              <a:rPr lang="zh-CN" altLang="en-US" sz="2800" b="1" dirty="0">
                <a:solidFill>
                  <a:schemeClr val="accent2"/>
                </a:solidFill>
              </a:rPr>
              <a:t>一阶电路的零输入响应</a:t>
            </a:r>
          </a:p>
        </p:txBody>
      </p:sp>
      <p:grpSp>
        <p:nvGrpSpPr>
          <p:cNvPr id="2" name="Group 8"/>
          <p:cNvGrpSpPr/>
          <p:nvPr/>
        </p:nvGrpSpPr>
        <p:grpSpPr>
          <a:xfrm>
            <a:off x="1735138" y="1019175"/>
            <a:ext cx="3711575" cy="1501775"/>
            <a:chOff x="249" y="563"/>
            <a:chExt cx="2338" cy="946"/>
          </a:xfrm>
        </p:grpSpPr>
        <p:sp>
          <p:nvSpPr>
            <p:cNvPr id="76820" name="Text Box 9"/>
            <p:cNvSpPr txBox="1"/>
            <p:nvPr/>
          </p:nvSpPr>
          <p:spPr>
            <a:xfrm>
              <a:off x="249" y="563"/>
              <a:ext cx="14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GB" altLang="zh-CN" sz="2400" b="1" i="1" dirty="0">
                  <a:solidFill>
                    <a:schemeClr val="accent2"/>
                  </a:solidFill>
                </a:rPr>
                <a:t>RC</a:t>
              </a:r>
              <a:r>
                <a:rPr lang="zh-CN" altLang="en-GB" sz="2400" b="1" dirty="0">
                  <a:solidFill>
                    <a:schemeClr val="accent2"/>
                  </a:solidFill>
                </a:rPr>
                <a:t>电路：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76821" name="Group 10"/>
            <p:cNvGrpSpPr/>
            <p:nvPr/>
          </p:nvGrpSpPr>
          <p:grpSpPr>
            <a:xfrm>
              <a:off x="316" y="720"/>
              <a:ext cx="2271" cy="789"/>
              <a:chOff x="316" y="720"/>
              <a:chExt cx="2271" cy="789"/>
            </a:xfrm>
          </p:grpSpPr>
          <p:sp>
            <p:nvSpPr>
              <p:cNvPr id="76822" name="Text Box 11"/>
              <p:cNvSpPr txBox="1"/>
              <p:nvPr/>
            </p:nvSpPr>
            <p:spPr>
              <a:xfrm>
                <a:off x="1906" y="840"/>
                <a:ext cx="68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i="1" dirty="0">
                    <a:solidFill>
                      <a:schemeClr val="accent2"/>
                    </a:solidFill>
                  </a:rPr>
                  <a:t>t</a:t>
                </a:r>
                <a:r>
                  <a:rPr lang="en-US" altLang="zh-CN" sz="2800" b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≥0</a:t>
                </a:r>
                <a:endParaRPr lang="en-US" altLang="zh-CN" sz="2800" b="1" dirty="0">
                  <a:solidFill>
                    <a:schemeClr val="accent2"/>
                  </a:solidFill>
                  <a:ea typeface="Arial" panose="020B0604020202020204" pitchFamily="34" charset="0"/>
                </a:endParaRPr>
              </a:p>
            </p:txBody>
          </p:sp>
          <p:sp>
            <p:nvSpPr>
              <p:cNvPr id="76823" name="Text Box 12"/>
              <p:cNvSpPr txBox="1"/>
              <p:nvPr/>
            </p:nvSpPr>
            <p:spPr>
              <a:xfrm>
                <a:off x="316" y="1182"/>
                <a:ext cx="74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i="1" dirty="0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 </a:t>
                </a:r>
                <a:r>
                  <a:rPr lang="en-US" altLang="zh-CN" sz="2400" b="1" dirty="0">
                    <a:solidFill>
                      <a:schemeClr val="accent2"/>
                    </a:solidFill>
                  </a:rPr>
                  <a:t>=</a:t>
                </a:r>
                <a:r>
                  <a:rPr lang="en-US" altLang="zh-CN" sz="2400" b="1" i="1" dirty="0">
                    <a:solidFill>
                      <a:schemeClr val="accent2"/>
                    </a:solidFill>
                  </a:rPr>
                  <a:t>RC</a:t>
                </a:r>
              </a:p>
            </p:txBody>
          </p:sp>
          <p:grpSp>
            <p:nvGrpSpPr>
              <p:cNvPr id="76824" name="Group 13"/>
              <p:cNvGrpSpPr/>
              <p:nvPr/>
            </p:nvGrpSpPr>
            <p:grpSpPr>
              <a:xfrm>
                <a:off x="318" y="720"/>
                <a:ext cx="1588" cy="462"/>
                <a:chOff x="694" y="1008"/>
                <a:chExt cx="1588" cy="462"/>
              </a:xfrm>
            </p:grpSpPr>
            <p:sp>
              <p:nvSpPr>
                <p:cNvPr id="76825" name="Text Box 14"/>
                <p:cNvSpPr txBox="1"/>
                <p:nvPr/>
              </p:nvSpPr>
              <p:spPr>
                <a:xfrm>
                  <a:off x="694" y="1143"/>
                  <a:ext cx="1588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800" b="1" i="1" dirty="0">
                      <a:solidFill>
                        <a:schemeClr val="accent2"/>
                      </a:solidFill>
                    </a:rPr>
                    <a:t>u</a:t>
                  </a:r>
                  <a:r>
                    <a:rPr lang="en-US" altLang="zh-CN" sz="2000" b="1" i="1" baseline="-25000" dirty="0">
                      <a:solidFill>
                        <a:schemeClr val="accent2"/>
                      </a:solidFill>
                    </a:rPr>
                    <a:t>C</a:t>
                  </a:r>
                  <a:r>
                    <a:rPr lang="en-US" altLang="zh-CN" sz="2800" b="1" dirty="0">
                      <a:solidFill>
                        <a:schemeClr val="accent2"/>
                      </a:solidFill>
                    </a:rPr>
                    <a:t>(</a:t>
                  </a:r>
                  <a:r>
                    <a:rPr lang="en-US" altLang="zh-CN" sz="2800" b="1" i="1" dirty="0">
                      <a:solidFill>
                        <a:schemeClr val="accent2"/>
                      </a:solidFill>
                    </a:rPr>
                    <a:t>t</a:t>
                  </a:r>
                  <a:r>
                    <a:rPr lang="en-US" altLang="zh-CN" sz="2800" b="1" dirty="0">
                      <a:solidFill>
                        <a:schemeClr val="accent2"/>
                      </a:solidFill>
                    </a:rPr>
                    <a:t>)=</a:t>
                  </a:r>
                  <a:r>
                    <a:rPr lang="en-US" altLang="zh-CN" sz="2800" b="1" i="1" dirty="0">
                      <a:solidFill>
                        <a:schemeClr val="accent2"/>
                      </a:solidFill>
                    </a:rPr>
                    <a:t>u</a:t>
                  </a:r>
                  <a:r>
                    <a:rPr lang="en-US" altLang="zh-CN" sz="2000" b="1" i="1" baseline="-25000" dirty="0">
                      <a:solidFill>
                        <a:schemeClr val="accent2"/>
                      </a:solidFill>
                    </a:rPr>
                    <a:t>C</a:t>
                  </a:r>
                  <a:r>
                    <a:rPr lang="en-US" altLang="zh-CN" sz="2800" b="1" dirty="0">
                      <a:solidFill>
                        <a:schemeClr val="accent2"/>
                      </a:solidFill>
                    </a:rPr>
                    <a:t>(0)e</a:t>
                  </a:r>
                </a:p>
              </p:txBody>
            </p:sp>
            <p:sp>
              <p:nvSpPr>
                <p:cNvPr id="76826" name="Text Box 15"/>
                <p:cNvSpPr txBox="1"/>
                <p:nvPr/>
              </p:nvSpPr>
              <p:spPr>
                <a:xfrm>
                  <a:off x="1774" y="1073"/>
                  <a:ext cx="45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accent2"/>
                      </a:solidFill>
                    </a:rPr>
                    <a:t>- —</a:t>
                  </a:r>
                </a:p>
              </p:txBody>
            </p:sp>
            <p:sp>
              <p:nvSpPr>
                <p:cNvPr id="76827" name="Text Box 16"/>
                <p:cNvSpPr txBox="1"/>
                <p:nvPr/>
              </p:nvSpPr>
              <p:spPr>
                <a:xfrm>
                  <a:off x="1910" y="1171"/>
                  <a:ext cx="317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b="1" i="1" dirty="0">
                      <a:solidFill>
                        <a:schemeClr val="accent2"/>
                      </a:solidFill>
                      <a:sym typeface="Symbol" panose="05050102010706020507" pitchFamily="18" charset="2"/>
                    </a:rPr>
                    <a:t></a:t>
                  </a:r>
                  <a:endParaRPr lang="el-GR" altLang="zh-CN" sz="2000" b="1" i="1" dirty="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76828" name="Text Box 17"/>
                <p:cNvSpPr txBox="1"/>
                <p:nvPr/>
              </p:nvSpPr>
              <p:spPr>
                <a:xfrm>
                  <a:off x="1932" y="1008"/>
                  <a:ext cx="181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 b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None/>
                  </a:pPr>
                  <a:r>
                    <a:rPr lang="en-US" altLang="zh-CN" sz="2000" b="1" i="1" dirty="0">
                      <a:solidFill>
                        <a:schemeClr val="accent2"/>
                      </a:solidFill>
                    </a:rPr>
                    <a:t>t</a:t>
                  </a:r>
                </a:p>
              </p:txBody>
            </p:sp>
          </p:grpSp>
        </p:grpSp>
      </p:grpSp>
      <p:grpSp>
        <p:nvGrpSpPr>
          <p:cNvPr id="5" name="Group 18"/>
          <p:cNvGrpSpPr/>
          <p:nvPr/>
        </p:nvGrpSpPr>
        <p:grpSpPr>
          <a:xfrm>
            <a:off x="6303963" y="877888"/>
            <a:ext cx="3821112" cy="1844675"/>
            <a:chOff x="2925" y="464"/>
            <a:chExt cx="2407" cy="1162"/>
          </a:xfrm>
        </p:grpSpPr>
        <p:sp>
          <p:nvSpPr>
            <p:cNvPr id="76810" name="Text Box 19"/>
            <p:cNvSpPr txBox="1"/>
            <p:nvPr/>
          </p:nvSpPr>
          <p:spPr>
            <a:xfrm>
              <a:off x="2971" y="464"/>
              <a:ext cx="11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tx2"/>
                  </a:solidFill>
                </a:rPr>
                <a:t>RL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电路：</a:t>
              </a:r>
            </a:p>
          </p:txBody>
        </p:sp>
        <p:sp>
          <p:nvSpPr>
            <p:cNvPr id="76811" name="Text Box 20"/>
            <p:cNvSpPr txBox="1"/>
            <p:nvPr/>
          </p:nvSpPr>
          <p:spPr>
            <a:xfrm>
              <a:off x="4651" y="787"/>
              <a:ext cx="6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chemeClr val="tx2"/>
                  </a:solidFill>
                </a:rPr>
                <a:t>t</a:t>
              </a:r>
              <a:r>
                <a:rPr lang="en-US" altLang="zh-CN" sz="2800" b="1" dirty="0">
                  <a:solidFill>
                    <a:schemeClr val="tx2"/>
                  </a:solidFill>
                  <a:cs typeface="Arial" panose="020B0604020202020204" pitchFamily="34" charset="0"/>
                </a:rPr>
                <a:t>≥0</a:t>
              </a:r>
              <a:endParaRPr lang="en-US" altLang="zh-CN" sz="2800" b="1" dirty="0">
                <a:solidFill>
                  <a:schemeClr val="tx2"/>
                </a:solidFill>
                <a:ea typeface="Arial" panose="020B0604020202020204" pitchFamily="34" charset="0"/>
              </a:endParaRPr>
            </a:p>
          </p:txBody>
        </p:sp>
        <p:sp>
          <p:nvSpPr>
            <p:cNvPr id="76812" name="Text Box 21"/>
            <p:cNvSpPr txBox="1"/>
            <p:nvPr/>
          </p:nvSpPr>
          <p:spPr>
            <a:xfrm>
              <a:off x="2925" y="1172"/>
              <a:ext cx="14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i="1" dirty="0">
                  <a:solidFill>
                    <a:schemeClr val="tx2"/>
                  </a:solidFill>
                  <a:sym typeface="Symbol" panose="05050102010706020507" pitchFamily="18" charset="2"/>
                </a:rPr>
                <a:t>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= — = </a:t>
              </a:r>
              <a:r>
                <a:rPr lang="en-US" altLang="zh-CN" sz="2400" b="1" i="1" dirty="0">
                  <a:solidFill>
                    <a:schemeClr val="tx2"/>
                  </a:solidFill>
                </a:rPr>
                <a:t>GL</a:t>
              </a:r>
            </a:p>
          </p:txBody>
        </p:sp>
        <p:sp>
          <p:nvSpPr>
            <p:cNvPr id="76813" name="Text Box 22"/>
            <p:cNvSpPr txBox="1"/>
            <p:nvPr/>
          </p:nvSpPr>
          <p:spPr>
            <a:xfrm>
              <a:off x="3278" y="1119"/>
              <a:ext cx="3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76814" name="Text Box 23"/>
            <p:cNvSpPr txBox="1"/>
            <p:nvPr/>
          </p:nvSpPr>
          <p:spPr>
            <a:xfrm>
              <a:off x="3254" y="1338"/>
              <a:ext cx="3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chemeClr val="tx2"/>
                  </a:solidFill>
                </a:rPr>
                <a:t>R</a:t>
              </a:r>
            </a:p>
          </p:txBody>
        </p:sp>
        <p:grpSp>
          <p:nvGrpSpPr>
            <p:cNvPr id="76815" name="Group 24"/>
            <p:cNvGrpSpPr/>
            <p:nvPr/>
          </p:nvGrpSpPr>
          <p:grpSpPr>
            <a:xfrm>
              <a:off x="2966" y="656"/>
              <a:ext cx="1588" cy="462"/>
              <a:chOff x="694" y="1008"/>
              <a:chExt cx="1588" cy="462"/>
            </a:xfrm>
          </p:grpSpPr>
          <p:sp>
            <p:nvSpPr>
              <p:cNvPr id="76816" name="Text Box 25"/>
              <p:cNvSpPr txBox="1"/>
              <p:nvPr/>
            </p:nvSpPr>
            <p:spPr>
              <a:xfrm>
                <a:off x="694" y="1143"/>
                <a:ext cx="15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i="1" dirty="0">
                    <a:solidFill>
                      <a:schemeClr val="tx2"/>
                    </a:solidFill>
                  </a:rPr>
                  <a:t>i</a:t>
                </a:r>
                <a:r>
                  <a:rPr lang="en-US" altLang="zh-CN" sz="2000" b="1" i="1" baseline="-25000" dirty="0">
                    <a:solidFill>
                      <a:schemeClr val="tx2"/>
                    </a:solidFill>
                  </a:rPr>
                  <a:t>L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(</a:t>
                </a:r>
                <a:r>
                  <a:rPr lang="en-US" altLang="zh-CN" sz="2800" b="1" i="1" dirty="0">
                    <a:solidFill>
                      <a:schemeClr val="tx2"/>
                    </a:solidFill>
                  </a:rPr>
                  <a:t>t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) = </a:t>
                </a:r>
                <a:r>
                  <a:rPr lang="en-US" altLang="zh-CN" sz="2800" b="1" i="1" dirty="0">
                    <a:solidFill>
                      <a:schemeClr val="tx2"/>
                    </a:solidFill>
                  </a:rPr>
                  <a:t>i</a:t>
                </a:r>
                <a:r>
                  <a:rPr lang="en-US" altLang="zh-CN" sz="2000" b="1" i="1" baseline="-25000" dirty="0">
                    <a:solidFill>
                      <a:schemeClr val="tx2"/>
                    </a:solidFill>
                  </a:rPr>
                  <a:t>L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(0)e</a:t>
                </a:r>
              </a:p>
            </p:txBody>
          </p:sp>
          <p:sp>
            <p:nvSpPr>
              <p:cNvPr id="76817" name="Text Box 26"/>
              <p:cNvSpPr txBox="1"/>
              <p:nvPr/>
            </p:nvSpPr>
            <p:spPr>
              <a:xfrm>
                <a:off x="1774" y="1073"/>
                <a:ext cx="45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- —</a:t>
                </a:r>
              </a:p>
            </p:txBody>
          </p:sp>
          <p:sp>
            <p:nvSpPr>
              <p:cNvPr id="76818" name="Text Box 27"/>
              <p:cNvSpPr txBox="1"/>
              <p:nvPr/>
            </p:nvSpPr>
            <p:spPr>
              <a:xfrm>
                <a:off x="1910" y="1171"/>
                <a:ext cx="3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i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</a:t>
                </a:r>
                <a:endParaRPr lang="el-GR" altLang="zh-CN" sz="2000" b="1" i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76819" name="Text Box 28"/>
              <p:cNvSpPr txBox="1"/>
              <p:nvPr/>
            </p:nvSpPr>
            <p:spPr>
              <a:xfrm>
                <a:off x="1932" y="1008"/>
                <a:ext cx="18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i="1" dirty="0">
                    <a:solidFill>
                      <a:schemeClr val="tx2"/>
                    </a:solidFill>
                  </a:rPr>
                  <a:t>t</a:t>
                </a:r>
              </a:p>
            </p:txBody>
          </p:sp>
        </p:grpSp>
      </p:grp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1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1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1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1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1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6" grpId="0"/>
      <p:bldP spid="1019907" grpId="0"/>
      <p:bldP spid="1019908" grpId="0"/>
      <p:bldP spid="1019909" grpId="0"/>
      <p:bldP spid="1019910" grpId="0"/>
      <p:bldP spid="10199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6" name="Text Box 66"/>
          <p:cNvSpPr txBox="1"/>
          <p:nvPr/>
        </p:nvSpPr>
        <p:spPr>
          <a:xfrm>
            <a:off x="2117725" y="3429000"/>
            <a:ext cx="79565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ea typeface="黑体" panose="02010609060101010101" pitchFamily="49" charset="-122"/>
              </a:rPr>
              <a:t>a</a:t>
            </a:r>
            <a:r>
              <a:rPr lang="zh-CN" altLang="en-US" b="1" dirty="0">
                <a:solidFill>
                  <a:schemeClr val="tx2"/>
                </a:solidFill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全响应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零状态响应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零输入响应   </a:t>
            </a:r>
          </a:p>
        </p:txBody>
      </p:sp>
      <p:sp>
        <p:nvSpPr>
          <p:cNvPr id="92227" name="Text Box 67"/>
          <p:cNvSpPr txBox="1"/>
          <p:nvPr/>
        </p:nvSpPr>
        <p:spPr>
          <a:xfrm>
            <a:off x="1577975" y="2524125"/>
            <a:ext cx="9144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tx2"/>
                </a:solidFill>
                <a:ea typeface="华文楷体" panose="02010600040101010101" pitchFamily="2" charset="-122"/>
              </a:rPr>
              <a:t>t</a:t>
            </a:r>
            <a:r>
              <a:rPr lang="en-US" altLang="zh-CN" b="1" dirty="0">
                <a:solidFill>
                  <a:schemeClr val="tx2"/>
                </a:solidFill>
                <a:ea typeface="华文楷体" panose="02010600040101010101" pitchFamily="2" charset="-122"/>
              </a:rPr>
              <a:t>≥0(</a:t>
            </a:r>
            <a:r>
              <a:rPr lang="en-US" altLang="zh-CN" b="1" i="1" dirty="0">
                <a:solidFill>
                  <a:schemeClr val="tx2"/>
                </a:solidFill>
                <a:ea typeface="华文楷体" panose="02010600040101010101" pitchFamily="2" charset="-122"/>
              </a:rPr>
              <a:t>t</a:t>
            </a:r>
            <a:r>
              <a:rPr lang="en-US" altLang="zh-CN" b="1" dirty="0">
                <a:solidFill>
                  <a:schemeClr val="tx2"/>
                </a:solidFill>
                <a:ea typeface="华文楷体" panose="02010600040101010101" pitchFamily="2" charset="-122"/>
              </a:rPr>
              <a:t>=0</a:t>
            </a:r>
            <a:r>
              <a:rPr lang="zh-CN" altLang="en-US" b="1" dirty="0">
                <a:solidFill>
                  <a:schemeClr val="tx2"/>
                </a:solidFill>
                <a:ea typeface="华文楷体" panose="02010600040101010101" pitchFamily="2" charset="-122"/>
              </a:rPr>
              <a:t>为初始时刻</a:t>
            </a:r>
            <a:r>
              <a:rPr lang="en-US" altLang="zh-CN" b="1" dirty="0">
                <a:solidFill>
                  <a:schemeClr val="tx2"/>
                </a:solidFill>
                <a:ea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tx2"/>
                </a:solidFill>
                <a:ea typeface="华文楷体" panose="02010600040101010101" pitchFamily="2" charset="-122"/>
              </a:rPr>
              <a:t>时，叠加原理可表达为</a:t>
            </a:r>
          </a:p>
        </p:txBody>
      </p:sp>
      <p:sp>
        <p:nvSpPr>
          <p:cNvPr id="92228" name="Text Box 68"/>
          <p:cNvSpPr txBox="1"/>
          <p:nvPr/>
        </p:nvSpPr>
        <p:spPr>
          <a:xfrm>
            <a:off x="2103438" y="4264025"/>
            <a:ext cx="55451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ea typeface="黑体" panose="02010609060101010101" pitchFamily="49" charset="-122"/>
              </a:rPr>
              <a:t>b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）零状态响应线性   </a:t>
            </a:r>
          </a:p>
        </p:txBody>
      </p:sp>
      <p:sp>
        <p:nvSpPr>
          <p:cNvPr id="92229" name="Text Box 69"/>
          <p:cNvSpPr txBox="1"/>
          <p:nvPr/>
        </p:nvSpPr>
        <p:spPr>
          <a:xfrm>
            <a:off x="2087563" y="5016500"/>
            <a:ext cx="59769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ea typeface="黑体" panose="02010609060101010101" pitchFamily="49" charset="-122"/>
              </a:rPr>
              <a:t>c</a:t>
            </a:r>
            <a:r>
              <a:rPr lang="zh-CN" altLang="en-US" b="1" dirty="0">
                <a:solidFill>
                  <a:schemeClr val="tx2"/>
                </a:solidFill>
                <a:ea typeface="黑体" panose="02010609060101010101" pitchFamily="49" charset="-122"/>
              </a:rPr>
              <a:t>）零输入响应线性</a:t>
            </a:r>
          </a:p>
        </p:txBody>
      </p:sp>
      <p:sp>
        <p:nvSpPr>
          <p:cNvPr id="11" name="Rectangle 59"/>
          <p:cNvSpPr/>
          <p:nvPr/>
        </p:nvSpPr>
        <p:spPr>
          <a:xfrm>
            <a:off x="2035175" y="863600"/>
            <a:ext cx="7772400" cy="847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§6-5    </a:t>
            </a:r>
            <a:r>
              <a:rPr lang="zh-CN" altLang="en-US" b="1" dirty="0">
                <a:solidFill>
                  <a:schemeClr val="accent2"/>
                </a:solidFill>
              </a:rPr>
              <a:t>线性动态电路的叠加原理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92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92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92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500"/>
                                        <p:tgtEl>
                                          <p:spTgt spid="92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500"/>
                                        <p:tgtEl>
                                          <p:spTgt spid="92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500"/>
                                        <p:tgtEl>
                                          <p:spTgt spid="92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500"/>
                                        <p:tgtEl>
                                          <p:spTgt spid="922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500"/>
                                        <p:tgtEl>
                                          <p:spTgt spid="922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500"/>
                                        <p:tgtEl>
                                          <p:spTgt spid="922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6" grpId="0"/>
      <p:bldP spid="92227" grpId="0"/>
      <p:bldP spid="92228" grpId="0"/>
      <p:bldP spid="92229" grpId="0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1" name="Text Box 3"/>
          <p:cNvSpPr txBox="1"/>
          <p:nvPr/>
        </p:nvSpPr>
        <p:spPr>
          <a:xfrm>
            <a:off x="612775" y="727075"/>
            <a:ext cx="11112500" cy="130175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只含有一个储能元件或可等效为一个储能元件的线性电路，称为一阶线性电路，其微分方程都是一阶常系数线性微分方程。</a:t>
            </a:r>
          </a:p>
        </p:txBody>
      </p:sp>
      <p:sp>
        <p:nvSpPr>
          <p:cNvPr id="892932" name="Text Box 4"/>
          <p:cNvSpPr txBox="1"/>
          <p:nvPr/>
        </p:nvSpPr>
        <p:spPr>
          <a:xfrm>
            <a:off x="582613" y="2136775"/>
            <a:ext cx="11142662" cy="130175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对于一阶线性电路，在直流激励作用下，电路的响应是由稳态分量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包括零值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和暂态分量两部分相加而得，写成一般式子，则为</a:t>
            </a:r>
          </a:p>
        </p:txBody>
      </p:sp>
      <p:sp>
        <p:nvSpPr>
          <p:cNvPr id="892933" name="Text Box 5"/>
          <p:cNvSpPr txBox="1">
            <a:spLocks noChangeArrowheads="1"/>
          </p:cNvSpPr>
          <p:nvPr/>
        </p:nvSpPr>
        <p:spPr bwMode="auto">
          <a:xfrm>
            <a:off x="3059113" y="3427413"/>
            <a:ext cx="7035800" cy="701675"/>
          </a:xfrm>
          <a:prstGeom prst="rect">
            <a:avLst/>
          </a:prstGeom>
          <a:noFill/>
          <a:ln w="38100">
            <a:noFill/>
            <a:miter lim="800000"/>
            <a:tailEnd type="none" w="med" len="lg"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f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´(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+ f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–</a:t>
            </a:r>
            <a:r>
              <a:rPr kumimoji="1" lang="en-US" altLang="zh-CN" sz="3600" b="1" i="1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/</a:t>
            </a:r>
            <a:r>
              <a:rPr kumimoji="1" lang="en-US" altLang="zh-CN" sz="40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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2934" name="Text Box 6"/>
          <p:cNvSpPr txBox="1">
            <a:spLocks noChangeArrowheads="1"/>
          </p:cNvSpPr>
          <p:nvPr/>
        </p:nvSpPr>
        <p:spPr bwMode="auto">
          <a:xfrm>
            <a:off x="612775" y="3906838"/>
            <a:ext cx="11112500" cy="1487488"/>
          </a:xfrm>
          <a:prstGeom prst="rect">
            <a:avLst/>
          </a:prstGeom>
          <a:noFill/>
          <a:ln w="38100">
            <a:noFill/>
            <a:miter lim="800000"/>
            <a:tailEnd type="none" w="med" len="lg"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式中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是电压或电流，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是稳态分量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即稳态值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–</a:t>
            </a:r>
            <a:r>
              <a:rPr kumimoji="1" lang="en-US" altLang="zh-CN" sz="36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/</a:t>
            </a:r>
            <a:r>
              <a:rPr kumimoji="1" lang="en-US" altLang="zh-CN" sz="4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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是暂态分量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(0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+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初始值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则得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(0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+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–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2935" name="Text Box 7"/>
          <p:cNvSpPr txBox="1"/>
          <p:nvPr/>
        </p:nvSpPr>
        <p:spPr>
          <a:xfrm>
            <a:off x="1905000" y="5461000"/>
            <a:ext cx="1027113" cy="51911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于是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892936" name="Text Box 8"/>
          <p:cNvSpPr txBox="1"/>
          <p:nvPr/>
        </p:nvSpPr>
        <p:spPr>
          <a:xfrm>
            <a:off x="3124200" y="5156200"/>
            <a:ext cx="7543800" cy="9144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f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 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(0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–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1" lang="en-US" altLang="zh-CN" sz="5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1" lang="en-US" altLang="zh-CN" sz="4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e</a:t>
            </a:r>
            <a:r>
              <a:rPr kumimoji="1" lang="en-US" altLang="zh-CN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1" lang="en-US" altLang="zh-CN" sz="4800" b="1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</a:t>
            </a:r>
            <a:r>
              <a:rPr kumimoji="1" lang="en-US" altLang="zh-CN" sz="4400" b="1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t/</a:t>
            </a:r>
            <a:r>
              <a:rPr kumimoji="1" lang="en-US" altLang="zh-CN" sz="4400" b="1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       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4419600" y="5842000"/>
            <a:ext cx="3962400" cy="495300"/>
            <a:chOff x="1824" y="3600"/>
            <a:chExt cx="2496" cy="312"/>
          </a:xfrm>
        </p:grpSpPr>
        <p:sp>
          <p:nvSpPr>
            <p:cNvPr id="99343" name="Line 10"/>
            <p:cNvSpPr/>
            <p:nvPr/>
          </p:nvSpPr>
          <p:spPr>
            <a:xfrm>
              <a:off x="2640" y="3720"/>
              <a:ext cx="0" cy="19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99344" name="Line 11"/>
            <p:cNvSpPr/>
            <p:nvPr/>
          </p:nvSpPr>
          <p:spPr>
            <a:xfrm>
              <a:off x="1824" y="3696"/>
              <a:ext cx="0" cy="19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99345" name="Line 12"/>
            <p:cNvSpPr/>
            <p:nvPr/>
          </p:nvSpPr>
          <p:spPr>
            <a:xfrm>
              <a:off x="4320" y="3600"/>
              <a:ext cx="0" cy="19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lg"/>
            </a:ln>
          </p:spPr>
        </p:sp>
      </p:grpSp>
      <p:sp>
        <p:nvSpPr>
          <p:cNvPr id="892941" name="Text Box 13"/>
          <p:cNvSpPr txBox="1"/>
          <p:nvPr/>
        </p:nvSpPr>
        <p:spPr>
          <a:xfrm>
            <a:off x="3962400" y="6299200"/>
            <a:ext cx="5229225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稳态值     初始值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时间常数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99338" name="AutoShape 14">
            <a:hlinkClick r:id="" action="ppaction://hlinkshowjump?jump=previousslide"/>
          </p:cNvPr>
          <p:cNvSpPr/>
          <p:nvPr/>
        </p:nvSpPr>
        <p:spPr>
          <a:xfrm>
            <a:off x="9848850" y="6642100"/>
            <a:ext cx="360363" cy="21590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99339" name="AutoShape 15">
            <a:hlinkClick r:id="" action="ppaction://hlinkshowjump?jump=nextslide"/>
          </p:cNvPr>
          <p:cNvSpPr/>
          <p:nvPr/>
        </p:nvSpPr>
        <p:spPr>
          <a:xfrm>
            <a:off x="10307638" y="6642100"/>
            <a:ext cx="360362" cy="215900"/>
          </a:xfrm>
          <a:prstGeom prst="actionButtonForwardNext">
            <a:avLst/>
          </a:prstGeom>
          <a:solidFill>
            <a:srgbClr val="FF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99340" name="AutoShape 16">
            <a:hlinkClick r:id="" action="ppaction://hlinkshowjump?jump=firstslide"/>
          </p:cNvPr>
          <p:cNvSpPr/>
          <p:nvPr/>
        </p:nvSpPr>
        <p:spPr>
          <a:xfrm>
            <a:off x="9390063" y="6642100"/>
            <a:ext cx="360362" cy="215900"/>
          </a:xfrm>
          <a:prstGeom prst="actionButtonBeginning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892945" name="Line 17"/>
          <p:cNvSpPr/>
          <p:nvPr/>
        </p:nvSpPr>
        <p:spPr>
          <a:xfrm>
            <a:off x="9448800" y="6553200"/>
            <a:ext cx="1219200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lg"/>
          </a:ln>
        </p:spPr>
      </p:sp>
      <p:sp>
        <p:nvSpPr>
          <p:cNvPr id="892947" name="Text Box 19"/>
          <p:cNvSpPr txBox="1"/>
          <p:nvPr/>
        </p:nvSpPr>
        <p:spPr>
          <a:xfrm>
            <a:off x="4419600" y="149225"/>
            <a:ext cx="307181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§6-6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三要素法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89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9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931" grpId="0"/>
      <p:bldP spid="892932" grpId="0"/>
      <p:bldP spid="892933" grpId="0"/>
      <p:bldP spid="892934" grpId="0"/>
      <p:bldP spid="892935" grpId="0"/>
      <p:bldP spid="892936" grpId="0"/>
      <p:bldP spid="892941" grpId="0"/>
      <p:bldP spid="89294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Text Box 2"/>
          <p:cNvSpPr txBox="1"/>
          <p:nvPr/>
        </p:nvSpPr>
        <p:spPr>
          <a:xfrm>
            <a:off x="379413" y="519113"/>
            <a:ext cx="29178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一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求初始值 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(0</a:t>
            </a:r>
            <a:r>
              <a:rPr lang="en-US" altLang="zh-CN" sz="2800" b="1" baseline="-25000" dirty="0"/>
              <a:t>+</a:t>
            </a:r>
            <a:r>
              <a:rPr lang="en-US" altLang="zh-CN" sz="2800" b="1" dirty="0"/>
              <a:t>) </a:t>
            </a:r>
          </a:p>
        </p:txBody>
      </p:sp>
      <p:sp>
        <p:nvSpPr>
          <p:cNvPr id="1069059" name="Text Box 3"/>
          <p:cNvSpPr txBox="1"/>
          <p:nvPr/>
        </p:nvSpPr>
        <p:spPr>
          <a:xfrm>
            <a:off x="3368675" y="793750"/>
            <a:ext cx="31257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1.</a:t>
            </a:r>
            <a:r>
              <a:rPr lang="zh-CN" altLang="en-US" sz="2800" b="1" dirty="0">
                <a:solidFill>
                  <a:schemeClr val="accent2"/>
                </a:solidFill>
              </a:rPr>
              <a:t>先求</a:t>
            </a:r>
            <a:r>
              <a:rPr lang="en-US" altLang="zh-CN" sz="2800" b="1" i="1" dirty="0">
                <a:solidFill>
                  <a:schemeClr val="accent2"/>
                </a:solidFill>
                <a:ea typeface="MS Mincho" pitchFamily="49" charset="-128"/>
              </a:rPr>
              <a:t>u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(0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-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、</a:t>
            </a:r>
            <a:r>
              <a:rPr lang="en-US" altLang="zh-CN" sz="2800" b="1" i="1" dirty="0">
                <a:solidFill>
                  <a:schemeClr val="accent2"/>
                </a:solidFill>
                <a:ea typeface="MS Mincho" pitchFamily="49" charset="-128"/>
              </a:rPr>
              <a:t>i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(0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-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1069060" name="Text Box 4"/>
          <p:cNvSpPr txBox="1"/>
          <p:nvPr/>
        </p:nvSpPr>
        <p:spPr>
          <a:xfrm>
            <a:off x="2667000" y="1346200"/>
            <a:ext cx="7462838" cy="1600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        2.</a:t>
            </a:r>
            <a:r>
              <a:rPr lang="zh-CN" altLang="en-US" sz="2800" b="1" dirty="0">
                <a:solidFill>
                  <a:schemeClr val="accent2"/>
                </a:solidFill>
              </a:rPr>
              <a:t>做</a:t>
            </a:r>
            <a:r>
              <a:rPr lang="en-US" altLang="zh-CN" sz="2800" b="1" i="1" dirty="0">
                <a:solidFill>
                  <a:schemeClr val="accent2"/>
                </a:solidFill>
              </a:rPr>
              <a:t>t </a:t>
            </a:r>
            <a:r>
              <a:rPr lang="en-US" altLang="zh-CN" sz="2800" b="1" dirty="0">
                <a:solidFill>
                  <a:schemeClr val="accent2"/>
                </a:solidFill>
              </a:rPr>
              <a:t>= 0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+</a:t>
            </a:r>
            <a:r>
              <a:rPr lang="zh-CN" altLang="en-US" sz="2800" b="1" dirty="0">
                <a:solidFill>
                  <a:schemeClr val="accent2"/>
                </a:solidFill>
              </a:rPr>
              <a:t>时等效电路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                </a:t>
            </a:r>
            <a:r>
              <a:rPr lang="en-US" altLang="zh-CN" sz="2800" b="1" i="1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—</a:t>
            </a:r>
            <a:r>
              <a:rPr lang="zh-CN" altLang="en-US" sz="2800" b="1" dirty="0">
                <a:solidFill>
                  <a:schemeClr val="accent2"/>
                </a:solidFill>
              </a:rPr>
              <a:t>用电压值等于</a:t>
            </a:r>
            <a:r>
              <a:rPr lang="en-US" altLang="zh-CN" sz="2800" b="1" i="1" dirty="0">
                <a:solidFill>
                  <a:schemeClr val="accent2"/>
                </a:solidFill>
                <a:ea typeface="MS Mincho" pitchFamily="49" charset="-128"/>
              </a:rPr>
              <a:t>u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(0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+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的电压源置换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                 </a:t>
            </a:r>
            <a:r>
              <a:rPr lang="en-US" altLang="zh-CN" sz="2800" b="1" i="1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—</a:t>
            </a:r>
            <a:r>
              <a:rPr lang="zh-CN" altLang="en-US" sz="2800" b="1" dirty="0">
                <a:solidFill>
                  <a:schemeClr val="accent2"/>
                </a:solidFill>
              </a:rPr>
              <a:t>用电流值等于</a:t>
            </a:r>
            <a:r>
              <a:rPr lang="en-US" altLang="zh-CN" sz="2800" b="1" i="1" dirty="0">
                <a:solidFill>
                  <a:schemeClr val="accent2"/>
                </a:solidFill>
                <a:ea typeface="MS Mincho" pitchFamily="49" charset="-128"/>
              </a:rPr>
              <a:t>i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(0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+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b="1" dirty="0">
                <a:solidFill>
                  <a:schemeClr val="accent2"/>
                </a:solidFill>
              </a:rPr>
              <a:t>的电流源置换</a:t>
            </a:r>
          </a:p>
        </p:txBody>
      </p:sp>
      <p:sp>
        <p:nvSpPr>
          <p:cNvPr id="1069061" name="Text Box 5"/>
          <p:cNvSpPr txBox="1"/>
          <p:nvPr/>
        </p:nvSpPr>
        <p:spPr>
          <a:xfrm>
            <a:off x="379413" y="3578225"/>
            <a:ext cx="28717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二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求稳态值 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(∞)</a:t>
            </a:r>
          </a:p>
        </p:txBody>
      </p:sp>
      <p:sp>
        <p:nvSpPr>
          <p:cNvPr id="1069062" name="Text Box 6"/>
          <p:cNvSpPr txBox="1"/>
          <p:nvPr/>
        </p:nvSpPr>
        <p:spPr>
          <a:xfrm>
            <a:off x="3368675" y="2914650"/>
            <a:ext cx="56403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3.</a:t>
            </a:r>
            <a:r>
              <a:rPr lang="zh-CN" altLang="en-US" sz="2800" b="1" dirty="0">
                <a:solidFill>
                  <a:schemeClr val="accent2"/>
                </a:solidFill>
              </a:rPr>
              <a:t>在</a:t>
            </a:r>
            <a:r>
              <a:rPr lang="en-US" altLang="zh-CN" sz="2800" b="1" i="1" dirty="0">
                <a:solidFill>
                  <a:schemeClr val="accent2"/>
                </a:solidFill>
              </a:rPr>
              <a:t>t </a:t>
            </a:r>
            <a:r>
              <a:rPr lang="en-US" altLang="zh-CN" sz="2800" b="1" dirty="0">
                <a:solidFill>
                  <a:schemeClr val="accent2"/>
                </a:solidFill>
              </a:rPr>
              <a:t>= 0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+</a:t>
            </a:r>
            <a:r>
              <a:rPr lang="zh-CN" altLang="en-US" sz="2800" b="1" dirty="0">
                <a:solidFill>
                  <a:schemeClr val="accent2"/>
                </a:solidFill>
              </a:rPr>
              <a:t>的等效电路中求各初始值 </a:t>
            </a:r>
          </a:p>
        </p:txBody>
      </p:sp>
      <p:sp>
        <p:nvSpPr>
          <p:cNvPr id="1069063" name="Text Box 7"/>
          <p:cNvSpPr txBox="1"/>
          <p:nvPr/>
        </p:nvSpPr>
        <p:spPr>
          <a:xfrm>
            <a:off x="3378200" y="3971925"/>
            <a:ext cx="4918075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在</a:t>
            </a:r>
            <a:r>
              <a:rPr lang="en-US" altLang="zh-CN" sz="2800" b="1" i="1" dirty="0">
                <a:solidFill>
                  <a:schemeClr val="accent2"/>
                </a:solidFill>
              </a:rPr>
              <a:t>t </a:t>
            </a:r>
            <a:r>
              <a:rPr lang="en-US" altLang="zh-CN" sz="2800" b="1" dirty="0">
                <a:solidFill>
                  <a:schemeClr val="accent2"/>
                </a:solidFill>
              </a:rPr>
              <a:t>=∞</a:t>
            </a:r>
            <a:r>
              <a:rPr lang="zh-CN" altLang="en-US" sz="2800" b="1" dirty="0">
                <a:solidFill>
                  <a:schemeClr val="accent2"/>
                </a:solidFill>
              </a:rPr>
              <a:t>的电路中求 </a:t>
            </a:r>
            <a:r>
              <a:rPr lang="en-US" altLang="zh-CN" sz="2800" b="1" i="1" dirty="0">
                <a:solidFill>
                  <a:schemeClr val="accent2"/>
                </a:solidFill>
              </a:rPr>
              <a:t>f</a:t>
            </a:r>
            <a:r>
              <a:rPr lang="en-US" altLang="zh-CN" sz="2800" b="1" dirty="0">
                <a:solidFill>
                  <a:schemeClr val="accent2"/>
                </a:solidFill>
              </a:rPr>
              <a:t>(∞)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                    </a:t>
            </a:r>
            <a:r>
              <a:rPr lang="en-US" altLang="zh-CN" sz="2800" b="1" i="1" dirty="0">
                <a:solidFill>
                  <a:schemeClr val="accent2"/>
                </a:solidFill>
              </a:rPr>
              <a:t>C</a:t>
            </a:r>
            <a:r>
              <a:rPr lang="en-US" altLang="zh-CN" sz="2800" b="1" dirty="0">
                <a:solidFill>
                  <a:schemeClr val="accent2"/>
                </a:solidFill>
              </a:rPr>
              <a:t>—</a:t>
            </a:r>
            <a:r>
              <a:rPr lang="zh-CN" altLang="en-US" sz="2800" b="1" dirty="0">
                <a:solidFill>
                  <a:schemeClr val="accent2"/>
                </a:solidFill>
              </a:rPr>
              <a:t>开路    </a:t>
            </a:r>
            <a:r>
              <a:rPr lang="en-US" altLang="zh-CN" sz="2800" b="1" i="1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—</a:t>
            </a:r>
            <a:r>
              <a:rPr lang="zh-CN" altLang="en-US" sz="2800" b="1" dirty="0">
                <a:solidFill>
                  <a:schemeClr val="accent2"/>
                </a:solidFill>
              </a:rPr>
              <a:t>短路</a:t>
            </a:r>
          </a:p>
        </p:txBody>
      </p:sp>
      <p:sp>
        <p:nvSpPr>
          <p:cNvPr id="1069064" name="Text Box 8"/>
          <p:cNvSpPr txBox="1"/>
          <p:nvPr/>
        </p:nvSpPr>
        <p:spPr>
          <a:xfrm>
            <a:off x="379413" y="4918075"/>
            <a:ext cx="26876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三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求时间常数</a:t>
            </a:r>
            <a:r>
              <a:rPr lang="en-US" altLang="zh-CN" sz="2800" b="1" i="1" dirty="0"/>
              <a:t>τ</a:t>
            </a:r>
            <a:r>
              <a:rPr lang="en-US" altLang="zh-CN" sz="2800" b="1" dirty="0"/>
              <a:t> </a:t>
            </a:r>
          </a:p>
        </p:txBody>
      </p:sp>
      <p:sp>
        <p:nvSpPr>
          <p:cNvPr id="1069065" name="Text Box 9"/>
          <p:cNvSpPr txBox="1"/>
          <p:nvPr/>
        </p:nvSpPr>
        <p:spPr>
          <a:xfrm>
            <a:off x="1411288" y="5464175"/>
            <a:ext cx="9652000" cy="1385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在换路后的电路，</a:t>
            </a:r>
            <a:r>
              <a:rPr lang="zh-CN" altLang="en-US" sz="2800" b="1" dirty="0">
                <a:solidFill>
                  <a:schemeClr val="accent2"/>
                </a:solidFill>
              </a:rPr>
              <a:t>求动态元件两端看进去戴维南等效电阻：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                  </a:t>
            </a:r>
            <a:r>
              <a:rPr lang="en-US" altLang="zh-CN" sz="2800" b="1" i="1" dirty="0">
                <a:solidFill>
                  <a:schemeClr val="accent2"/>
                </a:solidFill>
              </a:rPr>
              <a:t>RC</a:t>
            </a:r>
            <a:r>
              <a:rPr lang="zh-CN" altLang="en-US" sz="2800" b="1" dirty="0">
                <a:solidFill>
                  <a:schemeClr val="accent2"/>
                </a:solidFill>
              </a:rPr>
              <a:t>电路：</a:t>
            </a:r>
            <a:r>
              <a:rPr lang="en-US" altLang="zh-CN" sz="2800" b="1" i="1" dirty="0">
                <a:solidFill>
                  <a:schemeClr val="accent2"/>
                </a:solidFill>
              </a:rPr>
              <a:t>τ </a:t>
            </a:r>
            <a:r>
              <a:rPr lang="en-US" altLang="zh-CN" sz="2800" b="1" dirty="0">
                <a:solidFill>
                  <a:schemeClr val="accent2"/>
                </a:solidFill>
              </a:rPr>
              <a:t>=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O</a:t>
            </a:r>
            <a:r>
              <a:rPr lang="en-US" altLang="zh-CN" sz="2800" b="1" i="1" dirty="0">
                <a:solidFill>
                  <a:schemeClr val="accent2"/>
                </a:solidFill>
              </a:rPr>
              <a:t>C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</a:rPr>
              <a:t>                  </a:t>
            </a:r>
            <a:r>
              <a:rPr lang="en-US" altLang="zh-CN" sz="2800" b="1" i="1" dirty="0">
                <a:solidFill>
                  <a:schemeClr val="accent2"/>
                </a:solidFill>
              </a:rPr>
              <a:t>RL</a:t>
            </a:r>
            <a:r>
              <a:rPr lang="zh-CN" altLang="en-US" sz="2800" b="1" dirty="0">
                <a:solidFill>
                  <a:schemeClr val="accent2"/>
                </a:solidFill>
              </a:rPr>
              <a:t>电路：</a:t>
            </a:r>
            <a:r>
              <a:rPr lang="en-US" altLang="zh-CN" sz="2800" b="1" i="1" dirty="0">
                <a:solidFill>
                  <a:schemeClr val="accent2"/>
                </a:solidFill>
              </a:rPr>
              <a:t>τ </a:t>
            </a:r>
            <a:r>
              <a:rPr lang="en-US" altLang="zh-CN" sz="2800" b="1" dirty="0">
                <a:solidFill>
                  <a:schemeClr val="accent2"/>
                </a:solidFill>
              </a:rPr>
              <a:t>=</a:t>
            </a:r>
            <a:r>
              <a:rPr lang="en-US" altLang="zh-CN" sz="2800" b="1" i="1" dirty="0">
                <a:solidFill>
                  <a:schemeClr val="accent2"/>
                </a:solidFill>
              </a:rPr>
              <a:t>L</a:t>
            </a:r>
            <a:r>
              <a:rPr lang="en-US" altLang="zh-CN" sz="2800" b="1" dirty="0">
                <a:solidFill>
                  <a:schemeClr val="accent2"/>
                </a:solidFill>
              </a:rPr>
              <a:t>/</a:t>
            </a:r>
            <a:r>
              <a:rPr lang="en-US" altLang="zh-CN" sz="2800" b="1" i="1" dirty="0">
                <a:solidFill>
                  <a:schemeClr val="accent2"/>
                </a:solidFill>
              </a:rPr>
              <a:t>R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O</a:t>
            </a:r>
          </a:p>
        </p:txBody>
      </p:sp>
      <p:sp>
        <p:nvSpPr>
          <p:cNvPr id="102410" name="Rectangle 10"/>
          <p:cNvSpPr/>
          <p:nvPr/>
        </p:nvSpPr>
        <p:spPr>
          <a:xfrm>
            <a:off x="4591050" y="7938"/>
            <a:ext cx="31289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FF00FF"/>
                </a:solidFill>
              </a:rPr>
              <a:t>三要素法</a:t>
            </a:r>
          </a:p>
        </p:txBody>
      </p:sp>
      <p:sp>
        <p:nvSpPr>
          <p:cNvPr id="102411" name="AutoShape 11">
            <a:hlinkClick r:id="" action="ppaction://hlinkshowjump?jump=previousslide"/>
          </p:cNvPr>
          <p:cNvSpPr/>
          <p:nvPr/>
        </p:nvSpPr>
        <p:spPr>
          <a:xfrm>
            <a:off x="9848850" y="6635750"/>
            <a:ext cx="360363" cy="21590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2412" name="AutoShape 12">
            <a:hlinkClick r:id="" action="ppaction://hlinkshowjump?jump=nextslide"/>
          </p:cNvPr>
          <p:cNvSpPr/>
          <p:nvPr/>
        </p:nvSpPr>
        <p:spPr>
          <a:xfrm>
            <a:off x="10307638" y="6635750"/>
            <a:ext cx="360362" cy="215900"/>
          </a:xfrm>
          <a:prstGeom prst="actionButtonForwardNext">
            <a:avLst/>
          </a:prstGeom>
          <a:solidFill>
            <a:srgbClr val="FF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2413" name="AutoShape 13">
            <a:hlinkClick r:id="" action="ppaction://hlinkshowjump?jump=firstslide"/>
          </p:cNvPr>
          <p:cNvSpPr/>
          <p:nvPr/>
        </p:nvSpPr>
        <p:spPr>
          <a:xfrm>
            <a:off x="9390063" y="6635750"/>
            <a:ext cx="360362" cy="215900"/>
          </a:xfrm>
          <a:prstGeom prst="actionButtonBeginning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800" b="1" dirty="0"/>
          </a:p>
        </p:txBody>
      </p:sp>
      <p:sp>
        <p:nvSpPr>
          <p:cNvPr id="1069070" name="Line 14"/>
          <p:cNvSpPr/>
          <p:nvPr/>
        </p:nvSpPr>
        <p:spPr>
          <a:xfrm>
            <a:off x="9448800" y="6546850"/>
            <a:ext cx="1219200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none" w="med" len="lg"/>
          </a:ln>
        </p:spPr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6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6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58" grpId="0"/>
      <p:bldP spid="1069059" grpId="0"/>
      <p:bldP spid="1069060" grpId="0"/>
      <p:bldP spid="1069061" grpId="0"/>
      <p:bldP spid="1069062" grpId="0"/>
      <p:bldP spid="1069063" grpId="0"/>
      <p:bldP spid="1069064" grpId="0"/>
      <p:bldP spid="106906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/>
          <p:nvPr/>
        </p:nvSpPr>
        <p:spPr>
          <a:xfrm>
            <a:off x="3576638" y="88900"/>
            <a:ext cx="4824412" cy="5461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CC0000"/>
                </a:solidFill>
                <a:latin typeface="Tahoma" panose="020B0604030504040204" pitchFamily="34" charset="0"/>
                <a:ea typeface="华文新魏" panose="02010800040101010101" pitchFamily="2" charset="-122"/>
              </a:rPr>
              <a:t>元件的等效电路汇总</a:t>
            </a:r>
          </a:p>
        </p:txBody>
      </p:sp>
      <p:graphicFrame>
        <p:nvGraphicFramePr>
          <p:cNvPr id="1128451" name="Group 3"/>
          <p:cNvGraphicFramePr>
            <a:graphicFrameLocks noGrp="1"/>
          </p:cNvGraphicFramePr>
          <p:nvPr/>
        </p:nvGraphicFramePr>
        <p:xfrm>
          <a:off x="1992313" y="730250"/>
          <a:ext cx="8134350" cy="5832474"/>
        </p:xfrm>
        <a:graphic>
          <a:graphicData uri="http://schemas.openxmlformats.org/drawingml/2006/table">
            <a:tbl>
              <a:tblPr/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电 路 元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件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=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+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Symbol" panose="05050102010706020507" pitchFamily="18" charset="2"/>
                        </a:rPr>
                        <a:t> 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8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79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38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79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5505" name="Group 33"/>
          <p:cNvGrpSpPr/>
          <p:nvPr/>
        </p:nvGrpSpPr>
        <p:grpSpPr>
          <a:xfrm>
            <a:off x="5232400" y="1268413"/>
            <a:ext cx="1790700" cy="566737"/>
            <a:chOff x="765" y="1714"/>
            <a:chExt cx="1128" cy="357"/>
          </a:xfrm>
        </p:grpSpPr>
        <p:sp>
          <p:nvSpPr>
            <p:cNvPr id="105659" name="Text Box 34"/>
            <p:cNvSpPr txBox="1"/>
            <p:nvPr/>
          </p:nvSpPr>
          <p:spPr>
            <a:xfrm>
              <a:off x="1218" y="1714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05660" name="Line 35"/>
            <p:cNvSpPr/>
            <p:nvPr/>
          </p:nvSpPr>
          <p:spPr>
            <a:xfrm>
              <a:off x="1453" y="2024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61" name="Line 36"/>
            <p:cNvSpPr/>
            <p:nvPr/>
          </p:nvSpPr>
          <p:spPr>
            <a:xfrm>
              <a:off x="816" y="2024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62" name="Oval 37"/>
            <p:cNvSpPr/>
            <p:nvPr/>
          </p:nvSpPr>
          <p:spPr>
            <a:xfrm>
              <a:off x="765" y="1995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63" name="Oval 38"/>
            <p:cNvSpPr/>
            <p:nvPr/>
          </p:nvSpPr>
          <p:spPr>
            <a:xfrm>
              <a:off x="1836" y="1995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64" name="Rectangle 39"/>
            <p:cNvSpPr/>
            <p:nvPr/>
          </p:nvSpPr>
          <p:spPr>
            <a:xfrm rot="-5400000" flipH="1" flipV="1">
              <a:off x="1286" y="1855"/>
              <a:ext cx="102" cy="330"/>
            </a:xfrm>
            <a:prstGeom prst="rect">
              <a:avLst/>
            </a:prstGeom>
            <a:solidFill>
              <a:srgbClr val="99FFCC"/>
            </a:solidFill>
            <a:ln w="38100" cap="flat" cmpd="sng">
              <a:solidFill>
                <a:srgbClr val="99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grpSp>
        <p:nvGrpSpPr>
          <p:cNvPr id="105506" name="Group 40"/>
          <p:cNvGrpSpPr/>
          <p:nvPr/>
        </p:nvGrpSpPr>
        <p:grpSpPr>
          <a:xfrm>
            <a:off x="7896225" y="1268413"/>
            <a:ext cx="1790700" cy="566737"/>
            <a:chOff x="765" y="1714"/>
            <a:chExt cx="1128" cy="357"/>
          </a:xfrm>
        </p:grpSpPr>
        <p:sp>
          <p:nvSpPr>
            <p:cNvPr id="105653" name="Text Box 41"/>
            <p:cNvSpPr txBox="1"/>
            <p:nvPr/>
          </p:nvSpPr>
          <p:spPr>
            <a:xfrm>
              <a:off x="1218" y="1714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05654" name="Line 42"/>
            <p:cNvSpPr/>
            <p:nvPr/>
          </p:nvSpPr>
          <p:spPr>
            <a:xfrm>
              <a:off x="1453" y="2024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55" name="Line 43"/>
            <p:cNvSpPr/>
            <p:nvPr/>
          </p:nvSpPr>
          <p:spPr>
            <a:xfrm>
              <a:off x="816" y="2024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56" name="Oval 44"/>
            <p:cNvSpPr/>
            <p:nvPr/>
          </p:nvSpPr>
          <p:spPr>
            <a:xfrm>
              <a:off x="765" y="1995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57" name="Oval 45"/>
            <p:cNvSpPr/>
            <p:nvPr/>
          </p:nvSpPr>
          <p:spPr>
            <a:xfrm>
              <a:off x="1836" y="1995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58" name="Rectangle 46"/>
            <p:cNvSpPr/>
            <p:nvPr/>
          </p:nvSpPr>
          <p:spPr>
            <a:xfrm rot="-5400000" flipH="1" flipV="1">
              <a:off x="1286" y="1855"/>
              <a:ext cx="102" cy="330"/>
            </a:xfrm>
            <a:prstGeom prst="rect">
              <a:avLst/>
            </a:prstGeom>
            <a:solidFill>
              <a:srgbClr val="99FFCC"/>
            </a:solidFill>
            <a:ln w="38100" cap="flat" cmpd="sng">
              <a:solidFill>
                <a:srgbClr val="99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</p:grpSp>
      <p:grpSp>
        <p:nvGrpSpPr>
          <p:cNvPr id="105507" name="Group 55"/>
          <p:cNvGrpSpPr/>
          <p:nvPr/>
        </p:nvGrpSpPr>
        <p:grpSpPr>
          <a:xfrm>
            <a:off x="2505075" y="2132013"/>
            <a:ext cx="1790700" cy="1204912"/>
            <a:chOff x="612" y="1208"/>
            <a:chExt cx="1128" cy="759"/>
          </a:xfrm>
        </p:grpSpPr>
        <p:sp>
          <p:nvSpPr>
            <p:cNvPr id="105642" name="Line 56"/>
            <p:cNvSpPr/>
            <p:nvPr/>
          </p:nvSpPr>
          <p:spPr>
            <a:xfrm>
              <a:off x="645" y="1563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43" name="Text Box 57"/>
            <p:cNvSpPr txBox="1"/>
            <p:nvPr/>
          </p:nvSpPr>
          <p:spPr>
            <a:xfrm>
              <a:off x="761" y="1282"/>
              <a:ext cx="2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105644" name="Text Box 58"/>
            <p:cNvSpPr txBox="1"/>
            <p:nvPr/>
          </p:nvSpPr>
          <p:spPr>
            <a:xfrm>
              <a:off x="1082" y="1208"/>
              <a:ext cx="36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200" b="1" i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05645" name="Line 59"/>
            <p:cNvSpPr/>
            <p:nvPr/>
          </p:nvSpPr>
          <p:spPr>
            <a:xfrm>
              <a:off x="1250" y="1563"/>
              <a:ext cx="4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46" name="Oval 60"/>
            <p:cNvSpPr/>
            <p:nvPr/>
          </p:nvSpPr>
          <p:spPr>
            <a:xfrm>
              <a:off x="612" y="1534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47" name="Oval 61"/>
            <p:cNvSpPr/>
            <p:nvPr/>
          </p:nvSpPr>
          <p:spPr>
            <a:xfrm>
              <a:off x="1683" y="1534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48" name="Rectangle 62"/>
            <p:cNvSpPr/>
            <p:nvPr/>
          </p:nvSpPr>
          <p:spPr>
            <a:xfrm>
              <a:off x="751" y="1551"/>
              <a:ext cx="907" cy="4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+     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–</a:t>
              </a:r>
              <a:r>
                <a:rPr lang="en-US" altLang="zh-CN" sz="2400" b="1" i="1" dirty="0">
                  <a:solidFill>
                    <a:srgbClr val="0000FF"/>
                  </a:solidFill>
                </a:rPr>
                <a:t> 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C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(0)</a:t>
              </a:r>
              <a:r>
                <a:rPr lang="en-US" altLang="zh-CN" sz="18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=</a:t>
              </a:r>
              <a:r>
                <a:rPr lang="en-US" altLang="zh-CN" sz="18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105649" name="Line 63"/>
            <p:cNvSpPr/>
            <p:nvPr/>
          </p:nvSpPr>
          <p:spPr>
            <a:xfrm>
              <a:off x="713" y="1562"/>
              <a:ext cx="22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105650" name="Group 64"/>
            <p:cNvGrpSpPr/>
            <p:nvPr/>
          </p:nvGrpSpPr>
          <p:grpSpPr>
            <a:xfrm>
              <a:off x="1159" y="1444"/>
              <a:ext cx="86" cy="249"/>
              <a:chOff x="2933" y="1744"/>
              <a:chExt cx="75" cy="227"/>
            </a:xfrm>
          </p:grpSpPr>
          <p:sp>
            <p:nvSpPr>
              <p:cNvPr id="105651" name="Line 65"/>
              <p:cNvSpPr/>
              <p:nvPr/>
            </p:nvSpPr>
            <p:spPr>
              <a:xfrm>
                <a:off x="2933" y="1744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lg"/>
              </a:ln>
            </p:spPr>
          </p:sp>
          <p:sp>
            <p:nvSpPr>
              <p:cNvPr id="105652" name="Line 66"/>
              <p:cNvSpPr/>
              <p:nvPr/>
            </p:nvSpPr>
            <p:spPr>
              <a:xfrm>
                <a:off x="3008" y="1744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lg"/>
              </a:ln>
            </p:spPr>
          </p:sp>
        </p:grpSp>
      </p:grpSp>
      <p:grpSp>
        <p:nvGrpSpPr>
          <p:cNvPr id="105508" name="Group 67"/>
          <p:cNvGrpSpPr/>
          <p:nvPr/>
        </p:nvGrpSpPr>
        <p:grpSpPr>
          <a:xfrm>
            <a:off x="2505075" y="4300538"/>
            <a:ext cx="1790700" cy="1179512"/>
            <a:chOff x="621" y="2510"/>
            <a:chExt cx="1128" cy="743"/>
          </a:xfrm>
        </p:grpSpPr>
        <p:sp>
          <p:nvSpPr>
            <p:cNvPr id="105631" name="Line 68"/>
            <p:cNvSpPr/>
            <p:nvPr/>
          </p:nvSpPr>
          <p:spPr>
            <a:xfrm>
              <a:off x="654" y="2849"/>
              <a:ext cx="52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32" name="Text Box 69"/>
            <p:cNvSpPr txBox="1"/>
            <p:nvPr/>
          </p:nvSpPr>
          <p:spPr>
            <a:xfrm>
              <a:off x="770" y="2568"/>
              <a:ext cx="2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105633" name="Text Box 70"/>
            <p:cNvSpPr txBox="1"/>
            <p:nvPr/>
          </p:nvSpPr>
          <p:spPr>
            <a:xfrm>
              <a:off x="1090" y="2510"/>
              <a:ext cx="36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200" b="1" i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05634" name="Line 71"/>
            <p:cNvSpPr/>
            <p:nvPr/>
          </p:nvSpPr>
          <p:spPr>
            <a:xfrm>
              <a:off x="1259" y="2849"/>
              <a:ext cx="4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35" name="Oval 72"/>
            <p:cNvSpPr/>
            <p:nvPr/>
          </p:nvSpPr>
          <p:spPr>
            <a:xfrm>
              <a:off x="621" y="2820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36" name="Oval 73"/>
            <p:cNvSpPr/>
            <p:nvPr/>
          </p:nvSpPr>
          <p:spPr>
            <a:xfrm>
              <a:off x="1692" y="2820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37" name="Rectangle 74"/>
            <p:cNvSpPr/>
            <p:nvPr/>
          </p:nvSpPr>
          <p:spPr>
            <a:xfrm>
              <a:off x="760" y="2882"/>
              <a:ext cx="907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+     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–</a:t>
              </a:r>
              <a:r>
                <a:rPr lang="en-US" altLang="zh-CN" sz="2400" b="1" i="1" dirty="0">
                  <a:solidFill>
                    <a:srgbClr val="0000FF"/>
                  </a:solidFill>
                </a:rPr>
                <a:t> 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C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(</a:t>
              </a:r>
              <a:r>
                <a:rPr lang="en-US" altLang="zh-CN" sz="2200" b="1" dirty="0">
                  <a:solidFill>
                    <a:srgbClr val="0000FF"/>
                  </a:solidFill>
                </a:rPr>
                <a:t>0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)</a:t>
              </a:r>
              <a:r>
                <a:rPr lang="en-US" altLang="zh-CN" sz="18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</a:rPr>
                <a:t>=</a:t>
              </a:r>
              <a:r>
                <a:rPr lang="en-US" altLang="zh-CN" sz="18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400" b="1" i="1" dirty="0">
                  <a:solidFill>
                    <a:srgbClr val="0000FF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0</a:t>
              </a:r>
              <a:endParaRPr lang="en-US" altLang="zh-CN" sz="2200" b="1" dirty="0">
                <a:solidFill>
                  <a:srgbClr val="0000FF"/>
                </a:solidFill>
              </a:endParaRPr>
            </a:p>
          </p:txBody>
        </p:sp>
        <p:sp>
          <p:nvSpPr>
            <p:cNvPr id="105638" name="Line 75"/>
            <p:cNvSpPr/>
            <p:nvPr/>
          </p:nvSpPr>
          <p:spPr>
            <a:xfrm>
              <a:off x="722" y="2848"/>
              <a:ext cx="22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105639" name="Group 76"/>
            <p:cNvGrpSpPr/>
            <p:nvPr/>
          </p:nvGrpSpPr>
          <p:grpSpPr>
            <a:xfrm>
              <a:off x="1168" y="2730"/>
              <a:ext cx="86" cy="249"/>
              <a:chOff x="2933" y="1744"/>
              <a:chExt cx="75" cy="227"/>
            </a:xfrm>
          </p:grpSpPr>
          <p:sp>
            <p:nvSpPr>
              <p:cNvPr id="105640" name="Line 77"/>
              <p:cNvSpPr/>
              <p:nvPr/>
            </p:nvSpPr>
            <p:spPr>
              <a:xfrm>
                <a:off x="2933" y="1744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lg"/>
              </a:ln>
            </p:spPr>
          </p:sp>
          <p:sp>
            <p:nvSpPr>
              <p:cNvPr id="105641" name="Line 78"/>
              <p:cNvSpPr/>
              <p:nvPr/>
            </p:nvSpPr>
            <p:spPr>
              <a:xfrm>
                <a:off x="3008" y="1744"/>
                <a:ext cx="0" cy="227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lg"/>
              </a:ln>
            </p:spPr>
          </p:sp>
        </p:grpSp>
      </p:grpSp>
      <p:grpSp>
        <p:nvGrpSpPr>
          <p:cNvPr id="105509" name="Group 79"/>
          <p:cNvGrpSpPr/>
          <p:nvPr/>
        </p:nvGrpSpPr>
        <p:grpSpPr>
          <a:xfrm>
            <a:off x="2490788" y="1220788"/>
            <a:ext cx="1804987" cy="976312"/>
            <a:chOff x="2371" y="845"/>
            <a:chExt cx="1137" cy="615"/>
          </a:xfrm>
        </p:grpSpPr>
        <p:sp>
          <p:nvSpPr>
            <p:cNvPr id="105622" name="Line 80"/>
            <p:cNvSpPr/>
            <p:nvPr/>
          </p:nvSpPr>
          <p:spPr>
            <a:xfrm>
              <a:off x="2404" y="1155"/>
              <a:ext cx="453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23" name="Text Box 81"/>
            <p:cNvSpPr txBox="1"/>
            <p:nvPr/>
          </p:nvSpPr>
          <p:spPr>
            <a:xfrm>
              <a:off x="2520" y="874"/>
              <a:ext cx="2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105624" name="Text Box 82"/>
            <p:cNvSpPr txBox="1"/>
            <p:nvPr/>
          </p:nvSpPr>
          <p:spPr>
            <a:xfrm>
              <a:off x="2888" y="845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05625" name="Line 83"/>
            <p:cNvSpPr/>
            <p:nvPr/>
          </p:nvSpPr>
          <p:spPr>
            <a:xfrm>
              <a:off x="3123" y="1155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26" name="Oval 84"/>
            <p:cNvSpPr/>
            <p:nvPr/>
          </p:nvSpPr>
          <p:spPr>
            <a:xfrm>
              <a:off x="2371" y="1126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27" name="Oval 85"/>
            <p:cNvSpPr/>
            <p:nvPr/>
          </p:nvSpPr>
          <p:spPr>
            <a:xfrm>
              <a:off x="3442" y="1126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28" name="Rectangle 86"/>
            <p:cNvSpPr/>
            <p:nvPr/>
          </p:nvSpPr>
          <p:spPr>
            <a:xfrm rot="-5400000" flipH="1" flipV="1">
              <a:off x="2956" y="986"/>
              <a:ext cx="102" cy="330"/>
            </a:xfrm>
            <a:prstGeom prst="rect">
              <a:avLst/>
            </a:prstGeom>
            <a:solidFill>
              <a:srgbClr val="99FFCC"/>
            </a:solidFill>
            <a:ln w="38100" cap="flat" cmpd="sng">
              <a:solidFill>
                <a:srgbClr val="99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29" name="Rectangle 87"/>
            <p:cNvSpPr/>
            <p:nvPr/>
          </p:nvSpPr>
          <p:spPr>
            <a:xfrm>
              <a:off x="2672" y="1133"/>
              <a:ext cx="8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+  u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–</a:t>
              </a:r>
              <a:endParaRPr lang="en-US" altLang="en-US" sz="2800" b="1" i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630" name="Line 88"/>
            <p:cNvSpPr/>
            <p:nvPr/>
          </p:nvSpPr>
          <p:spPr>
            <a:xfrm>
              <a:off x="2472" y="1154"/>
              <a:ext cx="22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</p:grpSp>
      <p:grpSp>
        <p:nvGrpSpPr>
          <p:cNvPr id="105510" name="Group 89"/>
          <p:cNvGrpSpPr/>
          <p:nvPr/>
        </p:nvGrpSpPr>
        <p:grpSpPr>
          <a:xfrm>
            <a:off x="2222500" y="3297238"/>
            <a:ext cx="2073275" cy="962025"/>
            <a:chOff x="2200" y="2976"/>
            <a:chExt cx="1306" cy="606"/>
          </a:xfrm>
        </p:grpSpPr>
        <p:sp>
          <p:nvSpPr>
            <p:cNvPr id="105604" name="Text Box 90"/>
            <p:cNvSpPr txBox="1"/>
            <p:nvPr/>
          </p:nvSpPr>
          <p:spPr>
            <a:xfrm>
              <a:off x="2200" y="3067"/>
              <a:ext cx="862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</a:rPr>
                <a:t>i</a:t>
              </a:r>
              <a:r>
                <a:rPr lang="en-US" altLang="zh-CN" sz="2000" b="1" baseline="-25000" dirty="0">
                  <a:solidFill>
                    <a:srgbClr val="0000FF"/>
                  </a:solidFill>
                </a:rPr>
                <a:t>L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(0)</a:t>
              </a:r>
              <a:r>
                <a:rPr lang="en-US" altLang="zh-CN" sz="10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=</a:t>
              </a:r>
              <a:r>
                <a:rPr lang="en-US" altLang="zh-CN" sz="12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105605" name="Line 91"/>
            <p:cNvSpPr/>
            <p:nvPr/>
          </p:nvSpPr>
          <p:spPr>
            <a:xfrm>
              <a:off x="2427" y="3332"/>
              <a:ext cx="36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06" name="Line 92"/>
            <p:cNvSpPr/>
            <p:nvPr/>
          </p:nvSpPr>
          <p:spPr>
            <a:xfrm>
              <a:off x="3150" y="3334"/>
              <a:ext cx="31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607" name="Oval 93"/>
            <p:cNvSpPr/>
            <p:nvPr/>
          </p:nvSpPr>
          <p:spPr>
            <a:xfrm>
              <a:off x="2378" y="3303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08" name="Oval 94"/>
            <p:cNvSpPr/>
            <p:nvPr/>
          </p:nvSpPr>
          <p:spPr>
            <a:xfrm>
              <a:off x="3449" y="3303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609" name="Rectangle 95"/>
            <p:cNvSpPr/>
            <p:nvPr/>
          </p:nvSpPr>
          <p:spPr>
            <a:xfrm>
              <a:off x="2616" y="3255"/>
              <a:ext cx="8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+  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L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–</a:t>
              </a:r>
              <a:endParaRPr lang="en-US" altLang="en-US" sz="2800" b="1" i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610" name="Line 96"/>
            <p:cNvSpPr/>
            <p:nvPr/>
          </p:nvSpPr>
          <p:spPr>
            <a:xfrm>
              <a:off x="2479" y="3331"/>
              <a:ext cx="22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105611" name="Group 97"/>
            <p:cNvGrpSpPr/>
            <p:nvPr/>
          </p:nvGrpSpPr>
          <p:grpSpPr>
            <a:xfrm rot="-5400000">
              <a:off x="2936" y="3110"/>
              <a:ext cx="84" cy="363"/>
              <a:chOff x="3946" y="3029"/>
              <a:chExt cx="96" cy="432"/>
            </a:xfrm>
          </p:grpSpPr>
          <p:grpSp>
            <p:nvGrpSpPr>
              <p:cNvPr id="105613" name="Group 98"/>
              <p:cNvGrpSpPr/>
              <p:nvPr/>
            </p:nvGrpSpPr>
            <p:grpSpPr>
              <a:xfrm rot="-10800000" flipH="1">
                <a:off x="3946" y="3317"/>
                <a:ext cx="96" cy="144"/>
                <a:chOff x="4176" y="2553"/>
                <a:chExt cx="144" cy="288"/>
              </a:xfrm>
            </p:grpSpPr>
            <p:sp>
              <p:nvSpPr>
                <p:cNvPr id="105620" name="Arc 99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621" name="Arc 100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5614" name="Group 101"/>
              <p:cNvGrpSpPr/>
              <p:nvPr/>
            </p:nvGrpSpPr>
            <p:grpSpPr>
              <a:xfrm rot="-10800000" flipH="1">
                <a:off x="3946" y="3174"/>
                <a:ext cx="96" cy="144"/>
                <a:chOff x="4176" y="2553"/>
                <a:chExt cx="144" cy="288"/>
              </a:xfrm>
            </p:grpSpPr>
            <p:sp>
              <p:nvSpPr>
                <p:cNvPr id="105618" name="Arc 102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619" name="Arc 103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5615" name="Group 104"/>
              <p:cNvGrpSpPr/>
              <p:nvPr/>
            </p:nvGrpSpPr>
            <p:grpSpPr>
              <a:xfrm rot="-10800000" flipH="1">
                <a:off x="3946" y="3029"/>
                <a:ext cx="96" cy="144"/>
                <a:chOff x="4176" y="2553"/>
                <a:chExt cx="144" cy="288"/>
              </a:xfrm>
            </p:grpSpPr>
            <p:sp>
              <p:nvSpPr>
                <p:cNvPr id="105616" name="Arc 105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617" name="Arc 106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612" name="Text Box 107"/>
            <p:cNvSpPr txBox="1"/>
            <p:nvPr/>
          </p:nvSpPr>
          <p:spPr>
            <a:xfrm>
              <a:off x="2880" y="2976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L</a:t>
              </a:r>
            </a:p>
          </p:txBody>
        </p:sp>
      </p:grpSp>
      <p:grpSp>
        <p:nvGrpSpPr>
          <p:cNvPr id="105511" name="Group 108"/>
          <p:cNvGrpSpPr/>
          <p:nvPr/>
        </p:nvGrpSpPr>
        <p:grpSpPr>
          <a:xfrm>
            <a:off x="2149475" y="5562600"/>
            <a:ext cx="2146300" cy="962025"/>
            <a:chOff x="2200" y="3559"/>
            <a:chExt cx="1352" cy="606"/>
          </a:xfrm>
        </p:grpSpPr>
        <p:sp>
          <p:nvSpPr>
            <p:cNvPr id="105586" name="Text Box 109"/>
            <p:cNvSpPr txBox="1"/>
            <p:nvPr/>
          </p:nvSpPr>
          <p:spPr>
            <a:xfrm>
              <a:off x="2200" y="3612"/>
              <a:ext cx="862" cy="25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lnSpc>
                  <a:spcPct val="110000"/>
                </a:lnSpc>
                <a:spcBef>
                  <a:spcPct val="5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</a:rPr>
                <a:t>i</a:t>
              </a:r>
              <a:r>
                <a:rPr lang="en-US" altLang="zh-CN" sz="2000" b="1" baseline="-25000" dirty="0">
                  <a:solidFill>
                    <a:srgbClr val="0000FF"/>
                  </a:solidFill>
                </a:rPr>
                <a:t>L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(0)</a:t>
              </a:r>
              <a:r>
                <a:rPr lang="en-US" altLang="zh-CN" sz="10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=</a:t>
              </a:r>
              <a:r>
                <a:rPr lang="en-US" altLang="zh-CN" sz="12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altLang="zh-CN" sz="2000" b="1" i="1" dirty="0">
                  <a:solidFill>
                    <a:srgbClr val="0000FF"/>
                  </a:solidFill>
                </a:rPr>
                <a:t>I</a:t>
              </a:r>
              <a:r>
                <a:rPr lang="en-US" altLang="zh-CN" sz="2000" b="1" baseline="-25000" dirty="0">
                  <a:solidFill>
                    <a:srgbClr val="0000FF"/>
                  </a:solidFill>
                </a:rPr>
                <a:t>0</a:t>
              </a:r>
              <a:r>
                <a:rPr lang="en-US" altLang="zh-CN" sz="1200" b="1" baseline="-25000" dirty="0">
                  <a:solidFill>
                    <a:srgbClr val="0000FF"/>
                  </a:solidFill>
                </a:rPr>
                <a:t> </a:t>
              </a:r>
              <a:endParaRPr lang="en-US" altLang="zh-CN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105587" name="Line 110"/>
            <p:cNvSpPr/>
            <p:nvPr/>
          </p:nvSpPr>
          <p:spPr>
            <a:xfrm>
              <a:off x="2473" y="3915"/>
              <a:ext cx="36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88" name="Line 111"/>
            <p:cNvSpPr/>
            <p:nvPr/>
          </p:nvSpPr>
          <p:spPr>
            <a:xfrm>
              <a:off x="3196" y="3917"/>
              <a:ext cx="31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89" name="Oval 112"/>
            <p:cNvSpPr/>
            <p:nvPr/>
          </p:nvSpPr>
          <p:spPr>
            <a:xfrm>
              <a:off x="2424" y="3886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90" name="Oval 113"/>
            <p:cNvSpPr/>
            <p:nvPr/>
          </p:nvSpPr>
          <p:spPr>
            <a:xfrm>
              <a:off x="3495" y="3886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91" name="Rectangle 114"/>
            <p:cNvSpPr/>
            <p:nvPr/>
          </p:nvSpPr>
          <p:spPr>
            <a:xfrm>
              <a:off x="2675" y="3838"/>
              <a:ext cx="8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+  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L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–</a:t>
              </a:r>
              <a:endParaRPr lang="en-US" altLang="en-US" sz="2800" b="1" i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592" name="Line 115"/>
            <p:cNvSpPr/>
            <p:nvPr/>
          </p:nvSpPr>
          <p:spPr>
            <a:xfrm>
              <a:off x="2525" y="3914"/>
              <a:ext cx="22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  <p:grpSp>
          <p:nvGrpSpPr>
            <p:cNvPr id="105593" name="Group 116"/>
            <p:cNvGrpSpPr/>
            <p:nvPr/>
          </p:nvGrpSpPr>
          <p:grpSpPr>
            <a:xfrm rot="-5400000">
              <a:off x="2982" y="3693"/>
              <a:ext cx="84" cy="363"/>
              <a:chOff x="3946" y="3029"/>
              <a:chExt cx="96" cy="432"/>
            </a:xfrm>
          </p:grpSpPr>
          <p:grpSp>
            <p:nvGrpSpPr>
              <p:cNvPr id="105595" name="Group 117"/>
              <p:cNvGrpSpPr/>
              <p:nvPr/>
            </p:nvGrpSpPr>
            <p:grpSpPr>
              <a:xfrm rot="-10800000" flipH="1">
                <a:off x="3946" y="3317"/>
                <a:ext cx="96" cy="144"/>
                <a:chOff x="4176" y="2553"/>
                <a:chExt cx="144" cy="288"/>
              </a:xfrm>
            </p:grpSpPr>
            <p:sp>
              <p:nvSpPr>
                <p:cNvPr id="105602" name="Arc 118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603" name="Arc 119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5596" name="Group 120"/>
              <p:cNvGrpSpPr/>
              <p:nvPr/>
            </p:nvGrpSpPr>
            <p:grpSpPr>
              <a:xfrm rot="-10800000" flipH="1">
                <a:off x="3946" y="3174"/>
                <a:ext cx="96" cy="144"/>
                <a:chOff x="4176" y="2553"/>
                <a:chExt cx="144" cy="288"/>
              </a:xfrm>
            </p:grpSpPr>
            <p:sp>
              <p:nvSpPr>
                <p:cNvPr id="105600" name="Arc 121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601" name="Arc 122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5597" name="Group 123"/>
              <p:cNvGrpSpPr/>
              <p:nvPr/>
            </p:nvGrpSpPr>
            <p:grpSpPr>
              <a:xfrm rot="-10800000" flipH="1">
                <a:off x="3946" y="3029"/>
                <a:ext cx="96" cy="144"/>
                <a:chOff x="4176" y="2553"/>
                <a:chExt cx="144" cy="288"/>
              </a:xfrm>
            </p:grpSpPr>
            <p:sp>
              <p:nvSpPr>
                <p:cNvPr id="105598" name="Arc 124"/>
                <p:cNvSpPr/>
                <p:nvPr/>
              </p:nvSpPr>
              <p:spPr>
                <a:xfrm>
                  <a:off x="4176" y="2553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99" name="Arc 125"/>
                <p:cNvSpPr/>
                <p:nvPr/>
              </p:nvSpPr>
              <p:spPr>
                <a:xfrm flipV="1">
                  <a:off x="4176" y="2697"/>
                  <a:ext cx="144" cy="144"/>
                </a:xfrm>
                <a:custGeom>
                  <a:avLst/>
                  <a:gdLst>
                    <a:gd name="txL" fmla="*/ 0 w 21600"/>
                    <a:gd name="txT" fmla="*/ 0 h 21600"/>
                    <a:gd name="txR" fmla="*/ 21600 w 21600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9933FF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594" name="Text Box 126"/>
            <p:cNvSpPr txBox="1"/>
            <p:nvPr/>
          </p:nvSpPr>
          <p:spPr>
            <a:xfrm>
              <a:off x="2925" y="3559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L</a:t>
              </a:r>
            </a:p>
          </p:txBody>
        </p:sp>
      </p:grpSp>
      <p:grpSp>
        <p:nvGrpSpPr>
          <p:cNvPr id="105512" name="Group 136"/>
          <p:cNvGrpSpPr/>
          <p:nvPr/>
        </p:nvGrpSpPr>
        <p:grpSpPr>
          <a:xfrm>
            <a:off x="5232400" y="3403600"/>
            <a:ext cx="1790700" cy="504825"/>
            <a:chOff x="2336" y="2144"/>
            <a:chExt cx="1128" cy="318"/>
          </a:xfrm>
        </p:grpSpPr>
        <p:grpSp>
          <p:nvGrpSpPr>
            <p:cNvPr id="105578" name="Group 137"/>
            <p:cNvGrpSpPr/>
            <p:nvPr/>
          </p:nvGrpSpPr>
          <p:grpSpPr>
            <a:xfrm>
              <a:off x="2336" y="2405"/>
              <a:ext cx="1128" cy="57"/>
              <a:chOff x="2371" y="2375"/>
              <a:chExt cx="1128" cy="57"/>
            </a:xfrm>
          </p:grpSpPr>
          <p:sp>
            <p:nvSpPr>
              <p:cNvPr id="105580" name="Line 138"/>
              <p:cNvSpPr/>
              <p:nvPr/>
            </p:nvSpPr>
            <p:spPr>
              <a:xfrm>
                <a:off x="3125" y="2404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81" name="Line 139"/>
              <p:cNvSpPr/>
              <p:nvPr/>
            </p:nvSpPr>
            <p:spPr>
              <a:xfrm>
                <a:off x="2430" y="2404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82" name="Oval 140"/>
              <p:cNvSpPr/>
              <p:nvPr/>
            </p:nvSpPr>
            <p:spPr>
              <a:xfrm>
                <a:off x="2371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83" name="Oval 141"/>
              <p:cNvSpPr/>
              <p:nvPr/>
            </p:nvSpPr>
            <p:spPr>
              <a:xfrm>
                <a:off x="3442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84" name="Oval 142"/>
              <p:cNvSpPr/>
              <p:nvPr/>
            </p:nvSpPr>
            <p:spPr>
              <a:xfrm>
                <a:off x="3085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85" name="Oval 143"/>
              <p:cNvSpPr/>
              <p:nvPr/>
            </p:nvSpPr>
            <p:spPr>
              <a:xfrm>
                <a:off x="2728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105579" name="Rectangle 144"/>
            <p:cNvSpPr/>
            <p:nvPr/>
          </p:nvSpPr>
          <p:spPr>
            <a:xfrm>
              <a:off x="2785" y="2144"/>
              <a:ext cx="23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L</a:t>
              </a:r>
            </a:p>
          </p:txBody>
        </p:sp>
      </p:grpSp>
      <p:grpSp>
        <p:nvGrpSpPr>
          <p:cNvPr id="105513" name="Group 145"/>
          <p:cNvGrpSpPr/>
          <p:nvPr/>
        </p:nvGrpSpPr>
        <p:grpSpPr>
          <a:xfrm>
            <a:off x="7896225" y="3403600"/>
            <a:ext cx="1790700" cy="504825"/>
            <a:chOff x="4014" y="2144"/>
            <a:chExt cx="1128" cy="318"/>
          </a:xfrm>
        </p:grpSpPr>
        <p:grpSp>
          <p:nvGrpSpPr>
            <p:cNvPr id="105569" name="Group 146"/>
            <p:cNvGrpSpPr/>
            <p:nvPr/>
          </p:nvGrpSpPr>
          <p:grpSpPr>
            <a:xfrm>
              <a:off x="4014" y="2405"/>
              <a:ext cx="1128" cy="57"/>
              <a:chOff x="2387" y="1740"/>
              <a:chExt cx="1128" cy="57"/>
            </a:xfrm>
          </p:grpSpPr>
          <p:sp>
            <p:nvSpPr>
              <p:cNvPr id="105571" name="Line 147"/>
              <p:cNvSpPr/>
              <p:nvPr/>
            </p:nvSpPr>
            <p:spPr>
              <a:xfrm>
                <a:off x="2780" y="1769"/>
                <a:ext cx="340" cy="0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72" name="Line 148"/>
              <p:cNvSpPr/>
              <p:nvPr/>
            </p:nvSpPr>
            <p:spPr>
              <a:xfrm>
                <a:off x="3141" y="1769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73" name="Line 149"/>
              <p:cNvSpPr/>
              <p:nvPr/>
            </p:nvSpPr>
            <p:spPr>
              <a:xfrm>
                <a:off x="2446" y="1769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74" name="Oval 150"/>
              <p:cNvSpPr/>
              <p:nvPr/>
            </p:nvSpPr>
            <p:spPr>
              <a:xfrm>
                <a:off x="2387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75" name="Oval 151"/>
              <p:cNvSpPr/>
              <p:nvPr/>
            </p:nvSpPr>
            <p:spPr>
              <a:xfrm>
                <a:off x="3458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76" name="Oval 152"/>
              <p:cNvSpPr/>
              <p:nvPr/>
            </p:nvSpPr>
            <p:spPr>
              <a:xfrm>
                <a:off x="3101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77" name="Oval 153"/>
              <p:cNvSpPr/>
              <p:nvPr/>
            </p:nvSpPr>
            <p:spPr>
              <a:xfrm>
                <a:off x="2744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105570" name="Rectangle 154"/>
            <p:cNvSpPr/>
            <p:nvPr/>
          </p:nvSpPr>
          <p:spPr>
            <a:xfrm>
              <a:off x="4461" y="2144"/>
              <a:ext cx="23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L</a:t>
              </a:r>
            </a:p>
          </p:txBody>
        </p:sp>
      </p:grpSp>
      <p:grpSp>
        <p:nvGrpSpPr>
          <p:cNvPr id="105514" name="Group 155"/>
          <p:cNvGrpSpPr/>
          <p:nvPr/>
        </p:nvGrpSpPr>
        <p:grpSpPr>
          <a:xfrm>
            <a:off x="7896225" y="5589588"/>
            <a:ext cx="1790700" cy="541337"/>
            <a:chOff x="4014" y="3521"/>
            <a:chExt cx="1128" cy="341"/>
          </a:xfrm>
        </p:grpSpPr>
        <p:grpSp>
          <p:nvGrpSpPr>
            <p:cNvPr id="105560" name="Group 156"/>
            <p:cNvGrpSpPr/>
            <p:nvPr/>
          </p:nvGrpSpPr>
          <p:grpSpPr>
            <a:xfrm>
              <a:off x="4014" y="3805"/>
              <a:ext cx="1128" cy="57"/>
              <a:chOff x="2387" y="1740"/>
              <a:chExt cx="1128" cy="57"/>
            </a:xfrm>
          </p:grpSpPr>
          <p:sp>
            <p:nvSpPr>
              <p:cNvPr id="105562" name="Line 157"/>
              <p:cNvSpPr/>
              <p:nvPr/>
            </p:nvSpPr>
            <p:spPr>
              <a:xfrm>
                <a:off x="2780" y="1769"/>
                <a:ext cx="340" cy="0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63" name="Line 158"/>
              <p:cNvSpPr/>
              <p:nvPr/>
            </p:nvSpPr>
            <p:spPr>
              <a:xfrm>
                <a:off x="3141" y="1769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64" name="Line 159"/>
              <p:cNvSpPr/>
              <p:nvPr/>
            </p:nvSpPr>
            <p:spPr>
              <a:xfrm>
                <a:off x="2446" y="1769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65" name="Oval 160"/>
              <p:cNvSpPr/>
              <p:nvPr/>
            </p:nvSpPr>
            <p:spPr>
              <a:xfrm>
                <a:off x="2387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66" name="Oval 161"/>
              <p:cNvSpPr/>
              <p:nvPr/>
            </p:nvSpPr>
            <p:spPr>
              <a:xfrm>
                <a:off x="3458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67" name="Oval 162"/>
              <p:cNvSpPr/>
              <p:nvPr/>
            </p:nvSpPr>
            <p:spPr>
              <a:xfrm>
                <a:off x="3101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68" name="Oval 163"/>
              <p:cNvSpPr/>
              <p:nvPr/>
            </p:nvSpPr>
            <p:spPr>
              <a:xfrm>
                <a:off x="2744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105561" name="Rectangle 164"/>
            <p:cNvSpPr/>
            <p:nvPr/>
          </p:nvSpPr>
          <p:spPr>
            <a:xfrm>
              <a:off x="4478" y="3521"/>
              <a:ext cx="23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L</a:t>
              </a:r>
            </a:p>
          </p:txBody>
        </p:sp>
      </p:grpSp>
      <p:grpSp>
        <p:nvGrpSpPr>
          <p:cNvPr id="105515" name="Group 165"/>
          <p:cNvGrpSpPr/>
          <p:nvPr/>
        </p:nvGrpSpPr>
        <p:grpSpPr>
          <a:xfrm>
            <a:off x="5232400" y="2276475"/>
            <a:ext cx="1790700" cy="512763"/>
            <a:chOff x="2336" y="1434"/>
            <a:chExt cx="1128" cy="323"/>
          </a:xfrm>
        </p:grpSpPr>
        <p:grpSp>
          <p:nvGrpSpPr>
            <p:cNvPr id="105551" name="Group 166"/>
            <p:cNvGrpSpPr/>
            <p:nvPr/>
          </p:nvGrpSpPr>
          <p:grpSpPr>
            <a:xfrm>
              <a:off x="2336" y="1700"/>
              <a:ext cx="1128" cy="57"/>
              <a:chOff x="2387" y="1740"/>
              <a:chExt cx="1128" cy="57"/>
            </a:xfrm>
          </p:grpSpPr>
          <p:sp>
            <p:nvSpPr>
              <p:cNvPr id="105553" name="Line 167"/>
              <p:cNvSpPr/>
              <p:nvPr/>
            </p:nvSpPr>
            <p:spPr>
              <a:xfrm>
                <a:off x="2780" y="1769"/>
                <a:ext cx="340" cy="0"/>
              </a:xfrm>
              <a:prstGeom prst="line">
                <a:avLst/>
              </a:prstGeom>
              <a:ln w="38100" cap="flat" cmpd="sng">
                <a:solidFill>
                  <a:srgbClr val="9933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54" name="Line 168"/>
              <p:cNvSpPr/>
              <p:nvPr/>
            </p:nvSpPr>
            <p:spPr>
              <a:xfrm>
                <a:off x="3141" y="1769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55" name="Line 169"/>
              <p:cNvSpPr/>
              <p:nvPr/>
            </p:nvSpPr>
            <p:spPr>
              <a:xfrm>
                <a:off x="2446" y="1769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56" name="Oval 170"/>
              <p:cNvSpPr/>
              <p:nvPr/>
            </p:nvSpPr>
            <p:spPr>
              <a:xfrm>
                <a:off x="2387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57" name="Oval 171"/>
              <p:cNvSpPr/>
              <p:nvPr/>
            </p:nvSpPr>
            <p:spPr>
              <a:xfrm>
                <a:off x="3458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58" name="Oval 172"/>
              <p:cNvSpPr/>
              <p:nvPr/>
            </p:nvSpPr>
            <p:spPr>
              <a:xfrm>
                <a:off x="3101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59" name="Oval 173"/>
              <p:cNvSpPr/>
              <p:nvPr/>
            </p:nvSpPr>
            <p:spPr>
              <a:xfrm>
                <a:off x="2744" y="1740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105552" name="Rectangle 174"/>
            <p:cNvSpPr/>
            <p:nvPr/>
          </p:nvSpPr>
          <p:spPr>
            <a:xfrm>
              <a:off x="2774" y="1434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C</a:t>
              </a:r>
            </a:p>
          </p:txBody>
        </p:sp>
      </p:grpSp>
      <p:grpSp>
        <p:nvGrpSpPr>
          <p:cNvPr id="105516" name="Group 175"/>
          <p:cNvGrpSpPr/>
          <p:nvPr/>
        </p:nvGrpSpPr>
        <p:grpSpPr>
          <a:xfrm>
            <a:off x="7896225" y="2276475"/>
            <a:ext cx="1790700" cy="512763"/>
            <a:chOff x="4014" y="1434"/>
            <a:chExt cx="1128" cy="323"/>
          </a:xfrm>
        </p:grpSpPr>
        <p:grpSp>
          <p:nvGrpSpPr>
            <p:cNvPr id="105543" name="Group 176"/>
            <p:cNvGrpSpPr/>
            <p:nvPr/>
          </p:nvGrpSpPr>
          <p:grpSpPr>
            <a:xfrm>
              <a:off x="4014" y="1700"/>
              <a:ext cx="1128" cy="57"/>
              <a:chOff x="2371" y="2375"/>
              <a:chExt cx="1128" cy="57"/>
            </a:xfrm>
          </p:grpSpPr>
          <p:sp>
            <p:nvSpPr>
              <p:cNvPr id="105545" name="Line 177"/>
              <p:cNvSpPr/>
              <p:nvPr/>
            </p:nvSpPr>
            <p:spPr>
              <a:xfrm>
                <a:off x="3125" y="2404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46" name="Line 178"/>
              <p:cNvSpPr/>
              <p:nvPr/>
            </p:nvSpPr>
            <p:spPr>
              <a:xfrm>
                <a:off x="2430" y="2404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47" name="Oval 179"/>
              <p:cNvSpPr/>
              <p:nvPr/>
            </p:nvSpPr>
            <p:spPr>
              <a:xfrm>
                <a:off x="2371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48" name="Oval 180"/>
              <p:cNvSpPr/>
              <p:nvPr/>
            </p:nvSpPr>
            <p:spPr>
              <a:xfrm>
                <a:off x="3442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49" name="Oval 181"/>
              <p:cNvSpPr/>
              <p:nvPr/>
            </p:nvSpPr>
            <p:spPr>
              <a:xfrm>
                <a:off x="3085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50" name="Oval 182"/>
              <p:cNvSpPr/>
              <p:nvPr/>
            </p:nvSpPr>
            <p:spPr>
              <a:xfrm>
                <a:off x="2728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105544" name="Rectangle 183"/>
            <p:cNvSpPr/>
            <p:nvPr/>
          </p:nvSpPr>
          <p:spPr>
            <a:xfrm>
              <a:off x="4460" y="1434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C</a:t>
              </a:r>
            </a:p>
          </p:txBody>
        </p:sp>
      </p:grpSp>
      <p:grpSp>
        <p:nvGrpSpPr>
          <p:cNvPr id="105517" name="Group 184"/>
          <p:cNvGrpSpPr/>
          <p:nvPr/>
        </p:nvGrpSpPr>
        <p:grpSpPr>
          <a:xfrm>
            <a:off x="7896225" y="4508500"/>
            <a:ext cx="1790700" cy="488950"/>
            <a:chOff x="4014" y="2840"/>
            <a:chExt cx="1128" cy="308"/>
          </a:xfrm>
        </p:grpSpPr>
        <p:grpSp>
          <p:nvGrpSpPr>
            <p:cNvPr id="105535" name="Group 185"/>
            <p:cNvGrpSpPr/>
            <p:nvPr/>
          </p:nvGrpSpPr>
          <p:grpSpPr>
            <a:xfrm>
              <a:off x="4014" y="3091"/>
              <a:ext cx="1128" cy="57"/>
              <a:chOff x="2371" y="2375"/>
              <a:chExt cx="1128" cy="57"/>
            </a:xfrm>
          </p:grpSpPr>
          <p:sp>
            <p:nvSpPr>
              <p:cNvPr id="105537" name="Line 186"/>
              <p:cNvSpPr/>
              <p:nvPr/>
            </p:nvSpPr>
            <p:spPr>
              <a:xfrm>
                <a:off x="3125" y="2404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38" name="Line 187"/>
              <p:cNvSpPr/>
              <p:nvPr/>
            </p:nvSpPr>
            <p:spPr>
              <a:xfrm>
                <a:off x="2430" y="2404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39" name="Oval 188"/>
              <p:cNvSpPr/>
              <p:nvPr/>
            </p:nvSpPr>
            <p:spPr>
              <a:xfrm>
                <a:off x="2371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40" name="Oval 189"/>
              <p:cNvSpPr/>
              <p:nvPr/>
            </p:nvSpPr>
            <p:spPr>
              <a:xfrm>
                <a:off x="3442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41" name="Oval 190"/>
              <p:cNvSpPr/>
              <p:nvPr/>
            </p:nvSpPr>
            <p:spPr>
              <a:xfrm>
                <a:off x="3085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  <p:sp>
            <p:nvSpPr>
              <p:cNvPr id="105542" name="Oval 191"/>
              <p:cNvSpPr/>
              <p:nvPr/>
            </p:nvSpPr>
            <p:spPr>
              <a:xfrm>
                <a:off x="2728" y="2375"/>
                <a:ext cx="57" cy="57"/>
              </a:xfrm>
              <a:prstGeom prst="ellipse">
                <a:avLst/>
              </a:prstGeom>
              <a:solidFill>
                <a:srgbClr val="CCFFCC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800" b="1" dirty="0"/>
              </a:p>
            </p:txBody>
          </p:sp>
        </p:grpSp>
        <p:sp>
          <p:nvSpPr>
            <p:cNvPr id="105536" name="Rectangle 192"/>
            <p:cNvSpPr/>
            <p:nvPr/>
          </p:nvSpPr>
          <p:spPr>
            <a:xfrm>
              <a:off x="4460" y="2840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C</a:t>
              </a:r>
            </a:p>
          </p:txBody>
        </p:sp>
      </p:grpSp>
      <p:grpSp>
        <p:nvGrpSpPr>
          <p:cNvPr id="105518" name="Group 47"/>
          <p:cNvGrpSpPr/>
          <p:nvPr/>
        </p:nvGrpSpPr>
        <p:grpSpPr>
          <a:xfrm>
            <a:off x="5233988" y="4651375"/>
            <a:ext cx="1790700" cy="904875"/>
            <a:chOff x="2371" y="2840"/>
            <a:chExt cx="1128" cy="570"/>
          </a:xfrm>
        </p:grpSpPr>
        <p:sp>
          <p:nvSpPr>
            <p:cNvPr id="105528" name="Line 48"/>
            <p:cNvSpPr/>
            <p:nvPr/>
          </p:nvSpPr>
          <p:spPr>
            <a:xfrm>
              <a:off x="3059" y="2992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29" name="Line 49"/>
            <p:cNvSpPr/>
            <p:nvPr/>
          </p:nvSpPr>
          <p:spPr>
            <a:xfrm>
              <a:off x="2422" y="2992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30" name="Oval 50"/>
            <p:cNvSpPr/>
            <p:nvPr/>
          </p:nvSpPr>
          <p:spPr>
            <a:xfrm>
              <a:off x="2371" y="2963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31" name="Oval 51"/>
            <p:cNvSpPr/>
            <p:nvPr/>
          </p:nvSpPr>
          <p:spPr>
            <a:xfrm>
              <a:off x="3442" y="2963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32" name="Oval 52"/>
            <p:cNvSpPr/>
            <p:nvPr/>
          </p:nvSpPr>
          <p:spPr>
            <a:xfrm>
              <a:off x="2800" y="2840"/>
              <a:ext cx="295" cy="295"/>
            </a:xfrm>
            <a:prstGeom prst="ellipse">
              <a:avLst/>
            </a:prstGeom>
            <a:solidFill>
              <a:srgbClr val="99FFCC"/>
            </a:solidFill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33" name="Line 53"/>
            <p:cNvSpPr/>
            <p:nvPr/>
          </p:nvSpPr>
          <p:spPr>
            <a:xfrm>
              <a:off x="2808" y="2992"/>
              <a:ext cx="31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105534" name="Rectangle 54"/>
            <p:cNvSpPr/>
            <p:nvPr/>
          </p:nvSpPr>
          <p:spPr>
            <a:xfrm>
              <a:off x="2581" y="3083"/>
              <a:ext cx="8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+  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0</a:t>
              </a:r>
              <a:r>
                <a:rPr lang="en-US" altLang="zh-CN" sz="2800" b="1" i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–</a:t>
              </a:r>
              <a:endParaRPr lang="en-US" altLang="en-US" sz="2800" b="1" i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05519" name="Group 127"/>
          <p:cNvGrpSpPr/>
          <p:nvPr/>
        </p:nvGrpSpPr>
        <p:grpSpPr>
          <a:xfrm>
            <a:off x="5233988" y="5634038"/>
            <a:ext cx="1790700" cy="744537"/>
            <a:chOff x="2371" y="3505"/>
            <a:chExt cx="1128" cy="469"/>
          </a:xfrm>
        </p:grpSpPr>
        <p:sp>
          <p:nvSpPr>
            <p:cNvPr id="105520" name="Line 128"/>
            <p:cNvSpPr/>
            <p:nvPr/>
          </p:nvSpPr>
          <p:spPr>
            <a:xfrm>
              <a:off x="3059" y="3827"/>
              <a:ext cx="38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21" name="Line 129"/>
            <p:cNvSpPr/>
            <p:nvPr/>
          </p:nvSpPr>
          <p:spPr>
            <a:xfrm>
              <a:off x="2422" y="3827"/>
              <a:ext cx="42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522" name="Oval 130"/>
            <p:cNvSpPr/>
            <p:nvPr/>
          </p:nvSpPr>
          <p:spPr>
            <a:xfrm>
              <a:off x="2371" y="3798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23" name="Oval 131"/>
            <p:cNvSpPr/>
            <p:nvPr/>
          </p:nvSpPr>
          <p:spPr>
            <a:xfrm>
              <a:off x="3442" y="3798"/>
              <a:ext cx="57" cy="57"/>
            </a:xfrm>
            <a:prstGeom prst="ellipse">
              <a:avLst/>
            </a:prstGeom>
            <a:solidFill>
              <a:srgbClr val="CCFFCC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24" name="Oval 132"/>
            <p:cNvSpPr/>
            <p:nvPr/>
          </p:nvSpPr>
          <p:spPr>
            <a:xfrm>
              <a:off x="2857" y="3678"/>
              <a:ext cx="295" cy="295"/>
            </a:xfrm>
            <a:prstGeom prst="ellipse">
              <a:avLst/>
            </a:prstGeom>
            <a:solidFill>
              <a:srgbClr val="99FFCC"/>
            </a:solidFill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800" b="1" dirty="0"/>
            </a:p>
          </p:txBody>
        </p:sp>
        <p:sp>
          <p:nvSpPr>
            <p:cNvPr id="105525" name="Line 133"/>
            <p:cNvSpPr/>
            <p:nvPr/>
          </p:nvSpPr>
          <p:spPr>
            <a:xfrm rot="5400000">
              <a:off x="2857" y="3826"/>
              <a:ext cx="295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105526" name="Rectangle 134"/>
            <p:cNvSpPr/>
            <p:nvPr/>
          </p:nvSpPr>
          <p:spPr>
            <a:xfrm>
              <a:off x="2501" y="3505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0</a:t>
              </a:r>
              <a:endParaRPr lang="en-US" altLang="en-US" sz="2400" b="1" i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527" name="Line 135"/>
            <p:cNvSpPr/>
            <p:nvPr/>
          </p:nvSpPr>
          <p:spPr>
            <a:xfrm>
              <a:off x="2517" y="3827"/>
              <a:ext cx="227" cy="0"/>
            </a:xfrm>
            <a:prstGeom prst="line">
              <a:avLst/>
            </a:prstGeom>
            <a:ln w="38100" cap="flat" cmpd="sng">
              <a:solidFill>
                <a:srgbClr val="9933FF"/>
              </a:solidFill>
              <a:prstDash val="solid"/>
              <a:headEnd type="none" w="med" len="med"/>
              <a:tailEnd type="stealth" w="med" len="lg"/>
            </a:ln>
          </p:spPr>
        </p:sp>
      </p:grpSp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"/>
          <p:cNvSpPr/>
          <p:nvPr/>
        </p:nvSpPr>
        <p:spPr>
          <a:xfrm>
            <a:off x="3246438" y="1231900"/>
            <a:ext cx="5286375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4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第七章  二阶电路</a:t>
            </a:r>
          </a:p>
        </p:txBody>
      </p:sp>
      <p:sp>
        <p:nvSpPr>
          <p:cNvPr id="696334" name="Text Box 14"/>
          <p:cNvSpPr txBox="1"/>
          <p:nvPr/>
        </p:nvSpPr>
        <p:spPr>
          <a:xfrm>
            <a:off x="2017713" y="2335213"/>
            <a:ext cx="56483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§7-1   </a:t>
            </a:r>
            <a:r>
              <a:rPr lang="en-US" altLang="zh-CN" sz="3200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LC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电路中的正弦振荡</a:t>
            </a:r>
          </a:p>
        </p:txBody>
      </p:sp>
      <p:sp>
        <p:nvSpPr>
          <p:cNvPr id="696335" name="Text Box 15"/>
          <p:cNvSpPr txBox="1"/>
          <p:nvPr/>
        </p:nvSpPr>
        <p:spPr>
          <a:xfrm>
            <a:off x="2017713" y="3090863"/>
            <a:ext cx="65849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§7-2   </a:t>
            </a:r>
            <a:r>
              <a:rPr lang="en-US" altLang="zh-CN" sz="3200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RLC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串联电路的零输入响应</a:t>
            </a:r>
          </a:p>
        </p:txBody>
      </p:sp>
      <p:sp>
        <p:nvSpPr>
          <p:cNvPr id="696336" name="Text Box 16"/>
          <p:cNvSpPr txBox="1"/>
          <p:nvPr/>
        </p:nvSpPr>
        <p:spPr>
          <a:xfrm>
            <a:off x="2017713" y="3848100"/>
            <a:ext cx="84470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§7-3   </a:t>
            </a:r>
            <a:r>
              <a:rPr lang="en-US" altLang="zh-CN" sz="3200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RLC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串联电路的零状态响应和全响应</a:t>
            </a:r>
          </a:p>
        </p:txBody>
      </p:sp>
      <p:sp>
        <p:nvSpPr>
          <p:cNvPr id="696338" name="Text Box 18"/>
          <p:cNvSpPr txBox="1"/>
          <p:nvPr/>
        </p:nvSpPr>
        <p:spPr>
          <a:xfrm>
            <a:off x="2017713" y="4605338"/>
            <a:ext cx="533876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§7-4   </a:t>
            </a:r>
            <a:r>
              <a:rPr lang="en-US" altLang="zh-CN" sz="3200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GCL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并联电路的分析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9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9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69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69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34" grpId="0"/>
      <p:bldP spid="696335" grpId="0"/>
      <p:bldP spid="696336" grpId="0"/>
      <p:bldP spid="69633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Text Box 2">
            <a:extLst>
              <a:ext uri="{FF2B5EF4-FFF2-40B4-BE49-F238E27FC236}">
                <a16:creationId xmlns:a16="http://schemas.microsoft.com/office/drawing/2014/main" id="{1AB626DF-9A07-4B9D-9EF4-AE0199896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5" y="6016625"/>
            <a:ext cx="8164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00FF"/>
                </a:solidFill>
                <a:ea typeface="华文中宋" panose="02010600040101010101" pitchFamily="2" charset="-122"/>
              </a:rPr>
              <a:t>R</a:t>
            </a:r>
            <a:r>
              <a:rPr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ea typeface="华文中宋" panose="02010600040101010101" pitchFamily="2" charset="-122"/>
              </a:rPr>
              <a:t>L</a:t>
            </a:r>
            <a:r>
              <a:rPr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ea typeface="华文中宋" panose="02010600040101010101" pitchFamily="2" charset="-122"/>
              </a:rPr>
              <a:t>C</a:t>
            </a:r>
            <a:r>
              <a:rPr lang="en-US" altLang="zh-CN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取值不同，根号里的值有四种不同情况。 </a:t>
            </a:r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01F1CE34-4036-4758-94E9-77A33FD5C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1011238"/>
            <a:ext cx="151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设解为</a:t>
            </a:r>
            <a:r>
              <a:rPr lang="zh-CN" altLang="en-US" b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9460" name="Text Box 7">
            <a:extLst>
              <a:ext uri="{FF2B5EF4-FFF2-40B4-BE49-F238E27FC236}">
                <a16:creationId xmlns:a16="http://schemas.microsoft.com/office/drawing/2014/main" id="{F4E6A00D-7347-4834-AD5A-17118DE46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22350"/>
            <a:ext cx="54657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rgbClr val="0000FF"/>
                </a:solidFill>
                <a:ea typeface="华文中宋" panose="02010600040101010101" pitchFamily="2" charset="-122"/>
              </a:rPr>
              <a:t>u</a:t>
            </a:r>
            <a:r>
              <a:rPr kumimoji="0" lang="en-US" altLang="zh-CN" baseline="-25000">
                <a:solidFill>
                  <a:srgbClr val="0000FF"/>
                </a:solidFill>
                <a:ea typeface="华文中宋" panose="02010600040101010101" pitchFamily="2" charset="-122"/>
              </a:rPr>
              <a:t>C</a:t>
            </a:r>
            <a:r>
              <a:rPr kumimoji="0" lang="en-US" altLang="zh-CN">
                <a:solidFill>
                  <a:srgbClr val="0000FF"/>
                </a:solidFill>
                <a:ea typeface="华文中宋" panose="02010600040101010101" pitchFamily="2" charset="-122"/>
              </a:rPr>
              <a:t>(</a:t>
            </a:r>
            <a:r>
              <a:rPr kumimoji="0" lang="en-US" altLang="zh-CN" i="1">
                <a:solidFill>
                  <a:srgbClr val="0000FF"/>
                </a:solidFill>
                <a:ea typeface="华文中宋" panose="02010600040101010101" pitchFamily="2" charset="-122"/>
              </a:rPr>
              <a:t>t</a:t>
            </a:r>
            <a:r>
              <a:rPr kumimoji="0" lang="en-US" altLang="zh-CN">
                <a:solidFill>
                  <a:srgbClr val="0000FF"/>
                </a:solidFill>
                <a:ea typeface="华文中宋" panose="02010600040101010101" pitchFamily="2" charset="-122"/>
              </a:rPr>
              <a:t>) = </a:t>
            </a:r>
            <a:r>
              <a:rPr kumimoji="0" lang="en-US" altLang="zh-CN" i="1">
                <a:solidFill>
                  <a:srgbClr val="0000FF"/>
                </a:solidFill>
                <a:ea typeface="华文中宋" panose="02010600040101010101" pitchFamily="2" charset="-122"/>
              </a:rPr>
              <a:t>K</a:t>
            </a:r>
            <a:r>
              <a:rPr kumimoji="0" lang="en-US" altLang="zh-CN">
                <a:solidFill>
                  <a:srgbClr val="0000FF"/>
                </a:solidFill>
                <a:ea typeface="华文中宋" panose="02010600040101010101" pitchFamily="2" charset="-122"/>
              </a:rPr>
              <a:t>e</a:t>
            </a:r>
            <a:r>
              <a:rPr kumimoji="0" lang="en-US" altLang="zh-CN" i="1" baseline="30000">
                <a:solidFill>
                  <a:srgbClr val="0000FF"/>
                </a:solidFill>
                <a:ea typeface="华文中宋" panose="02010600040101010101" pitchFamily="2" charset="-122"/>
              </a:rPr>
              <a:t>st</a:t>
            </a:r>
            <a:r>
              <a:rPr kumimoji="0" lang="en-US" altLang="zh-CN" baseline="30000">
                <a:solidFill>
                  <a:srgbClr val="0000FF"/>
                </a:solidFill>
                <a:ea typeface="华文中宋" panose="02010600040101010101" pitchFamily="2" charset="-122"/>
              </a:rPr>
              <a:t>        </a:t>
            </a:r>
            <a:r>
              <a:rPr kumimoji="0"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代入微分方程</a:t>
            </a:r>
          </a:p>
        </p:txBody>
      </p:sp>
      <p:sp>
        <p:nvSpPr>
          <p:cNvPr id="671752" name="Text Box 8">
            <a:extLst>
              <a:ext uri="{FF2B5EF4-FFF2-40B4-BE49-F238E27FC236}">
                <a16:creationId xmlns:a16="http://schemas.microsoft.com/office/drawing/2014/main" id="{BC7828A4-F7F6-4332-BFFA-F6AE788CF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913" y="2474913"/>
            <a:ext cx="4900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accent2"/>
                </a:solidFill>
              </a:rPr>
              <a:t>LCs</a:t>
            </a:r>
            <a:r>
              <a:rPr kumimoji="0" lang="en-US" altLang="zh-CN" baseline="30000">
                <a:solidFill>
                  <a:schemeClr val="accent2"/>
                </a:solidFill>
              </a:rPr>
              <a:t>2</a:t>
            </a:r>
            <a:r>
              <a:rPr kumimoji="0" lang="en-US" altLang="zh-CN" i="1">
                <a:solidFill>
                  <a:schemeClr val="accent2"/>
                </a:solidFill>
              </a:rPr>
              <a:t>K</a:t>
            </a:r>
            <a:r>
              <a:rPr kumimoji="0" lang="en-US" altLang="zh-CN">
                <a:solidFill>
                  <a:schemeClr val="accent2"/>
                </a:solidFill>
              </a:rPr>
              <a:t>e</a:t>
            </a:r>
            <a:r>
              <a:rPr kumimoji="0" lang="en-US" altLang="zh-CN" i="1" baseline="30000">
                <a:solidFill>
                  <a:schemeClr val="accent2"/>
                </a:solidFill>
              </a:rPr>
              <a:t>st</a:t>
            </a:r>
            <a:r>
              <a:rPr kumimoji="0" lang="en-US" altLang="zh-CN" baseline="30000">
                <a:solidFill>
                  <a:schemeClr val="accent2"/>
                </a:solidFill>
              </a:rPr>
              <a:t> </a:t>
            </a:r>
            <a:r>
              <a:rPr kumimoji="0" lang="en-US" altLang="zh-CN">
                <a:solidFill>
                  <a:schemeClr val="accent2"/>
                </a:solidFill>
              </a:rPr>
              <a:t>+</a:t>
            </a:r>
            <a:r>
              <a:rPr kumimoji="0" lang="en-US" altLang="zh-CN" baseline="30000">
                <a:solidFill>
                  <a:schemeClr val="accent2"/>
                </a:solidFill>
              </a:rPr>
              <a:t> </a:t>
            </a:r>
            <a:r>
              <a:rPr kumimoji="0" lang="en-US" altLang="zh-CN" i="1">
                <a:solidFill>
                  <a:schemeClr val="accent2"/>
                </a:solidFill>
              </a:rPr>
              <a:t>RCsK</a:t>
            </a:r>
            <a:r>
              <a:rPr kumimoji="0" lang="en-US" altLang="zh-CN">
                <a:solidFill>
                  <a:schemeClr val="accent2"/>
                </a:solidFill>
              </a:rPr>
              <a:t>e</a:t>
            </a:r>
            <a:r>
              <a:rPr kumimoji="0" lang="en-US" altLang="zh-CN" i="1" baseline="30000">
                <a:solidFill>
                  <a:schemeClr val="accent2"/>
                </a:solidFill>
              </a:rPr>
              <a:t>st</a:t>
            </a:r>
            <a:r>
              <a:rPr kumimoji="0" lang="en-US" altLang="zh-CN" baseline="-25000">
                <a:solidFill>
                  <a:schemeClr val="accent2"/>
                </a:solidFill>
              </a:rPr>
              <a:t> </a:t>
            </a:r>
            <a:r>
              <a:rPr kumimoji="0" lang="en-US" altLang="zh-CN">
                <a:solidFill>
                  <a:schemeClr val="accent2"/>
                </a:solidFill>
              </a:rPr>
              <a:t>+</a:t>
            </a:r>
            <a:r>
              <a:rPr kumimoji="0" lang="en-US" altLang="zh-CN" baseline="30000">
                <a:solidFill>
                  <a:schemeClr val="accent2"/>
                </a:solidFill>
              </a:rPr>
              <a:t> </a:t>
            </a:r>
            <a:r>
              <a:rPr kumimoji="0" lang="en-US" altLang="zh-CN" i="1">
                <a:solidFill>
                  <a:schemeClr val="accent2"/>
                </a:solidFill>
              </a:rPr>
              <a:t>K</a:t>
            </a:r>
            <a:r>
              <a:rPr kumimoji="0" lang="en-US" altLang="zh-CN">
                <a:solidFill>
                  <a:schemeClr val="accent2"/>
                </a:solidFill>
              </a:rPr>
              <a:t>e</a:t>
            </a:r>
            <a:r>
              <a:rPr kumimoji="0" lang="en-US" altLang="zh-CN" i="1" baseline="30000">
                <a:solidFill>
                  <a:schemeClr val="accent2"/>
                </a:solidFill>
              </a:rPr>
              <a:t>st</a:t>
            </a:r>
            <a:r>
              <a:rPr kumimoji="0" lang="en-US" altLang="zh-CN" baseline="30000">
                <a:solidFill>
                  <a:schemeClr val="accent2"/>
                </a:solidFill>
              </a:rPr>
              <a:t> </a:t>
            </a:r>
            <a:r>
              <a:rPr kumimoji="0" lang="en-US" altLang="zh-CN">
                <a:solidFill>
                  <a:schemeClr val="accent2"/>
                </a:solidFill>
              </a:rPr>
              <a:t>= 0</a:t>
            </a:r>
          </a:p>
        </p:txBody>
      </p:sp>
      <p:sp>
        <p:nvSpPr>
          <p:cNvPr id="671753" name="Text Box 9">
            <a:extLst>
              <a:ext uri="{FF2B5EF4-FFF2-40B4-BE49-F238E27FC236}">
                <a16:creationId xmlns:a16="http://schemas.microsoft.com/office/drawing/2014/main" id="{4BE53672-4393-4D49-A441-8F1DFC3A2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3079750"/>
            <a:ext cx="4432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0000FF"/>
                </a:solidFill>
              </a:rPr>
              <a:t>( </a:t>
            </a:r>
            <a:r>
              <a:rPr kumimoji="0" lang="en-US" altLang="zh-CN" i="1">
                <a:solidFill>
                  <a:srgbClr val="0000FF"/>
                </a:solidFill>
              </a:rPr>
              <a:t>LCs</a:t>
            </a:r>
            <a:r>
              <a:rPr kumimoji="0" lang="en-US" altLang="zh-CN" baseline="30000">
                <a:solidFill>
                  <a:srgbClr val="0000FF"/>
                </a:solidFill>
              </a:rPr>
              <a:t>2</a:t>
            </a:r>
            <a:r>
              <a:rPr kumimoji="0" lang="en-US" altLang="zh-CN" baseline="-25000">
                <a:solidFill>
                  <a:srgbClr val="0000FF"/>
                </a:solidFill>
              </a:rPr>
              <a:t> </a:t>
            </a:r>
            <a:r>
              <a:rPr kumimoji="0" lang="en-US" altLang="zh-CN">
                <a:solidFill>
                  <a:srgbClr val="0000FF"/>
                </a:solidFill>
              </a:rPr>
              <a:t>+ </a:t>
            </a:r>
            <a:r>
              <a:rPr kumimoji="0" lang="en-US" altLang="zh-CN" i="1">
                <a:solidFill>
                  <a:srgbClr val="0000FF"/>
                </a:solidFill>
              </a:rPr>
              <a:t>RCs</a:t>
            </a:r>
            <a:r>
              <a:rPr kumimoji="0" lang="en-US" altLang="zh-CN" baseline="-25000">
                <a:solidFill>
                  <a:srgbClr val="0000FF"/>
                </a:solidFill>
              </a:rPr>
              <a:t> </a:t>
            </a:r>
            <a:r>
              <a:rPr kumimoji="0" lang="en-US" altLang="zh-CN">
                <a:solidFill>
                  <a:srgbClr val="0000FF"/>
                </a:solidFill>
              </a:rPr>
              <a:t>+</a:t>
            </a:r>
            <a:r>
              <a:rPr kumimoji="0" lang="en-US" altLang="zh-CN" baseline="-25000">
                <a:solidFill>
                  <a:srgbClr val="0000FF"/>
                </a:solidFill>
              </a:rPr>
              <a:t> </a:t>
            </a:r>
            <a:r>
              <a:rPr kumimoji="0" lang="en-US" altLang="zh-CN">
                <a:solidFill>
                  <a:srgbClr val="0000FF"/>
                </a:solidFill>
              </a:rPr>
              <a:t>1</a:t>
            </a:r>
            <a:r>
              <a:rPr kumimoji="0" lang="en-US" altLang="zh-CN" sz="2400" baseline="-25000">
                <a:solidFill>
                  <a:srgbClr val="0000FF"/>
                </a:solidFill>
              </a:rPr>
              <a:t> </a:t>
            </a:r>
            <a:r>
              <a:rPr kumimoji="0" lang="en-US" altLang="zh-CN">
                <a:solidFill>
                  <a:srgbClr val="0000FF"/>
                </a:solidFill>
              </a:rPr>
              <a:t>) </a:t>
            </a:r>
            <a:r>
              <a:rPr kumimoji="0" lang="en-US" altLang="zh-CN" i="1">
                <a:solidFill>
                  <a:srgbClr val="0000FF"/>
                </a:solidFill>
              </a:rPr>
              <a:t>K</a:t>
            </a:r>
            <a:r>
              <a:rPr kumimoji="0" lang="en-US" altLang="zh-CN">
                <a:solidFill>
                  <a:srgbClr val="0000FF"/>
                </a:solidFill>
              </a:rPr>
              <a:t>e</a:t>
            </a:r>
            <a:r>
              <a:rPr kumimoji="0" lang="en-US" altLang="zh-CN" i="1" baseline="30000">
                <a:solidFill>
                  <a:srgbClr val="0000FF"/>
                </a:solidFill>
              </a:rPr>
              <a:t>st</a:t>
            </a:r>
            <a:r>
              <a:rPr kumimoji="0" lang="en-US" altLang="zh-CN" baseline="30000">
                <a:solidFill>
                  <a:srgbClr val="0000FF"/>
                </a:solidFill>
              </a:rPr>
              <a:t> </a:t>
            </a:r>
            <a:r>
              <a:rPr kumimoji="0" lang="en-US" altLang="zh-CN">
                <a:solidFill>
                  <a:srgbClr val="0000FF"/>
                </a:solidFill>
              </a:rPr>
              <a:t>= 0</a:t>
            </a:r>
          </a:p>
        </p:txBody>
      </p:sp>
      <p:sp>
        <p:nvSpPr>
          <p:cNvPr id="671754" name="Text Box 10">
            <a:extLst>
              <a:ext uri="{FF2B5EF4-FFF2-40B4-BE49-F238E27FC236}">
                <a16:creationId xmlns:a16="http://schemas.microsoft.com/office/drawing/2014/main" id="{DFE25674-820F-4E89-B5E7-E41EFACAC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0" y="4298950"/>
            <a:ext cx="4659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特征方程的根（固有频率）</a:t>
            </a:r>
          </a:p>
        </p:txBody>
      </p:sp>
      <p:grpSp>
        <p:nvGrpSpPr>
          <p:cNvPr id="2" name="Group 212">
            <a:extLst>
              <a:ext uri="{FF2B5EF4-FFF2-40B4-BE49-F238E27FC236}">
                <a16:creationId xmlns:a16="http://schemas.microsoft.com/office/drawing/2014/main" id="{B69C3D6A-D945-4775-9347-86406B484B18}"/>
              </a:ext>
            </a:extLst>
          </p:cNvPr>
          <p:cNvGrpSpPr>
            <a:grpSpLocks/>
          </p:cNvGrpSpPr>
          <p:nvPr/>
        </p:nvGrpSpPr>
        <p:grpSpPr bwMode="auto">
          <a:xfrm>
            <a:off x="6357938" y="5037138"/>
            <a:ext cx="3911600" cy="912812"/>
            <a:chOff x="2916" y="3162"/>
            <a:chExt cx="2191" cy="575"/>
          </a:xfrm>
        </p:grpSpPr>
        <p:sp>
          <p:nvSpPr>
            <p:cNvPr id="19523" name="Line 56">
              <a:extLst>
                <a:ext uri="{FF2B5EF4-FFF2-40B4-BE49-F238E27FC236}">
                  <a16:creationId xmlns:a16="http://schemas.microsoft.com/office/drawing/2014/main" id="{D26AFC77-304E-4396-9181-26BC7B3FC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1" y="3468"/>
              <a:ext cx="33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4" name="Text Box 57">
              <a:extLst>
                <a:ext uri="{FF2B5EF4-FFF2-40B4-BE49-F238E27FC236}">
                  <a16:creationId xmlns:a16="http://schemas.microsoft.com/office/drawing/2014/main" id="{BD65386E-B2D7-45B8-BFB8-84B21F8D1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3410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2</a:t>
              </a:r>
              <a:r>
                <a:rPr kumimoji="0" lang="en-US" altLang="zh-CN" i="1">
                  <a:solidFill>
                    <a:srgbClr val="FF3300"/>
                  </a:solidFill>
                </a:rPr>
                <a:t>L</a:t>
              </a:r>
            </a:p>
          </p:txBody>
        </p:sp>
        <p:sp>
          <p:nvSpPr>
            <p:cNvPr id="19525" name="Text Box 58">
              <a:extLst>
                <a:ext uri="{FF2B5EF4-FFF2-40B4-BE49-F238E27FC236}">
                  <a16:creationId xmlns:a16="http://schemas.microsoft.com/office/drawing/2014/main" id="{13B1ED26-04C2-4740-A023-6F8F73D38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318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 </a:t>
              </a:r>
              <a:r>
                <a:rPr kumimoji="0" lang="en-US" altLang="zh-CN" i="1">
                  <a:solidFill>
                    <a:srgbClr val="FF3300"/>
                  </a:solidFill>
                </a:rPr>
                <a:t>R</a:t>
              </a:r>
              <a:endParaRPr kumimoji="0" lang="en-US" altLang="zh-CN" sz="2000" i="1" baseline="-25000">
                <a:solidFill>
                  <a:srgbClr val="FF3300"/>
                </a:solidFill>
              </a:endParaRPr>
            </a:p>
          </p:txBody>
        </p:sp>
        <p:sp>
          <p:nvSpPr>
            <p:cNvPr id="19526" name="Rectangle 59">
              <a:extLst>
                <a:ext uri="{FF2B5EF4-FFF2-40B4-BE49-F238E27FC236}">
                  <a16:creationId xmlns:a16="http://schemas.microsoft.com/office/drawing/2014/main" id="{B11B826A-E21B-472C-94E0-82479B744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" y="3327"/>
              <a:ext cx="27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en-US" altLang="zh-CN">
                  <a:solidFill>
                    <a:srgbClr val="FF3300"/>
                  </a:solidFill>
                  <a:latin typeface="宋体" panose="0201060003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-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527" name="Text Box 60">
              <a:extLst>
                <a:ext uri="{FF2B5EF4-FFF2-40B4-BE49-F238E27FC236}">
                  <a16:creationId xmlns:a16="http://schemas.microsoft.com/office/drawing/2014/main" id="{59CD4A43-2561-4E3F-9C39-967BD4E74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" y="3270"/>
              <a:ext cx="2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±</a:t>
              </a:r>
              <a:endParaRPr kumimoji="0" lang="en-US" altLang="zh-CN" baseline="300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9528" name="Line 62">
              <a:extLst>
                <a:ext uri="{FF2B5EF4-FFF2-40B4-BE49-F238E27FC236}">
                  <a16:creationId xmlns:a16="http://schemas.microsoft.com/office/drawing/2014/main" id="{2B7BCE68-7333-4E97-A65D-656D73BCED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7" y="3221"/>
              <a:ext cx="82" cy="41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529" name="Group 63">
              <a:extLst>
                <a:ext uri="{FF2B5EF4-FFF2-40B4-BE49-F238E27FC236}">
                  <a16:creationId xmlns:a16="http://schemas.microsoft.com/office/drawing/2014/main" id="{B23F8F15-17DD-4A7A-8C2D-DAB3722AF7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2" y="3511"/>
              <a:ext cx="75" cy="123"/>
              <a:chOff x="392" y="688"/>
              <a:chExt cx="75" cy="125"/>
            </a:xfrm>
          </p:grpSpPr>
          <p:sp>
            <p:nvSpPr>
              <p:cNvPr id="19540" name="Line 64">
                <a:extLst>
                  <a:ext uri="{FF2B5EF4-FFF2-40B4-BE49-F238E27FC236}">
                    <a16:creationId xmlns:a16="http://schemas.microsoft.com/office/drawing/2014/main" id="{2AC5DD81-8500-4F8D-9845-FDBBFDC9C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" y="689"/>
                <a:ext cx="58" cy="1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1" name="Line 65">
                <a:extLst>
                  <a:ext uri="{FF2B5EF4-FFF2-40B4-BE49-F238E27FC236}">
                    <a16:creationId xmlns:a16="http://schemas.microsoft.com/office/drawing/2014/main" id="{741DA65D-D54E-46D3-8BC4-8C1105669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92" y="688"/>
                <a:ext cx="20" cy="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30" name="Line 66">
              <a:extLst>
                <a:ext uri="{FF2B5EF4-FFF2-40B4-BE49-F238E27FC236}">
                  <a16:creationId xmlns:a16="http://schemas.microsoft.com/office/drawing/2014/main" id="{8A6928E6-E357-4578-9C52-5A966C29C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5" y="3221"/>
              <a:ext cx="108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1" name="Line 67">
              <a:extLst>
                <a:ext uri="{FF2B5EF4-FFF2-40B4-BE49-F238E27FC236}">
                  <a16:creationId xmlns:a16="http://schemas.microsoft.com/office/drawing/2014/main" id="{1C35F01B-0ADB-4D5E-BB0B-7480E6E86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4" y="3462"/>
              <a:ext cx="33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2" name="Text Box 68">
              <a:extLst>
                <a:ext uri="{FF2B5EF4-FFF2-40B4-BE49-F238E27FC236}">
                  <a16:creationId xmlns:a16="http://schemas.microsoft.com/office/drawing/2014/main" id="{F83A5A1D-085F-4336-BF51-FEC6BCE52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3" y="3400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2</a:t>
              </a:r>
              <a:r>
                <a:rPr kumimoji="0" lang="en-US" altLang="zh-CN" i="1">
                  <a:solidFill>
                    <a:srgbClr val="FF3300"/>
                  </a:solidFill>
                </a:rPr>
                <a:t>L</a:t>
              </a:r>
            </a:p>
          </p:txBody>
        </p:sp>
        <p:sp>
          <p:nvSpPr>
            <p:cNvPr id="19533" name="Text Box 69">
              <a:extLst>
                <a:ext uri="{FF2B5EF4-FFF2-40B4-BE49-F238E27FC236}">
                  <a16:creationId xmlns:a16="http://schemas.microsoft.com/office/drawing/2014/main" id="{9DFD3D93-8185-4FE0-85F3-4FDB5436A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3162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 </a:t>
              </a:r>
              <a:r>
                <a:rPr kumimoji="0" lang="en-US" altLang="zh-CN" i="1">
                  <a:solidFill>
                    <a:srgbClr val="FF3300"/>
                  </a:solidFill>
                </a:rPr>
                <a:t>R</a:t>
              </a:r>
              <a:endParaRPr kumimoji="0" lang="en-US" altLang="zh-CN" sz="2000" i="1" baseline="-25000">
                <a:solidFill>
                  <a:srgbClr val="FF3300"/>
                </a:solidFill>
              </a:endParaRPr>
            </a:p>
          </p:txBody>
        </p:sp>
        <p:sp>
          <p:nvSpPr>
            <p:cNvPr id="19534" name="Rectangle 70">
              <a:extLst>
                <a:ext uri="{FF2B5EF4-FFF2-40B4-BE49-F238E27FC236}">
                  <a16:creationId xmlns:a16="http://schemas.microsoft.com/office/drawing/2014/main" id="{5EE6F68E-62FA-44B9-8C8E-40BDCE7D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3314"/>
              <a:ext cx="13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(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535" name="Text Box 71">
              <a:extLst>
                <a:ext uri="{FF2B5EF4-FFF2-40B4-BE49-F238E27FC236}">
                  <a16:creationId xmlns:a16="http://schemas.microsoft.com/office/drawing/2014/main" id="{625953E1-3811-42CC-AD0C-EF26DCAE5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5" y="3292"/>
              <a:ext cx="3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)</a:t>
              </a:r>
              <a:r>
                <a:rPr kumimoji="0" lang="en-US" altLang="zh-CN" baseline="30000">
                  <a:solidFill>
                    <a:srgbClr val="FF3300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9536" name="Line 72">
              <a:extLst>
                <a:ext uri="{FF2B5EF4-FFF2-40B4-BE49-F238E27FC236}">
                  <a16:creationId xmlns:a16="http://schemas.microsoft.com/office/drawing/2014/main" id="{09ADA5D7-9D43-44D3-8AF3-98894FCF4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471"/>
              <a:ext cx="33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37" name="Text Box 73">
              <a:extLst>
                <a:ext uri="{FF2B5EF4-FFF2-40B4-BE49-F238E27FC236}">
                  <a16:creationId xmlns:a16="http://schemas.microsoft.com/office/drawing/2014/main" id="{C0861F74-54D1-48B6-A0FB-C2DCB4F28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3" y="3409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i="1">
                  <a:solidFill>
                    <a:srgbClr val="FF3300"/>
                  </a:solidFill>
                </a:rPr>
                <a:t>LC</a:t>
              </a:r>
            </a:p>
          </p:txBody>
        </p:sp>
        <p:sp>
          <p:nvSpPr>
            <p:cNvPr id="19538" name="Text Box 74">
              <a:extLst>
                <a:ext uri="{FF2B5EF4-FFF2-40B4-BE49-F238E27FC236}">
                  <a16:creationId xmlns:a16="http://schemas.microsoft.com/office/drawing/2014/main" id="{8BBAA7F5-0286-465C-B07B-88AA67350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" y="3181"/>
              <a:ext cx="3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 1</a:t>
              </a:r>
              <a:endParaRPr kumimoji="0" lang="en-US" altLang="zh-CN" sz="2000" baseline="-25000">
                <a:solidFill>
                  <a:srgbClr val="FF3300"/>
                </a:solidFill>
              </a:endParaRPr>
            </a:p>
          </p:txBody>
        </p:sp>
        <p:sp>
          <p:nvSpPr>
            <p:cNvPr id="19539" name="Rectangle 75">
              <a:extLst>
                <a:ext uri="{FF2B5EF4-FFF2-40B4-BE49-F238E27FC236}">
                  <a16:creationId xmlns:a16="http://schemas.microsoft.com/office/drawing/2014/main" id="{A1D86910-6AF3-44A6-9BEE-6621379F1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5" y="332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11">
            <a:extLst>
              <a:ext uri="{FF2B5EF4-FFF2-40B4-BE49-F238E27FC236}">
                <a16:creationId xmlns:a16="http://schemas.microsoft.com/office/drawing/2014/main" id="{DC3DFD17-9B7E-4F87-8B79-A3C61E83479C}"/>
              </a:ext>
            </a:extLst>
          </p:cNvPr>
          <p:cNvGrpSpPr>
            <a:grpSpLocks/>
          </p:cNvGrpSpPr>
          <p:nvPr/>
        </p:nvGrpSpPr>
        <p:grpSpPr bwMode="auto">
          <a:xfrm>
            <a:off x="2092325" y="4960938"/>
            <a:ext cx="4068763" cy="1050925"/>
            <a:chOff x="318" y="3103"/>
            <a:chExt cx="2563" cy="662"/>
          </a:xfrm>
        </p:grpSpPr>
        <p:sp>
          <p:nvSpPr>
            <p:cNvPr id="19512" name="Line 46">
              <a:extLst>
                <a:ext uri="{FF2B5EF4-FFF2-40B4-BE49-F238E27FC236}">
                  <a16:creationId xmlns:a16="http://schemas.microsoft.com/office/drawing/2014/main" id="{779E8AE3-BDA6-4121-942E-F923CA7B7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" y="3461"/>
              <a:ext cx="1980" cy="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3" name="Rectangle 47">
              <a:extLst>
                <a:ext uri="{FF2B5EF4-FFF2-40B4-BE49-F238E27FC236}">
                  <a16:creationId xmlns:a16="http://schemas.microsoft.com/office/drawing/2014/main" id="{B957AA88-613F-42A1-B058-4BF058493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" y="3316"/>
              <a:ext cx="48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i="1">
                  <a:solidFill>
                    <a:srgbClr val="FF3300"/>
                  </a:solidFill>
                  <a:cs typeface="Times New Roman" panose="02020603050405020304" pitchFamily="18" charset="0"/>
                </a:rPr>
                <a:t>s</a:t>
              </a:r>
              <a:r>
                <a:rPr kumimoji="0" lang="en-US" altLang="zh-CN" baseline="-25000">
                  <a:solidFill>
                    <a:srgbClr val="FF3300"/>
                  </a:solidFill>
                  <a:cs typeface="Times New Roman" panose="02020603050405020304" pitchFamily="18" charset="0"/>
                </a:rPr>
                <a:t>1, 2 </a:t>
              </a: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=</a:t>
              </a:r>
              <a:endParaRPr kumimoji="0" lang="en-US" altLang="zh-CN" u="sng">
                <a:solidFill>
                  <a:srgbClr val="FF3300"/>
                </a:solidFill>
              </a:endParaRPr>
            </a:p>
          </p:txBody>
        </p:sp>
        <p:sp>
          <p:nvSpPr>
            <p:cNvPr id="19514" name="Text Box 48">
              <a:extLst>
                <a:ext uri="{FF2B5EF4-FFF2-40B4-BE49-F238E27FC236}">
                  <a16:creationId xmlns:a16="http://schemas.microsoft.com/office/drawing/2014/main" id="{DC184B93-7D73-494E-B839-DF39914B4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" y="3115"/>
              <a:ext cx="7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i="1">
                  <a:solidFill>
                    <a:srgbClr val="FF3300"/>
                  </a:solidFill>
                </a:rPr>
                <a:t>RC</a:t>
              </a:r>
              <a:r>
                <a:rPr kumimoji="0" lang="en-GB" altLang="zh-CN" sz="2000" i="1" baseline="-25000">
                  <a:solidFill>
                    <a:srgbClr val="FF3300"/>
                  </a:solidFill>
                </a:rPr>
                <a:t> </a:t>
              </a: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±</a:t>
              </a:r>
            </a:p>
          </p:txBody>
        </p:sp>
        <p:sp>
          <p:nvSpPr>
            <p:cNvPr id="19515" name="Rectangle 49">
              <a:extLst>
                <a:ext uri="{FF2B5EF4-FFF2-40B4-BE49-F238E27FC236}">
                  <a16:creationId xmlns:a16="http://schemas.microsoft.com/office/drawing/2014/main" id="{243FF53A-C310-4C62-9D5A-68BCAA261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3104"/>
              <a:ext cx="12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3300"/>
                  </a:solidFill>
                </a:rPr>
                <a:t>(</a:t>
              </a:r>
              <a:r>
                <a:rPr lang="en-US" altLang="zh-CN" i="1">
                  <a:solidFill>
                    <a:srgbClr val="FF3300"/>
                  </a:solidFill>
                </a:rPr>
                <a:t>RC</a:t>
              </a:r>
              <a:r>
                <a:rPr lang="en-US" altLang="zh-CN">
                  <a:solidFill>
                    <a:srgbClr val="FF3300"/>
                  </a:solidFill>
                </a:rPr>
                <a:t>)</a:t>
              </a:r>
              <a:r>
                <a:rPr lang="en-US" altLang="zh-CN" baseline="30000">
                  <a:solidFill>
                    <a:srgbClr val="FF3300"/>
                  </a:solidFill>
                </a:rPr>
                <a:t>2</a:t>
              </a:r>
              <a:r>
                <a:rPr lang="en-US" altLang="zh-CN" sz="1200">
                  <a:solidFill>
                    <a:srgbClr val="FF3300"/>
                  </a:solidFill>
                </a:rPr>
                <a:t> </a:t>
              </a:r>
              <a:r>
                <a:rPr lang="en-US" altLang="zh-CN">
                  <a:solidFill>
                    <a:srgbClr val="FF3300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1200">
                  <a:solidFill>
                    <a:srgbClr val="FF3300"/>
                  </a:solidFill>
                </a:rPr>
                <a:t> </a:t>
              </a:r>
              <a:r>
                <a:rPr lang="en-US" altLang="zh-CN">
                  <a:solidFill>
                    <a:srgbClr val="FF3300"/>
                  </a:solidFill>
                </a:rPr>
                <a:t>4</a:t>
              </a:r>
              <a:r>
                <a:rPr lang="en-US" altLang="zh-CN" i="1">
                  <a:solidFill>
                    <a:srgbClr val="FF3300"/>
                  </a:solidFill>
                </a:rPr>
                <a:t>LC</a:t>
              </a:r>
              <a:endParaRPr lang="en-US" altLang="zh-CN">
                <a:solidFill>
                  <a:srgbClr val="FF3300"/>
                </a:solidFill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9516" name="Line 50">
              <a:extLst>
                <a:ext uri="{FF2B5EF4-FFF2-40B4-BE49-F238E27FC236}">
                  <a16:creationId xmlns:a16="http://schemas.microsoft.com/office/drawing/2014/main" id="{62322C1E-A7B6-4C82-8C5D-C04D339D12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1" y="3108"/>
              <a:ext cx="48" cy="3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517" name="Group 51">
              <a:extLst>
                <a:ext uri="{FF2B5EF4-FFF2-40B4-BE49-F238E27FC236}">
                  <a16:creationId xmlns:a16="http://schemas.microsoft.com/office/drawing/2014/main" id="{D7C05746-337B-4872-A14A-DE8C81A43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6" y="3303"/>
              <a:ext cx="75" cy="123"/>
              <a:chOff x="392" y="688"/>
              <a:chExt cx="75" cy="125"/>
            </a:xfrm>
          </p:grpSpPr>
          <p:sp>
            <p:nvSpPr>
              <p:cNvPr id="19521" name="Line 52">
                <a:extLst>
                  <a:ext uri="{FF2B5EF4-FFF2-40B4-BE49-F238E27FC236}">
                    <a16:creationId xmlns:a16="http://schemas.microsoft.com/office/drawing/2014/main" id="{9E57F512-1996-4735-8827-EFAF92D34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" y="689"/>
                <a:ext cx="58" cy="1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2" name="Line 53">
                <a:extLst>
                  <a:ext uri="{FF2B5EF4-FFF2-40B4-BE49-F238E27FC236}">
                    <a16:creationId xmlns:a16="http://schemas.microsoft.com/office/drawing/2014/main" id="{AC819DE4-BE88-41C7-A6F6-8B6A43DF2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92" y="688"/>
                <a:ext cx="20" cy="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18" name="Line 54">
              <a:extLst>
                <a:ext uri="{FF2B5EF4-FFF2-40B4-BE49-F238E27FC236}">
                  <a16:creationId xmlns:a16="http://schemas.microsoft.com/office/drawing/2014/main" id="{97C72F4E-4ED5-4883-B188-9720483D5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9" y="3103"/>
              <a:ext cx="112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9" name="Text Box 55">
              <a:extLst>
                <a:ext uri="{FF2B5EF4-FFF2-40B4-BE49-F238E27FC236}">
                  <a16:creationId xmlns:a16="http://schemas.microsoft.com/office/drawing/2014/main" id="{7675E0FA-4D0C-4A32-AA81-2C7774A68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3438"/>
              <a:ext cx="5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FF3300"/>
                  </a:solidFill>
                </a:rPr>
                <a:t>2</a:t>
              </a:r>
              <a:r>
                <a:rPr kumimoji="0" lang="en-GB" altLang="zh-CN" i="1">
                  <a:solidFill>
                    <a:srgbClr val="FF3300"/>
                  </a:solidFill>
                </a:rPr>
                <a:t>LC</a:t>
              </a:r>
              <a:endParaRPr kumimoji="0" lang="en-US" altLang="zh-CN" baseline="300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9520" name="Rectangle 76">
              <a:extLst>
                <a:ext uri="{FF2B5EF4-FFF2-40B4-BE49-F238E27FC236}">
                  <a16:creationId xmlns:a16="http://schemas.microsoft.com/office/drawing/2014/main" id="{77ACD2A4-6CFA-4A61-AB73-A39B7052B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50"/>
              <a:ext cx="19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9466" name="Group 215">
            <a:extLst>
              <a:ext uri="{FF2B5EF4-FFF2-40B4-BE49-F238E27FC236}">
                <a16:creationId xmlns:a16="http://schemas.microsoft.com/office/drawing/2014/main" id="{58212850-50A1-4B15-9AB2-FD59EEFEAB0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481138"/>
            <a:ext cx="4341813" cy="982662"/>
            <a:chOff x="264" y="821"/>
            <a:chExt cx="2735" cy="619"/>
          </a:xfrm>
        </p:grpSpPr>
        <p:sp>
          <p:nvSpPr>
            <p:cNvPr id="19503" name="Text Box 167">
              <a:extLst>
                <a:ext uri="{FF2B5EF4-FFF2-40B4-BE49-F238E27FC236}">
                  <a16:creationId xmlns:a16="http://schemas.microsoft.com/office/drawing/2014/main" id="{B762114F-4F76-4FEF-94A9-58DF6A43F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984"/>
              <a:ext cx="8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9933FF"/>
                  </a:solidFill>
                </a:rPr>
                <a:t>+</a:t>
              </a:r>
              <a:r>
                <a:rPr kumimoji="0" lang="en-GB" altLang="zh-CN" sz="1200">
                  <a:solidFill>
                    <a:srgbClr val="9933FF"/>
                  </a:solidFill>
                </a:rPr>
                <a:t> </a:t>
              </a:r>
              <a:r>
                <a:rPr kumimoji="0" lang="en-GB" altLang="zh-CN" i="1">
                  <a:solidFill>
                    <a:srgbClr val="9933FF"/>
                  </a:solidFill>
                </a:rPr>
                <a:t>RC</a:t>
              </a:r>
              <a:endParaRPr kumimoji="0" lang="en-US" altLang="zh-CN" i="1">
                <a:solidFill>
                  <a:srgbClr val="9933FF"/>
                </a:solidFill>
              </a:endParaRPr>
            </a:p>
          </p:txBody>
        </p:sp>
        <p:sp>
          <p:nvSpPr>
            <p:cNvPr id="19504" name="Line 168">
              <a:extLst>
                <a:ext uri="{FF2B5EF4-FFF2-40B4-BE49-F238E27FC236}">
                  <a16:creationId xmlns:a16="http://schemas.microsoft.com/office/drawing/2014/main" id="{8F8EEFFF-B259-41A5-970C-A80BB1BE4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" y="1159"/>
              <a:ext cx="500" cy="0"/>
            </a:xfrm>
            <a:prstGeom prst="line">
              <a:avLst/>
            </a:prstGeom>
            <a:noFill/>
            <a:ln w="25400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05" name="Text Box 169">
              <a:extLst>
                <a:ext uri="{FF2B5EF4-FFF2-40B4-BE49-F238E27FC236}">
                  <a16:creationId xmlns:a16="http://schemas.microsoft.com/office/drawing/2014/main" id="{EB590894-DF93-4CA5-B7FB-6D918876E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" y="821"/>
              <a:ext cx="5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9933FF"/>
                  </a:solidFill>
                </a:rPr>
                <a:t>d</a:t>
              </a:r>
              <a:r>
                <a:rPr kumimoji="0" lang="en-GB" altLang="zh-CN" baseline="30000">
                  <a:solidFill>
                    <a:srgbClr val="9933FF"/>
                  </a:solidFill>
                </a:rPr>
                <a:t>2</a:t>
              </a:r>
              <a:r>
                <a:rPr kumimoji="0" lang="en-GB" altLang="zh-CN" i="1">
                  <a:solidFill>
                    <a:srgbClr val="9933FF"/>
                  </a:solidFill>
                </a:rPr>
                <a:t>u</a:t>
              </a:r>
              <a:r>
                <a:rPr kumimoji="0" lang="en-GB" altLang="zh-CN" sz="2400" baseline="-25000">
                  <a:solidFill>
                    <a:srgbClr val="9933FF"/>
                  </a:solidFill>
                </a:rPr>
                <a:t>C</a:t>
              </a:r>
              <a:endParaRPr kumimoji="0" lang="en-US" altLang="zh-CN" sz="2400" baseline="-25000">
                <a:solidFill>
                  <a:srgbClr val="9933FF"/>
                </a:solidFill>
              </a:endParaRPr>
            </a:p>
          </p:txBody>
        </p:sp>
        <p:sp>
          <p:nvSpPr>
            <p:cNvPr id="19506" name="Text Box 170">
              <a:extLst>
                <a:ext uri="{FF2B5EF4-FFF2-40B4-BE49-F238E27FC236}">
                  <a16:creationId xmlns:a16="http://schemas.microsoft.com/office/drawing/2014/main" id="{B1C9DE17-10A4-4159-9B67-F2F4FD2C4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" y="1113"/>
              <a:ext cx="49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9933FF"/>
                  </a:solidFill>
                </a:rPr>
                <a:t>d</a:t>
              </a:r>
              <a:r>
                <a:rPr kumimoji="0" lang="en-GB" altLang="zh-CN" i="1">
                  <a:solidFill>
                    <a:srgbClr val="9933FF"/>
                  </a:solidFill>
                </a:rPr>
                <a:t>t</a:t>
              </a:r>
              <a:r>
                <a:rPr kumimoji="0" lang="en-GB" altLang="zh-CN" sz="2400" i="1" baseline="-25000">
                  <a:solidFill>
                    <a:srgbClr val="9933FF"/>
                  </a:solidFill>
                </a:rPr>
                <a:t> </a:t>
              </a:r>
              <a:r>
                <a:rPr kumimoji="0" lang="en-GB" altLang="zh-CN" baseline="30000">
                  <a:solidFill>
                    <a:srgbClr val="9933FF"/>
                  </a:solidFill>
                </a:rPr>
                <a:t>2</a:t>
              </a:r>
              <a:endParaRPr kumimoji="0" lang="en-US" altLang="zh-CN" baseline="30000">
                <a:solidFill>
                  <a:srgbClr val="9933FF"/>
                </a:solidFill>
              </a:endParaRPr>
            </a:p>
          </p:txBody>
        </p:sp>
        <p:sp>
          <p:nvSpPr>
            <p:cNvPr id="19507" name="Text Box 171">
              <a:extLst>
                <a:ext uri="{FF2B5EF4-FFF2-40B4-BE49-F238E27FC236}">
                  <a16:creationId xmlns:a16="http://schemas.microsoft.com/office/drawing/2014/main" id="{1E9DCD67-0460-4FB4-B9D0-96CDE53F0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" y="984"/>
              <a:ext cx="8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zh-CN" altLang="en-GB" b="0">
                  <a:solidFill>
                    <a:srgbClr val="9933FF"/>
                  </a:solidFill>
                </a:rPr>
                <a:t>  </a:t>
              </a:r>
              <a:r>
                <a:rPr kumimoji="0" lang="en-GB" altLang="zh-CN" i="1">
                  <a:solidFill>
                    <a:srgbClr val="9933FF"/>
                  </a:solidFill>
                </a:rPr>
                <a:t>LC</a:t>
              </a:r>
              <a:endParaRPr kumimoji="0" lang="en-US" altLang="zh-CN" i="1">
                <a:solidFill>
                  <a:srgbClr val="9933FF"/>
                </a:solidFill>
              </a:endParaRPr>
            </a:p>
          </p:txBody>
        </p:sp>
        <p:sp>
          <p:nvSpPr>
            <p:cNvPr id="19508" name="Line 172">
              <a:extLst>
                <a:ext uri="{FF2B5EF4-FFF2-40B4-BE49-F238E27FC236}">
                  <a16:creationId xmlns:a16="http://schemas.microsoft.com/office/drawing/2014/main" id="{6DB949F5-E96F-4B54-990C-DCB809826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1159"/>
              <a:ext cx="408" cy="0"/>
            </a:xfrm>
            <a:prstGeom prst="line">
              <a:avLst/>
            </a:prstGeom>
            <a:noFill/>
            <a:ln w="25400">
              <a:solidFill>
                <a:srgbClr val="99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509" name="Text Box 173">
              <a:extLst>
                <a:ext uri="{FF2B5EF4-FFF2-40B4-BE49-F238E27FC236}">
                  <a16:creationId xmlns:a16="http://schemas.microsoft.com/office/drawing/2014/main" id="{C783E0A5-808D-4057-8547-745CDE3FC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" y="821"/>
              <a:ext cx="59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9933FF"/>
                  </a:solidFill>
                </a:rPr>
                <a:t>d</a:t>
              </a:r>
              <a:r>
                <a:rPr kumimoji="0" lang="en-GB" altLang="zh-CN" i="1">
                  <a:solidFill>
                    <a:srgbClr val="9933FF"/>
                  </a:solidFill>
                </a:rPr>
                <a:t>u</a:t>
              </a:r>
              <a:r>
                <a:rPr kumimoji="0" lang="en-GB" altLang="zh-CN" baseline="-25000">
                  <a:solidFill>
                    <a:srgbClr val="9933FF"/>
                  </a:solidFill>
                </a:rPr>
                <a:t>C</a:t>
              </a:r>
              <a:endParaRPr kumimoji="0" lang="en-US" altLang="zh-CN" baseline="-25000">
                <a:solidFill>
                  <a:srgbClr val="9933FF"/>
                </a:solidFill>
              </a:endParaRPr>
            </a:p>
          </p:txBody>
        </p:sp>
        <p:sp>
          <p:nvSpPr>
            <p:cNvPr id="19510" name="Text Box 174">
              <a:extLst>
                <a:ext uri="{FF2B5EF4-FFF2-40B4-BE49-F238E27FC236}">
                  <a16:creationId xmlns:a16="http://schemas.microsoft.com/office/drawing/2014/main" id="{336C3A7B-02AA-4B56-A640-A21D2ACE3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0" y="1106"/>
              <a:ext cx="3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9933FF"/>
                  </a:solidFill>
                </a:rPr>
                <a:t>d</a:t>
              </a:r>
              <a:r>
                <a:rPr kumimoji="0" lang="en-GB" altLang="zh-CN" i="1">
                  <a:solidFill>
                    <a:srgbClr val="9933FF"/>
                  </a:solidFill>
                </a:rPr>
                <a:t>t</a:t>
              </a:r>
              <a:endParaRPr kumimoji="0" lang="en-US" altLang="zh-CN" i="1">
                <a:solidFill>
                  <a:srgbClr val="9933FF"/>
                </a:solidFill>
              </a:endParaRPr>
            </a:p>
          </p:txBody>
        </p:sp>
        <p:sp>
          <p:nvSpPr>
            <p:cNvPr id="19511" name="Text Box 175">
              <a:extLst>
                <a:ext uri="{FF2B5EF4-FFF2-40B4-BE49-F238E27FC236}">
                  <a16:creationId xmlns:a16="http://schemas.microsoft.com/office/drawing/2014/main" id="{33DBE2B0-86F7-47DA-ABDB-5D7E52991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" y="984"/>
              <a:ext cx="8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9933FF"/>
                  </a:solidFill>
                </a:rPr>
                <a:t>+</a:t>
              </a:r>
              <a:r>
                <a:rPr kumimoji="0" lang="en-GB" altLang="zh-CN" sz="1200">
                  <a:solidFill>
                    <a:srgbClr val="9933FF"/>
                  </a:solidFill>
                </a:rPr>
                <a:t> </a:t>
              </a:r>
              <a:r>
                <a:rPr kumimoji="0" lang="en-GB" altLang="zh-CN" i="1">
                  <a:solidFill>
                    <a:srgbClr val="9933FF"/>
                  </a:solidFill>
                </a:rPr>
                <a:t>u</a:t>
              </a:r>
              <a:r>
                <a:rPr kumimoji="0" lang="en-GB" altLang="zh-CN" baseline="-25000">
                  <a:solidFill>
                    <a:srgbClr val="9933FF"/>
                  </a:solidFill>
                </a:rPr>
                <a:t>C</a:t>
              </a:r>
              <a:r>
                <a:rPr kumimoji="0" lang="en-GB" altLang="zh-CN" sz="1200">
                  <a:solidFill>
                    <a:srgbClr val="9933FF"/>
                  </a:solidFill>
                </a:rPr>
                <a:t> </a:t>
              </a:r>
              <a:r>
                <a:rPr kumimoji="0" lang="en-GB" altLang="zh-CN">
                  <a:solidFill>
                    <a:srgbClr val="9933FF"/>
                  </a:solidFill>
                </a:rPr>
                <a:t>=</a:t>
              </a:r>
              <a:r>
                <a:rPr kumimoji="0" lang="en-GB" altLang="zh-CN" sz="1200">
                  <a:solidFill>
                    <a:srgbClr val="9933FF"/>
                  </a:solidFill>
                </a:rPr>
                <a:t> </a:t>
              </a:r>
              <a:r>
                <a:rPr kumimoji="0" lang="en-GB" altLang="zh-CN">
                  <a:solidFill>
                    <a:srgbClr val="9933FF"/>
                  </a:solidFill>
                </a:rPr>
                <a:t>0</a:t>
              </a:r>
              <a:endParaRPr kumimoji="0" lang="en-US" altLang="zh-CN" sz="2000" baseline="-25000">
                <a:solidFill>
                  <a:srgbClr val="9933FF"/>
                </a:solidFill>
              </a:endParaRPr>
            </a:p>
          </p:txBody>
        </p:sp>
      </p:grpSp>
      <p:sp>
        <p:nvSpPr>
          <p:cNvPr id="671920" name="Text Box 176">
            <a:extLst>
              <a:ext uri="{FF2B5EF4-FFF2-40B4-BE49-F238E27FC236}">
                <a16:creationId xmlns:a16="http://schemas.microsoft.com/office/drawing/2014/main" id="{469A84B2-D7EA-4758-B131-8B02CDA2A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0" y="3702050"/>
            <a:ext cx="5087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0000FF"/>
                </a:solidFill>
                <a:ea typeface="华文中宋" panose="02010600040101010101" pitchFamily="2" charset="-122"/>
              </a:rPr>
              <a:t>特征方程</a:t>
            </a:r>
            <a:r>
              <a:rPr kumimoji="0" lang="zh-CN" altLang="en-US">
                <a:solidFill>
                  <a:schemeClr val="accent2"/>
                </a:solidFill>
              </a:rPr>
              <a:t>    </a:t>
            </a:r>
            <a:r>
              <a:rPr kumimoji="0" lang="en-US" altLang="zh-CN" i="1">
                <a:solidFill>
                  <a:srgbClr val="9933FF"/>
                </a:solidFill>
              </a:rPr>
              <a:t>LCs</a:t>
            </a:r>
            <a:r>
              <a:rPr kumimoji="0" lang="en-US" altLang="zh-CN" baseline="30000">
                <a:solidFill>
                  <a:srgbClr val="9933FF"/>
                </a:solidFill>
              </a:rPr>
              <a:t>2</a:t>
            </a:r>
            <a:r>
              <a:rPr kumimoji="0" lang="en-US" altLang="zh-CN" baseline="-25000">
                <a:solidFill>
                  <a:srgbClr val="9933FF"/>
                </a:solidFill>
              </a:rPr>
              <a:t> </a:t>
            </a:r>
            <a:r>
              <a:rPr kumimoji="0" lang="en-US" altLang="zh-CN">
                <a:solidFill>
                  <a:srgbClr val="9933FF"/>
                </a:solidFill>
              </a:rPr>
              <a:t>+</a:t>
            </a:r>
            <a:r>
              <a:rPr kumimoji="0" lang="en-US" altLang="zh-CN" baseline="-25000">
                <a:solidFill>
                  <a:srgbClr val="9933FF"/>
                </a:solidFill>
              </a:rPr>
              <a:t> </a:t>
            </a:r>
            <a:r>
              <a:rPr kumimoji="0" lang="en-US" altLang="zh-CN" i="1">
                <a:solidFill>
                  <a:srgbClr val="9933FF"/>
                </a:solidFill>
              </a:rPr>
              <a:t>RCs</a:t>
            </a:r>
            <a:r>
              <a:rPr kumimoji="0" lang="en-US" altLang="zh-CN" baseline="-25000">
                <a:solidFill>
                  <a:srgbClr val="9933FF"/>
                </a:solidFill>
              </a:rPr>
              <a:t> </a:t>
            </a:r>
            <a:r>
              <a:rPr kumimoji="0" lang="en-US" altLang="zh-CN">
                <a:solidFill>
                  <a:srgbClr val="9933FF"/>
                </a:solidFill>
              </a:rPr>
              <a:t>+ 1</a:t>
            </a:r>
            <a:r>
              <a:rPr kumimoji="0" lang="en-US" altLang="zh-CN" baseline="-25000">
                <a:solidFill>
                  <a:srgbClr val="9933FF"/>
                </a:solidFill>
              </a:rPr>
              <a:t> </a:t>
            </a:r>
            <a:r>
              <a:rPr kumimoji="0" lang="en-US" altLang="zh-CN">
                <a:solidFill>
                  <a:srgbClr val="9933FF"/>
                </a:solidFill>
              </a:rPr>
              <a:t>=</a:t>
            </a:r>
            <a:r>
              <a:rPr kumimoji="0" lang="en-US" altLang="zh-CN" baseline="-25000">
                <a:solidFill>
                  <a:srgbClr val="9933FF"/>
                </a:solidFill>
              </a:rPr>
              <a:t> </a:t>
            </a:r>
            <a:r>
              <a:rPr kumimoji="0" lang="en-US" altLang="zh-CN">
                <a:solidFill>
                  <a:srgbClr val="9933FF"/>
                </a:solidFill>
              </a:rPr>
              <a:t>0</a:t>
            </a:r>
          </a:p>
        </p:txBody>
      </p:sp>
      <p:sp>
        <p:nvSpPr>
          <p:cNvPr id="19468" name="Rectangle 180">
            <a:extLst>
              <a:ext uri="{FF2B5EF4-FFF2-40B4-BE49-F238E27FC236}">
                <a16:creationId xmlns:a16="http://schemas.microsoft.com/office/drawing/2014/main" id="{0C139153-8A49-43C5-ABBB-9732964C6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47650"/>
            <a:ext cx="5146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rgbClr val="FF00FF"/>
                </a:solidFill>
                <a:ea typeface="华文中宋" panose="02010600040101010101" pitchFamily="2" charset="-122"/>
              </a:rPr>
              <a:t>求解</a:t>
            </a:r>
            <a:r>
              <a:rPr kumimoji="0" lang="zh-CN" altLang="en-US" dirty="0">
                <a:solidFill>
                  <a:srgbClr val="9933FF"/>
                </a:solidFill>
                <a:ea typeface="华文中宋" panose="02010600040101010101" pitchFamily="2" charset="-122"/>
              </a:rPr>
              <a:t> </a:t>
            </a:r>
            <a:r>
              <a:rPr kumimoji="0" lang="en-US" altLang="zh-CN" i="1" dirty="0">
                <a:solidFill>
                  <a:srgbClr val="FF00FF"/>
                </a:solidFill>
                <a:ea typeface="华文中宋" panose="02010600040101010101" pitchFamily="2" charset="-122"/>
              </a:rPr>
              <a:t>RLC</a:t>
            </a:r>
            <a:r>
              <a:rPr kumimoji="0" lang="zh-CN" altLang="en-US" dirty="0">
                <a:solidFill>
                  <a:srgbClr val="FF00FF"/>
                </a:solidFill>
                <a:ea typeface="华文中宋" panose="02010600040101010101" pitchFamily="2" charset="-122"/>
              </a:rPr>
              <a:t>电路的二阶微分方程</a:t>
            </a:r>
          </a:p>
        </p:txBody>
      </p:sp>
      <p:grpSp>
        <p:nvGrpSpPr>
          <p:cNvPr id="19469" name="组合 146">
            <a:extLst>
              <a:ext uri="{FF2B5EF4-FFF2-40B4-BE49-F238E27FC236}">
                <a16:creationId xmlns:a16="http://schemas.microsoft.com/office/drawing/2014/main" id="{C3FED99B-B11F-46F5-898B-4C92E25113D7}"/>
              </a:ext>
            </a:extLst>
          </p:cNvPr>
          <p:cNvGrpSpPr>
            <a:grpSpLocks/>
          </p:cNvGrpSpPr>
          <p:nvPr/>
        </p:nvGrpSpPr>
        <p:grpSpPr bwMode="auto">
          <a:xfrm>
            <a:off x="7256463" y="1709738"/>
            <a:ext cx="3805237" cy="1958975"/>
            <a:chOff x="5222880" y="2003426"/>
            <a:chExt cx="3805242" cy="1958976"/>
          </a:xfrm>
        </p:grpSpPr>
        <p:grpSp>
          <p:nvGrpSpPr>
            <p:cNvPr id="19470" name="Group 90">
              <a:extLst>
                <a:ext uri="{FF2B5EF4-FFF2-40B4-BE49-F238E27FC236}">
                  <a16:creationId xmlns:a16="http://schemas.microsoft.com/office/drawing/2014/main" id="{2248327E-06C0-48D7-885B-F9F9D1CD0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2880" y="2003426"/>
              <a:ext cx="3805242" cy="1958976"/>
              <a:chOff x="3290" y="965"/>
              <a:chExt cx="2397" cy="1234"/>
            </a:xfrm>
          </p:grpSpPr>
          <p:sp>
            <p:nvSpPr>
              <p:cNvPr id="19477" name="Oval 24">
                <a:extLst>
                  <a:ext uri="{FF2B5EF4-FFF2-40B4-BE49-F238E27FC236}">
                    <a16:creationId xmlns:a16="http://schemas.microsoft.com/office/drawing/2014/main" id="{4EAAB991-7732-4335-81B3-E2B1C9DEDB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0" y="1636"/>
                <a:ext cx="283" cy="268"/>
              </a:xfrm>
              <a:prstGeom prst="ellipse">
                <a:avLst/>
              </a:prstGeom>
              <a:solidFill>
                <a:srgbClr val="FFFF99"/>
              </a:solidFill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478" name="Text Box 7">
                <a:extLst>
                  <a:ext uri="{FF2B5EF4-FFF2-40B4-BE49-F238E27FC236}">
                    <a16:creationId xmlns:a16="http://schemas.microsoft.com/office/drawing/2014/main" id="{71A54C63-B76A-4AA6-804A-899CE7D625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604" y="965"/>
                <a:ext cx="2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400" i="1"/>
                  <a:t>L</a:t>
                </a:r>
                <a:endParaRPr kumimoji="0" lang="en-US" altLang="zh-CN" sz="24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79" name="Text Box 8">
                <a:extLst>
                  <a:ext uri="{FF2B5EF4-FFF2-40B4-BE49-F238E27FC236}">
                    <a16:creationId xmlns:a16="http://schemas.microsoft.com/office/drawing/2014/main" id="{E2A0EFDE-38A5-4209-95BA-4797D82DD0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9" y="1906"/>
                <a:ext cx="217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sz="2400" i="1"/>
                  <a:t>i</a:t>
                </a:r>
                <a:endParaRPr kumimoji="0" lang="en-US" altLang="zh-CN" sz="2000" baseline="-25000"/>
              </a:p>
            </p:txBody>
          </p:sp>
          <p:sp>
            <p:nvSpPr>
              <p:cNvPr id="19480" name="Line 9">
                <a:extLst>
                  <a:ext uri="{FF2B5EF4-FFF2-40B4-BE49-F238E27FC236}">
                    <a16:creationId xmlns:a16="http://schemas.microsoft.com/office/drawing/2014/main" id="{022336AF-903C-41C7-BA0E-7C1DB6DEE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9" y="2199"/>
                <a:ext cx="1823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1" name="Line 10">
                <a:extLst>
                  <a:ext uri="{FF2B5EF4-FFF2-40B4-BE49-F238E27FC236}">
                    <a16:creationId xmlns:a16="http://schemas.microsoft.com/office/drawing/2014/main" id="{D026276D-2BDD-4CD6-ABB1-3A041E48A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3973" y="742"/>
                <a:ext cx="0" cy="11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2" name="Line 12">
                <a:extLst>
                  <a:ext uri="{FF2B5EF4-FFF2-40B4-BE49-F238E27FC236}">
                    <a16:creationId xmlns:a16="http://schemas.microsoft.com/office/drawing/2014/main" id="{0F2BA84B-EAAE-42EB-B7A5-A191CC4378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29" y="1293"/>
                <a:ext cx="0" cy="90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83" name="Rectangle 13">
                <a:extLst>
                  <a:ext uri="{FF2B5EF4-FFF2-40B4-BE49-F238E27FC236}">
                    <a16:creationId xmlns:a16="http://schemas.microsoft.com/office/drawing/2014/main" id="{19B33EC8-6E4A-4C0C-8352-8B4895078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6" y="969"/>
                <a:ext cx="27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2400" i="1"/>
                  <a:t>R</a:t>
                </a:r>
                <a:endParaRPr kumimoji="0" lang="en-US" altLang="zh-CN" sz="2000" baseline="-25000"/>
              </a:p>
            </p:txBody>
          </p:sp>
          <p:sp>
            <p:nvSpPr>
              <p:cNvPr id="19484" name="Line 18">
                <a:extLst>
                  <a:ext uri="{FF2B5EF4-FFF2-40B4-BE49-F238E27FC236}">
                    <a16:creationId xmlns:a16="http://schemas.microsoft.com/office/drawing/2014/main" id="{2A8B8377-CC33-4A33-8ED1-46F2B3500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5072" y="1128"/>
                <a:ext cx="0" cy="34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485" name="Group 19">
                <a:extLst>
                  <a:ext uri="{FF2B5EF4-FFF2-40B4-BE49-F238E27FC236}">
                    <a16:creationId xmlns:a16="http://schemas.microsoft.com/office/drawing/2014/main" id="{01769899-5A9E-4649-87B2-A39416469D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7" y="1693"/>
                <a:ext cx="272" cy="89"/>
                <a:chOff x="4558" y="1254"/>
                <a:chExt cx="227" cy="89"/>
              </a:xfrm>
            </p:grpSpPr>
            <p:sp>
              <p:nvSpPr>
                <p:cNvPr id="19501" name="Line 20">
                  <a:extLst>
                    <a:ext uri="{FF2B5EF4-FFF2-40B4-BE49-F238E27FC236}">
                      <a16:creationId xmlns:a16="http://schemas.microsoft.com/office/drawing/2014/main" id="{BDEC5CAE-6D3D-4E5C-943D-4D5D6B37A2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58" y="1343"/>
                  <a:ext cx="227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02" name="Line 21">
                  <a:extLst>
                    <a:ext uri="{FF2B5EF4-FFF2-40B4-BE49-F238E27FC236}">
                      <a16:creationId xmlns:a16="http://schemas.microsoft.com/office/drawing/2014/main" id="{915EC616-DD51-497D-BE08-8B38AD6885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58" y="1254"/>
                  <a:ext cx="227" cy="0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9486" name="Line 22">
                <a:extLst>
                  <a:ext uri="{FF2B5EF4-FFF2-40B4-BE49-F238E27FC236}">
                    <a16:creationId xmlns:a16="http://schemas.microsoft.com/office/drawing/2014/main" id="{714DB169-7CC0-41FC-A1B0-1C29EB75E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45" y="1295"/>
                <a:ext cx="0" cy="394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7" name="Line 23">
                <a:extLst>
                  <a:ext uri="{FF2B5EF4-FFF2-40B4-BE49-F238E27FC236}">
                    <a16:creationId xmlns:a16="http://schemas.microsoft.com/office/drawing/2014/main" id="{BDE1627C-E06B-4DBF-BBA3-FDE918F8D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45" y="1791"/>
                <a:ext cx="0" cy="40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8" name="Line 25">
                <a:extLst>
                  <a:ext uri="{FF2B5EF4-FFF2-40B4-BE49-F238E27FC236}">
                    <a16:creationId xmlns:a16="http://schemas.microsoft.com/office/drawing/2014/main" id="{C756482D-B25A-4AE8-9192-5B77F7DF3B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342" y="2069"/>
                <a:ext cx="0" cy="260"/>
              </a:xfrm>
              <a:prstGeom prst="line">
                <a:avLst/>
              </a:prstGeom>
              <a:noFill/>
              <a:ln w="38100">
                <a:solidFill>
                  <a:srgbClr val="CC00CC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89" name="Text Box 26">
                <a:extLst>
                  <a:ext uri="{FF2B5EF4-FFF2-40B4-BE49-F238E27FC236}">
                    <a16:creationId xmlns:a16="http://schemas.microsoft.com/office/drawing/2014/main" id="{32FE37FD-26AF-4E9C-8792-E1908D4CDB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6" y="1443"/>
                <a:ext cx="137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sz="2400" b="0"/>
                  <a:t>+</a:t>
                </a:r>
                <a:endParaRPr kumimoji="0" lang="en-US" altLang="zh-CN" sz="24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0" name="Text Box 27">
                <a:extLst>
                  <a:ext uri="{FF2B5EF4-FFF2-40B4-BE49-F238E27FC236}">
                    <a16:creationId xmlns:a16="http://schemas.microsoft.com/office/drawing/2014/main" id="{215399D5-1FF5-406B-92A5-7460D3CC83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1579"/>
                <a:ext cx="283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i="1"/>
                  <a:t>u</a:t>
                </a:r>
                <a:r>
                  <a:rPr kumimoji="0" lang="en-GB" altLang="zh-CN" sz="2400" baseline="-25000"/>
                  <a:t>S</a:t>
                </a:r>
                <a:endParaRPr kumimoji="0" lang="en-US" altLang="zh-CN" sz="2400" baseline="-25000">
                  <a:latin typeface="宋体" panose="02010600030101010101" pitchFamily="2" charset="-122"/>
                </a:endParaRPr>
              </a:p>
            </p:txBody>
          </p:sp>
          <p:sp>
            <p:nvSpPr>
              <p:cNvPr id="19491" name="Text Box 28">
                <a:extLst>
                  <a:ext uri="{FF2B5EF4-FFF2-40B4-BE49-F238E27FC236}">
                    <a16:creationId xmlns:a16="http://schemas.microsoft.com/office/drawing/2014/main" id="{41C0080A-ACB9-4EE5-BE56-EF6ED69A2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4" y="1818"/>
                <a:ext cx="137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sz="2400" b="0">
                    <a:latin typeface="宋体" panose="02010600030101010101" pitchFamily="2" charset="-122"/>
                  </a:rPr>
                  <a:t>-</a:t>
                </a:r>
                <a:endParaRPr kumimoji="0" lang="en-US" altLang="zh-CN" sz="24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2" name="Text Box 29">
                <a:extLst>
                  <a:ext uri="{FF2B5EF4-FFF2-40B4-BE49-F238E27FC236}">
                    <a16:creationId xmlns:a16="http://schemas.microsoft.com/office/drawing/2014/main" id="{EC4B223D-183A-498F-998A-D727AD192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878" y="1614"/>
                <a:ext cx="28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400" i="1"/>
                  <a:t>C</a:t>
                </a:r>
                <a:endParaRPr kumimoji="0" lang="en-US" altLang="zh-CN" sz="24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93" name="Text Box 30">
                <a:extLst>
                  <a:ext uri="{FF2B5EF4-FFF2-40B4-BE49-F238E27FC236}">
                    <a16:creationId xmlns:a16="http://schemas.microsoft.com/office/drawing/2014/main" id="{1D12104C-8595-4D4E-834C-475B28D316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4" y="1439"/>
                <a:ext cx="137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sz="2400" b="0"/>
                  <a:t>+</a:t>
                </a:r>
                <a:endParaRPr kumimoji="0" lang="en-US" altLang="zh-CN" sz="2400" b="0">
                  <a:latin typeface="宋体" panose="02010600030101010101" pitchFamily="2" charset="-122"/>
                </a:endParaRPr>
              </a:p>
            </p:txBody>
          </p:sp>
          <p:sp>
            <p:nvSpPr>
              <p:cNvPr id="19494" name="Text Box 31">
                <a:extLst>
                  <a:ext uri="{FF2B5EF4-FFF2-40B4-BE49-F238E27FC236}">
                    <a16:creationId xmlns:a16="http://schemas.microsoft.com/office/drawing/2014/main" id="{F7FB3C1F-BCE7-423C-8561-D63D8941D0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4" y="1576"/>
                <a:ext cx="283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i="1"/>
                  <a:t>u</a:t>
                </a:r>
                <a:r>
                  <a:rPr kumimoji="0" lang="en-GB" altLang="zh-CN" sz="2400" baseline="-25000"/>
                  <a:t>C</a:t>
                </a:r>
                <a:endParaRPr kumimoji="0" lang="en-US" altLang="zh-CN" sz="2400" baseline="-25000">
                  <a:latin typeface="宋体" panose="02010600030101010101" pitchFamily="2" charset="-122"/>
                </a:endParaRPr>
              </a:p>
            </p:txBody>
          </p:sp>
          <p:sp>
            <p:nvSpPr>
              <p:cNvPr id="19495" name="Text Box 32">
                <a:extLst>
                  <a:ext uri="{FF2B5EF4-FFF2-40B4-BE49-F238E27FC236}">
                    <a16:creationId xmlns:a16="http://schemas.microsoft.com/office/drawing/2014/main" id="{672B2CBA-E027-4BAC-A68F-A06B1ED783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2" y="1787"/>
                <a:ext cx="137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36000" rIns="18000" bIns="3600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GB" altLang="zh-CN" sz="2400" b="0">
                    <a:latin typeface="宋体" panose="02010600030101010101" pitchFamily="2" charset="-122"/>
                  </a:rPr>
                  <a:t>-</a:t>
                </a:r>
                <a:endParaRPr kumimoji="0" lang="en-US" altLang="zh-CN" sz="2400" b="0">
                  <a:latin typeface="宋体" panose="02010600030101010101" pitchFamily="2" charset="-122"/>
                </a:endParaRPr>
              </a:p>
            </p:txBody>
          </p:sp>
          <p:grpSp>
            <p:nvGrpSpPr>
              <p:cNvPr id="19496" name="Group 154">
                <a:extLst>
                  <a:ext uri="{FF2B5EF4-FFF2-40B4-BE49-F238E27FC236}">
                    <a16:creationId xmlns:a16="http://schemas.microsoft.com/office/drawing/2014/main" id="{6DC4A8A1-2AE2-4364-B3A2-3D1D6D5DD6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4677" y="1075"/>
                <a:ext cx="74" cy="385"/>
                <a:chOff x="5263" y="2286"/>
                <a:chExt cx="104" cy="528"/>
              </a:xfrm>
            </p:grpSpPr>
            <p:sp>
              <p:nvSpPr>
                <p:cNvPr id="19498" name="Arc 155">
                  <a:extLst>
                    <a:ext uri="{FF2B5EF4-FFF2-40B4-BE49-F238E27FC236}">
                      <a16:creationId xmlns:a16="http://schemas.microsoft.com/office/drawing/2014/main" id="{C03135F8-3813-4F59-802C-ED9EF863DE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3" y="2286"/>
                  <a:ext cx="104" cy="173"/>
                </a:xfrm>
                <a:custGeom>
                  <a:avLst/>
                  <a:gdLst>
                    <a:gd name="T0" fmla="*/ 0 w 21600"/>
                    <a:gd name="T1" fmla="*/ 0 h 43199"/>
                    <a:gd name="T2" fmla="*/ 0 w 21600"/>
                    <a:gd name="T3" fmla="*/ 0 h 43199"/>
                    <a:gd name="T4" fmla="*/ 0 w 21600"/>
                    <a:gd name="T5" fmla="*/ 0 h 431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99"/>
                    <a:gd name="T11" fmla="*/ 21600 w 21600"/>
                    <a:gd name="T12" fmla="*/ 43199 h 431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9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463"/>
                        <a:pt x="12031" y="43107"/>
                        <a:pt x="168" y="43199"/>
                      </a:cubicBezTo>
                    </a:path>
                    <a:path w="21600" h="4319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463"/>
                        <a:pt x="12031" y="43107"/>
                        <a:pt x="168" y="43199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9" name="Arc 156">
                  <a:extLst>
                    <a:ext uri="{FF2B5EF4-FFF2-40B4-BE49-F238E27FC236}">
                      <a16:creationId xmlns:a16="http://schemas.microsoft.com/office/drawing/2014/main" id="{90D82EC2-04AE-4C9C-8216-457596EEBE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3" y="2462"/>
                  <a:ext cx="104" cy="174"/>
                </a:xfrm>
                <a:custGeom>
                  <a:avLst/>
                  <a:gdLst>
                    <a:gd name="T0" fmla="*/ 0 w 21600"/>
                    <a:gd name="T1" fmla="*/ 0 h 43199"/>
                    <a:gd name="T2" fmla="*/ 0 w 21600"/>
                    <a:gd name="T3" fmla="*/ 0 h 43199"/>
                    <a:gd name="T4" fmla="*/ 0 w 21600"/>
                    <a:gd name="T5" fmla="*/ 0 h 431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99"/>
                    <a:gd name="T11" fmla="*/ 21600 w 21600"/>
                    <a:gd name="T12" fmla="*/ 43199 h 431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9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463"/>
                        <a:pt x="12031" y="43107"/>
                        <a:pt x="168" y="43199"/>
                      </a:cubicBezTo>
                    </a:path>
                    <a:path w="21600" h="4319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463"/>
                        <a:pt x="12031" y="43107"/>
                        <a:pt x="168" y="43199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0" name="Arc 157">
                  <a:extLst>
                    <a:ext uri="{FF2B5EF4-FFF2-40B4-BE49-F238E27FC236}">
                      <a16:creationId xmlns:a16="http://schemas.microsoft.com/office/drawing/2014/main" id="{96A8DE2B-1B04-4591-BF4D-4C55AC43D9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3" y="2640"/>
                  <a:ext cx="104" cy="174"/>
                </a:xfrm>
                <a:custGeom>
                  <a:avLst/>
                  <a:gdLst>
                    <a:gd name="T0" fmla="*/ 0 w 21600"/>
                    <a:gd name="T1" fmla="*/ 0 h 43199"/>
                    <a:gd name="T2" fmla="*/ 0 w 21600"/>
                    <a:gd name="T3" fmla="*/ 0 h 43199"/>
                    <a:gd name="T4" fmla="*/ 0 w 21600"/>
                    <a:gd name="T5" fmla="*/ 0 h 431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99"/>
                    <a:gd name="T11" fmla="*/ 21600 w 21600"/>
                    <a:gd name="T12" fmla="*/ 43199 h 431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9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463"/>
                        <a:pt x="12031" y="43107"/>
                        <a:pt x="168" y="43199"/>
                      </a:cubicBezTo>
                    </a:path>
                    <a:path w="21600" h="4319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463"/>
                        <a:pt x="12031" y="43107"/>
                        <a:pt x="168" y="43199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497" name="Rectangle 89">
                <a:extLst>
                  <a:ext uri="{FF2B5EF4-FFF2-40B4-BE49-F238E27FC236}">
                    <a16:creationId xmlns:a16="http://schemas.microsoft.com/office/drawing/2014/main" id="{A7FDF33F-FE0B-4DC8-8380-C55B6DCF5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5" y="1235"/>
                <a:ext cx="336" cy="10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19471" name="Text Box 30">
              <a:extLst>
                <a:ext uri="{FF2B5EF4-FFF2-40B4-BE49-F238E27FC236}">
                  <a16:creationId xmlns:a16="http://schemas.microsoft.com/office/drawing/2014/main" id="{F140720F-7F70-436F-9335-FC8FCD606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4050" y="2476500"/>
              <a:ext cx="217488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sz="2400" b="0"/>
                <a:t>+</a:t>
              </a:r>
              <a:endParaRPr kumimoji="0" lang="en-US" altLang="zh-CN" sz="2400" b="0">
                <a:latin typeface="宋体" panose="02010600030101010101" pitchFamily="2" charset="-122"/>
              </a:endParaRPr>
            </a:p>
          </p:txBody>
        </p:sp>
        <p:sp>
          <p:nvSpPr>
            <p:cNvPr id="19472" name="Text Box 30">
              <a:extLst>
                <a:ext uri="{FF2B5EF4-FFF2-40B4-BE49-F238E27FC236}">
                  <a16:creationId xmlns:a16="http://schemas.microsoft.com/office/drawing/2014/main" id="{72C9A574-B215-4C9D-82D9-8EC5E07D3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7250" y="2451100"/>
              <a:ext cx="217488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sz="2400" b="0"/>
                <a:t>+</a:t>
              </a:r>
              <a:endParaRPr kumimoji="0" lang="en-US" altLang="zh-CN" sz="2400" b="0">
                <a:latin typeface="宋体" panose="02010600030101010101" pitchFamily="2" charset="-122"/>
              </a:endParaRPr>
            </a:p>
          </p:txBody>
        </p:sp>
        <p:sp>
          <p:nvSpPr>
            <p:cNvPr id="19473" name="Text Box 32">
              <a:extLst>
                <a:ext uri="{FF2B5EF4-FFF2-40B4-BE49-F238E27FC236}">
                  <a16:creationId xmlns:a16="http://schemas.microsoft.com/office/drawing/2014/main" id="{D0B0CB4A-C720-41D2-9919-45652457D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6850" y="2444750"/>
              <a:ext cx="217488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sz="2400" b="0">
                  <a:latin typeface="宋体" panose="02010600030101010101" pitchFamily="2" charset="-122"/>
                </a:rPr>
                <a:t>-</a:t>
              </a:r>
              <a:endParaRPr kumimoji="0" lang="en-US" altLang="zh-CN" sz="2400" b="0">
                <a:latin typeface="宋体" panose="02010600030101010101" pitchFamily="2" charset="-122"/>
              </a:endParaRPr>
            </a:p>
          </p:txBody>
        </p:sp>
        <p:sp>
          <p:nvSpPr>
            <p:cNvPr id="19474" name="Text Box 32">
              <a:extLst>
                <a:ext uri="{FF2B5EF4-FFF2-40B4-BE49-F238E27FC236}">
                  <a16:creationId xmlns:a16="http://schemas.microsoft.com/office/drawing/2014/main" id="{A7830AAD-D8E3-4916-82C3-ED91480AD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7350" y="2444750"/>
              <a:ext cx="217488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sz="2400" b="0">
                  <a:latin typeface="宋体" panose="02010600030101010101" pitchFamily="2" charset="-122"/>
                </a:rPr>
                <a:t>-</a:t>
              </a:r>
              <a:endParaRPr kumimoji="0" lang="en-US" altLang="zh-CN" sz="2400" b="0">
                <a:latin typeface="宋体" panose="02010600030101010101" pitchFamily="2" charset="-122"/>
              </a:endParaRPr>
            </a:p>
          </p:txBody>
        </p:sp>
        <p:sp>
          <p:nvSpPr>
            <p:cNvPr id="19475" name="Text Box 27">
              <a:extLst>
                <a:ext uri="{FF2B5EF4-FFF2-40B4-BE49-F238E27FC236}">
                  <a16:creationId xmlns:a16="http://schemas.microsoft.com/office/drawing/2014/main" id="{820A5D88-494D-428B-8F65-DFBD46BF3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8725" y="2470150"/>
              <a:ext cx="449263" cy="50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i="1"/>
                <a:t>u</a:t>
              </a:r>
              <a:r>
                <a:rPr kumimoji="0" lang="en-GB" altLang="zh-CN" sz="2400" i="1" baseline="-25000"/>
                <a:t>R</a:t>
              </a:r>
              <a:endParaRPr kumimoji="0" lang="en-US" altLang="zh-CN" sz="2400" i="1" baseline="-25000">
                <a:latin typeface="宋体" panose="02010600030101010101" pitchFamily="2" charset="-122"/>
              </a:endParaRPr>
            </a:p>
          </p:txBody>
        </p:sp>
        <p:sp>
          <p:nvSpPr>
            <p:cNvPr id="19476" name="Text Box 27">
              <a:extLst>
                <a:ext uri="{FF2B5EF4-FFF2-40B4-BE49-F238E27FC236}">
                  <a16:creationId xmlns:a16="http://schemas.microsoft.com/office/drawing/2014/main" id="{D1C051C7-D888-4CF5-BA8B-EC0A9101D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2025" y="2482850"/>
              <a:ext cx="449263" cy="50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36000" rIns="18000" bIns="360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i="1"/>
                <a:t>u</a:t>
              </a:r>
              <a:r>
                <a:rPr kumimoji="0" lang="en-GB" altLang="zh-CN" sz="2400" i="1" baseline="-25000"/>
                <a:t>L</a:t>
              </a:r>
              <a:endParaRPr kumimoji="0" lang="en-US" altLang="zh-CN" sz="2400" baseline="-2500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7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7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7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67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6" grpId="0" autoUpdateAnimBg="0"/>
      <p:bldP spid="671752" grpId="0" autoUpdateAnimBg="0"/>
      <p:bldP spid="671753" grpId="0" autoUpdateAnimBg="0"/>
      <p:bldP spid="671754" grpId="0" autoUpdateAnimBg="0"/>
      <p:bldP spid="671920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9">
            <a:extLst>
              <a:ext uri="{FF2B5EF4-FFF2-40B4-BE49-F238E27FC236}">
                <a16:creationId xmlns:a16="http://schemas.microsoft.com/office/drawing/2014/main" id="{96F6EEE3-ADCB-4F1D-A568-50897E8A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9" y="94763"/>
            <a:ext cx="12067015" cy="5847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dirty="0">
                <a:solidFill>
                  <a:srgbClr val="33CC33"/>
                </a:solidFill>
                <a:ea typeface="华文新魏" panose="02010800040101010101" pitchFamily="2" charset="-122"/>
              </a:rPr>
              <a:t>RLC</a:t>
            </a:r>
            <a:r>
              <a:rPr lang="zh-CN" altLang="en-US" sz="3200" dirty="0">
                <a:solidFill>
                  <a:srgbClr val="33CC33"/>
                </a:solidFill>
                <a:ea typeface="华文新魏" panose="02010800040101010101" pitchFamily="2" charset="-122"/>
              </a:rPr>
              <a:t>电路二阶微分方程求解时，根号里数值的四种不同情况的比较</a:t>
            </a:r>
          </a:p>
        </p:txBody>
      </p:sp>
      <p:graphicFrame>
        <p:nvGraphicFramePr>
          <p:cNvPr id="739641" name="Group 313">
            <a:extLst>
              <a:ext uri="{FF2B5EF4-FFF2-40B4-BE49-F238E27FC236}">
                <a16:creationId xmlns:a16="http://schemas.microsoft.com/office/drawing/2014/main" id="{DF83EFEE-35D8-4DF9-A67C-AA93F1D13F89}"/>
              </a:ext>
            </a:extLst>
          </p:cNvPr>
          <p:cNvGraphicFramePr>
            <a:graphicFrameLocks noGrp="1"/>
          </p:cNvGraphicFramePr>
          <p:nvPr/>
        </p:nvGraphicFramePr>
        <p:xfrm>
          <a:off x="1735138" y="928688"/>
          <a:ext cx="8750300" cy="3451226"/>
        </p:xfrm>
        <a:graphic>
          <a:graphicData uri="http://schemas.openxmlformats.org/drawingml/2006/table">
            <a:tbl>
              <a:tblPr/>
              <a:tblGrid>
                <a:gridCol w="1608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5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1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itchFamily="18" charset="0"/>
                          <a:ea typeface="方正姚体" pitchFamily="2" charset="-122"/>
                        </a:rPr>
                        <a:t>过阻尼</a:t>
                      </a:r>
                    </a:p>
                  </a:txBody>
                  <a:tcPr marL="90000" marR="90000" marT="46791" marB="4679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、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为两个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不相等的负实数</a:t>
                      </a: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5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itchFamily="18" charset="0"/>
                          <a:ea typeface="方正姚体" pitchFamily="2" charset="-122"/>
                        </a:rPr>
                        <a:t>临界阻尼</a:t>
                      </a:r>
                    </a:p>
                  </a:txBody>
                  <a:tcPr marL="90000" marR="90000" marT="46791" marB="4679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、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为两个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相等的负实数</a:t>
                      </a: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6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itchFamily="18" charset="0"/>
                          <a:ea typeface="方正姚体" pitchFamily="2" charset="-122"/>
                        </a:rPr>
                        <a:t>欠阻尼</a:t>
                      </a:r>
                    </a:p>
                  </a:txBody>
                  <a:tcPr marL="90000" marR="90000" marT="46791" marB="4679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、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一对共轭复数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5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itchFamily="18" charset="0"/>
                          <a:ea typeface="方正姚体" pitchFamily="2" charset="-122"/>
                        </a:rPr>
                        <a:t>无阻尼</a:t>
                      </a:r>
                    </a:p>
                  </a:txBody>
                  <a:tcPr marL="90000" marR="90000" marT="46791" marB="4679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 = 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、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一对共轭虚数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</a:endParaRPr>
                    </a:p>
                  </a:txBody>
                  <a:tcPr marL="90000" marR="90000" marT="46791" marB="4679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510" name="Object 165">
            <a:extLst>
              <a:ext uri="{FF2B5EF4-FFF2-40B4-BE49-F238E27FC236}">
                <a16:creationId xmlns:a16="http://schemas.microsoft.com/office/drawing/2014/main" id="{9C2B2A7E-F360-4117-B053-96B3982D8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3950" y="963613"/>
          <a:ext cx="1625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公式" r:id="rId3" imgW="1606403" imgH="844595" progId="Equation.3">
                  <p:embed/>
                </p:oleObj>
              </mc:Choice>
              <mc:Fallback>
                <p:oleObj name="公式" r:id="rId3" imgW="1606403" imgH="844595" progId="Equation.3">
                  <p:embed/>
                  <p:pic>
                    <p:nvPicPr>
                      <p:cNvPr id="20510" name="Object 165">
                        <a:extLst>
                          <a:ext uri="{FF2B5EF4-FFF2-40B4-BE49-F238E27FC236}">
                            <a16:creationId xmlns:a16="http://schemas.microsoft.com/office/drawing/2014/main" id="{9C2B2A7E-F360-4117-B053-96B3982D8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963613"/>
                        <a:ext cx="1625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1" name="Object 167">
            <a:extLst>
              <a:ext uri="{FF2B5EF4-FFF2-40B4-BE49-F238E27FC236}">
                <a16:creationId xmlns:a16="http://schemas.microsoft.com/office/drawing/2014/main" id="{0BBC05FF-2130-4D20-A5FF-317E849986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3950" y="1831975"/>
          <a:ext cx="1638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公式" r:id="rId5" imgW="1612938" imgH="844595" progId="Equation.3">
                  <p:embed/>
                </p:oleObj>
              </mc:Choice>
              <mc:Fallback>
                <p:oleObj name="公式" r:id="rId5" imgW="1612938" imgH="844595" progId="Equation.3">
                  <p:embed/>
                  <p:pic>
                    <p:nvPicPr>
                      <p:cNvPr id="20511" name="Object 167">
                        <a:extLst>
                          <a:ext uri="{FF2B5EF4-FFF2-40B4-BE49-F238E27FC236}">
                            <a16:creationId xmlns:a16="http://schemas.microsoft.com/office/drawing/2014/main" id="{0BBC05FF-2130-4D20-A5FF-317E84998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1831975"/>
                        <a:ext cx="1638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2" name="Object 168">
            <a:extLst>
              <a:ext uri="{FF2B5EF4-FFF2-40B4-BE49-F238E27FC236}">
                <a16:creationId xmlns:a16="http://schemas.microsoft.com/office/drawing/2014/main" id="{B34181D1-FD04-4A0C-88D9-92A1C4BA8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3950" y="2698750"/>
          <a:ext cx="1625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name="公式" r:id="rId7" imgW="1606403" imgH="844595" progId="Equation.3">
                  <p:embed/>
                </p:oleObj>
              </mc:Choice>
              <mc:Fallback>
                <p:oleObj name="公式" r:id="rId7" imgW="1606403" imgH="844595" progId="Equation.3">
                  <p:embed/>
                  <p:pic>
                    <p:nvPicPr>
                      <p:cNvPr id="20512" name="Object 168">
                        <a:extLst>
                          <a:ext uri="{FF2B5EF4-FFF2-40B4-BE49-F238E27FC236}">
                            <a16:creationId xmlns:a16="http://schemas.microsoft.com/office/drawing/2014/main" id="{B34181D1-FD04-4A0C-88D9-92A1C4BA8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2698750"/>
                        <a:ext cx="1625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3" name="Object 176">
            <a:extLst>
              <a:ext uri="{FF2B5EF4-FFF2-40B4-BE49-F238E27FC236}">
                <a16:creationId xmlns:a16="http://schemas.microsoft.com/office/drawing/2014/main" id="{6350D366-2EC0-45B5-9882-280FF16483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992188"/>
          <a:ext cx="22129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1" name="公式" r:id="rId9" imgW="2006677" imgH="749481" progId="Equation.3">
                  <p:embed/>
                </p:oleObj>
              </mc:Choice>
              <mc:Fallback>
                <p:oleObj name="公式" r:id="rId9" imgW="2006677" imgH="749481" progId="Equation.3">
                  <p:embed/>
                  <p:pic>
                    <p:nvPicPr>
                      <p:cNvPr id="20513" name="Object 176">
                        <a:extLst>
                          <a:ext uri="{FF2B5EF4-FFF2-40B4-BE49-F238E27FC236}">
                            <a16:creationId xmlns:a16="http://schemas.microsoft.com/office/drawing/2014/main" id="{6350D366-2EC0-45B5-9882-280FF16483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992188"/>
                        <a:ext cx="22129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4" name="Object 205">
            <a:extLst>
              <a:ext uri="{FF2B5EF4-FFF2-40B4-BE49-F238E27FC236}">
                <a16:creationId xmlns:a16="http://schemas.microsoft.com/office/drawing/2014/main" id="{12A831E2-E46F-4F24-8D77-C5884962B2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841500"/>
          <a:ext cx="22129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2" name="公式" r:id="rId11" imgW="2006677" imgH="749481" progId="Equation.3">
                  <p:embed/>
                </p:oleObj>
              </mc:Choice>
              <mc:Fallback>
                <p:oleObj name="公式" r:id="rId11" imgW="2006677" imgH="749481" progId="Equation.3">
                  <p:embed/>
                  <p:pic>
                    <p:nvPicPr>
                      <p:cNvPr id="20514" name="Object 205">
                        <a:extLst>
                          <a:ext uri="{FF2B5EF4-FFF2-40B4-BE49-F238E27FC236}">
                            <a16:creationId xmlns:a16="http://schemas.microsoft.com/office/drawing/2014/main" id="{12A831E2-E46F-4F24-8D77-C5884962B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41500"/>
                        <a:ext cx="22129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5" name="Object 206">
            <a:extLst>
              <a:ext uri="{FF2B5EF4-FFF2-40B4-BE49-F238E27FC236}">
                <a16:creationId xmlns:a16="http://schemas.microsoft.com/office/drawing/2014/main" id="{875C33A8-56A9-44FA-9173-B4EB8655F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706688"/>
          <a:ext cx="22129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name="公式" r:id="rId13" imgW="2006677" imgH="749481" progId="Equation.3">
                  <p:embed/>
                </p:oleObj>
              </mc:Choice>
              <mc:Fallback>
                <p:oleObj name="公式" r:id="rId13" imgW="2006677" imgH="749481" progId="Equation.3">
                  <p:embed/>
                  <p:pic>
                    <p:nvPicPr>
                      <p:cNvPr id="20515" name="Object 206">
                        <a:extLst>
                          <a:ext uri="{FF2B5EF4-FFF2-40B4-BE49-F238E27FC236}">
                            <a16:creationId xmlns:a16="http://schemas.microsoft.com/office/drawing/2014/main" id="{875C33A8-56A9-44FA-9173-B4EB8655F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706688"/>
                        <a:ext cx="22129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542" name="Object 214">
            <a:extLst>
              <a:ext uri="{FF2B5EF4-FFF2-40B4-BE49-F238E27FC236}">
                <a16:creationId xmlns:a16="http://schemas.microsoft.com/office/drawing/2014/main" id="{E8657E1B-2742-46E3-AECC-12DFEF90A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5740400"/>
          <a:ext cx="24526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公式" r:id="rId15" imgW="2743098" imgH="825409" progId="Equation.3">
                  <p:embed/>
                </p:oleObj>
              </mc:Choice>
              <mc:Fallback>
                <p:oleObj name="公式" r:id="rId15" imgW="2743098" imgH="825409" progId="Equation.3">
                  <p:embed/>
                  <p:pic>
                    <p:nvPicPr>
                      <p:cNvPr id="739542" name="Object 214">
                        <a:extLst>
                          <a:ext uri="{FF2B5EF4-FFF2-40B4-BE49-F238E27FC236}">
                            <a16:creationId xmlns:a16="http://schemas.microsoft.com/office/drawing/2014/main" id="{E8657E1B-2742-46E3-AECC-12DFEF90A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5740400"/>
                        <a:ext cx="245268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546" name="Rectangle 218">
            <a:extLst>
              <a:ext uri="{FF2B5EF4-FFF2-40B4-BE49-F238E27FC236}">
                <a16:creationId xmlns:a16="http://schemas.microsoft.com/office/drawing/2014/main" id="{C9D71214-4D64-4BC5-9615-8699EE1B5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5916613"/>
            <a:ext cx="260191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26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 </a:t>
            </a:r>
            <a:r>
              <a:rPr kumimoji="0" lang="zh-CN" altLang="en-US" sz="26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称为阻尼电阻</a:t>
            </a:r>
          </a:p>
        </p:txBody>
      </p:sp>
      <p:graphicFrame>
        <p:nvGraphicFramePr>
          <p:cNvPr id="20518" name="Object 252">
            <a:extLst>
              <a:ext uri="{FF2B5EF4-FFF2-40B4-BE49-F238E27FC236}">
                <a16:creationId xmlns:a16="http://schemas.microsoft.com/office/drawing/2014/main" id="{D4525950-EEF0-40D5-B8CF-E460AE0B57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075" y="3563938"/>
          <a:ext cx="213201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公式" r:id="rId17" imgW="2146364" imgH="768259" progId="Equation.3">
                  <p:embed/>
                </p:oleObj>
              </mc:Choice>
              <mc:Fallback>
                <p:oleObj name="公式" r:id="rId17" imgW="2146364" imgH="768259" progId="Equation.3">
                  <p:embed/>
                  <p:pic>
                    <p:nvPicPr>
                      <p:cNvPr id="20518" name="Object 252">
                        <a:extLst>
                          <a:ext uri="{FF2B5EF4-FFF2-40B4-BE49-F238E27FC236}">
                            <a16:creationId xmlns:a16="http://schemas.microsoft.com/office/drawing/2014/main" id="{D4525950-EEF0-40D5-B8CF-E460AE0B57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3563938"/>
                        <a:ext cx="2132013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19" name="Group 334">
            <a:extLst>
              <a:ext uri="{FF2B5EF4-FFF2-40B4-BE49-F238E27FC236}">
                <a16:creationId xmlns:a16="http://schemas.microsoft.com/office/drawing/2014/main" id="{F9B29E5F-F50A-4E4A-9A89-5071E02FB964}"/>
              </a:ext>
            </a:extLst>
          </p:cNvPr>
          <p:cNvGrpSpPr>
            <a:grpSpLocks/>
          </p:cNvGrpSpPr>
          <p:nvPr/>
        </p:nvGrpSpPr>
        <p:grpSpPr bwMode="auto">
          <a:xfrm>
            <a:off x="6216650" y="4675188"/>
            <a:ext cx="3478213" cy="912812"/>
            <a:chOff x="3046" y="3499"/>
            <a:chExt cx="2191" cy="575"/>
          </a:xfrm>
        </p:grpSpPr>
        <p:sp>
          <p:nvSpPr>
            <p:cNvPr id="20549" name="Line 267">
              <a:extLst>
                <a:ext uri="{FF2B5EF4-FFF2-40B4-BE49-F238E27FC236}">
                  <a16:creationId xmlns:a16="http://schemas.microsoft.com/office/drawing/2014/main" id="{739ADF51-FC08-48D6-82F5-1AC3FC3CD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1" y="3805"/>
              <a:ext cx="33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Text Box 268">
              <a:extLst>
                <a:ext uri="{FF2B5EF4-FFF2-40B4-BE49-F238E27FC236}">
                  <a16:creationId xmlns:a16="http://schemas.microsoft.com/office/drawing/2014/main" id="{AF6944FC-A918-4C52-A30F-6AD8B95AE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3747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2</a:t>
              </a:r>
              <a:r>
                <a:rPr kumimoji="0" lang="en-US" altLang="zh-CN" i="1">
                  <a:solidFill>
                    <a:srgbClr val="FF3300"/>
                  </a:solidFill>
                </a:rPr>
                <a:t>L</a:t>
              </a:r>
            </a:p>
          </p:txBody>
        </p:sp>
        <p:sp>
          <p:nvSpPr>
            <p:cNvPr id="20551" name="Text Box 269">
              <a:extLst>
                <a:ext uri="{FF2B5EF4-FFF2-40B4-BE49-F238E27FC236}">
                  <a16:creationId xmlns:a16="http://schemas.microsoft.com/office/drawing/2014/main" id="{FDBBF384-47CF-4C8D-9600-72E34A6EA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4" y="3525"/>
              <a:ext cx="4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 -</a:t>
              </a:r>
              <a:r>
                <a:rPr kumimoji="0" lang="en-US" altLang="zh-CN" i="1">
                  <a:solidFill>
                    <a:srgbClr val="FF3300"/>
                  </a:solidFill>
                </a:rPr>
                <a:t>R</a:t>
              </a:r>
              <a:endParaRPr kumimoji="0" lang="en-US" altLang="zh-CN" sz="2000" i="1" baseline="-25000">
                <a:solidFill>
                  <a:srgbClr val="FF3300"/>
                </a:solidFill>
              </a:endParaRPr>
            </a:p>
          </p:txBody>
        </p:sp>
        <p:sp>
          <p:nvSpPr>
            <p:cNvPr id="20552" name="Rectangle 270">
              <a:extLst>
                <a:ext uri="{FF2B5EF4-FFF2-40B4-BE49-F238E27FC236}">
                  <a16:creationId xmlns:a16="http://schemas.microsoft.com/office/drawing/2014/main" id="{8F3DD40D-9F54-4CFD-B239-BF93649DC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3664"/>
              <a:ext cx="27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dirty="0">
                  <a:solidFill>
                    <a:srgbClr val="FF33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=</a:t>
              </a:r>
              <a:endParaRPr kumimoji="0" lang="en-US" altLang="zh-CN" u="sng" dirty="0">
                <a:solidFill>
                  <a:srgbClr val="FF3300"/>
                </a:solidFill>
                <a:latin typeface="宋体" panose="0201060003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553" name="Text Box 271">
              <a:extLst>
                <a:ext uri="{FF2B5EF4-FFF2-40B4-BE49-F238E27FC236}">
                  <a16:creationId xmlns:a16="http://schemas.microsoft.com/office/drawing/2014/main" id="{41A0D01E-8741-44AC-B2AC-BFC95E414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3607"/>
              <a:ext cx="2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±</a:t>
              </a:r>
              <a:endParaRPr kumimoji="0" lang="en-US" altLang="zh-CN" baseline="300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0554" name="Line 272">
              <a:extLst>
                <a:ext uri="{FF2B5EF4-FFF2-40B4-BE49-F238E27FC236}">
                  <a16:creationId xmlns:a16="http://schemas.microsoft.com/office/drawing/2014/main" id="{99F58B45-B90C-4705-8050-805494905D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7" y="3558"/>
              <a:ext cx="82" cy="41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55" name="Group 273">
              <a:extLst>
                <a:ext uri="{FF2B5EF4-FFF2-40B4-BE49-F238E27FC236}">
                  <a16:creationId xmlns:a16="http://schemas.microsoft.com/office/drawing/2014/main" id="{33E46406-4CE8-448F-B111-36E3D3FDF9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848"/>
              <a:ext cx="75" cy="123"/>
              <a:chOff x="392" y="688"/>
              <a:chExt cx="75" cy="125"/>
            </a:xfrm>
          </p:grpSpPr>
          <p:sp>
            <p:nvSpPr>
              <p:cNvPr id="20566" name="Line 274">
                <a:extLst>
                  <a:ext uri="{FF2B5EF4-FFF2-40B4-BE49-F238E27FC236}">
                    <a16:creationId xmlns:a16="http://schemas.microsoft.com/office/drawing/2014/main" id="{19F26632-17D6-4BAF-9F1D-1E6CCA6BD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" y="689"/>
                <a:ext cx="58" cy="1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67" name="Line 275">
                <a:extLst>
                  <a:ext uri="{FF2B5EF4-FFF2-40B4-BE49-F238E27FC236}">
                    <a16:creationId xmlns:a16="http://schemas.microsoft.com/office/drawing/2014/main" id="{6AFCBAD8-E6F9-4991-8AEA-709B3585B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92" y="688"/>
                <a:ext cx="20" cy="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56" name="Line 276">
              <a:extLst>
                <a:ext uri="{FF2B5EF4-FFF2-40B4-BE49-F238E27FC236}">
                  <a16:creationId xmlns:a16="http://schemas.microsoft.com/office/drawing/2014/main" id="{4882991B-D5A1-427F-AD89-713099960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5" y="3558"/>
              <a:ext cx="108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7" name="Line 277">
              <a:extLst>
                <a:ext uri="{FF2B5EF4-FFF2-40B4-BE49-F238E27FC236}">
                  <a16:creationId xmlns:a16="http://schemas.microsoft.com/office/drawing/2014/main" id="{3EF83F82-6EF5-424A-91F5-B45131BAD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4" y="3799"/>
              <a:ext cx="33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8" name="Text Box 278">
              <a:extLst>
                <a:ext uri="{FF2B5EF4-FFF2-40B4-BE49-F238E27FC236}">
                  <a16:creationId xmlns:a16="http://schemas.microsoft.com/office/drawing/2014/main" id="{BC6E2764-DD24-4206-A505-499D2AFF4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3" y="3737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2</a:t>
              </a:r>
              <a:r>
                <a:rPr kumimoji="0" lang="en-US" altLang="zh-CN" i="1">
                  <a:solidFill>
                    <a:srgbClr val="FF3300"/>
                  </a:solidFill>
                </a:rPr>
                <a:t>L</a:t>
              </a:r>
            </a:p>
          </p:txBody>
        </p:sp>
        <p:sp>
          <p:nvSpPr>
            <p:cNvPr id="20559" name="Text Box 279">
              <a:extLst>
                <a:ext uri="{FF2B5EF4-FFF2-40B4-BE49-F238E27FC236}">
                  <a16:creationId xmlns:a16="http://schemas.microsoft.com/office/drawing/2014/main" id="{DB1834F2-1212-4C6F-9BDF-CE1D99DDA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3499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 </a:t>
              </a:r>
              <a:r>
                <a:rPr kumimoji="0" lang="en-US" altLang="zh-CN" i="1">
                  <a:solidFill>
                    <a:srgbClr val="FF3300"/>
                  </a:solidFill>
                </a:rPr>
                <a:t>R</a:t>
              </a:r>
              <a:endParaRPr kumimoji="0" lang="en-US" altLang="zh-CN" sz="2000" i="1" baseline="-25000">
                <a:solidFill>
                  <a:srgbClr val="FF3300"/>
                </a:solidFill>
              </a:endParaRPr>
            </a:p>
          </p:txBody>
        </p:sp>
        <p:sp>
          <p:nvSpPr>
            <p:cNvPr id="20560" name="Rectangle 280">
              <a:extLst>
                <a:ext uri="{FF2B5EF4-FFF2-40B4-BE49-F238E27FC236}">
                  <a16:creationId xmlns:a16="http://schemas.microsoft.com/office/drawing/2014/main" id="{002781B4-FDF5-4BD7-BE63-8F710A5F7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" y="3651"/>
              <a:ext cx="13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(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561" name="Text Box 281">
              <a:extLst>
                <a:ext uri="{FF2B5EF4-FFF2-40B4-BE49-F238E27FC236}">
                  <a16:creationId xmlns:a16="http://schemas.microsoft.com/office/drawing/2014/main" id="{8725C62A-98B3-41C8-879C-A7365BCE8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5" y="3629"/>
              <a:ext cx="3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)</a:t>
              </a:r>
              <a:r>
                <a:rPr kumimoji="0" lang="en-US" altLang="zh-CN" baseline="30000">
                  <a:solidFill>
                    <a:srgbClr val="FF3300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562" name="Line 282">
              <a:extLst>
                <a:ext uri="{FF2B5EF4-FFF2-40B4-BE49-F238E27FC236}">
                  <a16:creationId xmlns:a16="http://schemas.microsoft.com/office/drawing/2014/main" id="{3E0C6DA6-565D-42E7-B19D-1B67F98F7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4" y="3808"/>
              <a:ext cx="33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3" name="Text Box 283">
              <a:extLst>
                <a:ext uri="{FF2B5EF4-FFF2-40B4-BE49-F238E27FC236}">
                  <a16:creationId xmlns:a16="http://schemas.microsoft.com/office/drawing/2014/main" id="{0381F2AC-2ED6-4B94-8A68-572A8AD59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3" y="3746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i="1">
                  <a:solidFill>
                    <a:srgbClr val="FF3300"/>
                  </a:solidFill>
                </a:rPr>
                <a:t>LC</a:t>
              </a:r>
            </a:p>
          </p:txBody>
        </p:sp>
        <p:sp>
          <p:nvSpPr>
            <p:cNvPr id="20564" name="Text Box 284">
              <a:extLst>
                <a:ext uri="{FF2B5EF4-FFF2-40B4-BE49-F238E27FC236}">
                  <a16:creationId xmlns:a16="http://schemas.microsoft.com/office/drawing/2014/main" id="{ACA63BD0-2911-40C8-B1E2-102009980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518"/>
              <a:ext cx="315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>
                  <a:solidFill>
                    <a:srgbClr val="FF3300"/>
                  </a:solidFill>
                </a:rPr>
                <a:t> 1</a:t>
              </a:r>
              <a:endParaRPr kumimoji="0" lang="en-US" altLang="zh-CN" sz="2000" baseline="-25000">
                <a:solidFill>
                  <a:srgbClr val="FF3300"/>
                </a:solidFill>
              </a:endParaRPr>
            </a:p>
          </p:txBody>
        </p:sp>
        <p:sp>
          <p:nvSpPr>
            <p:cNvPr id="20565" name="Rectangle 285">
              <a:extLst>
                <a:ext uri="{FF2B5EF4-FFF2-40B4-BE49-F238E27FC236}">
                  <a16:creationId xmlns:a16="http://schemas.microsoft.com/office/drawing/2014/main" id="{AD25D4AD-F92E-405F-895D-E21D3D2AE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366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0520" name="Group 286">
            <a:extLst>
              <a:ext uri="{FF2B5EF4-FFF2-40B4-BE49-F238E27FC236}">
                <a16:creationId xmlns:a16="http://schemas.microsoft.com/office/drawing/2014/main" id="{C036F1C3-F582-4AAB-A578-053AC6EF5610}"/>
              </a:ext>
            </a:extLst>
          </p:cNvPr>
          <p:cNvGrpSpPr>
            <a:grpSpLocks/>
          </p:cNvGrpSpPr>
          <p:nvPr/>
        </p:nvGrpSpPr>
        <p:grpSpPr bwMode="auto">
          <a:xfrm>
            <a:off x="2060575" y="4603750"/>
            <a:ext cx="4068763" cy="1050925"/>
            <a:chOff x="318" y="3103"/>
            <a:chExt cx="2563" cy="662"/>
          </a:xfrm>
        </p:grpSpPr>
        <p:sp>
          <p:nvSpPr>
            <p:cNvPr id="20538" name="Line 287">
              <a:extLst>
                <a:ext uri="{FF2B5EF4-FFF2-40B4-BE49-F238E27FC236}">
                  <a16:creationId xmlns:a16="http://schemas.microsoft.com/office/drawing/2014/main" id="{B2DF1919-6CC0-430D-ACF5-09CEB4CB5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" y="3461"/>
              <a:ext cx="1980" cy="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Rectangle 288">
              <a:extLst>
                <a:ext uri="{FF2B5EF4-FFF2-40B4-BE49-F238E27FC236}">
                  <a16:creationId xmlns:a16="http://schemas.microsoft.com/office/drawing/2014/main" id="{4EB14FD2-364C-4523-917D-43C9D877B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" y="3316"/>
              <a:ext cx="48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i="1">
                  <a:solidFill>
                    <a:srgbClr val="FF3300"/>
                  </a:solidFill>
                  <a:cs typeface="Times New Roman" panose="02020603050405020304" pitchFamily="18" charset="0"/>
                </a:rPr>
                <a:t>s</a:t>
              </a:r>
              <a:r>
                <a:rPr kumimoji="0" lang="en-US" altLang="zh-CN" baseline="-25000">
                  <a:solidFill>
                    <a:srgbClr val="FF3300"/>
                  </a:solidFill>
                  <a:cs typeface="Times New Roman" panose="02020603050405020304" pitchFamily="18" charset="0"/>
                </a:rPr>
                <a:t>1, 2 </a:t>
              </a: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=</a:t>
              </a:r>
              <a:endParaRPr kumimoji="0" lang="en-US" altLang="zh-CN" u="sng">
                <a:solidFill>
                  <a:srgbClr val="FF3300"/>
                </a:solidFill>
              </a:endParaRPr>
            </a:p>
          </p:txBody>
        </p:sp>
        <p:sp>
          <p:nvSpPr>
            <p:cNvPr id="20540" name="Text Box 289">
              <a:extLst>
                <a:ext uri="{FF2B5EF4-FFF2-40B4-BE49-F238E27FC236}">
                  <a16:creationId xmlns:a16="http://schemas.microsoft.com/office/drawing/2014/main" id="{AB60D7FA-1F3F-4AEF-90FC-52951ABEE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" y="3115"/>
              <a:ext cx="7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 i="1">
                  <a:solidFill>
                    <a:srgbClr val="FF3300"/>
                  </a:solidFill>
                </a:rPr>
                <a:t>RC</a:t>
              </a:r>
              <a:r>
                <a:rPr kumimoji="0" lang="en-GB" altLang="zh-CN" sz="2000" i="1" baseline="-25000">
                  <a:solidFill>
                    <a:srgbClr val="FF3300"/>
                  </a:solidFill>
                </a:rPr>
                <a:t> </a:t>
              </a:r>
              <a:r>
                <a:rPr kumimoji="0" lang="en-US" altLang="zh-CN">
                  <a:solidFill>
                    <a:srgbClr val="FF3300"/>
                  </a:solidFill>
                  <a:cs typeface="Times New Roman" panose="02020603050405020304" pitchFamily="18" charset="0"/>
                </a:rPr>
                <a:t>±</a:t>
              </a:r>
            </a:p>
          </p:txBody>
        </p:sp>
        <p:sp>
          <p:nvSpPr>
            <p:cNvPr id="20541" name="Rectangle 290">
              <a:extLst>
                <a:ext uri="{FF2B5EF4-FFF2-40B4-BE49-F238E27FC236}">
                  <a16:creationId xmlns:a16="http://schemas.microsoft.com/office/drawing/2014/main" id="{1BF92554-EF8F-412B-B70B-53AF42BC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3104"/>
              <a:ext cx="12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3300"/>
                  </a:solidFill>
                </a:rPr>
                <a:t>(</a:t>
              </a:r>
              <a:r>
                <a:rPr lang="en-US" altLang="zh-CN" i="1">
                  <a:solidFill>
                    <a:srgbClr val="FF3300"/>
                  </a:solidFill>
                </a:rPr>
                <a:t>RC</a:t>
              </a:r>
              <a:r>
                <a:rPr lang="en-US" altLang="zh-CN">
                  <a:solidFill>
                    <a:srgbClr val="FF3300"/>
                  </a:solidFill>
                </a:rPr>
                <a:t>)</a:t>
              </a:r>
              <a:r>
                <a:rPr lang="en-US" altLang="zh-CN" baseline="30000">
                  <a:solidFill>
                    <a:srgbClr val="FF3300"/>
                  </a:solidFill>
                </a:rPr>
                <a:t>2</a:t>
              </a:r>
              <a:r>
                <a:rPr lang="en-US" altLang="zh-CN" sz="1200">
                  <a:solidFill>
                    <a:srgbClr val="FF3300"/>
                  </a:solidFill>
                </a:rPr>
                <a:t> </a:t>
              </a:r>
              <a:r>
                <a:rPr lang="en-US" altLang="zh-CN">
                  <a:solidFill>
                    <a:srgbClr val="FF3300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1200">
                  <a:solidFill>
                    <a:srgbClr val="FF3300"/>
                  </a:solidFill>
                </a:rPr>
                <a:t> </a:t>
              </a:r>
              <a:r>
                <a:rPr lang="en-US" altLang="zh-CN">
                  <a:solidFill>
                    <a:srgbClr val="FF3300"/>
                  </a:solidFill>
                </a:rPr>
                <a:t>4</a:t>
              </a:r>
              <a:r>
                <a:rPr lang="en-US" altLang="zh-CN" i="1">
                  <a:solidFill>
                    <a:srgbClr val="FF3300"/>
                  </a:solidFill>
                </a:rPr>
                <a:t>LC</a:t>
              </a:r>
              <a:endParaRPr lang="en-US" altLang="zh-CN">
                <a:solidFill>
                  <a:srgbClr val="FF3300"/>
                </a:solidFill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20542" name="Line 291">
              <a:extLst>
                <a:ext uri="{FF2B5EF4-FFF2-40B4-BE49-F238E27FC236}">
                  <a16:creationId xmlns:a16="http://schemas.microsoft.com/office/drawing/2014/main" id="{4972474D-A919-4BC8-B789-CA97647F7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1" y="3108"/>
              <a:ext cx="48" cy="3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43" name="Group 292">
              <a:extLst>
                <a:ext uri="{FF2B5EF4-FFF2-40B4-BE49-F238E27FC236}">
                  <a16:creationId xmlns:a16="http://schemas.microsoft.com/office/drawing/2014/main" id="{43AEAF42-B13F-47F8-AE0D-017FB0DEA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6" y="3303"/>
              <a:ext cx="75" cy="123"/>
              <a:chOff x="392" y="688"/>
              <a:chExt cx="75" cy="125"/>
            </a:xfrm>
          </p:grpSpPr>
          <p:sp>
            <p:nvSpPr>
              <p:cNvPr id="20547" name="Line 293">
                <a:extLst>
                  <a:ext uri="{FF2B5EF4-FFF2-40B4-BE49-F238E27FC236}">
                    <a16:creationId xmlns:a16="http://schemas.microsoft.com/office/drawing/2014/main" id="{7D84E953-4570-4480-BE63-9E0852A62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" y="689"/>
                <a:ext cx="58" cy="1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48" name="Line 294">
                <a:extLst>
                  <a:ext uri="{FF2B5EF4-FFF2-40B4-BE49-F238E27FC236}">
                    <a16:creationId xmlns:a16="http://schemas.microsoft.com/office/drawing/2014/main" id="{D324E7F8-8F08-4D4C-8299-8078B54E4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92" y="688"/>
                <a:ext cx="20" cy="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44" name="Line 295">
              <a:extLst>
                <a:ext uri="{FF2B5EF4-FFF2-40B4-BE49-F238E27FC236}">
                  <a16:creationId xmlns:a16="http://schemas.microsoft.com/office/drawing/2014/main" id="{92490801-E9CC-4B4F-929D-7BFB8906E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9" y="3103"/>
              <a:ext cx="112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5" name="Text Box 296">
              <a:extLst>
                <a:ext uri="{FF2B5EF4-FFF2-40B4-BE49-F238E27FC236}">
                  <a16:creationId xmlns:a16="http://schemas.microsoft.com/office/drawing/2014/main" id="{FD25B60E-4E1E-4032-9705-37D9A7B10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3438"/>
              <a:ext cx="5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GB" altLang="zh-CN">
                  <a:solidFill>
                    <a:srgbClr val="FF3300"/>
                  </a:solidFill>
                </a:rPr>
                <a:t>2</a:t>
              </a:r>
              <a:r>
                <a:rPr kumimoji="0" lang="en-GB" altLang="zh-CN" i="1">
                  <a:solidFill>
                    <a:srgbClr val="FF3300"/>
                  </a:solidFill>
                </a:rPr>
                <a:t>LC</a:t>
              </a:r>
              <a:endParaRPr kumimoji="0" lang="en-US" altLang="zh-CN" baseline="30000">
                <a:solidFill>
                  <a:srgbClr val="FF33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0546" name="Rectangle 297">
              <a:extLst>
                <a:ext uri="{FF2B5EF4-FFF2-40B4-BE49-F238E27FC236}">
                  <a16:creationId xmlns:a16="http://schemas.microsoft.com/office/drawing/2014/main" id="{590899ED-BBEC-47B5-AFEE-9F9239C85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50"/>
              <a:ext cx="19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FF33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kumimoji="0" lang="en-US" altLang="zh-CN" u="sng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Group 335">
            <a:extLst>
              <a:ext uri="{FF2B5EF4-FFF2-40B4-BE49-F238E27FC236}">
                <a16:creationId xmlns:a16="http://schemas.microsoft.com/office/drawing/2014/main" id="{876A5D2D-AA40-42EC-BE51-EB2942807D2E}"/>
              </a:ext>
            </a:extLst>
          </p:cNvPr>
          <p:cNvGrpSpPr>
            <a:grpSpLocks/>
          </p:cNvGrpSpPr>
          <p:nvPr/>
        </p:nvGrpSpPr>
        <p:grpSpPr bwMode="auto">
          <a:xfrm>
            <a:off x="1857375" y="5703888"/>
            <a:ext cx="3144838" cy="881062"/>
            <a:chOff x="129" y="3557"/>
            <a:chExt cx="1981" cy="555"/>
          </a:xfrm>
        </p:grpSpPr>
        <p:sp>
          <p:nvSpPr>
            <p:cNvPr id="20522" name="Line 316">
              <a:extLst>
                <a:ext uri="{FF2B5EF4-FFF2-40B4-BE49-F238E27FC236}">
                  <a16:creationId xmlns:a16="http://schemas.microsoft.com/office/drawing/2014/main" id="{BBA579DD-0DB8-4F60-B606-7868F9267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3857"/>
              <a:ext cx="33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Text Box 317">
              <a:extLst>
                <a:ext uri="{FF2B5EF4-FFF2-40B4-BE49-F238E27FC236}">
                  <a16:creationId xmlns:a16="http://schemas.microsoft.com/office/drawing/2014/main" id="{0D79C58D-2153-4613-B393-6A148A1D5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" y="3795"/>
              <a:ext cx="41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600">
                  <a:solidFill>
                    <a:srgbClr val="0000FF"/>
                  </a:solidFill>
                </a:rPr>
                <a:t>2</a:t>
              </a:r>
              <a:r>
                <a:rPr kumimoji="0" lang="en-US" altLang="zh-CN" sz="2600" i="1">
                  <a:solidFill>
                    <a:srgbClr val="0000FF"/>
                  </a:solidFill>
                </a:rPr>
                <a:t>L</a:t>
              </a:r>
            </a:p>
          </p:txBody>
        </p:sp>
        <p:sp>
          <p:nvSpPr>
            <p:cNvPr id="20524" name="Text Box 318">
              <a:extLst>
                <a:ext uri="{FF2B5EF4-FFF2-40B4-BE49-F238E27FC236}">
                  <a16:creationId xmlns:a16="http://schemas.microsoft.com/office/drawing/2014/main" id="{A0A59592-1A1A-464F-8A0B-D1392187D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" y="3557"/>
              <a:ext cx="38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600">
                  <a:solidFill>
                    <a:srgbClr val="0000FF"/>
                  </a:solidFill>
                </a:rPr>
                <a:t> </a:t>
              </a:r>
              <a:r>
                <a:rPr kumimoji="0" lang="en-US" altLang="zh-CN" sz="2600" i="1">
                  <a:solidFill>
                    <a:srgbClr val="0000FF"/>
                  </a:solidFill>
                </a:rPr>
                <a:t>R</a:t>
              </a:r>
              <a:endParaRPr kumimoji="0" lang="en-US" altLang="zh-CN" sz="2600" i="1" baseline="-25000">
                <a:solidFill>
                  <a:srgbClr val="0000FF"/>
                </a:solidFill>
              </a:endParaRPr>
            </a:p>
          </p:txBody>
        </p:sp>
        <p:sp>
          <p:nvSpPr>
            <p:cNvPr id="20525" name="Rectangle 319">
              <a:extLst>
                <a:ext uri="{FF2B5EF4-FFF2-40B4-BE49-F238E27FC236}">
                  <a16:creationId xmlns:a16="http://schemas.microsoft.com/office/drawing/2014/main" id="{74EFB60F-4DB6-49E9-A13B-92451DE54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" y="3709"/>
              <a:ext cx="13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>
                  <a:solidFill>
                    <a:srgbClr val="0000FF"/>
                  </a:solidFill>
                  <a:cs typeface="Times New Roman" panose="02020603050405020304" pitchFamily="18" charset="0"/>
                </a:rPr>
                <a:t>(</a:t>
              </a:r>
              <a:endParaRPr kumimoji="0" lang="en-US" altLang="zh-CN" u="sng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526" name="Text Box 320">
              <a:extLst>
                <a:ext uri="{FF2B5EF4-FFF2-40B4-BE49-F238E27FC236}">
                  <a16:creationId xmlns:a16="http://schemas.microsoft.com/office/drawing/2014/main" id="{431CE0D7-D86E-4857-AD1B-ABC116810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3687"/>
              <a:ext cx="37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600">
                  <a:solidFill>
                    <a:srgbClr val="0000FF"/>
                  </a:solidFill>
                  <a:cs typeface="Times New Roman" panose="02020603050405020304" pitchFamily="18" charset="0"/>
                </a:rPr>
                <a:t>)</a:t>
              </a:r>
              <a:r>
                <a:rPr kumimoji="0" lang="en-US" altLang="zh-CN" sz="2600" baseline="30000">
                  <a:solidFill>
                    <a:srgbClr val="0000FF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527" name="Line 321">
              <a:extLst>
                <a:ext uri="{FF2B5EF4-FFF2-40B4-BE49-F238E27FC236}">
                  <a16:creationId xmlns:a16="http://schemas.microsoft.com/office/drawing/2014/main" id="{7DD17D27-BE01-4641-9C7A-2F0722147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3866"/>
              <a:ext cx="33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Text Box 322">
              <a:extLst>
                <a:ext uri="{FF2B5EF4-FFF2-40B4-BE49-F238E27FC236}">
                  <a16:creationId xmlns:a16="http://schemas.microsoft.com/office/drawing/2014/main" id="{F84148F9-E631-463C-9838-472EC377E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2" y="3804"/>
              <a:ext cx="41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600" i="1">
                  <a:solidFill>
                    <a:srgbClr val="0000FF"/>
                  </a:solidFill>
                </a:rPr>
                <a:t>LC</a:t>
              </a:r>
            </a:p>
          </p:txBody>
        </p:sp>
        <p:sp>
          <p:nvSpPr>
            <p:cNvPr id="20529" name="Text Box 323">
              <a:extLst>
                <a:ext uri="{FF2B5EF4-FFF2-40B4-BE49-F238E27FC236}">
                  <a16:creationId xmlns:a16="http://schemas.microsoft.com/office/drawing/2014/main" id="{0C3B7D91-E609-4F42-9EE2-8231D2A4A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" y="3576"/>
              <a:ext cx="31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600">
                  <a:solidFill>
                    <a:srgbClr val="0000FF"/>
                  </a:solidFill>
                </a:rPr>
                <a:t> 1</a:t>
              </a:r>
              <a:endParaRPr kumimoji="0" lang="en-US" altLang="zh-CN" sz="2600" baseline="-25000">
                <a:solidFill>
                  <a:srgbClr val="0000FF"/>
                </a:solidFill>
              </a:endParaRPr>
            </a:p>
          </p:txBody>
        </p:sp>
        <p:sp>
          <p:nvSpPr>
            <p:cNvPr id="20530" name="Rectangle 324">
              <a:extLst>
                <a:ext uri="{FF2B5EF4-FFF2-40B4-BE49-F238E27FC236}">
                  <a16:creationId xmlns:a16="http://schemas.microsoft.com/office/drawing/2014/main" id="{F309AFCF-C8F9-46D3-9431-91E2288BC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3" y="3709"/>
              <a:ext cx="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000">
                  <a:solidFill>
                    <a:srgbClr val="0000FF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kumimoji="0" lang="en-US" altLang="zh-CN" sz="3000" u="sng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20531" name="Group 325">
              <a:extLst>
                <a:ext uri="{FF2B5EF4-FFF2-40B4-BE49-F238E27FC236}">
                  <a16:creationId xmlns:a16="http://schemas.microsoft.com/office/drawing/2014/main" id="{4C2CC4D3-EC93-4271-A7D3-9874CD3CAF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" y="3908"/>
              <a:ext cx="75" cy="123"/>
              <a:chOff x="392" y="688"/>
              <a:chExt cx="75" cy="125"/>
            </a:xfrm>
          </p:grpSpPr>
          <p:sp>
            <p:nvSpPr>
              <p:cNvPr id="20536" name="Line 326">
                <a:extLst>
                  <a:ext uri="{FF2B5EF4-FFF2-40B4-BE49-F238E27FC236}">
                    <a16:creationId xmlns:a16="http://schemas.microsoft.com/office/drawing/2014/main" id="{272B7BF1-A65E-44C8-B7E1-65AAA5A15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" y="689"/>
                <a:ext cx="58" cy="1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7" name="Line 327">
                <a:extLst>
                  <a:ext uri="{FF2B5EF4-FFF2-40B4-BE49-F238E27FC236}">
                    <a16:creationId xmlns:a16="http://schemas.microsoft.com/office/drawing/2014/main" id="{4433D7B5-2E25-4A60-BC86-0D64A7A83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92" y="688"/>
                <a:ext cx="20" cy="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32" name="Line 328">
              <a:extLst>
                <a:ext uri="{FF2B5EF4-FFF2-40B4-BE49-F238E27FC236}">
                  <a16:creationId xmlns:a16="http://schemas.microsoft.com/office/drawing/2014/main" id="{0650D1C7-C44F-43EE-99D9-DDAE2AD04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3618"/>
              <a:ext cx="10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Line 330">
              <a:extLst>
                <a:ext uri="{FF2B5EF4-FFF2-40B4-BE49-F238E27FC236}">
                  <a16:creationId xmlns:a16="http://schemas.microsoft.com/office/drawing/2014/main" id="{ED6FCA30-91E3-41A0-AF9B-DE394F4EA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" y="3626"/>
              <a:ext cx="82" cy="4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Rectangle 331">
              <a:extLst>
                <a:ext uri="{FF2B5EF4-FFF2-40B4-BE49-F238E27FC236}">
                  <a16:creationId xmlns:a16="http://schemas.microsoft.com/office/drawing/2014/main" id="{8EB1CA80-5035-4768-BB79-164750049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" y="363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>
                  <a:solidFill>
                    <a:srgbClr val="0000FF"/>
                  </a:solidFill>
                  <a:ea typeface="华文中宋" panose="02010600040101010101" pitchFamily="2" charset="-122"/>
                </a:rPr>
                <a:t>令</a:t>
              </a:r>
            </a:p>
          </p:txBody>
        </p:sp>
        <p:sp>
          <p:nvSpPr>
            <p:cNvPr id="20535" name="Rectangle 332">
              <a:extLst>
                <a:ext uri="{FF2B5EF4-FFF2-40B4-BE49-F238E27FC236}">
                  <a16:creationId xmlns:a16="http://schemas.microsoft.com/office/drawing/2014/main" id="{51A52B25-0ADA-4CA4-9088-2FD1D0126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3686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>
                  <a:solidFill>
                    <a:srgbClr val="0000FF"/>
                  </a:solidFill>
                  <a:cs typeface="Times New Roman" panose="02020603050405020304" pitchFamily="18" charset="0"/>
                </a:rPr>
                <a:t>=</a:t>
              </a:r>
              <a:r>
                <a:rPr kumimoji="0" lang="en-US" altLang="zh-CN" baseline="-2500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kumimoji="0" lang="en-US" altLang="zh-CN">
                  <a:solidFill>
                    <a:srgbClr val="0000FF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DA48EA6-3E7F-47E1-AA28-0C7AB8127D2F}"/>
              </a:ext>
            </a:extLst>
          </p:cNvPr>
          <p:cNvSpPr/>
          <p:nvPr/>
        </p:nvSpPr>
        <p:spPr bwMode="auto">
          <a:xfrm>
            <a:off x="5653088" y="5703888"/>
            <a:ext cx="4721835" cy="881062"/>
          </a:xfrm>
          <a:prstGeom prst="rect">
            <a:avLst/>
          </a:prstGeom>
          <a:solidFill>
            <a:srgbClr val="FF0000">
              <a:alpha val="52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A7C354-3DD5-4B9D-B6CF-50F22730B909}"/>
              </a:ext>
            </a:extLst>
          </p:cNvPr>
          <p:cNvSpPr txBox="1"/>
          <p:nvPr/>
        </p:nvSpPr>
        <p:spPr>
          <a:xfrm>
            <a:off x="10505463" y="957262"/>
            <a:ext cx="945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非振荡性衰减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1F97C1-0C8E-49B8-AB26-7F791432A4E2}"/>
              </a:ext>
            </a:extLst>
          </p:cNvPr>
          <p:cNvSpPr txBox="1"/>
          <p:nvPr/>
        </p:nvSpPr>
        <p:spPr>
          <a:xfrm>
            <a:off x="10485439" y="1863941"/>
            <a:ext cx="945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无振荡衰减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BFAF42-0DD2-4780-91D9-A9DA2802D128}"/>
              </a:ext>
            </a:extLst>
          </p:cNvPr>
          <p:cNvSpPr txBox="1"/>
          <p:nvPr/>
        </p:nvSpPr>
        <p:spPr>
          <a:xfrm>
            <a:off x="10473716" y="2749984"/>
            <a:ext cx="945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振荡衰减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6994CB-0854-43D9-9212-98A567B4DED7}"/>
              </a:ext>
            </a:extLst>
          </p:cNvPr>
          <p:cNvSpPr txBox="1"/>
          <p:nvPr/>
        </p:nvSpPr>
        <p:spPr>
          <a:xfrm>
            <a:off x="10473716" y="3604221"/>
            <a:ext cx="945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无衰减等幅振荡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3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3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54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09"/>
          <p:cNvSpPr/>
          <p:nvPr/>
        </p:nvSpPr>
        <p:spPr>
          <a:xfrm>
            <a:off x="2859088" y="127000"/>
            <a:ext cx="8157674" cy="5847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rgbClr val="33CC33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GCL</a:t>
            </a:r>
            <a:r>
              <a:rPr lang="zh-CN" altLang="en-US" sz="3200" dirty="0">
                <a:solidFill>
                  <a:srgbClr val="33CC33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并联电路，四种不同情况的比较</a:t>
            </a:r>
          </a:p>
        </p:txBody>
      </p:sp>
      <p:graphicFrame>
        <p:nvGraphicFramePr>
          <p:cNvPr id="573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48748"/>
              </p:ext>
            </p:extLst>
          </p:nvPr>
        </p:nvGraphicFramePr>
        <p:xfrm>
          <a:off x="1735138" y="839788"/>
          <a:ext cx="8750301" cy="3846846"/>
        </p:xfrm>
        <a:graphic>
          <a:graphicData uri="http://schemas.openxmlformats.org/drawingml/2006/table">
            <a:tbl>
              <a:tblPr/>
              <a:tblGrid>
                <a:gridCol w="982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5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689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anose="02020603050405020304" pitchFamily="18" charset="0"/>
                          <a:ea typeface="方正姚体" panose="02010601030101010101" pitchFamily="2" charset="-122"/>
                        </a:rPr>
                        <a:t>过阻尼</a:t>
                      </a:r>
                    </a:p>
                  </a:txBody>
                  <a:tcPr marL="90000" marR="90000" marT="46785" marB="467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G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&gt;G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zh-CN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不相等的负实数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=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–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、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=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–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anose="02020603050405020304" pitchFamily="18" charset="0"/>
                          <a:ea typeface="方正姚体" panose="02010601030101010101" pitchFamily="2" charset="-122"/>
                        </a:rPr>
                        <a:t>临界阻尼</a:t>
                      </a:r>
                    </a:p>
                  </a:txBody>
                  <a:tcPr marL="90000" marR="90000" marT="46785" marB="467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=G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zh-CN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相等的负实数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=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=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–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</a:t>
                      </a: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89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anose="02020603050405020304" pitchFamily="18" charset="0"/>
                          <a:ea typeface="方正姚体" panose="02010601030101010101" pitchFamily="2" charset="-122"/>
                        </a:rPr>
                        <a:t>欠阻尼</a:t>
                      </a:r>
                    </a:p>
                  </a:txBody>
                  <a:tcPr marL="90000" marR="90000" marT="46785" marB="467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&lt;G</a:t>
                      </a:r>
                      <a:r>
                        <a:rPr kumimoji="1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zh-CN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一对共轭复数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629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33FF"/>
                          </a:solidFill>
                          <a:effectLst/>
                          <a:latin typeface="Times New Roman" panose="02020603050405020304" pitchFamily="18" charset="0"/>
                          <a:ea typeface="方正姚体" panose="02010601030101010101" pitchFamily="2" charset="-122"/>
                        </a:rPr>
                        <a:t>无阻尼</a:t>
                      </a:r>
                    </a:p>
                  </a:txBody>
                  <a:tcPr marL="90000" marR="90000" marT="46785" marB="467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 = 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一对共轭虚数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90000" marR="90000" marT="46785" marB="467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7134" name="Group 176"/>
          <p:cNvGrpSpPr/>
          <p:nvPr/>
        </p:nvGrpSpPr>
        <p:grpSpPr>
          <a:xfrm>
            <a:off x="2201863" y="4841875"/>
            <a:ext cx="3783012" cy="885825"/>
            <a:chOff x="331" y="1095"/>
            <a:chExt cx="2383" cy="558"/>
          </a:xfrm>
        </p:grpSpPr>
        <p:sp>
          <p:nvSpPr>
            <p:cNvPr id="47153" name="Line 18"/>
            <p:cNvSpPr/>
            <p:nvPr/>
          </p:nvSpPr>
          <p:spPr>
            <a:xfrm>
              <a:off x="858" y="1380"/>
              <a:ext cx="339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4" name="Text Box 19"/>
            <p:cNvSpPr txBox="1"/>
            <p:nvPr/>
          </p:nvSpPr>
          <p:spPr>
            <a:xfrm>
              <a:off x="847" y="1317"/>
              <a:ext cx="4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7155" name="Text Box 20"/>
            <p:cNvSpPr txBox="1"/>
            <p:nvPr/>
          </p:nvSpPr>
          <p:spPr>
            <a:xfrm>
              <a:off x="842" y="1095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2000" i="1" baseline="-250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56" name="Rectangle 21"/>
            <p:cNvSpPr/>
            <p:nvPr/>
          </p:nvSpPr>
          <p:spPr>
            <a:xfrm>
              <a:off x="331" y="1253"/>
              <a:ext cx="62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000" baseline="-25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</a:t>
              </a: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chemeClr val="tx2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lang="en-US" altLang="zh-CN" dirty="0">
                <a:solidFill>
                  <a:schemeClr val="tx2"/>
                </a:solidFill>
                <a:latin typeface="宋体" panose="02010600030101010101" pitchFamily="2" charset="-122"/>
                <a:ea typeface="Times New Roman" panose="02020603050405020304" pitchFamily="18" charset="0"/>
              </a:endParaRPr>
            </a:p>
          </p:txBody>
        </p:sp>
        <p:sp>
          <p:nvSpPr>
            <p:cNvPr id="47157" name="Text Box 22"/>
            <p:cNvSpPr txBox="1"/>
            <p:nvPr/>
          </p:nvSpPr>
          <p:spPr>
            <a:xfrm>
              <a:off x="1149" y="1207"/>
              <a:ext cx="2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±</a:t>
              </a:r>
              <a:endParaRPr lang="en-US" altLang="zh-CN" baseline="30000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7158" name="Line 24"/>
            <p:cNvSpPr/>
            <p:nvPr/>
          </p:nvSpPr>
          <p:spPr>
            <a:xfrm flipV="1">
              <a:off x="1484" y="1135"/>
              <a:ext cx="82" cy="419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9" name="Line 26"/>
            <p:cNvSpPr/>
            <p:nvPr/>
          </p:nvSpPr>
          <p:spPr>
            <a:xfrm>
              <a:off x="1426" y="1430"/>
              <a:ext cx="58" cy="124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0" name="Line 27"/>
            <p:cNvSpPr/>
            <p:nvPr/>
          </p:nvSpPr>
          <p:spPr>
            <a:xfrm rot="-10800000" flipH="1">
              <a:off x="1409" y="1429"/>
              <a:ext cx="20" cy="24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1" name="Line 28"/>
            <p:cNvSpPr/>
            <p:nvPr/>
          </p:nvSpPr>
          <p:spPr>
            <a:xfrm>
              <a:off x="1562" y="1135"/>
              <a:ext cx="1088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2" name="Line 29"/>
            <p:cNvSpPr/>
            <p:nvPr/>
          </p:nvSpPr>
          <p:spPr>
            <a:xfrm>
              <a:off x="1651" y="1380"/>
              <a:ext cx="339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3" name="Text Box 30"/>
            <p:cNvSpPr txBox="1"/>
            <p:nvPr/>
          </p:nvSpPr>
          <p:spPr>
            <a:xfrm>
              <a:off x="1640" y="1317"/>
              <a:ext cx="4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7164" name="Text Box 31"/>
            <p:cNvSpPr txBox="1"/>
            <p:nvPr/>
          </p:nvSpPr>
          <p:spPr>
            <a:xfrm>
              <a:off x="1635" y="1095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2000" i="1" baseline="-250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65" name="Rectangle 32"/>
            <p:cNvSpPr/>
            <p:nvPr/>
          </p:nvSpPr>
          <p:spPr>
            <a:xfrm>
              <a:off x="1560" y="1229"/>
              <a:ext cx="131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u="sng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166" name="Text Box 33"/>
            <p:cNvSpPr txBox="1"/>
            <p:nvPr/>
          </p:nvSpPr>
          <p:spPr>
            <a:xfrm>
              <a:off x="1942" y="1207"/>
              <a:ext cx="3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baseline="30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30000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7167" name="Line 34"/>
            <p:cNvSpPr/>
            <p:nvPr/>
          </p:nvSpPr>
          <p:spPr>
            <a:xfrm>
              <a:off x="2311" y="1389"/>
              <a:ext cx="339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68" name="Text Box 35"/>
            <p:cNvSpPr txBox="1"/>
            <p:nvPr/>
          </p:nvSpPr>
          <p:spPr>
            <a:xfrm>
              <a:off x="2300" y="1326"/>
              <a:ext cx="4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LC</a:t>
              </a:r>
            </a:p>
          </p:txBody>
        </p:sp>
        <p:sp>
          <p:nvSpPr>
            <p:cNvPr id="47169" name="Text Box 36"/>
            <p:cNvSpPr txBox="1"/>
            <p:nvPr/>
          </p:nvSpPr>
          <p:spPr>
            <a:xfrm>
              <a:off x="2295" y="1104"/>
              <a:ext cx="3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1</a:t>
              </a:r>
              <a:endParaRPr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70" name="Rectangle 37"/>
            <p:cNvSpPr/>
            <p:nvPr/>
          </p:nvSpPr>
          <p:spPr>
            <a:xfrm>
              <a:off x="2172" y="1238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dirty="0">
                  <a:solidFill>
                    <a:schemeClr val="tx2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endParaRPr lang="en-US" altLang="zh-CN" u="sng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689308" name="Text Box 156"/>
          <p:cNvSpPr txBox="1"/>
          <p:nvPr/>
        </p:nvSpPr>
        <p:spPr>
          <a:xfrm>
            <a:off x="6567488" y="4984750"/>
            <a:ext cx="1647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阻尼电导</a:t>
            </a:r>
          </a:p>
        </p:txBody>
      </p:sp>
      <p:grpSp>
        <p:nvGrpSpPr>
          <p:cNvPr id="4" name="Group 180"/>
          <p:cNvGrpSpPr/>
          <p:nvPr/>
        </p:nvGrpSpPr>
        <p:grpSpPr>
          <a:xfrm>
            <a:off x="8320088" y="4629151"/>
            <a:ext cx="1754187" cy="1133475"/>
            <a:chOff x="4422" y="517"/>
            <a:chExt cx="1105" cy="714"/>
          </a:xfrm>
        </p:grpSpPr>
        <p:sp>
          <p:nvSpPr>
            <p:cNvPr id="47146" name="Rectangle 157"/>
            <p:cNvSpPr/>
            <p:nvPr/>
          </p:nvSpPr>
          <p:spPr>
            <a:xfrm>
              <a:off x="4422" y="772"/>
              <a:ext cx="110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baseline="-25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 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2</a:t>
              </a:r>
              <a:r>
                <a:rPr lang="en-GB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altLang="zh-CN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GB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—</a:t>
              </a:r>
              <a:endParaRPr lang="en-US" altLang="zh-CN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7" name="Line 158"/>
            <p:cNvSpPr/>
            <p:nvPr/>
          </p:nvSpPr>
          <p:spPr>
            <a:xfrm flipV="1">
              <a:off x="4810" y="647"/>
              <a:ext cx="106" cy="483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8" name="Line 160"/>
            <p:cNvSpPr/>
            <p:nvPr/>
          </p:nvSpPr>
          <p:spPr>
            <a:xfrm>
              <a:off x="4751" y="1007"/>
              <a:ext cx="58" cy="124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9" name="Line 161"/>
            <p:cNvSpPr/>
            <p:nvPr/>
          </p:nvSpPr>
          <p:spPr>
            <a:xfrm rot="10800000" flipH="1">
              <a:off x="4731" y="1016"/>
              <a:ext cx="20" cy="24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0" name="Text Box 162"/>
            <p:cNvSpPr txBox="1"/>
            <p:nvPr/>
          </p:nvSpPr>
          <p:spPr>
            <a:xfrm>
              <a:off x="4883" y="904"/>
              <a:ext cx="4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7151" name="Text Box 163"/>
            <p:cNvSpPr txBox="1"/>
            <p:nvPr/>
          </p:nvSpPr>
          <p:spPr>
            <a:xfrm>
              <a:off x="4886" y="641"/>
              <a:ext cx="3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000" i="1" baseline="-250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52" name="Rectangle 164"/>
            <p:cNvSpPr/>
            <p:nvPr/>
          </p:nvSpPr>
          <p:spPr>
            <a:xfrm>
              <a:off x="4810" y="517"/>
              <a:ext cx="4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—</a:t>
              </a:r>
            </a:p>
          </p:txBody>
        </p:sp>
      </p:grpSp>
      <p:graphicFrame>
        <p:nvGraphicFramePr>
          <p:cNvPr id="47137" name="Object 331"/>
          <p:cNvGraphicFramePr>
            <a:graphicFrameLocks noChangeAspect="1"/>
          </p:cNvGraphicFramePr>
          <p:nvPr/>
        </p:nvGraphicFramePr>
        <p:xfrm>
          <a:off x="4032250" y="3132138"/>
          <a:ext cx="23653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8" r:id="rId3" imgW="2137410" imgH="353695" progId="Equation.3">
                  <p:embed/>
                </p:oleObj>
              </mc:Choice>
              <mc:Fallback>
                <p:oleObj r:id="rId3" imgW="2137410" imgH="353695" progId="Equation.3">
                  <p:embed/>
                  <p:pic>
                    <p:nvPicPr>
                      <p:cNvPr id="47137" name="Object 33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32250" y="3132138"/>
                        <a:ext cx="236537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8" name="Object 335"/>
          <p:cNvGraphicFramePr>
            <a:graphicFrameLocks noChangeAspect="1"/>
          </p:cNvGraphicFramePr>
          <p:nvPr/>
        </p:nvGraphicFramePr>
        <p:xfrm>
          <a:off x="4146550" y="4259263"/>
          <a:ext cx="19780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9" r:id="rId5" imgW="1677035" imgH="353695" progId="Equation.3">
                  <p:embed/>
                </p:oleObj>
              </mc:Choice>
              <mc:Fallback>
                <p:oleObj r:id="rId5" imgW="1677035" imgH="353695" progId="Equation.3">
                  <p:embed/>
                  <p:pic>
                    <p:nvPicPr>
                      <p:cNvPr id="47138" name="Object 33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6550" y="4259263"/>
                        <a:ext cx="1978025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56"/>
          <p:cNvSpPr txBox="1"/>
          <p:nvPr/>
        </p:nvSpPr>
        <p:spPr>
          <a:xfrm>
            <a:off x="555625" y="5721350"/>
            <a:ext cx="111379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可从物理概念上分析为何在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RLC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串联电路中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为过阻尼，而在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CL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并联电路中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为过阻尼</a:t>
            </a:r>
          </a:p>
        </p:txBody>
      </p:sp>
      <p:graphicFrame>
        <p:nvGraphicFramePr>
          <p:cNvPr id="47140" name="Object 273"/>
          <p:cNvGraphicFramePr>
            <a:graphicFrameLocks noChangeAspect="1"/>
          </p:cNvGraphicFramePr>
          <p:nvPr/>
        </p:nvGraphicFramePr>
        <p:xfrm>
          <a:off x="6626225" y="1112838"/>
          <a:ext cx="370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0" r:id="rId7" imgW="3253740" imgH="364490" progId="Equation.3">
                  <p:embed/>
                </p:oleObj>
              </mc:Choice>
              <mc:Fallback>
                <p:oleObj r:id="rId7" imgW="3253740" imgH="364490" progId="Equation.3">
                  <p:embed/>
                  <p:pic>
                    <p:nvPicPr>
                      <p:cNvPr id="47140" name="Object 27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26225" y="1112838"/>
                        <a:ext cx="3708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1" name="Object 274"/>
          <p:cNvGraphicFramePr>
            <a:graphicFrameLocks noChangeAspect="1"/>
          </p:cNvGraphicFramePr>
          <p:nvPr/>
        </p:nvGraphicFramePr>
        <p:xfrm>
          <a:off x="6653213" y="2011363"/>
          <a:ext cx="372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1" r:id="rId9" imgW="3270250" imgH="364490" progId="Equation.3">
                  <p:embed/>
                </p:oleObj>
              </mc:Choice>
              <mc:Fallback>
                <p:oleObj r:id="rId9" imgW="3270250" imgH="364490" progId="Equation.3">
                  <p:embed/>
                  <p:pic>
                    <p:nvPicPr>
                      <p:cNvPr id="47141" name="Object 27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53213" y="2011363"/>
                        <a:ext cx="3721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2" name="Object 348"/>
          <p:cNvGraphicFramePr>
            <a:graphicFrameLocks noChangeAspect="1"/>
          </p:cNvGraphicFramePr>
          <p:nvPr/>
        </p:nvGraphicFramePr>
        <p:xfrm>
          <a:off x="7404100" y="2921000"/>
          <a:ext cx="27273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r:id="rId11" imgW="2653665" imgH="392430" progId="Equation.3">
                  <p:embed/>
                </p:oleObj>
              </mc:Choice>
              <mc:Fallback>
                <p:oleObj r:id="rId11" imgW="2653665" imgH="392430" progId="Equation.3">
                  <p:embed/>
                  <p:pic>
                    <p:nvPicPr>
                      <p:cNvPr id="47142" name="Object 34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04100" y="2921000"/>
                        <a:ext cx="272732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3" name="Object 347"/>
          <p:cNvGraphicFramePr>
            <a:graphicFrameLocks noChangeAspect="1"/>
          </p:cNvGraphicFramePr>
          <p:nvPr/>
        </p:nvGraphicFramePr>
        <p:xfrm>
          <a:off x="7540625" y="3875088"/>
          <a:ext cx="2301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r:id="rId13" imgW="2092325" imgH="347980" progId="Equation.3">
                  <p:embed/>
                </p:oleObj>
              </mc:Choice>
              <mc:Fallback>
                <p:oleObj r:id="rId13" imgW="2092325" imgH="347980" progId="Equation.3">
                  <p:embed/>
                  <p:pic>
                    <p:nvPicPr>
                      <p:cNvPr id="47143" name="Object 34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40625" y="3875088"/>
                        <a:ext cx="2301875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4" name="Rectangle 65"/>
          <p:cNvSpPr/>
          <p:nvPr/>
        </p:nvSpPr>
        <p:spPr>
          <a:xfrm>
            <a:off x="6470650" y="2865438"/>
            <a:ext cx="111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(t)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145" name="Rectangle 66"/>
          <p:cNvSpPr/>
          <p:nvPr/>
        </p:nvSpPr>
        <p:spPr>
          <a:xfrm>
            <a:off x="6623050" y="3779838"/>
            <a:ext cx="111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(t)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52BC3A2-75AC-479E-ACE1-B822A905C0A0}"/>
              </a:ext>
            </a:extLst>
          </p:cNvPr>
          <p:cNvSpPr/>
          <p:nvPr/>
        </p:nvSpPr>
        <p:spPr bwMode="auto">
          <a:xfrm>
            <a:off x="6110288" y="4768057"/>
            <a:ext cx="4721835" cy="881062"/>
          </a:xfrm>
          <a:prstGeom prst="rect">
            <a:avLst/>
          </a:prstGeom>
          <a:solidFill>
            <a:srgbClr val="FF0000">
              <a:alpha val="52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8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308" grpId="0"/>
      <p:bldP spid="2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4372</TotalTime>
  <Words>8081</Words>
  <Application>Microsoft Office PowerPoint</Application>
  <PresentationFormat>Widescreen</PresentationFormat>
  <Paragraphs>1141</Paragraphs>
  <Slides>56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21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85" baseType="lpstr">
      <vt:lpstr>Malgun Gothic Semilight</vt:lpstr>
      <vt:lpstr>MS UI Gothic</vt:lpstr>
      <vt:lpstr>方正姚体</vt:lpstr>
      <vt:lpstr>黑体</vt:lpstr>
      <vt:lpstr>华文彩云</vt:lpstr>
      <vt:lpstr>华文楷体</vt:lpstr>
      <vt:lpstr>华文新魏</vt:lpstr>
      <vt:lpstr>华文中宋</vt:lpstr>
      <vt:lpstr>金长城黑体</vt:lpstr>
      <vt:lpstr>金长城美黑体</vt:lpstr>
      <vt:lpstr>楷体_GB2312</vt:lpstr>
      <vt:lpstr>隶书</vt:lpstr>
      <vt:lpstr>宋体</vt:lpstr>
      <vt:lpstr>宋体-方正超大字符集</vt:lpstr>
      <vt:lpstr>长城行楷体</vt:lpstr>
      <vt:lpstr>Arial</vt:lpstr>
      <vt:lpstr>Calibri</vt:lpstr>
      <vt:lpstr>Symbol</vt:lpstr>
      <vt:lpstr>Tahoma</vt:lpstr>
      <vt:lpstr>Times New Roman</vt:lpstr>
      <vt:lpstr>Wingdings</vt:lpstr>
      <vt:lpstr>WPS</vt:lpstr>
      <vt:lpstr>空演示文稿</vt:lpstr>
      <vt:lpstr>2_空演示文稿</vt:lpstr>
      <vt:lpstr>3_空演示文稿</vt:lpstr>
      <vt:lpstr>1_空演示文稿</vt:lpstr>
      <vt:lpstr>Equation.3</vt:lpstr>
      <vt:lpstr>Microsoft Visio 2003-2010 Drawing</vt:lpstr>
      <vt:lpstr>Microsoft 公式 3.0</vt:lpstr>
      <vt:lpstr>电路分析基础（上册）</vt:lpstr>
      <vt:lpstr>PowerPoint Presentation</vt:lpstr>
      <vt:lpstr>第一章   集总参数电路中电压、电流的约束关系</vt:lpstr>
      <vt:lpstr>PowerPoint Presentation</vt:lpstr>
      <vt:lpstr>PowerPoint Presentation</vt:lpstr>
      <vt:lpstr>PowerPoint Presentation</vt:lpstr>
      <vt:lpstr>PowerPoint Presentation</vt:lpstr>
      <vt:lpstr>§1-8   两类约束，KCL与KVL方程的独立性</vt:lpstr>
      <vt:lpstr>PowerPoint Presentation</vt:lpstr>
      <vt:lpstr>PowerPoint Presentation</vt:lpstr>
      <vt:lpstr>第二章    网孔分析和节点分析</vt:lpstr>
      <vt:lpstr>PowerPoint Presentation</vt:lpstr>
      <vt:lpstr>§2-2  节点分析</vt:lpstr>
      <vt:lpstr>PowerPoint Presentation</vt:lpstr>
      <vt:lpstr>PowerPoint Presentation</vt:lpstr>
      <vt:lpstr>第三章   叠加方法与网络函数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§4-6  戴维南定理</vt:lpstr>
      <vt:lpstr>§4-7  诺顿定理</vt:lpstr>
      <vt:lpstr>PowerPoint Presentation</vt:lpstr>
      <vt:lpstr>PowerPoint Presentation</vt:lpstr>
      <vt:lpstr>§4-8  最大功率传递定理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XXX</dc:creator>
  <cp:lastModifiedBy>xinxin.xie xinxin.xie</cp:lastModifiedBy>
  <cp:revision>30</cp:revision>
  <dcterms:created xsi:type="dcterms:W3CDTF">2023-08-09T12:44:00Z</dcterms:created>
  <dcterms:modified xsi:type="dcterms:W3CDTF">2026-06-15T02:20:39Z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A2626A8406674D9BB39A5E4D8197C9CD_12</vt:lpwstr>
  </property>
</Properties>
</file>