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5"/>
  </p:notesMasterIdLst>
  <p:sldIdLst>
    <p:sldId id="256" r:id="rId2"/>
    <p:sldId id="257" r:id="rId3"/>
    <p:sldId id="259" r:id="rId4"/>
    <p:sldId id="264" r:id="rId5"/>
    <p:sldId id="272" r:id="rId6"/>
    <p:sldId id="260" r:id="rId7"/>
    <p:sldId id="263" r:id="rId8"/>
    <p:sldId id="262" r:id="rId9"/>
    <p:sldId id="261" r:id="rId10"/>
    <p:sldId id="266" r:id="rId11"/>
    <p:sldId id="265" r:id="rId12"/>
    <p:sldId id="267" r:id="rId13"/>
    <p:sldId id="258" r:id="rId14"/>
  </p:sldIdLst>
  <p:sldSz cx="12192000" cy="6858000"/>
  <p:notesSz cx="6858000" cy="9144000"/>
  <p:embeddedFontLst>
    <p:embeddedFont>
      <p:font typeface="得意黑" pitchFamily="2" charset="-122"/>
      <p:italic r:id="rId16"/>
    </p:embeddedFont>
    <p:embeddedFont>
      <p:font typeface="等线" panose="02010600030101010101" pitchFamily="2" charset="-122"/>
      <p:regular r:id="rId17"/>
      <p:bold r:id="rId18"/>
    </p:embeddedFont>
    <p:embeddedFont>
      <p:font typeface="等线 Light" panose="02010600030101010101" pitchFamily="2" charset="-122"/>
      <p:regular r:id="rId19"/>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50" userDrawn="1">
          <p15:clr>
            <a:srgbClr val="A4A3A4"/>
          </p15:clr>
        </p15:guide>
        <p15:guide id="2" pos="386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93" autoAdjust="0"/>
    <p:restoredTop sz="94660"/>
  </p:normalViewPr>
  <p:slideViewPr>
    <p:cSldViewPr snapToGrid="0" showGuides="1">
      <p:cViewPr varScale="1">
        <p:scale>
          <a:sx n="90" d="100"/>
          <a:sy n="90" d="100"/>
        </p:scale>
        <p:origin x="200" y="72"/>
      </p:cViewPr>
      <p:guideLst>
        <p:guide orient="horz" pos="2150"/>
        <p:guide pos="3866"/>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AF6F9B7-A18D-47AA-9399-18C58217A142}" type="datetimeFigureOut">
              <a:rPr lang="zh-CN" altLang="en-US" smtClean="0"/>
              <a:t>2026/5/8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9E67E73-0ED3-464E-8E07-242A6B763394}"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9E67E73-0ED3-464E-8E07-242A6B763394}" type="slidenum">
              <a:rPr lang="zh-CN" altLang="en-US" smtClean="0"/>
              <a:t>7</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7A1BD88A-C6B6-4442-9013-4E0FA3C22231}" type="datetimeFigureOut">
              <a:rPr lang="zh-CN" altLang="en-US" smtClean="0"/>
              <a:t>2026/5/8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81FC014-3A43-41A6-9084-7051EA3E62D0}"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7A1BD88A-C6B6-4442-9013-4E0FA3C22231}" type="datetimeFigureOut">
              <a:rPr lang="zh-CN" altLang="en-US" smtClean="0"/>
              <a:t>2026/5/8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81FC014-3A43-41A6-9084-7051EA3E62D0}"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7A1BD88A-C6B6-4442-9013-4E0FA3C22231}" type="datetimeFigureOut">
              <a:rPr lang="zh-CN" altLang="en-US" smtClean="0"/>
              <a:t>2026/5/8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81FC014-3A43-41A6-9084-7051EA3E62D0}"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7A1BD88A-C6B6-4442-9013-4E0FA3C22231}" type="datetimeFigureOut">
              <a:rPr lang="zh-CN" altLang="en-US" smtClean="0"/>
              <a:t>2026/5/8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81FC014-3A43-41A6-9084-7051EA3E62D0}"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7A1BD88A-C6B6-4442-9013-4E0FA3C22231}" type="datetimeFigureOut">
              <a:rPr lang="zh-CN" altLang="en-US" smtClean="0"/>
              <a:t>2026/5/8</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181FC014-3A43-41A6-9084-7051EA3E62D0}"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A1BD88A-C6B6-4442-9013-4E0FA3C22231}" type="datetimeFigureOut">
              <a:rPr lang="zh-CN" altLang="en-US" smtClean="0"/>
              <a:t>2026/5/8</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181FC014-3A43-41A6-9084-7051EA3E62D0}"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A1BD88A-C6B6-4442-9013-4E0FA3C22231}" type="datetimeFigureOut">
              <a:rPr lang="zh-CN" altLang="en-US" smtClean="0"/>
              <a:t>2026/5/8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181FC014-3A43-41A6-9084-7051EA3E62D0}"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7A1BD88A-C6B6-4442-9013-4E0FA3C22231}" type="datetimeFigureOut">
              <a:rPr lang="zh-CN" altLang="en-US" smtClean="0"/>
              <a:t>2026/5/8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81FC014-3A43-41A6-9084-7051EA3E62D0}"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7A1BD88A-C6B6-4442-9013-4E0FA3C22231}" type="datetimeFigureOut">
              <a:rPr lang="zh-CN" altLang="en-US" smtClean="0"/>
              <a:t>2026/5/8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81FC014-3A43-41A6-9084-7051EA3E62D0}"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7A1BD88A-C6B6-4442-9013-4E0FA3C22231}" type="datetimeFigureOut">
              <a:rPr lang="zh-CN" altLang="en-US" smtClean="0"/>
              <a:t>2026/5/8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81FC014-3A43-41A6-9084-7051EA3E62D0}"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7A1BD88A-C6B6-4442-9013-4E0FA3C22231}" type="datetimeFigureOut">
              <a:rPr lang="zh-CN" altLang="en-US" smtClean="0"/>
              <a:t>2026/5/8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81FC014-3A43-41A6-9084-7051EA3E62D0}"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A1BD88A-C6B6-4442-9013-4E0FA3C22231}" type="datetimeFigureOut">
              <a:rPr lang="zh-CN" altLang="en-US" smtClean="0"/>
              <a:t>2026/5/8</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81FC014-3A43-41A6-9084-7051EA3E62D0}"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image" Target="../media/image12.jpeg"/><Relationship Id="rId5" Type="http://schemas.openxmlformats.org/officeDocument/2006/relationships/image" Target="../media/image11.png"/><Relationship Id="rId4" Type="http://schemas.openxmlformats.org/officeDocument/2006/relationships/image" Target="../media/image10.jpeg"/></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16.jpe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15.jpeg"/><Relationship Id="rId5" Type="http://schemas.openxmlformats.org/officeDocument/2006/relationships/image" Target="../media/image14.jpeg"/><Relationship Id="rId4" Type="http://schemas.openxmlformats.org/officeDocument/2006/relationships/image" Target="../media/image13.jpeg"/></Relationships>
</file>

<file path=ppt/slides/_rels/slide8.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image" Target="../media/image20.jpeg"/><Relationship Id="rId5" Type="http://schemas.openxmlformats.org/officeDocument/2006/relationships/image" Target="../media/image19.jpeg"/><Relationship Id="rId4" Type="http://schemas.openxmlformats.org/officeDocument/2006/relationships/image" Target="../media/image18.jpeg"/></Relationships>
</file>

<file path=ppt/slides/_rels/slide9.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1.jpeg"/><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1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descr="100+ Chip Pictures [HD] | Download Free Images on Unsplash"/>
          <p:cNvPicPr>
            <a:picLocks noChangeAspect="1"/>
          </p:cNvPicPr>
          <p:nvPr/>
        </p:nvPicPr>
        <p:blipFill>
          <a:blip r:embed="rId2"/>
          <a:stretch>
            <a:fillRect/>
          </a:stretch>
        </p:blipFill>
        <p:spPr>
          <a:xfrm>
            <a:off x="0" y="0"/>
            <a:ext cx="12188389" cy="6858000"/>
          </a:xfrm>
          <a:prstGeom prst="rect">
            <a:avLst/>
          </a:prstGeom>
        </p:spPr>
      </p:pic>
      <p:sp>
        <p:nvSpPr>
          <p:cNvPr id="9" name="矩形: 圆角 8"/>
          <p:cNvSpPr/>
          <p:nvPr/>
        </p:nvSpPr>
        <p:spPr>
          <a:xfrm>
            <a:off x="210919" y="193675"/>
            <a:ext cx="11766550" cy="6470650"/>
          </a:xfrm>
          <a:prstGeom prst="round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E8DD2B72-7D35-0D7D-CF20-6F883E769401}"/>
              </a:ext>
            </a:extLst>
          </p:cNvPr>
          <p:cNvSpPr txBox="1"/>
          <p:nvPr/>
        </p:nvSpPr>
        <p:spPr>
          <a:xfrm>
            <a:off x="331347" y="1353511"/>
            <a:ext cx="11525693" cy="2554545"/>
          </a:xfrm>
          <a:prstGeom prst="rect">
            <a:avLst/>
          </a:prstGeom>
          <a:noFill/>
        </p:spPr>
        <p:txBody>
          <a:bodyPr wrap="square">
            <a:spAutoFit/>
          </a:bodyPr>
          <a:lstStyle/>
          <a:p>
            <a:pPr algn="ctr"/>
            <a:r>
              <a:rPr lang="en-US" altLang="zh-CN" sz="8000" b="1" dirty="0">
                <a:latin typeface="得意黑" pitchFamily="2" charset="-122"/>
                <a:ea typeface="得意黑" pitchFamily="2" charset="-122"/>
              </a:rPr>
              <a:t>From Sand to Superchips</a:t>
            </a:r>
          </a:p>
          <a:p>
            <a:pPr algn="ctr"/>
            <a:r>
              <a:rPr lang="en-US" altLang="zh-CN" sz="8000" b="1" dirty="0">
                <a:latin typeface="得意黑" pitchFamily="2" charset="-122"/>
                <a:ea typeface="得意黑" pitchFamily="2" charset="-122"/>
              </a:rPr>
              <a:t>—— The Silicon Age</a:t>
            </a:r>
            <a:endParaRPr lang="zh-CN" altLang="en-US" sz="8000" b="1" dirty="0">
              <a:latin typeface="得意黑" pitchFamily="2" charset="-122"/>
              <a:ea typeface="得意黑" pitchFamily="2" charset="-122"/>
            </a:endParaRPr>
          </a:p>
        </p:txBody>
      </p:sp>
      <p:sp>
        <p:nvSpPr>
          <p:cNvPr id="6" name="文本框 5">
            <a:extLst>
              <a:ext uri="{FF2B5EF4-FFF2-40B4-BE49-F238E27FC236}">
                <a16:creationId xmlns:a16="http://schemas.microsoft.com/office/drawing/2014/main" id="{388DAB64-0150-EA26-ED13-3F8DA40547D6}"/>
              </a:ext>
            </a:extLst>
          </p:cNvPr>
          <p:cNvSpPr txBox="1"/>
          <p:nvPr/>
        </p:nvSpPr>
        <p:spPr>
          <a:xfrm>
            <a:off x="4701879" y="4673492"/>
            <a:ext cx="2870791" cy="830997"/>
          </a:xfrm>
          <a:prstGeom prst="rect">
            <a:avLst/>
          </a:prstGeom>
          <a:noFill/>
        </p:spPr>
        <p:txBody>
          <a:bodyPr wrap="square" rtlCol="0">
            <a:spAutoFit/>
          </a:bodyPr>
          <a:lstStyle/>
          <a:p>
            <a:pPr algn="ctr"/>
            <a:r>
              <a:rPr lang="en-US" altLang="zh-CN" sz="2400" dirty="0">
                <a:latin typeface="得意黑" pitchFamily="2" charset="-122"/>
                <a:ea typeface="得意黑" pitchFamily="2" charset="-122"/>
              </a:rPr>
              <a:t>BY</a:t>
            </a:r>
          </a:p>
          <a:p>
            <a:pPr algn="ctr"/>
            <a:r>
              <a:rPr lang="zh-CN" altLang="en-US" sz="2400" dirty="0">
                <a:latin typeface="得意黑" pitchFamily="2" charset="-122"/>
                <a:ea typeface="得意黑" pitchFamily="2" charset="-122"/>
              </a:rPr>
              <a:t>莫天皓</a:t>
            </a:r>
            <a:r>
              <a:rPr lang="en-US" altLang="zh-CN" sz="2400" dirty="0">
                <a:latin typeface="得意黑" pitchFamily="2" charset="-122"/>
                <a:ea typeface="得意黑" pitchFamily="2" charset="-122"/>
              </a:rPr>
              <a:t>  </a:t>
            </a:r>
            <a:r>
              <a:rPr lang="zh-CN" altLang="en-US" sz="2400" dirty="0">
                <a:latin typeface="得意黑" pitchFamily="2" charset="-122"/>
                <a:ea typeface="得意黑" pitchFamily="2" charset="-122"/>
              </a:rPr>
              <a:t>刘晓轩</a:t>
            </a:r>
            <a:r>
              <a:rPr lang="en-US" altLang="zh-CN" sz="2400" dirty="0">
                <a:latin typeface="得意黑" pitchFamily="2" charset="-122"/>
                <a:ea typeface="得意黑" pitchFamily="2" charset="-122"/>
              </a:rPr>
              <a:t>  </a:t>
            </a:r>
            <a:r>
              <a:rPr lang="zh-CN" altLang="en-US" sz="2400" dirty="0">
                <a:latin typeface="得意黑" pitchFamily="2" charset="-122"/>
                <a:ea typeface="得意黑" pitchFamily="2" charset="-122"/>
              </a:rPr>
              <a:t>崔皓泉</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descr="100+ Chip Pictures [HD] | Download Free Images on Unsplash"/>
          <p:cNvPicPr>
            <a:picLocks noChangeAspect="1"/>
          </p:cNvPicPr>
          <p:nvPr/>
        </p:nvPicPr>
        <p:blipFill>
          <a:blip r:embed="rId3"/>
          <a:stretch>
            <a:fillRect/>
          </a:stretch>
        </p:blipFill>
        <p:spPr>
          <a:xfrm>
            <a:off x="0" y="0"/>
            <a:ext cx="12188389" cy="6858000"/>
          </a:xfrm>
          <a:prstGeom prst="rect">
            <a:avLst/>
          </a:prstGeom>
        </p:spPr>
      </p:pic>
      <p:sp>
        <p:nvSpPr>
          <p:cNvPr id="9" name="矩形: 圆角 8"/>
          <p:cNvSpPr/>
          <p:nvPr/>
        </p:nvSpPr>
        <p:spPr>
          <a:xfrm>
            <a:off x="210919" y="193675"/>
            <a:ext cx="11766550" cy="6470650"/>
          </a:xfrm>
          <a:prstGeom prst="round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296333" y="880533"/>
            <a:ext cx="11421533"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sp>
        <p:nvSpPr>
          <p:cNvPr id="4" name="文本框 3"/>
          <p:cNvSpPr txBox="1"/>
          <p:nvPr/>
        </p:nvSpPr>
        <p:spPr>
          <a:xfrm>
            <a:off x="829945" y="334645"/>
            <a:ext cx="7461885" cy="521970"/>
          </a:xfrm>
          <a:prstGeom prst="rect">
            <a:avLst/>
          </a:prstGeom>
          <a:noFill/>
        </p:spPr>
        <p:txBody>
          <a:bodyPr wrap="square" rtlCol="0">
            <a:spAutoFit/>
          </a:bodyPr>
          <a:lstStyle/>
          <a:p>
            <a:r>
              <a:rPr lang="en-US" altLang="zh-CN" sz="2800" dirty="0">
                <a:latin typeface="得意黑" pitchFamily="2" charset="-122"/>
                <a:ea typeface="得意黑" pitchFamily="2" charset="-122"/>
              </a:rPr>
              <a:t>1.1  The Story of Silicon </a:t>
            </a:r>
            <a:endParaRPr lang="zh-CN" altLang="en-US" sz="2800" dirty="0">
              <a:latin typeface="得意黑" pitchFamily="2" charset="-122"/>
              <a:ea typeface="得意黑" pitchFamily="2" charset="-122"/>
            </a:endParaRPr>
          </a:p>
        </p:txBody>
      </p:sp>
      <p:sp>
        <p:nvSpPr>
          <p:cNvPr id="6" name="文本框 5"/>
          <p:cNvSpPr txBox="1"/>
          <p:nvPr/>
        </p:nvSpPr>
        <p:spPr>
          <a:xfrm>
            <a:off x="5261495" y="926685"/>
            <a:ext cx="3491230" cy="871008"/>
          </a:xfrm>
          <a:prstGeom prst="rect">
            <a:avLst/>
          </a:prstGeom>
          <a:noFill/>
        </p:spPr>
        <p:txBody>
          <a:bodyPr wrap="square">
            <a:spAutoFit/>
          </a:bodyPr>
          <a:lstStyle/>
          <a:p>
            <a:pPr lvl="0">
              <a:lnSpc>
                <a:spcPct val="115000"/>
              </a:lnSpc>
              <a:spcBef>
                <a:spcPts val="800"/>
              </a:spcBef>
              <a:spcAft>
                <a:spcPts val="800"/>
              </a:spcAft>
            </a:pPr>
            <a:r>
              <a:rPr lang="en-US" altLang="zh-CN" sz="4800" b="1" kern="100" dirty="0">
                <a:effectLst/>
                <a:latin typeface="得意黑" pitchFamily="2" charset="-122"/>
                <a:ea typeface="得意黑" pitchFamily="2" charset="-122"/>
                <a:cs typeface="宋体" panose="02010600030101010101" pitchFamily="2" charset="-122"/>
              </a:rPr>
              <a:t>Where is it?</a:t>
            </a:r>
            <a:r>
              <a:rPr lang="en-US" altLang="zh-CN" sz="4800" kern="100" dirty="0">
                <a:effectLst/>
                <a:latin typeface="得意黑" pitchFamily="2" charset="-122"/>
                <a:ea typeface="得意黑" pitchFamily="2" charset="-122"/>
                <a:cs typeface="宋体" panose="02010600030101010101" pitchFamily="2" charset="-122"/>
              </a:rPr>
              <a:t> </a:t>
            </a:r>
            <a:endParaRPr lang="zh-CN" altLang="zh-CN" sz="4800" kern="100" dirty="0">
              <a:effectLst/>
              <a:latin typeface="得意黑" pitchFamily="2" charset="-122"/>
              <a:ea typeface="得意黑" pitchFamily="2" charset="-122"/>
              <a:cs typeface="Times New Roman" panose="02020603050405020304" pitchFamily="18" charset="0"/>
            </a:endParaRPr>
          </a:p>
        </p:txBody>
      </p:sp>
      <p:sp>
        <p:nvSpPr>
          <p:cNvPr id="7" name="文本框 6"/>
          <p:cNvSpPr txBox="1"/>
          <p:nvPr/>
        </p:nvSpPr>
        <p:spPr>
          <a:xfrm>
            <a:off x="5261495" y="1716544"/>
            <a:ext cx="6760424" cy="4660507"/>
          </a:xfrm>
          <a:prstGeom prst="rect">
            <a:avLst/>
          </a:prstGeom>
          <a:noFill/>
        </p:spPr>
        <p:txBody>
          <a:bodyPr wrap="square" rtlCol="0">
            <a:spAutoFit/>
          </a:bodyPr>
          <a:lstStyle/>
          <a:p>
            <a:pPr>
              <a:lnSpc>
                <a:spcPts val="4000"/>
              </a:lnSpc>
            </a:pPr>
            <a:r>
              <a:rPr lang="en-US" altLang="zh-CN" sz="3200" b="1" kern="100" dirty="0">
                <a:latin typeface="得意黑" pitchFamily="2" charset="-122"/>
                <a:ea typeface="得意黑" pitchFamily="2" charset="-122"/>
                <a:cs typeface="宋体" panose="02010600030101010101" pitchFamily="2" charset="-122"/>
              </a:rPr>
              <a:t>It is everywhere around us.</a:t>
            </a:r>
          </a:p>
          <a:p>
            <a:pPr>
              <a:lnSpc>
                <a:spcPts val="4000"/>
              </a:lnSpc>
            </a:pPr>
            <a:r>
              <a:rPr lang="en-US" altLang="zh-CN" sz="2400" kern="100" dirty="0">
                <a:latin typeface="得意黑" pitchFamily="2" charset="-122"/>
                <a:ea typeface="得意黑" pitchFamily="2" charset="-122"/>
                <a:cs typeface="宋体" panose="02010600030101010101" pitchFamily="2" charset="-122"/>
              </a:rPr>
              <a:t>1.</a:t>
            </a:r>
            <a:r>
              <a:rPr lang="zh-CN" altLang="en-US" sz="2400" kern="100" dirty="0">
                <a:latin typeface="得意黑" pitchFamily="2" charset="-122"/>
                <a:ea typeface="得意黑" pitchFamily="2" charset="-122"/>
                <a:cs typeface="宋体" panose="02010600030101010101" pitchFamily="2" charset="-122"/>
              </a:rPr>
              <a:t> </a:t>
            </a:r>
            <a:r>
              <a:rPr lang="en-US" altLang="zh-CN" sz="2400" kern="100" dirty="0">
                <a:latin typeface="得意黑" pitchFamily="2" charset="-122"/>
                <a:ea typeface="得意黑" pitchFamily="2" charset="-122"/>
                <a:cs typeface="宋体" panose="02010600030101010101" pitchFamily="2" charset="-122"/>
              </a:rPr>
              <a:t>In sand, rocks, and soil (as silicon dioxide, or quartz)</a:t>
            </a:r>
          </a:p>
          <a:p>
            <a:pPr>
              <a:lnSpc>
                <a:spcPts val="4000"/>
              </a:lnSpc>
            </a:pPr>
            <a:r>
              <a:rPr lang="en-US" altLang="zh-CN" sz="2400" kern="100" dirty="0">
                <a:latin typeface="得意黑" pitchFamily="2" charset="-122"/>
                <a:ea typeface="得意黑" pitchFamily="2" charset="-122"/>
                <a:cs typeface="宋体" panose="02010600030101010101" pitchFamily="2" charset="-122"/>
              </a:rPr>
              <a:t>2. In glass, ceramics, and concrete</a:t>
            </a:r>
          </a:p>
          <a:p>
            <a:pPr>
              <a:lnSpc>
                <a:spcPts val="4000"/>
              </a:lnSpc>
            </a:pPr>
            <a:r>
              <a:rPr lang="en-US" altLang="zh-CN" sz="2400" kern="100" dirty="0">
                <a:latin typeface="得意黑" pitchFamily="2" charset="-122"/>
                <a:ea typeface="得意黑" pitchFamily="2" charset="-122"/>
                <a:cs typeface="宋体" panose="02010600030101010101" pitchFamily="2" charset="-122"/>
              </a:rPr>
              <a:t>3. In the microchips inside your phone, computer, and smart devices</a:t>
            </a:r>
          </a:p>
          <a:p>
            <a:pPr>
              <a:lnSpc>
                <a:spcPts val="4000"/>
              </a:lnSpc>
            </a:pPr>
            <a:r>
              <a:rPr lang="en-US" altLang="zh-CN" sz="2400" kern="100" dirty="0">
                <a:latin typeface="得意黑" pitchFamily="2" charset="-122"/>
                <a:ea typeface="得意黑" pitchFamily="2" charset="-122"/>
                <a:cs typeface="宋体" panose="02010600030101010101" pitchFamily="2" charset="-122"/>
              </a:rPr>
              <a:t>4. Even in some plant and animal tissues!</a:t>
            </a:r>
          </a:p>
          <a:p>
            <a:pPr>
              <a:lnSpc>
                <a:spcPts val="4000"/>
              </a:lnSpc>
            </a:pPr>
            <a:r>
              <a:rPr lang="en-US" altLang="zh-CN" sz="2400" kern="100" dirty="0">
                <a:latin typeface="得意黑" pitchFamily="2" charset="-122"/>
                <a:ea typeface="得意黑" pitchFamily="2" charset="-122"/>
                <a:cs typeface="宋体" panose="02010600030101010101" pitchFamily="2" charset="-122"/>
              </a:rPr>
              <a:t>Silicon’s ubiquity is what makes it so special: it’s not a rare or exotic material—it’s the foundation of our natural world, and now, our digital one too.</a:t>
            </a:r>
            <a:endParaRPr lang="zh-CN" altLang="en-US" sz="2400" dirty="0"/>
          </a:p>
        </p:txBody>
      </p:sp>
      <p:pic>
        <p:nvPicPr>
          <p:cNvPr id="2" name="图片 1"/>
          <p:cNvPicPr>
            <a:picLocks noChangeAspect="1"/>
          </p:cNvPicPr>
          <p:nvPr/>
        </p:nvPicPr>
        <p:blipFill>
          <a:blip r:embed="rId4"/>
          <a:stretch>
            <a:fillRect/>
          </a:stretch>
        </p:blipFill>
        <p:spPr>
          <a:xfrm>
            <a:off x="1221471" y="1073148"/>
            <a:ext cx="3201669" cy="3201669"/>
          </a:xfrm>
          <a:prstGeom prst="rect">
            <a:avLst/>
          </a:prstGeom>
        </p:spPr>
      </p:pic>
      <p:pic>
        <p:nvPicPr>
          <p:cNvPr id="10" name="图片 9"/>
          <p:cNvPicPr>
            <a:picLocks noChangeAspect="1"/>
          </p:cNvPicPr>
          <p:nvPr/>
        </p:nvPicPr>
        <p:blipFill>
          <a:blip r:embed="rId5"/>
          <a:stretch>
            <a:fillRect/>
          </a:stretch>
        </p:blipFill>
        <p:spPr>
          <a:xfrm>
            <a:off x="1221472" y="4352713"/>
            <a:ext cx="3201670" cy="1920875"/>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descr="100+ Chip Pictures [HD] | Download Free Images on Unsplash"/>
          <p:cNvPicPr>
            <a:picLocks noChangeAspect="1"/>
          </p:cNvPicPr>
          <p:nvPr/>
        </p:nvPicPr>
        <p:blipFill>
          <a:blip r:embed="rId2"/>
          <a:stretch>
            <a:fillRect/>
          </a:stretch>
        </p:blipFill>
        <p:spPr>
          <a:xfrm>
            <a:off x="0" y="0"/>
            <a:ext cx="12188389" cy="6858000"/>
          </a:xfrm>
          <a:prstGeom prst="rect">
            <a:avLst/>
          </a:prstGeom>
        </p:spPr>
      </p:pic>
      <p:sp>
        <p:nvSpPr>
          <p:cNvPr id="9" name="矩形: 圆角 8"/>
          <p:cNvSpPr/>
          <p:nvPr/>
        </p:nvSpPr>
        <p:spPr>
          <a:xfrm>
            <a:off x="210919" y="193675"/>
            <a:ext cx="11766550" cy="6470650"/>
          </a:xfrm>
          <a:prstGeom prst="round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295995" y="909794"/>
            <a:ext cx="11421533"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sp>
        <p:nvSpPr>
          <p:cNvPr id="4" name="文本框 3"/>
          <p:cNvSpPr txBox="1"/>
          <p:nvPr/>
        </p:nvSpPr>
        <p:spPr>
          <a:xfrm>
            <a:off x="829945" y="334645"/>
            <a:ext cx="4200525" cy="521970"/>
          </a:xfrm>
          <a:prstGeom prst="rect">
            <a:avLst/>
          </a:prstGeom>
          <a:noFill/>
        </p:spPr>
        <p:txBody>
          <a:bodyPr wrap="square" rtlCol="0">
            <a:spAutoFit/>
          </a:bodyPr>
          <a:lstStyle/>
          <a:p>
            <a:r>
              <a:rPr lang="en-US" altLang="zh-CN" sz="2800" dirty="0">
                <a:latin typeface="得意黑" pitchFamily="2" charset="-122"/>
                <a:ea typeface="得意黑" pitchFamily="2" charset="-122"/>
              </a:rPr>
              <a:t>1.2 The Discovery </a:t>
            </a:r>
            <a:endParaRPr lang="zh-CN" altLang="en-US" sz="2800" dirty="0">
              <a:latin typeface="得意黑" pitchFamily="2" charset="-122"/>
              <a:ea typeface="得意黑" pitchFamily="2" charset="-122"/>
            </a:endParaRPr>
          </a:p>
        </p:txBody>
      </p:sp>
      <p:sp>
        <p:nvSpPr>
          <p:cNvPr id="13" name="文本框 12"/>
          <p:cNvSpPr txBox="1"/>
          <p:nvPr/>
        </p:nvSpPr>
        <p:spPr>
          <a:xfrm>
            <a:off x="1066143" y="1645759"/>
            <a:ext cx="6516216" cy="1044499"/>
          </a:xfrm>
          <a:prstGeom prst="rect">
            <a:avLst/>
          </a:prstGeom>
          <a:noFill/>
        </p:spPr>
        <p:txBody>
          <a:bodyPr wrap="square">
            <a:noAutofit/>
          </a:bodyPr>
          <a:lstStyle/>
          <a:p>
            <a:r>
              <a:rPr lang="en-US" altLang="zh-CN" sz="3200" b="1" dirty="0">
                <a:latin typeface="得意黑" pitchFamily="2" charset="-122"/>
                <a:ea typeface="得意黑" pitchFamily="2" charset="-122"/>
              </a:rPr>
              <a:t>Initial State: A dirty brown powder with no obvious practical applications</a:t>
            </a:r>
          </a:p>
          <a:p>
            <a:endParaRPr lang="en-US" altLang="zh-CN" sz="2400" dirty="0">
              <a:latin typeface="得意黑" pitchFamily="2" charset="-122"/>
              <a:ea typeface="得意黑" pitchFamily="2" charset="-122"/>
            </a:endParaRPr>
          </a:p>
        </p:txBody>
      </p:sp>
      <p:pic>
        <p:nvPicPr>
          <p:cNvPr id="2" name="图片 1"/>
          <p:cNvPicPr/>
          <p:nvPr/>
        </p:nvPicPr>
        <p:blipFill>
          <a:blip r:embed="rId3"/>
          <a:stretch>
            <a:fillRect/>
          </a:stretch>
        </p:blipFill>
        <p:spPr>
          <a:xfrm>
            <a:off x="8230006" y="1310640"/>
            <a:ext cx="3099816" cy="4236720"/>
          </a:xfrm>
          <a:prstGeom prst="rect">
            <a:avLst/>
          </a:prstGeom>
        </p:spPr>
      </p:pic>
      <p:sp>
        <p:nvSpPr>
          <p:cNvPr id="6" name="文本框 5">
            <a:extLst>
              <a:ext uri="{FF2B5EF4-FFF2-40B4-BE49-F238E27FC236}">
                <a16:creationId xmlns:a16="http://schemas.microsoft.com/office/drawing/2014/main" id="{2D33CE7E-2845-1C27-ABB9-0EE2FDB9DBF2}"/>
              </a:ext>
            </a:extLst>
          </p:cNvPr>
          <p:cNvSpPr txBox="1"/>
          <p:nvPr/>
        </p:nvSpPr>
        <p:spPr>
          <a:xfrm>
            <a:off x="1066143" y="3013581"/>
            <a:ext cx="6589370" cy="2308324"/>
          </a:xfrm>
          <a:prstGeom prst="rect">
            <a:avLst/>
          </a:prstGeom>
          <a:noFill/>
        </p:spPr>
        <p:txBody>
          <a:bodyPr wrap="square">
            <a:spAutoFit/>
          </a:bodyPr>
          <a:lstStyle/>
          <a:p>
            <a:r>
              <a:rPr lang="en-US" altLang="zh-CN" sz="2400" dirty="0">
                <a:latin typeface="得意黑" pitchFamily="2" charset="-122"/>
                <a:ea typeface="得意黑" pitchFamily="2" charset="-122"/>
              </a:rPr>
              <a:t>Discovered by J</a:t>
            </a:r>
            <a:r>
              <a:rPr lang="en-US" altLang="en-US" sz="2400" dirty="0">
                <a:latin typeface="得意黑" pitchFamily="2" charset="-122"/>
                <a:ea typeface="得意黑" pitchFamily="2" charset="-122"/>
              </a:rPr>
              <a:t>ö</a:t>
            </a:r>
            <a:r>
              <a:rPr lang="en-US" altLang="zh-CN" sz="2400" dirty="0">
                <a:latin typeface="得意黑" pitchFamily="2" charset="-122"/>
                <a:ea typeface="得意黑" pitchFamily="2" charset="-122"/>
              </a:rPr>
              <a:t>ns Jacob Berzelius in 1823</a:t>
            </a:r>
          </a:p>
          <a:p>
            <a:endParaRPr lang="en-US" altLang="zh-CN" sz="2400" dirty="0">
              <a:latin typeface="得意黑" pitchFamily="2" charset="-122"/>
              <a:ea typeface="得意黑" pitchFamily="2" charset="-122"/>
            </a:endParaRPr>
          </a:p>
          <a:p>
            <a:r>
              <a:rPr lang="en-US" altLang="zh-CN" sz="2400" dirty="0">
                <a:latin typeface="得意黑" pitchFamily="2" charset="-122"/>
                <a:ea typeface="得意黑" pitchFamily="2" charset="-122"/>
              </a:rPr>
              <a:t>Initially dismissed as a chemically inert, useless material</a:t>
            </a:r>
          </a:p>
          <a:p>
            <a:endParaRPr lang="en-US" altLang="zh-CN" sz="2400" dirty="0">
              <a:latin typeface="得意黑" pitchFamily="2" charset="-122"/>
              <a:ea typeface="得意黑" pitchFamily="2" charset="-122"/>
            </a:endParaRPr>
          </a:p>
          <a:p>
            <a:r>
              <a:rPr lang="en-US" altLang="zh-CN" sz="2400" dirty="0">
                <a:latin typeface="得意黑" pitchFamily="2" charset="-122"/>
                <a:ea typeface="得意黑" pitchFamily="2" charset="-122"/>
              </a:rPr>
              <a:t>Its semiconductor properties would remain unrecognized for over a century</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descr="100+ Chip Pictures [HD] | Download Free Images on Unsplash"/>
          <p:cNvPicPr>
            <a:picLocks noChangeAspect="1"/>
          </p:cNvPicPr>
          <p:nvPr/>
        </p:nvPicPr>
        <p:blipFill>
          <a:blip r:embed="rId2"/>
          <a:stretch>
            <a:fillRect/>
          </a:stretch>
        </p:blipFill>
        <p:spPr>
          <a:xfrm>
            <a:off x="0" y="0"/>
            <a:ext cx="12188389" cy="6858000"/>
          </a:xfrm>
          <a:prstGeom prst="rect">
            <a:avLst/>
          </a:prstGeom>
        </p:spPr>
      </p:pic>
      <p:sp>
        <p:nvSpPr>
          <p:cNvPr id="9" name="矩形: 圆角 8"/>
          <p:cNvSpPr/>
          <p:nvPr/>
        </p:nvSpPr>
        <p:spPr>
          <a:xfrm>
            <a:off x="210919" y="177800"/>
            <a:ext cx="11766550" cy="6470650"/>
          </a:xfrm>
          <a:prstGeom prst="round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296333" y="880533"/>
            <a:ext cx="11421533"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sp>
        <p:nvSpPr>
          <p:cNvPr id="4" name="文本框 3"/>
          <p:cNvSpPr txBox="1"/>
          <p:nvPr/>
        </p:nvSpPr>
        <p:spPr>
          <a:xfrm>
            <a:off x="829733" y="334434"/>
            <a:ext cx="3048000" cy="523220"/>
          </a:xfrm>
          <a:prstGeom prst="rect">
            <a:avLst/>
          </a:prstGeom>
          <a:noFill/>
        </p:spPr>
        <p:txBody>
          <a:bodyPr wrap="square" rtlCol="0">
            <a:spAutoFit/>
          </a:bodyPr>
          <a:lstStyle/>
          <a:p>
            <a:r>
              <a:rPr lang="en-US" altLang="zh-CN" sz="2800" dirty="0">
                <a:latin typeface="得意黑" pitchFamily="2" charset="-122"/>
                <a:ea typeface="得意黑" pitchFamily="2" charset="-122"/>
              </a:rPr>
              <a:t>1.3 Development</a:t>
            </a:r>
            <a:endParaRPr lang="zh-CN" altLang="en-US" sz="2800" dirty="0">
              <a:latin typeface="得意黑" pitchFamily="2" charset="-122"/>
              <a:ea typeface="得意黑" pitchFamily="2" charset="-122"/>
            </a:endParaRPr>
          </a:p>
        </p:txBody>
      </p:sp>
      <p:sp>
        <p:nvSpPr>
          <p:cNvPr id="10" name="文本框 9"/>
          <p:cNvSpPr txBox="1"/>
          <p:nvPr/>
        </p:nvSpPr>
        <p:spPr>
          <a:xfrm>
            <a:off x="684741" y="1119650"/>
            <a:ext cx="5452534" cy="4618700"/>
          </a:xfrm>
          <a:prstGeom prst="rect">
            <a:avLst/>
          </a:prstGeom>
          <a:noFill/>
        </p:spPr>
        <p:txBody>
          <a:bodyPr wrap="square">
            <a:spAutoFit/>
          </a:bodyPr>
          <a:lstStyle/>
          <a:p>
            <a:pPr>
              <a:lnSpc>
                <a:spcPct val="150000"/>
              </a:lnSpc>
            </a:pPr>
            <a:r>
              <a:rPr lang="en-US" altLang="zh-CN" sz="3200" b="1" dirty="0">
                <a:latin typeface="得意黑" pitchFamily="2" charset="-122"/>
                <a:ea typeface="得意黑" pitchFamily="2" charset="-122"/>
              </a:rPr>
              <a:t>Early Development (1940s)</a:t>
            </a:r>
          </a:p>
          <a:p>
            <a:pPr>
              <a:lnSpc>
                <a:spcPct val="150000"/>
              </a:lnSpc>
            </a:pPr>
            <a:r>
              <a:rPr lang="en-US" altLang="zh-CN" sz="3200" b="1" dirty="0">
                <a:latin typeface="得意黑" pitchFamily="2" charset="-122"/>
                <a:ea typeface="得意黑" pitchFamily="2" charset="-122"/>
              </a:rPr>
              <a:t>The Goal</a:t>
            </a:r>
            <a:r>
              <a:rPr lang="en-US" altLang="zh-CN" sz="3200" dirty="0">
                <a:latin typeface="得意黑" pitchFamily="2" charset="-122"/>
                <a:ea typeface="得意黑" pitchFamily="2" charset="-122"/>
              </a:rPr>
              <a:t>: </a:t>
            </a:r>
            <a:r>
              <a:rPr lang="en-US" altLang="zh-CN" sz="2400" dirty="0">
                <a:latin typeface="得意黑" pitchFamily="2" charset="-122"/>
                <a:ea typeface="得意黑" pitchFamily="2" charset="-122"/>
              </a:rPr>
              <a:t>Turning powder into clean crystals</a:t>
            </a:r>
          </a:p>
          <a:p>
            <a:pPr>
              <a:lnSpc>
                <a:spcPct val="150000"/>
              </a:lnSpc>
            </a:pPr>
            <a:r>
              <a:rPr lang="en-US" altLang="zh-CN" sz="3200" b="1" dirty="0">
                <a:latin typeface="得意黑" pitchFamily="2" charset="-122"/>
                <a:ea typeface="得意黑" pitchFamily="2" charset="-122"/>
              </a:rPr>
              <a:t>The Process (</a:t>
            </a:r>
            <a:r>
              <a:rPr lang="en-US" altLang="zh-CN" sz="3200" b="1" dirty="0" err="1">
                <a:latin typeface="得意黑" pitchFamily="2" charset="-122"/>
                <a:ea typeface="得意黑" pitchFamily="2" charset="-122"/>
              </a:rPr>
              <a:t>Czochralski</a:t>
            </a:r>
            <a:r>
              <a:rPr lang="en-US" altLang="zh-CN" sz="3200" b="1" dirty="0">
                <a:latin typeface="得意黑" pitchFamily="2" charset="-122"/>
                <a:ea typeface="得意黑" pitchFamily="2" charset="-122"/>
              </a:rPr>
              <a:t> Method):</a:t>
            </a:r>
          </a:p>
          <a:p>
            <a:pPr marL="342900" indent="-342900">
              <a:lnSpc>
                <a:spcPct val="150000"/>
              </a:lnSpc>
              <a:buFont typeface="Arial" panose="020B0604020202020204" pitchFamily="34" charset="0"/>
              <a:buChar char="•"/>
            </a:pPr>
            <a:r>
              <a:rPr lang="en-US" altLang="zh-CN" sz="2400" dirty="0">
                <a:latin typeface="得意黑" pitchFamily="2" charset="-122"/>
                <a:ea typeface="得意黑" pitchFamily="2" charset="-122"/>
              </a:rPr>
              <a:t>Dip: Dip a tiny seed into melted silicon</a:t>
            </a:r>
          </a:p>
          <a:p>
            <a:pPr marL="342900" indent="-342900">
              <a:lnSpc>
                <a:spcPct val="150000"/>
              </a:lnSpc>
              <a:buFont typeface="Arial" panose="020B0604020202020204" pitchFamily="34" charset="0"/>
              <a:buChar char="•"/>
            </a:pPr>
            <a:r>
              <a:rPr lang="en-US" altLang="zh-CN" sz="2400" dirty="0">
                <a:latin typeface="得意黑" pitchFamily="2" charset="-122"/>
                <a:ea typeface="得意黑" pitchFamily="2" charset="-122"/>
              </a:rPr>
              <a:t>Pull: Slowly pull up to form a solid cylinder</a:t>
            </a:r>
          </a:p>
          <a:p>
            <a:pPr marL="342900" indent="-342900">
              <a:lnSpc>
                <a:spcPct val="150000"/>
              </a:lnSpc>
              <a:buFont typeface="Arial" panose="020B0604020202020204" pitchFamily="34" charset="0"/>
              <a:buChar char="•"/>
            </a:pPr>
            <a:r>
              <a:rPr lang="en-US" altLang="zh-CN" sz="2400" dirty="0">
                <a:latin typeface="得意黑" pitchFamily="2" charset="-122"/>
                <a:ea typeface="得意黑" pitchFamily="2" charset="-122"/>
              </a:rPr>
              <a:t>Cut: Cut the cylinder into thin slices</a:t>
            </a:r>
          </a:p>
          <a:p>
            <a:pPr>
              <a:lnSpc>
                <a:spcPct val="150000"/>
              </a:lnSpc>
            </a:pPr>
            <a:r>
              <a:rPr lang="en-US" altLang="zh-CN" sz="3200" b="1" dirty="0">
                <a:latin typeface="得意黑" pitchFamily="2" charset="-122"/>
                <a:ea typeface="得意黑" pitchFamily="2" charset="-122"/>
              </a:rPr>
              <a:t>Final Product</a:t>
            </a:r>
            <a:r>
              <a:rPr lang="en-US" altLang="zh-CN" sz="3200" dirty="0">
                <a:latin typeface="得意黑" pitchFamily="2" charset="-122"/>
                <a:ea typeface="得意黑" pitchFamily="2" charset="-122"/>
              </a:rPr>
              <a:t>: </a:t>
            </a:r>
            <a:r>
              <a:rPr lang="en-US" altLang="zh-CN" sz="2400" dirty="0">
                <a:latin typeface="得意黑" pitchFamily="2" charset="-122"/>
                <a:ea typeface="得意黑" pitchFamily="2" charset="-122"/>
              </a:rPr>
              <a:t>Silicon Wafers</a:t>
            </a:r>
          </a:p>
        </p:txBody>
      </p:sp>
      <p:pic>
        <p:nvPicPr>
          <p:cNvPr id="2" name="图片 1"/>
          <p:cNvPicPr>
            <a:picLocks noChangeAspect="1"/>
          </p:cNvPicPr>
          <p:nvPr/>
        </p:nvPicPr>
        <p:blipFill>
          <a:blip r:embed="rId3"/>
          <a:srcRect l="821" t="1012"/>
          <a:stretch>
            <a:fillRect/>
          </a:stretch>
        </p:blipFill>
        <p:spPr>
          <a:xfrm>
            <a:off x="6301430" y="958291"/>
            <a:ext cx="5205829" cy="5369927"/>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C4AAD9-D6B2-AF4F-3872-8E9CE6DFE781}"/>
            </a:ext>
          </a:extLst>
        </p:cNvPr>
        <p:cNvGrpSpPr/>
        <p:nvPr/>
      </p:nvGrpSpPr>
      <p:grpSpPr>
        <a:xfrm>
          <a:off x="0" y="0"/>
          <a:ext cx="0" cy="0"/>
          <a:chOff x="0" y="0"/>
          <a:chExt cx="0" cy="0"/>
        </a:xfrm>
      </p:grpSpPr>
      <p:pic>
        <p:nvPicPr>
          <p:cNvPr id="8" name="图片 7" descr="100+ Chip Pictures [HD] | Download Free Images on Unsplash">
            <a:extLst>
              <a:ext uri="{FF2B5EF4-FFF2-40B4-BE49-F238E27FC236}">
                <a16:creationId xmlns:a16="http://schemas.microsoft.com/office/drawing/2014/main" id="{D26B6309-3B68-937E-6EB3-837FF01446E6}"/>
              </a:ext>
            </a:extLst>
          </p:cNvPr>
          <p:cNvPicPr>
            <a:picLocks noChangeAspect="1"/>
          </p:cNvPicPr>
          <p:nvPr/>
        </p:nvPicPr>
        <p:blipFill>
          <a:blip r:embed="rId2"/>
          <a:stretch>
            <a:fillRect/>
          </a:stretch>
        </p:blipFill>
        <p:spPr>
          <a:xfrm>
            <a:off x="0" y="0"/>
            <a:ext cx="12188389" cy="6858000"/>
          </a:xfrm>
          <a:prstGeom prst="rect">
            <a:avLst/>
          </a:prstGeom>
        </p:spPr>
      </p:pic>
      <p:sp>
        <p:nvSpPr>
          <p:cNvPr id="9" name="矩形: 圆角 8">
            <a:extLst>
              <a:ext uri="{FF2B5EF4-FFF2-40B4-BE49-F238E27FC236}">
                <a16:creationId xmlns:a16="http://schemas.microsoft.com/office/drawing/2014/main" id="{99FFBE38-2652-15BD-599F-9580A433C199}"/>
              </a:ext>
            </a:extLst>
          </p:cNvPr>
          <p:cNvSpPr/>
          <p:nvPr/>
        </p:nvSpPr>
        <p:spPr>
          <a:xfrm>
            <a:off x="210919" y="177800"/>
            <a:ext cx="11766550" cy="6470650"/>
          </a:xfrm>
          <a:prstGeom prst="round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a:extLst>
              <a:ext uri="{FF2B5EF4-FFF2-40B4-BE49-F238E27FC236}">
                <a16:creationId xmlns:a16="http://schemas.microsoft.com/office/drawing/2014/main" id="{36661FC7-B79C-175D-49F4-CA1B63B98E20}"/>
              </a:ext>
            </a:extLst>
          </p:cNvPr>
          <p:cNvCxnSpPr/>
          <p:nvPr/>
        </p:nvCxnSpPr>
        <p:spPr>
          <a:xfrm>
            <a:off x="296333" y="880533"/>
            <a:ext cx="11421533"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sp>
        <p:nvSpPr>
          <p:cNvPr id="4" name="文本框 3">
            <a:extLst>
              <a:ext uri="{FF2B5EF4-FFF2-40B4-BE49-F238E27FC236}">
                <a16:creationId xmlns:a16="http://schemas.microsoft.com/office/drawing/2014/main" id="{7DD8FCBE-FB7C-A89C-EBC9-35A45CB1B4F4}"/>
              </a:ext>
            </a:extLst>
          </p:cNvPr>
          <p:cNvSpPr txBox="1"/>
          <p:nvPr/>
        </p:nvSpPr>
        <p:spPr>
          <a:xfrm>
            <a:off x="829733" y="334434"/>
            <a:ext cx="3048000" cy="523220"/>
          </a:xfrm>
          <a:prstGeom prst="rect">
            <a:avLst/>
          </a:prstGeom>
          <a:noFill/>
        </p:spPr>
        <p:txBody>
          <a:bodyPr wrap="square" rtlCol="0">
            <a:spAutoFit/>
          </a:bodyPr>
          <a:lstStyle/>
          <a:p>
            <a:r>
              <a:rPr lang="en-US" altLang="zh-CN" sz="2800" dirty="0">
                <a:latin typeface="得意黑" pitchFamily="2" charset="-122"/>
                <a:ea typeface="得意黑" pitchFamily="2" charset="-122"/>
              </a:rPr>
              <a:t>1.3 Development</a:t>
            </a:r>
            <a:endParaRPr lang="zh-CN" altLang="en-US" sz="2800" dirty="0">
              <a:latin typeface="得意黑" pitchFamily="2" charset="-122"/>
              <a:ea typeface="得意黑" pitchFamily="2" charset="-122"/>
            </a:endParaRPr>
          </a:p>
        </p:txBody>
      </p:sp>
      <p:sp>
        <p:nvSpPr>
          <p:cNvPr id="5" name="文本框 4"/>
          <p:cNvSpPr txBox="1"/>
          <p:nvPr/>
        </p:nvSpPr>
        <p:spPr>
          <a:xfrm>
            <a:off x="829733" y="903413"/>
            <a:ext cx="4581525" cy="2425279"/>
          </a:xfrm>
          <a:prstGeom prst="rect">
            <a:avLst/>
          </a:prstGeom>
          <a:noFill/>
        </p:spPr>
        <p:txBody>
          <a:bodyPr wrap="square" rtlCol="0">
            <a:spAutoFit/>
          </a:bodyPr>
          <a:lstStyle/>
          <a:p>
            <a:pPr>
              <a:lnSpc>
                <a:spcPct val="150000"/>
              </a:lnSpc>
            </a:pPr>
            <a:r>
              <a:rPr lang="en-US" altLang="zh-CN" sz="3200" b="1" dirty="0">
                <a:latin typeface="得意黑" pitchFamily="2" charset="-122"/>
                <a:ea typeface="得意黑" pitchFamily="2" charset="-122"/>
                <a:sym typeface="+mn-ea"/>
              </a:rPr>
              <a:t>The Big Breakthrough (1954)</a:t>
            </a:r>
            <a:endParaRPr lang="en-US" altLang="zh-CN" sz="3200" b="1" dirty="0">
              <a:latin typeface="得意黑" pitchFamily="2" charset="-122"/>
              <a:ea typeface="得意黑" pitchFamily="2" charset="-122"/>
            </a:endParaRPr>
          </a:p>
          <a:p>
            <a:pPr>
              <a:lnSpc>
                <a:spcPct val="150000"/>
              </a:lnSpc>
            </a:pPr>
            <a:r>
              <a:rPr lang="en-US" altLang="zh-CN" sz="2400" b="1" dirty="0">
                <a:latin typeface="得意黑" pitchFamily="2" charset="-122"/>
                <a:ea typeface="得意黑" pitchFamily="2" charset="-122"/>
                <a:sym typeface="+mn-ea"/>
              </a:rPr>
              <a:t>Milestone:</a:t>
            </a:r>
            <a:r>
              <a:rPr lang="en-US" altLang="zh-CN" sz="2400" dirty="0">
                <a:latin typeface="得意黑" pitchFamily="2" charset="-122"/>
                <a:ea typeface="得意黑" pitchFamily="2" charset="-122"/>
                <a:sym typeface="+mn-ea"/>
              </a:rPr>
              <a:t> First Silicon Transistor, by Texas Instruments)</a:t>
            </a:r>
            <a:endParaRPr lang="en-US" altLang="zh-CN" sz="2400" dirty="0">
              <a:latin typeface="得意黑" pitchFamily="2" charset="-122"/>
              <a:ea typeface="得意黑" pitchFamily="2" charset="-122"/>
            </a:endParaRPr>
          </a:p>
          <a:p>
            <a:pPr>
              <a:lnSpc>
                <a:spcPct val="150000"/>
              </a:lnSpc>
            </a:pPr>
            <a:r>
              <a:rPr lang="en-US" altLang="zh-CN" sz="2400" b="1" dirty="0">
                <a:latin typeface="得意黑" pitchFamily="2" charset="-122"/>
                <a:ea typeface="得意黑" pitchFamily="2" charset="-122"/>
                <a:sym typeface="+mn-ea"/>
              </a:rPr>
              <a:t>The Shift: </a:t>
            </a:r>
            <a:r>
              <a:rPr lang="en-US" altLang="zh-CN" sz="2400" dirty="0">
                <a:latin typeface="得意黑" pitchFamily="2" charset="-122"/>
                <a:ea typeface="得意黑" pitchFamily="2" charset="-122"/>
                <a:sym typeface="+mn-ea"/>
              </a:rPr>
              <a:t>From Germanium to Silicon</a:t>
            </a:r>
            <a:endParaRPr lang="en-US" altLang="zh-CN" sz="2400" dirty="0">
              <a:latin typeface="得意黑" pitchFamily="2" charset="-122"/>
              <a:ea typeface="得意黑" pitchFamily="2" charset="-122"/>
            </a:endParaRPr>
          </a:p>
        </p:txBody>
      </p:sp>
      <p:sp>
        <p:nvSpPr>
          <p:cNvPr id="6" name="文本框 5"/>
          <p:cNvSpPr txBox="1"/>
          <p:nvPr/>
        </p:nvSpPr>
        <p:spPr>
          <a:xfrm>
            <a:off x="6369262" y="3888400"/>
            <a:ext cx="5491404" cy="2308324"/>
          </a:xfrm>
          <a:prstGeom prst="rect">
            <a:avLst/>
          </a:prstGeom>
          <a:noFill/>
        </p:spPr>
        <p:txBody>
          <a:bodyPr wrap="square" rtlCol="0">
            <a:spAutoFit/>
          </a:bodyPr>
          <a:lstStyle/>
          <a:p>
            <a:pPr>
              <a:lnSpc>
                <a:spcPct val="150000"/>
              </a:lnSpc>
            </a:pPr>
            <a:r>
              <a:rPr lang="en-US" altLang="zh-CN" sz="3200" b="1" dirty="0">
                <a:latin typeface="得意黑" pitchFamily="2" charset="-122"/>
                <a:ea typeface="得意黑" pitchFamily="2" charset="-122"/>
                <a:sym typeface="+mn-ea"/>
              </a:rPr>
              <a:t>Why Silicon Wins?</a:t>
            </a:r>
            <a:endParaRPr lang="en-US" altLang="zh-CN" b="1" dirty="0">
              <a:latin typeface="得意黑" pitchFamily="2" charset="-122"/>
              <a:ea typeface="得意黑" pitchFamily="2" charset="-122"/>
            </a:endParaRPr>
          </a:p>
          <a:p>
            <a:pPr marL="285750" indent="-285750">
              <a:lnSpc>
                <a:spcPct val="150000"/>
              </a:lnSpc>
              <a:buFont typeface="Arial" panose="020B0604020202020204" pitchFamily="34" charset="0"/>
              <a:buChar char="•"/>
            </a:pPr>
            <a:r>
              <a:rPr lang="en-US" altLang="zh-CN" sz="2400" dirty="0">
                <a:latin typeface="得意黑" pitchFamily="2" charset="-122"/>
                <a:ea typeface="得意黑" pitchFamily="2" charset="-122"/>
                <a:sym typeface="+mn-ea"/>
              </a:rPr>
              <a:t>Heat Resistant (Stable in high temperatures)</a:t>
            </a:r>
          </a:p>
          <a:p>
            <a:pPr marL="285750" indent="-285750">
              <a:lnSpc>
                <a:spcPct val="150000"/>
              </a:lnSpc>
              <a:buFont typeface="Arial" panose="020B0604020202020204" pitchFamily="34" charset="0"/>
              <a:buChar char="•"/>
            </a:pPr>
            <a:r>
              <a:rPr lang="en-US" altLang="zh-CN" sz="2400" dirty="0">
                <a:latin typeface="得意黑" pitchFamily="2" charset="-122"/>
                <a:ea typeface="得意黑" pitchFamily="2" charset="-122"/>
                <a:sym typeface="+mn-ea"/>
              </a:rPr>
              <a:t>Cost Effective (Cheap &amp; Abundant from sand)</a:t>
            </a:r>
            <a:endParaRPr lang="en-US" altLang="zh-CN" sz="2400" dirty="0">
              <a:latin typeface="得意黑" pitchFamily="2" charset="-122"/>
              <a:ea typeface="得意黑" pitchFamily="2" charset="-122"/>
            </a:endParaRPr>
          </a:p>
          <a:p>
            <a:endParaRPr lang="zh-CN" altLang="en-US" sz="2400" dirty="0"/>
          </a:p>
        </p:txBody>
      </p:sp>
      <p:pic>
        <p:nvPicPr>
          <p:cNvPr id="7" name="图片 6"/>
          <p:cNvPicPr>
            <a:picLocks noChangeAspect="1"/>
          </p:cNvPicPr>
          <p:nvPr/>
        </p:nvPicPr>
        <p:blipFill>
          <a:blip r:embed="rId3"/>
          <a:stretch>
            <a:fillRect/>
          </a:stretch>
        </p:blipFill>
        <p:spPr>
          <a:xfrm>
            <a:off x="2970554" y="3864320"/>
            <a:ext cx="3006725" cy="2356485"/>
          </a:xfrm>
          <a:prstGeom prst="rect">
            <a:avLst/>
          </a:prstGeom>
        </p:spPr>
      </p:pic>
      <p:pic>
        <p:nvPicPr>
          <p:cNvPr id="11" name="图片 10"/>
          <p:cNvPicPr>
            <a:picLocks noChangeAspect="1"/>
          </p:cNvPicPr>
          <p:nvPr/>
        </p:nvPicPr>
        <p:blipFill>
          <a:blip r:embed="rId4"/>
          <a:stretch>
            <a:fillRect/>
          </a:stretch>
        </p:blipFill>
        <p:spPr>
          <a:xfrm>
            <a:off x="834340" y="3864320"/>
            <a:ext cx="2149475" cy="2368975"/>
          </a:xfrm>
          <a:prstGeom prst="rect">
            <a:avLst/>
          </a:prstGeom>
        </p:spPr>
      </p:pic>
      <p:pic>
        <p:nvPicPr>
          <p:cNvPr id="12" name="图片 11"/>
          <p:cNvPicPr>
            <a:picLocks noChangeAspect="1"/>
          </p:cNvPicPr>
          <p:nvPr/>
        </p:nvPicPr>
        <p:blipFill>
          <a:blip r:embed="rId5"/>
          <a:stretch>
            <a:fillRect/>
          </a:stretch>
        </p:blipFill>
        <p:spPr>
          <a:xfrm>
            <a:off x="6369262" y="1022099"/>
            <a:ext cx="4993005" cy="2700655"/>
          </a:xfrm>
          <a:prstGeom prst="rect">
            <a:avLst/>
          </a:prstGeom>
        </p:spPr>
      </p:pic>
    </p:spTree>
    <p:extLst>
      <p:ext uri="{BB962C8B-B14F-4D97-AF65-F5344CB8AC3E}">
        <p14:creationId xmlns:p14="http://schemas.microsoft.com/office/powerpoint/2010/main" val="21392262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descr="100+ Chip Pictures [HD] | Download Free Images on Unsplash"/>
          <p:cNvPicPr>
            <a:picLocks noChangeAspect="1"/>
          </p:cNvPicPr>
          <p:nvPr/>
        </p:nvPicPr>
        <p:blipFill>
          <a:blip r:embed="rId2"/>
          <a:stretch>
            <a:fillRect/>
          </a:stretch>
        </p:blipFill>
        <p:spPr>
          <a:xfrm>
            <a:off x="0" y="0"/>
            <a:ext cx="12188389" cy="6858000"/>
          </a:xfrm>
          <a:prstGeom prst="rect">
            <a:avLst/>
          </a:prstGeom>
        </p:spPr>
      </p:pic>
      <p:sp>
        <p:nvSpPr>
          <p:cNvPr id="9" name="矩形: 圆角 8"/>
          <p:cNvSpPr/>
          <p:nvPr/>
        </p:nvSpPr>
        <p:spPr>
          <a:xfrm>
            <a:off x="210919" y="177800"/>
            <a:ext cx="11766550" cy="6470650"/>
          </a:xfrm>
          <a:prstGeom prst="round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296333" y="880533"/>
            <a:ext cx="11421533"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sp>
        <p:nvSpPr>
          <p:cNvPr id="4" name="文本框 3"/>
          <p:cNvSpPr txBox="1"/>
          <p:nvPr/>
        </p:nvSpPr>
        <p:spPr>
          <a:xfrm>
            <a:off x="829733" y="334434"/>
            <a:ext cx="3572934" cy="523220"/>
          </a:xfrm>
          <a:prstGeom prst="rect">
            <a:avLst/>
          </a:prstGeom>
          <a:noFill/>
        </p:spPr>
        <p:txBody>
          <a:bodyPr wrap="square" rtlCol="0">
            <a:spAutoFit/>
          </a:bodyPr>
          <a:lstStyle/>
          <a:p>
            <a:r>
              <a:rPr lang="en-US" altLang="zh-CN" sz="2800" dirty="0">
                <a:latin typeface="得意黑" pitchFamily="2" charset="-122"/>
                <a:ea typeface="得意黑" pitchFamily="2" charset="-122"/>
              </a:rPr>
              <a:t>2. Application Scenarios </a:t>
            </a:r>
            <a:endParaRPr lang="zh-CN" altLang="en-US" sz="2800" dirty="0">
              <a:latin typeface="得意黑" pitchFamily="2" charset="-122"/>
              <a:ea typeface="得意黑" pitchFamily="2" charset="-122"/>
            </a:endParaRPr>
          </a:p>
        </p:txBody>
      </p:sp>
      <p:sp>
        <p:nvSpPr>
          <p:cNvPr id="6" name="文本框 5"/>
          <p:cNvSpPr txBox="1"/>
          <p:nvPr/>
        </p:nvSpPr>
        <p:spPr>
          <a:xfrm>
            <a:off x="864757" y="1704098"/>
            <a:ext cx="4842737" cy="3533275"/>
          </a:xfrm>
          <a:prstGeom prst="rect">
            <a:avLst/>
          </a:prstGeom>
          <a:noFill/>
        </p:spPr>
        <p:txBody>
          <a:bodyPr wrap="square">
            <a:spAutoFit/>
          </a:bodyPr>
          <a:lstStyle/>
          <a:p>
            <a:pPr>
              <a:lnSpc>
                <a:spcPct val="150000"/>
              </a:lnSpc>
              <a:buNone/>
            </a:pPr>
            <a:r>
              <a:rPr lang="en-US" altLang="zh-CN" sz="3200" b="1" dirty="0">
                <a:latin typeface="得意黑" pitchFamily="2" charset="-122"/>
                <a:ea typeface="得意黑" pitchFamily="2" charset="-122"/>
              </a:rPr>
              <a:t>Electronics &amp; Semiconductors </a:t>
            </a:r>
          </a:p>
          <a:p>
            <a:pPr>
              <a:lnSpc>
                <a:spcPct val="150000"/>
              </a:lnSpc>
              <a:buNone/>
            </a:pPr>
            <a:r>
              <a:rPr lang="en-US" altLang="zh-CN" sz="2400" dirty="0">
                <a:latin typeface="得意黑" pitchFamily="2" charset="-122"/>
                <a:ea typeface="得意黑" pitchFamily="2" charset="-122"/>
              </a:rPr>
              <a:t>Most significant and impactful application.</a:t>
            </a:r>
          </a:p>
          <a:p>
            <a:pPr>
              <a:lnSpc>
                <a:spcPct val="150000"/>
              </a:lnSpc>
              <a:buNone/>
            </a:pPr>
            <a:r>
              <a:rPr lang="en-US" altLang="zh-CN" sz="2400" dirty="0">
                <a:latin typeface="得意黑" pitchFamily="2" charset="-122"/>
                <a:ea typeface="得意黑" pitchFamily="2" charset="-122"/>
              </a:rPr>
              <a:t>Basic material of almost all the modern electronics and semiconductors </a:t>
            </a:r>
          </a:p>
          <a:p>
            <a:pPr>
              <a:lnSpc>
                <a:spcPct val="150000"/>
              </a:lnSpc>
              <a:buNone/>
            </a:pPr>
            <a:r>
              <a:rPr lang="en-US" altLang="zh-CN" sz="2400" dirty="0">
                <a:latin typeface="得意黑" pitchFamily="2" charset="-122"/>
                <a:ea typeface="得意黑" pitchFamily="2" charset="-122"/>
              </a:rPr>
              <a:t>Foundation of modern computing, phones, AI service and etc.</a:t>
            </a:r>
          </a:p>
        </p:txBody>
      </p:sp>
      <p:pic>
        <p:nvPicPr>
          <p:cNvPr id="7" name="图片 6" descr="Types of Diode : Overview, Symbol, Working &amp; Applications"/>
          <p:cNvPicPr>
            <a:picLocks noChangeAspect="1"/>
          </p:cNvPicPr>
          <p:nvPr/>
        </p:nvPicPr>
        <p:blipFill>
          <a:blip r:embed="rId3"/>
          <a:srcRect l="51198" r="3674"/>
          <a:stretch>
            <a:fillRect/>
          </a:stretch>
        </p:blipFill>
        <p:spPr>
          <a:xfrm>
            <a:off x="5911703" y="915243"/>
            <a:ext cx="2042918" cy="2547843"/>
          </a:xfrm>
          <a:prstGeom prst="rect">
            <a:avLst/>
          </a:prstGeom>
        </p:spPr>
      </p:pic>
      <p:sp>
        <p:nvSpPr>
          <p:cNvPr id="10" name="矩形 9"/>
          <p:cNvSpPr/>
          <p:nvPr/>
        </p:nvSpPr>
        <p:spPr>
          <a:xfrm>
            <a:off x="5909898" y="3468142"/>
            <a:ext cx="2011644" cy="336432"/>
          </a:xfrm>
          <a:prstGeom prst="rect">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dirty="0">
                <a:latin typeface="得意黑" pitchFamily="2" charset="-122"/>
                <a:ea typeface="得意黑" pitchFamily="2" charset="-122"/>
              </a:rPr>
              <a:t>Diode</a:t>
            </a:r>
            <a:endParaRPr lang="zh-CN" altLang="en-US" sz="2000" dirty="0">
              <a:latin typeface="得意黑" pitchFamily="2" charset="-122"/>
              <a:ea typeface="得意黑" pitchFamily="2" charset="-122"/>
            </a:endParaRPr>
          </a:p>
        </p:txBody>
      </p:sp>
      <p:pic>
        <p:nvPicPr>
          <p:cNvPr id="11" name="图片 10" descr="Popular MOSFETs Commonly Used in Power Electronics Designs"/>
          <p:cNvPicPr>
            <a:picLocks noChangeAspect="1"/>
          </p:cNvPicPr>
          <p:nvPr/>
        </p:nvPicPr>
        <p:blipFill>
          <a:blip r:embed="rId4"/>
          <a:stretch>
            <a:fillRect/>
          </a:stretch>
        </p:blipFill>
        <p:spPr>
          <a:xfrm>
            <a:off x="7921542" y="913513"/>
            <a:ext cx="3258513" cy="2542259"/>
          </a:xfrm>
          <a:prstGeom prst="rect">
            <a:avLst/>
          </a:prstGeom>
        </p:spPr>
      </p:pic>
      <p:sp>
        <p:nvSpPr>
          <p:cNvPr id="12" name="矩形 11"/>
          <p:cNvSpPr/>
          <p:nvPr/>
        </p:nvSpPr>
        <p:spPr>
          <a:xfrm>
            <a:off x="7921541" y="3470736"/>
            <a:ext cx="3258513" cy="351594"/>
          </a:xfrm>
          <a:prstGeom prst="rect">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dirty="0">
                <a:latin typeface="得意黑" pitchFamily="2" charset="-122"/>
                <a:ea typeface="得意黑" pitchFamily="2" charset="-122"/>
              </a:rPr>
              <a:t>Transistor</a:t>
            </a:r>
            <a:endParaRPr lang="zh-CN" altLang="en-US" sz="2000" dirty="0">
              <a:latin typeface="得意黑" pitchFamily="2" charset="-122"/>
              <a:ea typeface="得意黑" pitchFamily="2" charset="-122"/>
            </a:endParaRPr>
          </a:p>
        </p:txBody>
      </p:sp>
      <p:pic>
        <p:nvPicPr>
          <p:cNvPr id="13" name="图片 12" descr="Different Types of IC [Integrated Circuit] - Ovaga Technologies"/>
          <p:cNvPicPr>
            <a:picLocks noChangeAspect="1"/>
          </p:cNvPicPr>
          <p:nvPr/>
        </p:nvPicPr>
        <p:blipFill>
          <a:blip r:embed="rId5"/>
          <a:srcRect l="44554"/>
          <a:stretch>
            <a:fillRect/>
          </a:stretch>
        </p:blipFill>
        <p:spPr>
          <a:xfrm>
            <a:off x="8257954" y="3810158"/>
            <a:ext cx="2922099" cy="2448531"/>
          </a:xfrm>
          <a:prstGeom prst="rect">
            <a:avLst/>
          </a:prstGeom>
        </p:spPr>
      </p:pic>
      <p:sp>
        <p:nvSpPr>
          <p:cNvPr id="14" name="矩形 13"/>
          <p:cNvSpPr/>
          <p:nvPr/>
        </p:nvSpPr>
        <p:spPr>
          <a:xfrm>
            <a:off x="8262212" y="6258689"/>
            <a:ext cx="2922100" cy="351594"/>
          </a:xfrm>
          <a:prstGeom prst="rect">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dirty="0">
                <a:latin typeface="得意黑" pitchFamily="2" charset="-122"/>
                <a:ea typeface="得意黑" pitchFamily="2" charset="-122"/>
              </a:rPr>
              <a:t>Silicon Chips</a:t>
            </a:r>
            <a:endParaRPr lang="zh-CN" altLang="en-US" sz="2000" dirty="0">
              <a:latin typeface="得意黑" pitchFamily="2" charset="-122"/>
              <a:ea typeface="得意黑" pitchFamily="2" charset="-122"/>
            </a:endParaRPr>
          </a:p>
        </p:txBody>
      </p:sp>
      <p:pic>
        <p:nvPicPr>
          <p:cNvPr id="15" name="图片 14" descr="Fastest ever semiconductor could massively speed up computer chips | New  Scientist"/>
          <p:cNvPicPr>
            <a:picLocks noChangeAspect="1"/>
          </p:cNvPicPr>
          <p:nvPr/>
        </p:nvPicPr>
        <p:blipFill>
          <a:blip r:embed="rId6"/>
          <a:srcRect l="32236"/>
          <a:stretch>
            <a:fillRect/>
          </a:stretch>
        </p:blipFill>
        <p:spPr>
          <a:xfrm>
            <a:off x="5918414" y="3801871"/>
            <a:ext cx="2339540" cy="2456818"/>
          </a:xfrm>
          <a:prstGeom prst="rect">
            <a:avLst/>
          </a:prstGeom>
        </p:spPr>
      </p:pic>
      <p:sp>
        <p:nvSpPr>
          <p:cNvPr id="17" name="矩形 16"/>
          <p:cNvSpPr/>
          <p:nvPr/>
        </p:nvSpPr>
        <p:spPr>
          <a:xfrm>
            <a:off x="5918416" y="6258689"/>
            <a:ext cx="2348054" cy="351594"/>
          </a:xfrm>
          <a:prstGeom prst="rect">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dirty="0">
                <a:latin typeface="得意黑" pitchFamily="2" charset="-122"/>
                <a:ea typeface="得意黑" pitchFamily="2" charset="-122"/>
              </a:rPr>
              <a:t>Semiconductors</a:t>
            </a:r>
            <a:endParaRPr lang="zh-CN" altLang="en-US" sz="2000" dirty="0">
              <a:latin typeface="得意黑" pitchFamily="2" charset="-122"/>
              <a:ea typeface="得意黑" pitchFamily="2" charset="-122"/>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0" grpId="0" animBg="1"/>
      <p:bldP spid="12" grpId="0" animBg="1"/>
      <p:bldP spid="14" grpId="0" animBg="1"/>
      <p:bldP spid="1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descr="100+ Chip Pictures [HD] | Download Free Images on Unsplash"/>
          <p:cNvPicPr>
            <a:picLocks noChangeAspect="1"/>
          </p:cNvPicPr>
          <p:nvPr/>
        </p:nvPicPr>
        <p:blipFill>
          <a:blip r:embed="rId3"/>
          <a:stretch>
            <a:fillRect/>
          </a:stretch>
        </p:blipFill>
        <p:spPr>
          <a:xfrm>
            <a:off x="0" y="0"/>
            <a:ext cx="12188389" cy="6858000"/>
          </a:xfrm>
          <a:prstGeom prst="rect">
            <a:avLst/>
          </a:prstGeom>
        </p:spPr>
      </p:pic>
      <p:sp>
        <p:nvSpPr>
          <p:cNvPr id="9" name="矩形: 圆角 8"/>
          <p:cNvSpPr/>
          <p:nvPr/>
        </p:nvSpPr>
        <p:spPr>
          <a:xfrm>
            <a:off x="210919" y="177800"/>
            <a:ext cx="11766550" cy="6470650"/>
          </a:xfrm>
          <a:prstGeom prst="round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296333" y="880533"/>
            <a:ext cx="11421533"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sp>
        <p:nvSpPr>
          <p:cNvPr id="4" name="文本框 3"/>
          <p:cNvSpPr txBox="1"/>
          <p:nvPr/>
        </p:nvSpPr>
        <p:spPr>
          <a:xfrm>
            <a:off x="829733" y="334434"/>
            <a:ext cx="3572934" cy="523220"/>
          </a:xfrm>
          <a:prstGeom prst="rect">
            <a:avLst/>
          </a:prstGeom>
          <a:noFill/>
        </p:spPr>
        <p:txBody>
          <a:bodyPr wrap="square" rtlCol="0">
            <a:spAutoFit/>
          </a:bodyPr>
          <a:lstStyle/>
          <a:p>
            <a:r>
              <a:rPr lang="en-US" altLang="zh-CN" sz="2800" dirty="0">
                <a:latin typeface="得意黑" pitchFamily="2" charset="-122"/>
                <a:ea typeface="得意黑" pitchFamily="2" charset="-122"/>
              </a:rPr>
              <a:t>2. Application Scenarios </a:t>
            </a:r>
            <a:endParaRPr lang="zh-CN" altLang="en-US" sz="2800" dirty="0">
              <a:latin typeface="得意黑" pitchFamily="2" charset="-122"/>
              <a:ea typeface="得意黑" pitchFamily="2" charset="-122"/>
            </a:endParaRPr>
          </a:p>
        </p:txBody>
      </p:sp>
      <p:sp>
        <p:nvSpPr>
          <p:cNvPr id="6" name="文本框 5"/>
          <p:cNvSpPr txBox="1"/>
          <p:nvPr/>
        </p:nvSpPr>
        <p:spPr>
          <a:xfrm>
            <a:off x="409747" y="1033020"/>
            <a:ext cx="5901267" cy="2416046"/>
          </a:xfrm>
          <a:prstGeom prst="rect">
            <a:avLst/>
          </a:prstGeom>
          <a:noFill/>
        </p:spPr>
        <p:txBody>
          <a:bodyPr wrap="square">
            <a:spAutoFit/>
          </a:bodyPr>
          <a:lstStyle/>
          <a:p>
            <a:pPr>
              <a:lnSpc>
                <a:spcPct val="120000"/>
              </a:lnSpc>
              <a:buNone/>
            </a:pPr>
            <a:r>
              <a:rPr lang="en-US" altLang="zh-CN" sz="3200" b="1" dirty="0">
                <a:latin typeface="得意黑" pitchFamily="2" charset="-122"/>
                <a:ea typeface="得意黑" pitchFamily="2" charset="-122"/>
              </a:rPr>
              <a:t>Solar Energy Panels </a:t>
            </a:r>
          </a:p>
          <a:p>
            <a:pPr>
              <a:lnSpc>
                <a:spcPct val="120000"/>
              </a:lnSpc>
              <a:buNone/>
            </a:pPr>
            <a:r>
              <a:rPr lang="en-US" altLang="zh-CN" sz="2400" dirty="0">
                <a:latin typeface="得意黑" pitchFamily="2" charset="-122"/>
                <a:ea typeface="得意黑" pitchFamily="2" charset="-122"/>
              </a:rPr>
              <a:t>Dominant material in solar panels </a:t>
            </a:r>
          </a:p>
          <a:p>
            <a:pPr>
              <a:lnSpc>
                <a:spcPct val="120000"/>
              </a:lnSpc>
              <a:buNone/>
            </a:pPr>
            <a:r>
              <a:rPr lang="en-US" altLang="zh-CN" sz="2400" dirty="0">
                <a:latin typeface="得意黑" pitchFamily="2" charset="-122"/>
                <a:ea typeface="得意黑" pitchFamily="2" charset="-122"/>
              </a:rPr>
              <a:t>Used for producing green and clean energy</a:t>
            </a:r>
          </a:p>
          <a:p>
            <a:pPr>
              <a:lnSpc>
                <a:spcPct val="120000"/>
              </a:lnSpc>
              <a:buNone/>
            </a:pPr>
            <a:r>
              <a:rPr lang="en-US" altLang="zh-CN" sz="2400" dirty="0">
                <a:latin typeface="得意黑" pitchFamily="2" charset="-122"/>
                <a:ea typeface="得意黑" pitchFamily="2" charset="-122"/>
              </a:rPr>
              <a:t>Silicon-based solar cells are central to reducing reliance on fossil fuels.</a:t>
            </a:r>
          </a:p>
        </p:txBody>
      </p:sp>
      <p:sp>
        <p:nvSpPr>
          <p:cNvPr id="10" name="矩形 9"/>
          <p:cNvSpPr/>
          <p:nvPr/>
        </p:nvSpPr>
        <p:spPr>
          <a:xfrm>
            <a:off x="742205" y="6215146"/>
            <a:ext cx="4876800" cy="351594"/>
          </a:xfrm>
          <a:prstGeom prst="rect">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dirty="0">
                <a:latin typeface="得意黑" pitchFamily="2" charset="-122"/>
                <a:ea typeface="得意黑" pitchFamily="2" charset="-122"/>
              </a:rPr>
              <a:t>Solar Energy Panels </a:t>
            </a:r>
          </a:p>
        </p:txBody>
      </p:sp>
      <p:pic>
        <p:nvPicPr>
          <p:cNvPr id="2" name="图片 1" descr="Photos: The Scale of China's Solar-Power Projects - The Atlantic"/>
          <p:cNvPicPr>
            <a:picLocks noChangeAspect="1"/>
          </p:cNvPicPr>
          <p:nvPr/>
        </p:nvPicPr>
        <p:blipFill>
          <a:blip r:embed="rId4"/>
          <a:stretch>
            <a:fillRect/>
          </a:stretch>
        </p:blipFill>
        <p:spPr>
          <a:xfrm>
            <a:off x="742205" y="3471946"/>
            <a:ext cx="4876800" cy="2743200"/>
          </a:xfrm>
          <a:prstGeom prst="rect">
            <a:avLst/>
          </a:prstGeom>
        </p:spPr>
      </p:pic>
      <p:sp>
        <p:nvSpPr>
          <p:cNvPr id="11" name="文本框 10"/>
          <p:cNvSpPr txBox="1"/>
          <p:nvPr/>
        </p:nvSpPr>
        <p:spPr>
          <a:xfrm>
            <a:off x="5923802" y="4257818"/>
            <a:ext cx="5836397" cy="2062103"/>
          </a:xfrm>
          <a:prstGeom prst="rect">
            <a:avLst/>
          </a:prstGeom>
          <a:noFill/>
        </p:spPr>
        <p:txBody>
          <a:bodyPr wrap="square">
            <a:spAutoFit/>
          </a:bodyPr>
          <a:lstStyle/>
          <a:p>
            <a:pPr>
              <a:buNone/>
            </a:pPr>
            <a:r>
              <a:rPr lang="en-US" altLang="zh-CN" sz="3200" b="1" dirty="0">
                <a:latin typeface="得意黑" pitchFamily="2" charset="-122"/>
                <a:ea typeface="得意黑" pitchFamily="2" charset="-122"/>
              </a:rPr>
              <a:t>Construction Materials</a:t>
            </a:r>
          </a:p>
          <a:p>
            <a:pPr>
              <a:buNone/>
            </a:pPr>
            <a:r>
              <a:rPr lang="en-US" altLang="zh-CN" sz="2400" dirty="0">
                <a:latin typeface="得意黑" pitchFamily="2" charset="-122"/>
                <a:ea typeface="得意黑" pitchFamily="2" charset="-122"/>
              </a:rPr>
              <a:t>Silicon compounds (</a:t>
            </a:r>
            <a:r>
              <a:rPr lang="en-US" altLang="zh-CN" sz="2400" dirty="0" err="1">
                <a:latin typeface="得意黑" pitchFamily="2" charset="-122"/>
                <a:ea typeface="得意黑" pitchFamily="2" charset="-122"/>
              </a:rPr>
              <a:t>SiO</a:t>
            </a:r>
            <a:r>
              <a:rPr lang="en-US" altLang="zh-CN" sz="2400" dirty="0">
                <a:latin typeface="得意黑" pitchFamily="2" charset="-122"/>
                <a:ea typeface="得意黑" pitchFamily="2" charset="-122"/>
              </a:rPr>
              <a:t>₂) are essential for making glass, cement, and concrete. Cornerstone of infrastructure—buildings, roads, bridges, and windows……</a:t>
            </a:r>
          </a:p>
        </p:txBody>
      </p:sp>
      <p:pic>
        <p:nvPicPr>
          <p:cNvPr id="12" name="图片 11" descr="Low Iron Toughened Glass - Express Toughening Ltd - Shop Online"/>
          <p:cNvPicPr>
            <a:picLocks noChangeAspect="1"/>
          </p:cNvPicPr>
          <p:nvPr/>
        </p:nvPicPr>
        <p:blipFill>
          <a:blip r:embed="rId5"/>
          <a:stretch>
            <a:fillRect/>
          </a:stretch>
        </p:blipFill>
        <p:spPr>
          <a:xfrm>
            <a:off x="6007099" y="1079772"/>
            <a:ext cx="1866901" cy="2743199"/>
          </a:xfrm>
          <a:prstGeom prst="rect">
            <a:avLst/>
          </a:prstGeom>
        </p:spPr>
      </p:pic>
      <p:sp>
        <p:nvSpPr>
          <p:cNvPr id="13" name="矩形 12"/>
          <p:cNvSpPr/>
          <p:nvPr/>
        </p:nvSpPr>
        <p:spPr>
          <a:xfrm>
            <a:off x="6007099" y="3812210"/>
            <a:ext cx="1866901" cy="351594"/>
          </a:xfrm>
          <a:prstGeom prst="rect">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dirty="0">
                <a:latin typeface="得意黑" pitchFamily="2" charset="-122"/>
                <a:ea typeface="得意黑" pitchFamily="2" charset="-122"/>
              </a:rPr>
              <a:t>Glass</a:t>
            </a:r>
          </a:p>
        </p:txBody>
      </p:sp>
      <p:pic>
        <p:nvPicPr>
          <p:cNvPr id="14" name="图片 13" descr="This Carbon-Neutral Cement Is the Future of Infrastructure"/>
          <p:cNvPicPr>
            <a:picLocks noChangeAspect="1"/>
          </p:cNvPicPr>
          <p:nvPr/>
        </p:nvPicPr>
        <p:blipFill>
          <a:blip r:embed="rId6"/>
          <a:stretch>
            <a:fillRect/>
          </a:stretch>
        </p:blipFill>
        <p:spPr>
          <a:xfrm>
            <a:off x="7874000" y="1079772"/>
            <a:ext cx="2143125" cy="2732438"/>
          </a:xfrm>
          <a:prstGeom prst="rect">
            <a:avLst/>
          </a:prstGeom>
        </p:spPr>
      </p:pic>
      <p:sp>
        <p:nvSpPr>
          <p:cNvPr id="15" name="矩形 14"/>
          <p:cNvSpPr/>
          <p:nvPr/>
        </p:nvSpPr>
        <p:spPr>
          <a:xfrm>
            <a:off x="7874000" y="3812210"/>
            <a:ext cx="2143125" cy="351594"/>
          </a:xfrm>
          <a:prstGeom prst="rect">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dirty="0">
                <a:latin typeface="得意黑" pitchFamily="2" charset="-122"/>
                <a:ea typeface="得意黑" pitchFamily="2" charset="-122"/>
              </a:rPr>
              <a:t>Cement</a:t>
            </a:r>
          </a:p>
        </p:txBody>
      </p:sp>
      <p:pic>
        <p:nvPicPr>
          <p:cNvPr id="16" name="图片 15" descr="Cement &amp; Concrete - American Cement Association"/>
          <p:cNvPicPr>
            <a:picLocks noChangeAspect="1"/>
          </p:cNvPicPr>
          <p:nvPr/>
        </p:nvPicPr>
        <p:blipFill>
          <a:blip r:embed="rId7"/>
          <a:srcRect l="42629" r="23087"/>
          <a:stretch>
            <a:fillRect/>
          </a:stretch>
        </p:blipFill>
        <p:spPr>
          <a:xfrm>
            <a:off x="10017124" y="1104801"/>
            <a:ext cx="1700741" cy="2743196"/>
          </a:xfrm>
          <a:prstGeom prst="rect">
            <a:avLst/>
          </a:prstGeom>
        </p:spPr>
      </p:pic>
      <p:sp>
        <p:nvSpPr>
          <p:cNvPr id="17" name="矩形 16"/>
          <p:cNvSpPr/>
          <p:nvPr/>
        </p:nvSpPr>
        <p:spPr>
          <a:xfrm>
            <a:off x="10017124" y="3822804"/>
            <a:ext cx="1700742" cy="351594"/>
          </a:xfrm>
          <a:prstGeom prst="rect">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dirty="0">
                <a:latin typeface="得意黑" pitchFamily="2" charset="-122"/>
                <a:ea typeface="得意黑" pitchFamily="2" charset="-122"/>
              </a:rPr>
              <a:t>Concrete</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0" grpId="0" animBg="1"/>
      <p:bldP spid="11" grpId="0"/>
      <p:bldP spid="13" grpId="0" animBg="1"/>
      <p:bldP spid="15" grpId="0" animBg="1"/>
      <p:bldP spid="1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descr="100+ Chip Pictures [HD] | Download Free Images on Unsplash"/>
          <p:cNvPicPr>
            <a:picLocks noChangeAspect="1"/>
          </p:cNvPicPr>
          <p:nvPr/>
        </p:nvPicPr>
        <p:blipFill>
          <a:blip r:embed="rId2"/>
          <a:stretch>
            <a:fillRect/>
          </a:stretch>
        </p:blipFill>
        <p:spPr>
          <a:xfrm>
            <a:off x="0" y="0"/>
            <a:ext cx="12188389" cy="6858000"/>
          </a:xfrm>
          <a:prstGeom prst="rect">
            <a:avLst/>
          </a:prstGeom>
        </p:spPr>
      </p:pic>
      <p:sp>
        <p:nvSpPr>
          <p:cNvPr id="9" name="矩形: 圆角 8"/>
          <p:cNvSpPr/>
          <p:nvPr/>
        </p:nvSpPr>
        <p:spPr>
          <a:xfrm>
            <a:off x="210919" y="177800"/>
            <a:ext cx="11766550" cy="6470650"/>
          </a:xfrm>
          <a:prstGeom prst="round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296333" y="880533"/>
            <a:ext cx="11421533"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sp>
        <p:nvSpPr>
          <p:cNvPr id="4" name="文本框 3"/>
          <p:cNvSpPr txBox="1"/>
          <p:nvPr/>
        </p:nvSpPr>
        <p:spPr>
          <a:xfrm>
            <a:off x="829733" y="334434"/>
            <a:ext cx="3572934" cy="523220"/>
          </a:xfrm>
          <a:prstGeom prst="rect">
            <a:avLst/>
          </a:prstGeom>
          <a:noFill/>
        </p:spPr>
        <p:txBody>
          <a:bodyPr wrap="square" rtlCol="0">
            <a:spAutoFit/>
          </a:bodyPr>
          <a:lstStyle/>
          <a:p>
            <a:r>
              <a:rPr lang="en-US" altLang="zh-CN" sz="2800" dirty="0">
                <a:latin typeface="得意黑" pitchFamily="2" charset="-122"/>
                <a:ea typeface="得意黑" pitchFamily="2" charset="-122"/>
              </a:rPr>
              <a:t>2. Application Scenarios </a:t>
            </a:r>
            <a:endParaRPr lang="zh-CN" altLang="en-US" sz="2800" dirty="0">
              <a:latin typeface="得意黑" pitchFamily="2" charset="-122"/>
              <a:ea typeface="得意黑" pitchFamily="2" charset="-122"/>
            </a:endParaRPr>
          </a:p>
        </p:txBody>
      </p:sp>
      <p:sp>
        <p:nvSpPr>
          <p:cNvPr id="6" name="文本框 5"/>
          <p:cNvSpPr txBox="1"/>
          <p:nvPr/>
        </p:nvSpPr>
        <p:spPr>
          <a:xfrm>
            <a:off x="609852" y="1783119"/>
            <a:ext cx="4607441" cy="3717941"/>
          </a:xfrm>
          <a:prstGeom prst="rect">
            <a:avLst/>
          </a:prstGeom>
          <a:noFill/>
        </p:spPr>
        <p:txBody>
          <a:bodyPr wrap="square">
            <a:spAutoFit/>
          </a:bodyPr>
          <a:lstStyle/>
          <a:p>
            <a:pPr>
              <a:lnSpc>
                <a:spcPct val="150000"/>
              </a:lnSpc>
              <a:buNone/>
            </a:pPr>
            <a:r>
              <a:rPr lang="en-US" altLang="zh-CN" sz="3200" b="1" dirty="0">
                <a:latin typeface="得意黑" pitchFamily="2" charset="-122"/>
                <a:ea typeface="得意黑" pitchFamily="2" charset="-122"/>
              </a:rPr>
              <a:t>Silicones in Chemical &amp; Medical Use</a:t>
            </a:r>
          </a:p>
          <a:p>
            <a:pPr>
              <a:lnSpc>
                <a:spcPct val="150000"/>
              </a:lnSpc>
              <a:buNone/>
            </a:pPr>
            <a:r>
              <a:rPr lang="en-US" altLang="zh-CN" sz="2400" dirty="0">
                <a:latin typeface="得意黑" pitchFamily="2" charset="-122"/>
                <a:ea typeface="得意黑" pitchFamily="2" charset="-122"/>
              </a:rPr>
              <a:t>Widely used in sealants, lubricants, medical implants, and waterproofing. </a:t>
            </a:r>
          </a:p>
          <a:p>
            <a:pPr>
              <a:lnSpc>
                <a:spcPct val="150000"/>
              </a:lnSpc>
              <a:buNone/>
            </a:pPr>
            <a:r>
              <a:rPr lang="en-US" altLang="zh-CN" sz="2400" dirty="0">
                <a:latin typeface="得意黑" pitchFamily="2" charset="-122"/>
                <a:ea typeface="得意黑" pitchFamily="2" charset="-122"/>
              </a:rPr>
              <a:t>Flexibility, durability, and biocompatibility</a:t>
            </a:r>
          </a:p>
        </p:txBody>
      </p:sp>
      <p:sp>
        <p:nvSpPr>
          <p:cNvPr id="10" name="矩形 9"/>
          <p:cNvSpPr/>
          <p:nvPr/>
        </p:nvSpPr>
        <p:spPr>
          <a:xfrm>
            <a:off x="8074708" y="6195440"/>
            <a:ext cx="3263796" cy="351594"/>
          </a:xfrm>
          <a:prstGeom prst="rect">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dirty="0">
                <a:latin typeface="得意黑" pitchFamily="2" charset="-122"/>
                <a:ea typeface="得意黑" pitchFamily="2" charset="-122"/>
              </a:rPr>
              <a:t>Waterproofing</a:t>
            </a:r>
            <a:endParaRPr lang="zh-CN" altLang="en-US" sz="2000" dirty="0">
              <a:latin typeface="得意黑" pitchFamily="2" charset="-122"/>
              <a:ea typeface="得意黑" pitchFamily="2" charset="-122"/>
            </a:endParaRPr>
          </a:p>
        </p:txBody>
      </p:sp>
      <p:pic>
        <p:nvPicPr>
          <p:cNvPr id="2" name="图片 1" descr="Dental sealants - Procedure, Uses, Drawbacks, &amp; Treatment"/>
          <p:cNvPicPr>
            <a:picLocks noChangeAspect="1"/>
          </p:cNvPicPr>
          <p:nvPr/>
        </p:nvPicPr>
        <p:blipFill>
          <a:blip r:embed="rId3"/>
          <a:srcRect l="7630" r="10296"/>
          <a:stretch>
            <a:fillRect/>
          </a:stretch>
        </p:blipFill>
        <p:spPr>
          <a:xfrm>
            <a:off x="5672666" y="4580240"/>
            <a:ext cx="2402042" cy="1638938"/>
          </a:xfrm>
          <a:prstGeom prst="rect">
            <a:avLst/>
          </a:prstGeom>
        </p:spPr>
      </p:pic>
      <p:pic>
        <p:nvPicPr>
          <p:cNvPr id="5" name="图片 4" descr="Gel Lubricant - WD-40 Australia"/>
          <p:cNvPicPr>
            <a:picLocks noChangeAspect="1"/>
          </p:cNvPicPr>
          <p:nvPr/>
        </p:nvPicPr>
        <p:blipFill>
          <a:blip r:embed="rId4"/>
          <a:srcRect l="33374" t="15358" r="28639" b="12708"/>
          <a:stretch>
            <a:fillRect/>
          </a:stretch>
        </p:blipFill>
        <p:spPr>
          <a:xfrm>
            <a:off x="5672666" y="1058334"/>
            <a:ext cx="1953809" cy="3164856"/>
          </a:xfrm>
          <a:prstGeom prst="rect">
            <a:avLst/>
          </a:prstGeom>
        </p:spPr>
      </p:pic>
      <p:sp>
        <p:nvSpPr>
          <p:cNvPr id="11" name="矩形 10"/>
          <p:cNvSpPr/>
          <p:nvPr/>
        </p:nvSpPr>
        <p:spPr>
          <a:xfrm>
            <a:off x="5672663" y="4240802"/>
            <a:ext cx="1973661" cy="351594"/>
          </a:xfrm>
          <a:prstGeom prst="rect">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dirty="0">
                <a:latin typeface="得意黑" pitchFamily="2" charset="-122"/>
                <a:ea typeface="得意黑" pitchFamily="2" charset="-122"/>
              </a:rPr>
              <a:t>Lubricant</a:t>
            </a:r>
            <a:endParaRPr lang="zh-CN" altLang="en-US" sz="2000" dirty="0">
              <a:latin typeface="得意黑" pitchFamily="2" charset="-122"/>
              <a:ea typeface="得意黑" pitchFamily="2" charset="-122"/>
            </a:endParaRPr>
          </a:p>
        </p:txBody>
      </p:sp>
      <p:sp>
        <p:nvSpPr>
          <p:cNvPr id="12" name="矩形 11"/>
          <p:cNvSpPr/>
          <p:nvPr/>
        </p:nvSpPr>
        <p:spPr>
          <a:xfrm>
            <a:off x="7646324" y="4238199"/>
            <a:ext cx="3692181" cy="351594"/>
          </a:xfrm>
          <a:prstGeom prst="rect">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dirty="0">
                <a:latin typeface="得意黑" pitchFamily="2" charset="-122"/>
                <a:ea typeface="得意黑" pitchFamily="2" charset="-122"/>
              </a:rPr>
              <a:t>Medical Implants</a:t>
            </a:r>
            <a:endParaRPr lang="zh-CN" altLang="en-US" sz="2000" dirty="0">
              <a:latin typeface="得意黑" pitchFamily="2" charset="-122"/>
              <a:ea typeface="得意黑" pitchFamily="2" charset="-122"/>
            </a:endParaRPr>
          </a:p>
        </p:txBody>
      </p:sp>
      <p:pic>
        <p:nvPicPr>
          <p:cNvPr id="13" name="图片 12" descr="Implant-Grade Tubes for Medical Devices | Stainless Steel, Titanium, MP35N®  Nitronic® 50 Tubes"/>
          <p:cNvPicPr>
            <a:picLocks noChangeAspect="1"/>
          </p:cNvPicPr>
          <p:nvPr/>
        </p:nvPicPr>
        <p:blipFill>
          <a:blip r:embed="rId5"/>
          <a:srcRect t="2600" b="2922"/>
          <a:stretch>
            <a:fillRect/>
          </a:stretch>
        </p:blipFill>
        <p:spPr>
          <a:xfrm>
            <a:off x="7626473" y="1066857"/>
            <a:ext cx="3712032" cy="3156331"/>
          </a:xfrm>
          <a:prstGeom prst="rect">
            <a:avLst/>
          </a:prstGeom>
        </p:spPr>
      </p:pic>
      <p:pic>
        <p:nvPicPr>
          <p:cNvPr id="14" name="图片 13" descr="Shower Waterproofing Methods to Prevent Moisture Damage"/>
          <p:cNvPicPr>
            <a:picLocks noChangeAspect="1"/>
          </p:cNvPicPr>
          <p:nvPr/>
        </p:nvPicPr>
        <p:blipFill>
          <a:blip r:embed="rId6"/>
          <a:stretch>
            <a:fillRect/>
          </a:stretch>
        </p:blipFill>
        <p:spPr>
          <a:xfrm>
            <a:off x="8074707" y="4580240"/>
            <a:ext cx="3263797" cy="1615200"/>
          </a:xfrm>
          <a:prstGeom prst="rect">
            <a:avLst/>
          </a:prstGeom>
        </p:spPr>
      </p:pic>
      <p:sp>
        <p:nvSpPr>
          <p:cNvPr id="15" name="矩形 14"/>
          <p:cNvSpPr/>
          <p:nvPr/>
        </p:nvSpPr>
        <p:spPr>
          <a:xfrm>
            <a:off x="5672666" y="6203752"/>
            <a:ext cx="2402042" cy="351594"/>
          </a:xfrm>
          <a:prstGeom prst="rect">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dirty="0">
                <a:latin typeface="得意黑" pitchFamily="2" charset="-122"/>
                <a:ea typeface="得意黑" pitchFamily="2" charset="-122"/>
              </a:rPr>
              <a:t>Sealants</a:t>
            </a:r>
            <a:endParaRPr lang="zh-CN" altLang="en-US" sz="2000" dirty="0">
              <a:latin typeface="得意黑" pitchFamily="2" charset="-122"/>
              <a:ea typeface="得意黑" pitchFamily="2" charset="-122"/>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descr="100+ Chip Pictures [HD] | Download Free Images on Unsplash"/>
          <p:cNvPicPr>
            <a:picLocks noChangeAspect="1"/>
          </p:cNvPicPr>
          <p:nvPr/>
        </p:nvPicPr>
        <p:blipFill>
          <a:blip r:embed="rId2"/>
          <a:stretch>
            <a:fillRect/>
          </a:stretch>
        </p:blipFill>
        <p:spPr>
          <a:xfrm>
            <a:off x="0" y="0"/>
            <a:ext cx="12188389" cy="6858000"/>
          </a:xfrm>
          <a:prstGeom prst="rect">
            <a:avLst/>
          </a:prstGeom>
        </p:spPr>
      </p:pic>
      <p:sp>
        <p:nvSpPr>
          <p:cNvPr id="9" name="矩形: 圆角 8"/>
          <p:cNvSpPr/>
          <p:nvPr/>
        </p:nvSpPr>
        <p:spPr>
          <a:xfrm>
            <a:off x="210919" y="177800"/>
            <a:ext cx="11766550" cy="6470650"/>
          </a:xfrm>
          <a:prstGeom prst="round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296333" y="880533"/>
            <a:ext cx="11421533"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sp>
        <p:nvSpPr>
          <p:cNvPr id="4" name="文本框 3"/>
          <p:cNvSpPr txBox="1"/>
          <p:nvPr/>
        </p:nvSpPr>
        <p:spPr>
          <a:xfrm>
            <a:off x="829733" y="334434"/>
            <a:ext cx="3951672" cy="523220"/>
          </a:xfrm>
          <a:prstGeom prst="rect">
            <a:avLst/>
          </a:prstGeom>
          <a:noFill/>
        </p:spPr>
        <p:txBody>
          <a:bodyPr wrap="square" rtlCol="0">
            <a:spAutoFit/>
          </a:bodyPr>
          <a:lstStyle/>
          <a:p>
            <a:r>
              <a:rPr lang="en-US" altLang="zh-CN" sz="2800" dirty="0">
                <a:latin typeface="得意黑" pitchFamily="2" charset="-122"/>
                <a:ea typeface="得意黑" pitchFamily="2" charset="-122"/>
              </a:rPr>
              <a:t>3. Latest R&amp;D</a:t>
            </a:r>
            <a:endParaRPr lang="zh-CN" altLang="en-US" sz="2800" dirty="0">
              <a:latin typeface="得意黑" pitchFamily="2" charset="-122"/>
              <a:ea typeface="得意黑" pitchFamily="2" charset="-122"/>
            </a:endParaRPr>
          </a:p>
        </p:txBody>
      </p:sp>
      <p:sp>
        <p:nvSpPr>
          <p:cNvPr id="5" name="文本框 4"/>
          <p:cNvSpPr txBox="1"/>
          <p:nvPr/>
        </p:nvSpPr>
        <p:spPr>
          <a:xfrm>
            <a:off x="534778" y="912391"/>
            <a:ext cx="6206066" cy="2979277"/>
          </a:xfrm>
          <a:prstGeom prst="rect">
            <a:avLst/>
          </a:prstGeom>
          <a:noFill/>
        </p:spPr>
        <p:txBody>
          <a:bodyPr wrap="square">
            <a:spAutoFit/>
          </a:bodyPr>
          <a:lstStyle/>
          <a:p>
            <a:pPr>
              <a:lnSpc>
                <a:spcPct val="150000"/>
              </a:lnSpc>
            </a:pPr>
            <a:r>
              <a:rPr lang="en-US" altLang="zh-CN" sz="3200" b="1" dirty="0">
                <a:latin typeface="得意黑" pitchFamily="2" charset="-122"/>
                <a:ea typeface="得意黑" pitchFamily="2" charset="-122"/>
              </a:rPr>
              <a:t>S</a:t>
            </a:r>
            <a:r>
              <a:rPr lang="zh-CN" altLang="en-US" sz="3200" b="1" dirty="0">
                <a:latin typeface="得意黑" pitchFamily="2" charset="-122"/>
                <a:ea typeface="得意黑" pitchFamily="2" charset="-122"/>
              </a:rPr>
              <a:t>maller </a:t>
            </a:r>
            <a:r>
              <a:rPr lang="en-US" altLang="zh-CN" sz="3200" b="1" dirty="0">
                <a:latin typeface="得意黑" pitchFamily="2" charset="-122"/>
                <a:ea typeface="得意黑" pitchFamily="2" charset="-122"/>
              </a:rPr>
              <a:t>C</a:t>
            </a:r>
            <a:r>
              <a:rPr lang="zh-CN" altLang="en-US" sz="3200" b="1" dirty="0">
                <a:latin typeface="得意黑" pitchFamily="2" charset="-122"/>
                <a:ea typeface="得意黑" pitchFamily="2" charset="-122"/>
              </a:rPr>
              <a:t>hips</a:t>
            </a:r>
          </a:p>
          <a:p>
            <a:pPr>
              <a:lnSpc>
                <a:spcPct val="150000"/>
              </a:lnSpc>
            </a:pPr>
            <a:r>
              <a:rPr lang="zh-CN" altLang="en-US" sz="2400" dirty="0">
                <a:latin typeface="得意黑" pitchFamily="2" charset="-122"/>
                <a:ea typeface="得意黑" pitchFamily="2" charset="-122"/>
              </a:rPr>
              <a:t>Companies are now making chips with 3 nanometers and 2 nanometers technology. </a:t>
            </a:r>
            <a:endParaRPr lang="en-US" altLang="zh-CN" sz="2400" dirty="0">
              <a:latin typeface="得意黑" pitchFamily="2" charset="-122"/>
              <a:ea typeface="得意黑" pitchFamily="2" charset="-122"/>
            </a:endParaRPr>
          </a:p>
          <a:p>
            <a:pPr>
              <a:lnSpc>
                <a:spcPct val="150000"/>
              </a:lnSpc>
            </a:pPr>
            <a:r>
              <a:rPr lang="zh-CN" altLang="en-US" sz="2400" dirty="0">
                <a:latin typeface="得意黑" pitchFamily="2" charset="-122"/>
                <a:ea typeface="得意黑" pitchFamily="2" charset="-122"/>
              </a:rPr>
              <a:t>That is super tiny. But it is also very hard and expensive. Heat and electricity leaks are big problems.</a:t>
            </a:r>
          </a:p>
        </p:txBody>
      </p:sp>
      <p:pic>
        <p:nvPicPr>
          <p:cNvPr id="6" name="图片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894182" y="4069468"/>
            <a:ext cx="3487258" cy="2324838"/>
          </a:xfrm>
          <a:prstGeom prst="rect">
            <a:avLst/>
          </a:prstGeom>
        </p:spPr>
      </p:pic>
      <p:pic>
        <p:nvPicPr>
          <p:cNvPr id="10" name="图片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900736" y="4069468"/>
            <a:ext cx="4526506" cy="2324838"/>
          </a:xfrm>
          <a:prstGeom prst="rect">
            <a:avLst/>
          </a:prstGeom>
        </p:spPr>
      </p:pic>
      <p:pic>
        <p:nvPicPr>
          <p:cNvPr id="12" name="图片 1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900735" y="939446"/>
            <a:ext cx="4526507" cy="2952222"/>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descr="100+ Chip Pictures [HD] | Download Free Images on Unsplash"/>
          <p:cNvPicPr>
            <a:picLocks noChangeAspect="1"/>
          </p:cNvPicPr>
          <p:nvPr/>
        </p:nvPicPr>
        <p:blipFill>
          <a:blip r:embed="rId2"/>
          <a:stretch>
            <a:fillRect/>
          </a:stretch>
        </p:blipFill>
        <p:spPr>
          <a:xfrm>
            <a:off x="0" y="0"/>
            <a:ext cx="12188389" cy="6858000"/>
          </a:xfrm>
          <a:prstGeom prst="rect">
            <a:avLst/>
          </a:prstGeom>
        </p:spPr>
      </p:pic>
      <p:sp>
        <p:nvSpPr>
          <p:cNvPr id="9" name="矩形: 圆角 8"/>
          <p:cNvSpPr/>
          <p:nvPr/>
        </p:nvSpPr>
        <p:spPr>
          <a:xfrm>
            <a:off x="210919" y="177800"/>
            <a:ext cx="11766550" cy="6470650"/>
          </a:xfrm>
          <a:prstGeom prst="round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296333" y="880533"/>
            <a:ext cx="11421533"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sp>
        <p:nvSpPr>
          <p:cNvPr id="4" name="文本框 3"/>
          <p:cNvSpPr txBox="1"/>
          <p:nvPr/>
        </p:nvSpPr>
        <p:spPr>
          <a:xfrm>
            <a:off x="829733" y="334434"/>
            <a:ext cx="3532862" cy="523220"/>
          </a:xfrm>
          <a:prstGeom prst="rect">
            <a:avLst/>
          </a:prstGeom>
          <a:noFill/>
        </p:spPr>
        <p:txBody>
          <a:bodyPr wrap="square" rtlCol="0">
            <a:spAutoFit/>
          </a:bodyPr>
          <a:lstStyle/>
          <a:p>
            <a:r>
              <a:rPr lang="en-US" altLang="zh-CN" sz="2800" dirty="0">
                <a:latin typeface="得意黑" pitchFamily="2" charset="-122"/>
                <a:ea typeface="得意黑" pitchFamily="2" charset="-122"/>
              </a:rPr>
              <a:t>3. Latest R&amp;D</a:t>
            </a:r>
            <a:endParaRPr lang="zh-CN" altLang="en-US" sz="2800" dirty="0">
              <a:latin typeface="得意黑" pitchFamily="2" charset="-122"/>
              <a:ea typeface="得意黑" pitchFamily="2" charset="-122"/>
            </a:endParaRPr>
          </a:p>
        </p:txBody>
      </p:sp>
      <p:sp>
        <p:nvSpPr>
          <p:cNvPr id="5" name="文本框 4"/>
          <p:cNvSpPr txBox="1"/>
          <p:nvPr/>
        </p:nvSpPr>
        <p:spPr>
          <a:xfrm>
            <a:off x="541868" y="903413"/>
            <a:ext cx="4254134" cy="5195268"/>
          </a:xfrm>
          <a:prstGeom prst="rect">
            <a:avLst/>
          </a:prstGeom>
          <a:noFill/>
        </p:spPr>
        <p:txBody>
          <a:bodyPr wrap="square">
            <a:spAutoFit/>
          </a:bodyPr>
          <a:lstStyle/>
          <a:p>
            <a:pPr>
              <a:lnSpc>
                <a:spcPct val="150000"/>
              </a:lnSpc>
            </a:pPr>
            <a:r>
              <a:rPr lang="en-US" altLang="zh-CN" sz="3200" b="1" dirty="0">
                <a:latin typeface="得意黑" pitchFamily="2" charset="-122"/>
                <a:ea typeface="得意黑" pitchFamily="2" charset="-122"/>
              </a:rPr>
              <a:t>New Helper Materials.</a:t>
            </a:r>
          </a:p>
          <a:p>
            <a:pPr>
              <a:lnSpc>
                <a:spcPct val="150000"/>
              </a:lnSpc>
            </a:pPr>
            <a:r>
              <a:rPr lang="en-US" altLang="zh-CN" sz="2400" dirty="0">
                <a:latin typeface="得意黑" pitchFamily="2" charset="-122"/>
                <a:ea typeface="得意黑" pitchFamily="2" charset="-122"/>
              </a:rPr>
              <a:t>Pure silicon has limits. So scientists use silicon carbide (</a:t>
            </a:r>
            <a:r>
              <a:rPr lang="en-US" altLang="zh-CN" sz="2400" dirty="0" err="1">
                <a:latin typeface="得意黑" pitchFamily="2" charset="-122"/>
                <a:ea typeface="得意黑" pitchFamily="2" charset="-122"/>
              </a:rPr>
              <a:t>SiC</a:t>
            </a:r>
            <a:r>
              <a:rPr lang="en-US" altLang="zh-CN" sz="2400" dirty="0">
                <a:latin typeface="得意黑" pitchFamily="2" charset="-122"/>
                <a:ea typeface="得意黑" pitchFamily="2" charset="-122"/>
              </a:rPr>
              <a:t>) and gallium nitride (</a:t>
            </a:r>
            <a:r>
              <a:rPr lang="en-US" altLang="zh-CN" sz="2400" dirty="0" err="1">
                <a:latin typeface="得意黑" pitchFamily="2" charset="-122"/>
                <a:ea typeface="得意黑" pitchFamily="2" charset="-122"/>
              </a:rPr>
              <a:t>GaN</a:t>
            </a:r>
            <a:r>
              <a:rPr lang="en-US" altLang="zh-CN" sz="2400" dirty="0">
                <a:latin typeface="得意黑" pitchFamily="2" charset="-122"/>
                <a:ea typeface="得意黑" pitchFamily="2" charset="-122"/>
              </a:rPr>
              <a:t>). Big words, but simple meaning: these materials can work with higher power and higher heat. They are used in electric cars and fast chargers. They do not replace silicon – they work together.</a:t>
            </a:r>
            <a:endParaRPr lang="zh-CN" altLang="en-US" sz="2400" dirty="0">
              <a:latin typeface="得意黑" pitchFamily="2" charset="-122"/>
              <a:ea typeface="得意黑" pitchFamily="2" charset="-122"/>
            </a:endParaRPr>
          </a:p>
        </p:txBody>
      </p:sp>
      <p:sp>
        <p:nvSpPr>
          <p:cNvPr id="6" name="文本框 5"/>
          <p:cNvSpPr txBox="1"/>
          <p:nvPr/>
        </p:nvSpPr>
        <p:spPr>
          <a:xfrm>
            <a:off x="7854311" y="918025"/>
            <a:ext cx="4179419" cy="4641271"/>
          </a:xfrm>
          <a:prstGeom prst="rect">
            <a:avLst/>
          </a:prstGeom>
          <a:noFill/>
        </p:spPr>
        <p:txBody>
          <a:bodyPr wrap="square">
            <a:spAutoFit/>
          </a:bodyPr>
          <a:lstStyle/>
          <a:p>
            <a:pPr>
              <a:lnSpc>
                <a:spcPct val="150000"/>
              </a:lnSpc>
            </a:pPr>
            <a:r>
              <a:rPr lang="en-US" altLang="zh-CN" sz="3200" b="1" dirty="0">
                <a:latin typeface="得意黑" pitchFamily="2" charset="-122"/>
                <a:ea typeface="得意黑" pitchFamily="2" charset="-122"/>
              </a:rPr>
              <a:t>G</a:t>
            </a:r>
            <a:r>
              <a:rPr lang="zh-CN" altLang="en-US" sz="3200" b="1" dirty="0">
                <a:latin typeface="得意黑" pitchFamily="2" charset="-122"/>
                <a:ea typeface="得意黑" pitchFamily="2" charset="-122"/>
              </a:rPr>
              <a:t>reen and </a:t>
            </a:r>
            <a:r>
              <a:rPr lang="en-US" altLang="zh-CN" sz="3200" b="1" dirty="0">
                <a:latin typeface="得意黑" pitchFamily="2" charset="-122"/>
                <a:ea typeface="得意黑" pitchFamily="2" charset="-122"/>
              </a:rPr>
              <a:t>L</a:t>
            </a:r>
            <a:r>
              <a:rPr lang="zh-CN" altLang="en-US" sz="3200" b="1" dirty="0">
                <a:latin typeface="得意黑" pitchFamily="2" charset="-122"/>
                <a:ea typeface="得意黑" pitchFamily="2" charset="-122"/>
              </a:rPr>
              <a:t>ow-carbon.</a:t>
            </a:r>
          </a:p>
          <a:p>
            <a:pPr>
              <a:lnSpc>
                <a:spcPct val="150000"/>
              </a:lnSpc>
            </a:pPr>
            <a:r>
              <a:rPr lang="zh-CN" altLang="en-US" sz="2400" dirty="0">
                <a:latin typeface="得意黑" pitchFamily="2" charset="-122"/>
                <a:ea typeface="得意黑" pitchFamily="2" charset="-122"/>
              </a:rPr>
              <a:t>Making pure silicon needs a lot of energy. And old solar panels or old computers create electronic waste. Therefore, researchers are finding ways to recycle silicon from old products. Also, they try to use less energy when making new silicon.</a:t>
            </a:r>
          </a:p>
        </p:txBody>
      </p:sp>
      <p:pic>
        <p:nvPicPr>
          <p:cNvPr id="11" name="图片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796002" y="2069845"/>
            <a:ext cx="2903650" cy="2718310"/>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descr="100+ Chip Pictures [HD] | Download Free Images on Unsplash"/>
          <p:cNvPicPr>
            <a:picLocks noChangeAspect="1"/>
          </p:cNvPicPr>
          <p:nvPr/>
        </p:nvPicPr>
        <p:blipFill>
          <a:blip r:embed="rId2"/>
          <a:stretch>
            <a:fillRect/>
          </a:stretch>
        </p:blipFill>
        <p:spPr>
          <a:xfrm>
            <a:off x="0" y="0"/>
            <a:ext cx="12188389" cy="6858000"/>
          </a:xfrm>
          <a:prstGeom prst="rect">
            <a:avLst/>
          </a:prstGeom>
        </p:spPr>
      </p:pic>
      <p:sp>
        <p:nvSpPr>
          <p:cNvPr id="9" name="矩形: 圆角 8"/>
          <p:cNvSpPr/>
          <p:nvPr/>
        </p:nvSpPr>
        <p:spPr>
          <a:xfrm>
            <a:off x="210919" y="177800"/>
            <a:ext cx="11766550" cy="6470650"/>
          </a:xfrm>
          <a:prstGeom prst="round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296333" y="880533"/>
            <a:ext cx="11421533"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sp>
        <p:nvSpPr>
          <p:cNvPr id="4" name="文本框 3"/>
          <p:cNvSpPr txBox="1"/>
          <p:nvPr/>
        </p:nvSpPr>
        <p:spPr>
          <a:xfrm>
            <a:off x="829733" y="334434"/>
            <a:ext cx="2396067" cy="523220"/>
          </a:xfrm>
          <a:prstGeom prst="rect">
            <a:avLst/>
          </a:prstGeom>
          <a:noFill/>
        </p:spPr>
        <p:txBody>
          <a:bodyPr wrap="square" rtlCol="0">
            <a:spAutoFit/>
          </a:bodyPr>
          <a:lstStyle/>
          <a:p>
            <a:r>
              <a:rPr lang="en-US" altLang="zh-CN" sz="2800" dirty="0">
                <a:latin typeface="得意黑" pitchFamily="2" charset="-122"/>
                <a:ea typeface="得意黑" pitchFamily="2" charset="-122"/>
              </a:rPr>
              <a:t>4. Future</a:t>
            </a:r>
            <a:endParaRPr lang="zh-CN" altLang="en-US" sz="2800" dirty="0">
              <a:latin typeface="得意黑" pitchFamily="2" charset="-122"/>
              <a:ea typeface="得意黑" pitchFamily="2" charset="-122"/>
            </a:endParaRPr>
          </a:p>
        </p:txBody>
      </p:sp>
      <p:sp>
        <p:nvSpPr>
          <p:cNvPr id="5" name="文本框 4"/>
          <p:cNvSpPr txBox="1"/>
          <p:nvPr/>
        </p:nvSpPr>
        <p:spPr>
          <a:xfrm>
            <a:off x="801470" y="1276588"/>
            <a:ext cx="11175999" cy="1077218"/>
          </a:xfrm>
          <a:prstGeom prst="rect">
            <a:avLst/>
          </a:prstGeom>
          <a:noFill/>
        </p:spPr>
        <p:txBody>
          <a:bodyPr wrap="square">
            <a:spAutoFit/>
          </a:bodyPr>
          <a:lstStyle/>
          <a:p>
            <a:r>
              <a:rPr lang="en-US" altLang="zh-CN" sz="3200" b="1" dirty="0">
                <a:latin typeface="得意黑" pitchFamily="2" charset="-122"/>
                <a:ea typeface="得意黑" pitchFamily="2" charset="-122"/>
              </a:rPr>
              <a:t>We may see silicon photonics – using light instead of electricity to send information inside a chip. That would be faster and use less power.</a:t>
            </a:r>
            <a:endParaRPr lang="zh-CN" altLang="en-US" sz="2400" dirty="0">
              <a:latin typeface="得意黑" pitchFamily="2" charset="-122"/>
              <a:ea typeface="得意黑" pitchFamily="2" charset="-122"/>
            </a:endParaRPr>
          </a:p>
        </p:txBody>
      </p:sp>
      <p:pic>
        <p:nvPicPr>
          <p:cNvPr id="6" name="图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76072" y="2795620"/>
            <a:ext cx="4922406" cy="3655342"/>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descr="100+ Chip Pictures [HD] | Download Free Images on Unsplash"/>
          <p:cNvPicPr>
            <a:picLocks noChangeAspect="1"/>
          </p:cNvPicPr>
          <p:nvPr/>
        </p:nvPicPr>
        <p:blipFill>
          <a:blip r:embed="rId2"/>
          <a:stretch>
            <a:fillRect/>
          </a:stretch>
        </p:blipFill>
        <p:spPr>
          <a:xfrm>
            <a:off x="0" y="0"/>
            <a:ext cx="12188389" cy="6858000"/>
          </a:xfrm>
          <a:prstGeom prst="rect">
            <a:avLst/>
          </a:prstGeom>
        </p:spPr>
      </p:pic>
      <p:sp>
        <p:nvSpPr>
          <p:cNvPr id="9" name="矩形: 圆角 8"/>
          <p:cNvSpPr/>
          <p:nvPr/>
        </p:nvSpPr>
        <p:spPr>
          <a:xfrm>
            <a:off x="210919" y="177800"/>
            <a:ext cx="11766550" cy="6470650"/>
          </a:xfrm>
          <a:prstGeom prst="round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cxnSp>
        <p:nvCxnSpPr>
          <p:cNvPr id="3" name="直接连接符 2"/>
          <p:cNvCxnSpPr/>
          <p:nvPr/>
        </p:nvCxnSpPr>
        <p:spPr>
          <a:xfrm>
            <a:off x="296333" y="880533"/>
            <a:ext cx="11421533"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sp>
        <p:nvSpPr>
          <p:cNvPr id="4" name="文本框 3"/>
          <p:cNvSpPr txBox="1"/>
          <p:nvPr/>
        </p:nvSpPr>
        <p:spPr>
          <a:xfrm>
            <a:off x="829733" y="334434"/>
            <a:ext cx="3267617"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black"/>
                </a:solidFill>
                <a:effectLst/>
                <a:uLnTx/>
                <a:uFillTx/>
                <a:latin typeface="得意黑" pitchFamily="2" charset="-122"/>
                <a:ea typeface="得意黑" pitchFamily="2" charset="-122"/>
                <a:cs typeface="+mn-cs"/>
              </a:rPr>
              <a:t>4. Conclusion</a:t>
            </a:r>
            <a:endParaRPr kumimoji="0" lang="zh-CN" altLang="en-US" sz="2800" b="0" i="0" u="none" strike="noStrike" kern="1200" cap="none" spc="0" normalizeH="0" baseline="0" noProof="0" dirty="0">
              <a:ln>
                <a:noFill/>
              </a:ln>
              <a:solidFill>
                <a:prstClr val="black"/>
              </a:solidFill>
              <a:effectLst/>
              <a:uLnTx/>
              <a:uFillTx/>
              <a:latin typeface="得意黑" pitchFamily="2" charset="-122"/>
              <a:ea typeface="得意黑" pitchFamily="2" charset="-122"/>
              <a:cs typeface="+mn-cs"/>
            </a:endParaRPr>
          </a:p>
        </p:txBody>
      </p:sp>
      <p:sp>
        <p:nvSpPr>
          <p:cNvPr id="5" name="文本框 4"/>
          <p:cNvSpPr txBox="1"/>
          <p:nvPr/>
        </p:nvSpPr>
        <p:spPr>
          <a:xfrm>
            <a:off x="745629" y="2319978"/>
            <a:ext cx="11175999" cy="2218043"/>
          </a:xfrm>
          <a:prstGeom prst="rect">
            <a:avLst/>
          </a:prstGeom>
          <a:noFill/>
        </p:spPr>
        <p:txBody>
          <a:bodyPr wrap="square">
            <a:spAutoFit/>
          </a:bodyPr>
          <a:lstStyle/>
          <a:p>
            <a:pPr lvl="0">
              <a:lnSpc>
                <a:spcPct val="150000"/>
              </a:lnSpc>
            </a:pPr>
            <a:r>
              <a:rPr lang="en-US" altLang="zh-CN" sz="3200" b="1" dirty="0">
                <a:solidFill>
                  <a:prstClr val="black"/>
                </a:solidFill>
                <a:latin typeface="得意黑" pitchFamily="2" charset="-122"/>
                <a:ea typeface="得意黑" pitchFamily="2" charset="-122"/>
              </a:rPr>
              <a:t>Silicon started as simple sand. Then it became the heart of all electronics. Today, it gives us computers, solar power, and smart cars. Tomorrow, with new ideas and green methods, silicon will stay important.</a:t>
            </a:r>
            <a:endParaRPr kumimoji="0" lang="zh-CN" altLang="en-US" sz="2400" b="0" i="0" u="none" strike="noStrike" kern="1200" cap="none" spc="0" normalizeH="0" baseline="0" noProof="0" dirty="0">
              <a:ln>
                <a:noFill/>
              </a:ln>
              <a:solidFill>
                <a:prstClr val="black"/>
              </a:solidFill>
              <a:effectLst/>
              <a:uLnTx/>
              <a:uFillTx/>
              <a:latin typeface="得意黑" pitchFamily="2" charset="-122"/>
              <a:ea typeface="得意黑" pitchFamily="2" charset="-122"/>
              <a:cs typeface="+mn-cs"/>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descr="100+ Chip Pictures [HD] | Download Free Images on Unsplash"/>
          <p:cNvPicPr>
            <a:picLocks noChangeAspect="1"/>
          </p:cNvPicPr>
          <p:nvPr/>
        </p:nvPicPr>
        <p:blipFill>
          <a:blip r:embed="rId2"/>
          <a:stretch>
            <a:fillRect/>
          </a:stretch>
        </p:blipFill>
        <p:spPr>
          <a:xfrm>
            <a:off x="0" y="0"/>
            <a:ext cx="12188389" cy="6858000"/>
          </a:xfrm>
          <a:prstGeom prst="rect">
            <a:avLst/>
          </a:prstGeom>
        </p:spPr>
      </p:pic>
      <p:sp>
        <p:nvSpPr>
          <p:cNvPr id="9" name="矩形: 圆角 8"/>
          <p:cNvSpPr/>
          <p:nvPr/>
        </p:nvSpPr>
        <p:spPr>
          <a:xfrm>
            <a:off x="210919" y="177800"/>
            <a:ext cx="11766550" cy="6470650"/>
          </a:xfrm>
          <a:prstGeom prst="round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2760133" y="1803400"/>
            <a:ext cx="6671734" cy="3046988"/>
          </a:xfrm>
          <a:prstGeom prst="rect">
            <a:avLst/>
          </a:prstGeom>
          <a:noFill/>
        </p:spPr>
        <p:txBody>
          <a:bodyPr wrap="square" rtlCol="0">
            <a:spAutoFit/>
          </a:bodyPr>
          <a:lstStyle/>
          <a:p>
            <a:pPr algn="ctr"/>
            <a:r>
              <a:rPr lang="en-US" altLang="zh-CN" sz="9600" dirty="0">
                <a:latin typeface="得意黑" pitchFamily="2" charset="-122"/>
                <a:ea typeface="得意黑" pitchFamily="2" charset="-122"/>
              </a:rPr>
              <a:t>Thanks for listening!</a:t>
            </a:r>
            <a:endParaRPr lang="zh-CN" altLang="en-US" sz="9600" dirty="0">
              <a:latin typeface="得意黑" pitchFamily="2" charset="-122"/>
              <a:ea typeface="得意黑" pitchFamily="2" charset="-122"/>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47</TotalTime>
  <Words>643</Words>
  <Application>Microsoft Office PowerPoint</Application>
  <PresentationFormat>宽屏</PresentationFormat>
  <Paragraphs>77</Paragraphs>
  <Slides>13</Slides>
  <Notes>2</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13</vt:i4>
      </vt:variant>
    </vt:vector>
  </HeadingPairs>
  <TitlesOfParts>
    <vt:vector size="18" baseType="lpstr">
      <vt:lpstr>等线</vt:lpstr>
      <vt:lpstr>得意黑</vt:lpstr>
      <vt:lpstr>等线 Light</vt:lpstr>
      <vt:lpstr>Arial</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9319727@qq.com</dc:creator>
  <cp:lastModifiedBy>9319727@qq.com</cp:lastModifiedBy>
  <cp:revision>18</cp:revision>
  <dcterms:created xsi:type="dcterms:W3CDTF">2026-04-30T02:00:00Z</dcterms:created>
  <dcterms:modified xsi:type="dcterms:W3CDTF">2026-05-08T14:53:46Z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2052-12.1.0.25865</vt:lpwstr>
  </property>
  <property fmtid="{D5CDD505-2E9C-101B-9397-08002B2CF9AE}" pid="3" name="ICV">
    <vt:lpwstr>2C2329E9D3D14A33B59B231BAFA96BF6_12</vt:lpwstr>
  </property>
</Properties>
</file>