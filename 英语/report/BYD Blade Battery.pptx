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9"/>
  </p:notesMasterIdLst>
  <p:sldIdLst>
    <p:sldId id="256" r:id="rId3"/>
    <p:sldId id="258" r:id="rId4"/>
    <p:sldId id="259" r:id="rId5"/>
    <p:sldId id="260" r:id="rId6"/>
    <p:sldId id="261" r:id="rId7"/>
    <p:sldId id="262" r:id="rId8"/>
    <p:sldId id="263" r:id="rId9"/>
    <p:sldId id="264" r:id="rId10"/>
    <p:sldId id="265" r:id="rId11"/>
    <p:sldId id="267" r:id="rId12"/>
    <p:sldId id="270" r:id="rId13"/>
    <p:sldId id="268" r:id="rId14"/>
    <p:sldId id="271" r:id="rId15"/>
    <p:sldId id="272" r:id="rId16"/>
    <p:sldId id="273" r:id="rId17"/>
    <p:sldId id="274"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16" userDrawn="1">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629" autoAdjust="0"/>
  </p:normalViewPr>
  <p:slideViewPr>
    <p:cSldViewPr snapToGrid="0">
      <p:cViewPr varScale="1">
        <p:scale>
          <a:sx n="102" d="100"/>
          <a:sy n="102" d="100"/>
        </p:scale>
        <p:origin x="364" y="72"/>
      </p:cViewPr>
      <p:guideLst>
        <p:guide orient="horz" pos="161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Good morning/afternoon, everyone. Today, we will present our case study on BYD's Blade Battery, exploring how this innovative technology is helping China's EV industry overcome significant challenges posed by U.S. supply chain restrictions. Our presentation will analyze the technology, its development, and its strategic implications for technological self-reliance.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Here is the outline of our presentation. We will start with an introduction to the geopolitical context, then delve into the technology and the challenges it addresses. We will trace BYD's R&amp;D process, present its achievements, and offer an analysis. Finally, we will discuss the battery's shortcomings, future prospects, and conclude with our key findings.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global shift to electric vehicles has turned battery technology into a major geopolitical battleground. The U.S. has responded with a series of policies, including tariffs, subsidy restrictions under the IRA, and entity designations, all aimed at restricting China's EV and battery industry. This raises a critical question: How can China navigate these supply chain "chokeholds"?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focus is on BYD's Blade Battery, a domestically developed LFP technology. Its key advantages—high safety, long life, and localized production—position it as a potential solution. In this presentation, we will argue that such domestic innovation is crucial for reducing China's vulnerability to external sanctions.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So, what exactly is the Blade Battery? It's based on Lithium Iron Phosphate, or LFP, chemistry. This means it uses abundant materials like iron and phosphate, avoiding costly and geopolitically sensitive metals like nickel and cobalt. The key innovation is its "blade" architecture, which uses long, flat cells arranged in a honeycomb structure, integrating them directly into the battery pack frame.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Blade design offers three key advantages. First, its space efficiency is dramatically improved, with a 50% reduction in pack volume. Second, it's significantly safer, passing extreme tests like nail penetration without catching fire. Finally, because it uses LFP chemistry, it achieves a high degree of supply chain independence, free from the vulnerabilities associated with nickel and cobalt.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U.S. strategy to contain China's battery industry works on three fronts: restricting access to materials, blocking high-tech equipment and patents, and creating market barriers through tariffs and policy. However, China's response, exemplified by the Blade Battery, is to leverage its self-sufficiency in LFP materials, develop domestic patents, and diversify its export markets.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development of the Blade Battery wasn't an overnight success. As this timeline shows, BYD's journey began in 2002 with early LFP research. After years of development, the first LFP battery was launched in 2008, leading up to the official unveiling of the Blade Battery in 2020. This long-term commitment to R&amp;D was crucial.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overcome the limitations of traditional LFP batteries, BYD's engineers had to innovate. They identified the need to increase packaging efficiency. This led to the novel "blade" cell shape, which acts as a structural beam, and the "Cell-to-Body" integration concept. These innovations required significant re-engineering of manufacturing processes.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The Blade Battery's technical superiority is evident across several metrics. It is dramatically safer, with surface temperatures remaining below 60°C during abuse tests. While LFP has lower energy density, the Blade's design closes the range gap, and future versions promise even more. Its exceptional cycle life drastically lowers the total cost of ownership, and its cost structure is estimated to be 20-30% cheaper than competing NMC batteries.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When compared to conventional NMC batteries, the Blade Battery presents a clear trade-off. It sacrifices peak energy density for vastly superior longevity, safety, cost efficiency, and supply chain resilience. This pragmatic approach has proven successful and is accelerating the global adoption of LFP technology, even in Western markets.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Blade Battery's technical success has translated into significant market impact. BYD's battery installations in China reached nearly 166 GWh in 2025, capturing over 21% of the market. More broadly, its success has accelerated the industry's shift towards LFP chemistry, as shown in this market growth projection. Consumers have also responded positively to its strong safety reputation and track record.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Of course, the Blade Battery is not without its shortcomings. It has an energy density ceiling compared to NMC batteries, which limits its use in high-end vehicles. It also suffers from weaker cold-weather performance. Furthermore, while independent of cobalt, it still relies on imported lithium and graphite. Finally, competition from other LFP battery makers is intensifying.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Looking to the future, BYD is working on technical advancements like Blade 2.0 with LMFP chemistry and ultra-fast charging. Strategically, the goal is to deepen self-sufficiency, possibly through overseas factories. As geopolitical tensions evolve, the Blade Battery and its successors will only grow in strategic importance for China's EV industry.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7.sv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0.jpeg"/><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5.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8.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29.svg"/><Relationship Id="rId4" Type="http://schemas.openxmlformats.org/officeDocument/2006/relationships/image" Target="../media/image21.sv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AutoShape 6"/>
          <p:cNvSpPr/>
          <p:nvPr/>
        </p:nvSpPr>
        <p:spPr>
          <a:xfrm>
            <a:off x="-70884" y="0"/>
            <a:ext cx="12312503" cy="6858000"/>
          </a:xfrm>
          <a:prstGeom prst="roundRect">
            <a:avLst>
              <a:gd name="adj" fmla="val 0"/>
            </a:avLst>
          </a:prstGeom>
          <a:solidFill>
            <a:srgbClr val="FFFFFF">
              <a:alpha val="60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dirty="0"/>
          </a:p>
        </p:txBody>
      </p:sp>
      <p:sp>
        <p:nvSpPr>
          <p:cNvPr id="2" name="AutoShape 2"/>
          <p:cNvSpPr/>
          <p:nvPr/>
        </p:nvSpPr>
        <p:spPr>
          <a:xfrm>
            <a:off x="0" y="0"/>
            <a:ext cx="12192000" cy="6858000"/>
          </a:xfrm>
          <a:prstGeom prst="roundRect">
            <a:avLst>
              <a:gd name="adj" fmla="val 0"/>
            </a:avLst>
          </a:prstGeom>
          <a:solidFill>
            <a:srgbClr val="333333">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1992" y="1028816"/>
            <a:ext cx="11275533" cy="266688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600" b="1" i="0" u="none" strike="noStrike" dirty="0">
                <a:solidFill>
                  <a:schemeClr val="tx1"/>
                </a:solidFill>
                <a:latin typeface="Times New Roman"/>
                <a:ea typeface="Times New Roman"/>
                <a:cs typeface="Times New Roman"/>
                <a:sym typeface="Times New Roman"/>
              </a:rPr>
              <a:t>BYD Blade Battery: </a:t>
            </a:r>
          </a:p>
          <a:p>
            <a:pPr indent="0" algn="l">
              <a:lnSpc>
                <a:spcPct val="125000"/>
              </a:lnSpc>
              <a:defRPr/>
            </a:pPr>
            <a:r>
              <a:rPr lang="en-US" sz="3200" b="1" i="0" u="none" strike="noStrike" dirty="0">
                <a:solidFill>
                  <a:schemeClr val="tx1"/>
                </a:solidFill>
                <a:latin typeface="Times New Roman"/>
                <a:ea typeface="Times New Roman"/>
                <a:cs typeface="Times New Roman"/>
                <a:sym typeface="Times New Roman"/>
              </a:rPr>
              <a:t>Overcoming U.S. EV Battery Supply Chain Restrictions</a:t>
            </a:r>
            <a:endParaRPr lang="en-US" sz="3200" dirty="0">
              <a:solidFill>
                <a:schemeClr val="tx1"/>
              </a:solidFill>
            </a:endParaRPr>
          </a:p>
        </p:txBody>
      </p:sp>
      <p:cxnSp>
        <p:nvCxnSpPr>
          <p:cNvPr id="5" name="Connector 5"/>
          <p:cNvCxnSpPr/>
          <p:nvPr/>
        </p:nvCxnSpPr>
        <p:spPr>
          <a:xfrm rot="-4092">
            <a:off x="762004" y="3676650"/>
            <a:ext cx="106680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7" name="AutoShape 7"/>
          <p:cNvSpPr/>
          <p:nvPr/>
        </p:nvSpPr>
        <p:spPr>
          <a:xfrm>
            <a:off x="3543300" y="3963286"/>
            <a:ext cx="5080000" cy="1651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pPr>
            <a:r>
              <a:rPr lang="en-US" altLang="zh-CN" sz="2000" b="1" i="0" u="none" strike="noStrike" dirty="0">
                <a:solidFill>
                  <a:schemeClr val="tx1">
                    <a:alpha val="80000"/>
                  </a:schemeClr>
                </a:solidFill>
                <a:latin typeface="Times New Roman"/>
                <a:ea typeface="Times New Roman"/>
                <a:cs typeface="Times New Roman"/>
                <a:sym typeface="Times New Roman"/>
              </a:rPr>
              <a:t>BY </a:t>
            </a:r>
          </a:p>
          <a:p>
            <a:pPr indent="0" algn="ctr">
              <a:lnSpc>
                <a:spcPct val="108333"/>
              </a:lnSpc>
            </a:pPr>
            <a:r>
              <a:rPr lang="en-US" sz="2000" b="1" i="0" u="none" strike="noStrike" dirty="0" err="1">
                <a:solidFill>
                  <a:schemeClr val="tx1">
                    <a:alpha val="80000"/>
                  </a:schemeClr>
                </a:solidFill>
                <a:latin typeface="Times New Roman"/>
                <a:ea typeface="Times New Roman"/>
                <a:cs typeface="Times New Roman"/>
                <a:sym typeface="Times New Roman"/>
              </a:rPr>
              <a:t>Tianhao</a:t>
            </a:r>
            <a:r>
              <a:rPr lang="en-US" sz="2000" b="1" i="0" u="none" strike="noStrike" dirty="0">
                <a:solidFill>
                  <a:schemeClr val="tx1">
                    <a:alpha val="80000"/>
                  </a:schemeClr>
                </a:solidFill>
                <a:latin typeface="Times New Roman"/>
                <a:ea typeface="Times New Roman"/>
                <a:cs typeface="Times New Roman"/>
                <a:sym typeface="Times New Roman"/>
              </a:rPr>
              <a:t> Mo  &amp; Yuyang Wei</a:t>
            </a:r>
          </a:p>
        </p:txBody>
      </p:sp>
      <p:cxnSp>
        <p:nvCxnSpPr>
          <p:cNvPr id="8" name="Connector 8"/>
          <p:cNvCxnSpPr/>
          <p:nvPr/>
        </p:nvCxnSpPr>
        <p:spPr>
          <a:xfrm rot="5368748">
            <a:off x="5397500" y="5137179"/>
            <a:ext cx="1397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Times New Roman"/>
                <a:ea typeface="Times New Roman"/>
                <a:cs typeface="Times New Roman"/>
                <a:sym typeface="Times New Roman"/>
              </a:rPr>
              <a:t>Table of Contents</a:t>
            </a:r>
            <a:endParaRPr lang="en-US" sz="1100"/>
          </a:p>
        </p:txBody>
      </p:sp>
      <p:sp>
        <p:nvSpPr>
          <p:cNvPr id="4" name="AutoShape 4"/>
          <p:cNvSpPr/>
          <p:nvPr/>
        </p:nvSpPr>
        <p:spPr>
          <a:xfrm>
            <a:off x="762000" y="1524000"/>
            <a:ext cx="5207000" cy="10795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0800" cy="1079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6256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33333"/>
                </a:solidFill>
                <a:latin typeface="Times New Roman"/>
                <a:ea typeface="Times New Roman"/>
                <a:cs typeface="Times New Roman"/>
                <a:sym typeface="Times New Roman"/>
              </a:rPr>
              <a:t>01. Introduction: The Geopolitical Context of EV Batteries</a:t>
            </a:r>
            <a:endParaRPr lang="en-US" sz="2400" dirty="0"/>
          </a:p>
        </p:txBody>
      </p:sp>
      <p:sp>
        <p:nvSpPr>
          <p:cNvPr id="7" name="AutoShape 7"/>
          <p:cNvSpPr/>
          <p:nvPr/>
        </p:nvSpPr>
        <p:spPr>
          <a:xfrm>
            <a:off x="762000" y="2794000"/>
            <a:ext cx="5207000" cy="10795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2794000"/>
            <a:ext cx="50800" cy="1079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2749550"/>
            <a:ext cx="4826000" cy="1168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33333"/>
                </a:solidFill>
                <a:latin typeface="Times New Roman"/>
                <a:ea typeface="Times New Roman"/>
                <a:cs typeface="Times New Roman"/>
                <a:sym typeface="Times New Roman"/>
              </a:rPr>
              <a:t>02. Technology Background &amp; Chokehold Dilemma</a:t>
            </a:r>
            <a:endParaRPr lang="en-US" sz="2400" dirty="0"/>
          </a:p>
        </p:txBody>
      </p:sp>
      <p:sp>
        <p:nvSpPr>
          <p:cNvPr id="10" name="AutoShape 10"/>
          <p:cNvSpPr/>
          <p:nvPr/>
        </p:nvSpPr>
        <p:spPr>
          <a:xfrm>
            <a:off x="762000" y="4064000"/>
            <a:ext cx="5207000" cy="10795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762000" y="4064000"/>
            <a:ext cx="50800" cy="1079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016000" y="41656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33333"/>
                </a:solidFill>
                <a:latin typeface="Times New Roman"/>
                <a:ea typeface="Times New Roman"/>
                <a:cs typeface="Times New Roman"/>
                <a:sym typeface="Times New Roman"/>
              </a:rPr>
              <a:t>03. Independent R&amp;D Process Roadmap</a:t>
            </a:r>
            <a:endParaRPr lang="en-US" sz="2400" dirty="0"/>
          </a:p>
        </p:txBody>
      </p:sp>
      <p:sp>
        <p:nvSpPr>
          <p:cNvPr id="13" name="AutoShape 13"/>
          <p:cNvSpPr/>
          <p:nvPr/>
        </p:nvSpPr>
        <p:spPr>
          <a:xfrm>
            <a:off x="762000" y="5334000"/>
            <a:ext cx="5207000" cy="10795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62000" y="5334000"/>
            <a:ext cx="50800" cy="1079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016000" y="54356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33333"/>
                </a:solidFill>
                <a:latin typeface="Times New Roman"/>
                <a:ea typeface="Times New Roman"/>
                <a:cs typeface="Times New Roman"/>
                <a:sym typeface="Times New Roman"/>
              </a:rPr>
              <a:t>04. R&amp;D Achievements &amp; Application Effects</a:t>
            </a:r>
            <a:endParaRPr lang="en-US" sz="2400" dirty="0"/>
          </a:p>
        </p:txBody>
      </p:sp>
      <p:sp>
        <p:nvSpPr>
          <p:cNvPr id="16" name="AutoShape 16"/>
          <p:cNvSpPr/>
          <p:nvPr/>
        </p:nvSpPr>
        <p:spPr>
          <a:xfrm>
            <a:off x="6223000" y="1524000"/>
            <a:ext cx="5207000" cy="10795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23000" y="1524000"/>
            <a:ext cx="50800" cy="1079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77000" y="16256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33333"/>
                </a:solidFill>
                <a:latin typeface="Times New Roman"/>
                <a:ea typeface="Times New Roman"/>
                <a:cs typeface="Times New Roman"/>
                <a:sym typeface="Times New Roman"/>
              </a:rPr>
              <a:t>05. Deep Analysis &amp; Strategic Enlightenment</a:t>
            </a:r>
            <a:endParaRPr lang="en-US" sz="2400" dirty="0"/>
          </a:p>
        </p:txBody>
      </p:sp>
      <p:sp>
        <p:nvSpPr>
          <p:cNvPr id="19" name="AutoShape 19"/>
          <p:cNvSpPr/>
          <p:nvPr/>
        </p:nvSpPr>
        <p:spPr>
          <a:xfrm>
            <a:off x="6223000" y="2794000"/>
            <a:ext cx="5207000" cy="10795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223000" y="2794000"/>
            <a:ext cx="50800" cy="1079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477000" y="28956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33333"/>
                </a:solidFill>
                <a:latin typeface="Times New Roman"/>
                <a:ea typeface="Times New Roman"/>
                <a:cs typeface="Times New Roman"/>
                <a:sym typeface="Times New Roman"/>
              </a:rPr>
              <a:t>06. Existing Shortcomings &amp; Future Prospects</a:t>
            </a:r>
            <a:endParaRPr lang="en-US" sz="2400" dirty="0"/>
          </a:p>
        </p:txBody>
      </p:sp>
      <p:sp>
        <p:nvSpPr>
          <p:cNvPr id="22" name="AutoShape 22"/>
          <p:cNvSpPr/>
          <p:nvPr/>
        </p:nvSpPr>
        <p:spPr>
          <a:xfrm>
            <a:off x="6223000" y="4064000"/>
            <a:ext cx="5207000" cy="10795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223000" y="4064000"/>
            <a:ext cx="50800" cy="1079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477000" y="41656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33333"/>
                </a:solidFill>
                <a:latin typeface="Times New Roman"/>
                <a:ea typeface="Times New Roman"/>
                <a:cs typeface="Times New Roman"/>
                <a:sym typeface="Times New Roman"/>
              </a:rPr>
              <a:t>07. Conclusion &amp; Key Takeaways</a:t>
            </a:r>
          </a:p>
        </p:txBody>
      </p:sp>
      <p:sp>
        <p:nvSpPr>
          <p:cNvPr id="25" name="AutoShape 25"/>
          <p:cNvSpPr/>
          <p:nvPr/>
        </p:nvSpPr>
        <p:spPr>
          <a:xfrm>
            <a:off x="6223000" y="5334000"/>
            <a:ext cx="5207000" cy="1079500"/>
          </a:xfrm>
          <a:prstGeom prst="roundRect">
            <a:avLst>
              <a:gd name="adj" fmla="val 0"/>
            </a:avLst>
          </a:prstGeom>
          <a:solidFill>
            <a:srgbClr val="333333">
              <a:alpha val="4000"/>
            </a:srgbClr>
          </a:solidFill>
          <a:ln w="12700" cap="flat" cmpd="sng">
            <a:solidFill>
              <a:srgbClr val="333333">
                <a:alpha val="30000"/>
              </a:srgbClr>
            </a:solidFill>
            <a:prstDash val="dash"/>
            <a:round/>
          </a:ln>
        </p:spPr>
        <p:txBody>
          <a:bodyPr vert="horz" wrap="square" lIns="63500" tIns="63500" rIns="63500" bIns="63500" rtlCol="0" anchor="ctr"/>
          <a:lstStyle/>
          <a:p>
            <a:pPr algn="ctr">
              <a:defRPr/>
            </a:pPr>
            <a:endParaRPr/>
          </a:p>
        </p:txBody>
      </p:sp>
      <p:sp>
        <p:nvSpPr>
          <p:cNvPr id="26" name="AutoShape 26"/>
          <p:cNvSpPr/>
          <p:nvPr/>
        </p:nvSpPr>
        <p:spPr>
          <a:xfrm>
            <a:off x="6273800" y="5435600"/>
            <a:ext cx="50292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555555"/>
                </a:solidFill>
                <a:latin typeface="Times New Roman"/>
                <a:ea typeface="Times New Roman"/>
                <a:cs typeface="Times New Roman"/>
                <a:sym typeface="Times New Roman"/>
              </a:rPr>
              <a:t>"Innovation is not just about technology, but about redefining the geopolitical and industrial rules of the game."</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p:bldP spid="10" grpId="0" animBg="1"/>
      <p:bldP spid="11" grpId="0" animBg="1"/>
      <p:bldP spid="12" grpId="0"/>
      <p:bldP spid="13" grpId="0" animBg="1"/>
      <p:bldP spid="14" grpId="0" animBg="1"/>
      <p:bldP spid="15" grpId="0"/>
      <p:bldP spid="16" grpId="0" animBg="1"/>
      <p:bldP spid="17" grpId="0" animBg="1"/>
      <p:bldP spid="18" grpId="0"/>
      <p:bldP spid="19" grpId="0" animBg="1"/>
      <p:bldP spid="20" grpId="0" animBg="1"/>
      <p:bldP spid="21" grpId="0"/>
      <p:bldP spid="22" grpId="0" animBg="1"/>
      <p:bldP spid="23" grpId="0" animBg="1"/>
      <p:bldP spid="24" grpId="0"/>
      <p:bldP spid="25" grpId="0" animBg="1"/>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Times New Roman"/>
                <a:ea typeface="Times New Roman"/>
                <a:cs typeface="Times New Roman"/>
                <a:sym typeface="Times New Roman"/>
              </a:rPr>
              <a:t>Introduction - The Geopolitical Battlefield</a:t>
            </a:r>
            <a:endParaRPr lang="en-US" sz="1100" dirty="0"/>
          </a:p>
        </p:txBody>
      </p:sp>
      <p:sp>
        <p:nvSpPr>
          <p:cNvPr id="4" name="AutoShape 4"/>
          <p:cNvSpPr/>
          <p:nvPr/>
        </p:nvSpPr>
        <p:spPr>
          <a:xfrm>
            <a:off x="761999" y="1270000"/>
            <a:ext cx="11111023" cy="762000"/>
          </a:xfrm>
          <a:prstGeom prst="roundRect">
            <a:avLst>
              <a:gd name="adj" fmla="val 0"/>
            </a:avLst>
          </a:prstGeom>
          <a:solidFill>
            <a:srgbClr val="333333">
              <a:alpha val="4000"/>
            </a:srgbClr>
          </a:solidFill>
          <a:ln cap="flat" cmpd="sng">
            <a:solidFill>
              <a:srgbClr val="1A1717">
                <a:alpha val="4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270000"/>
            <a:ext cx="50800" cy="762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5999" y="1333500"/>
            <a:ext cx="10857024"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3C3C3C"/>
                </a:solidFill>
                <a:latin typeface="Noto Sans SC"/>
                <a:ea typeface="Noto Sans SC"/>
                <a:cs typeface="Noto Sans SC"/>
                <a:sym typeface="Noto Sans SC"/>
              </a:rPr>
              <a:t>The global race to electrify transportation has intensified, positioning battery technology and its complex supply chains at the very center of escalating U.S.-China geopolitical and economic tensions.</a:t>
            </a:r>
            <a:endParaRPr lang="en-US" sz="1800" dirty="0"/>
          </a:p>
        </p:txBody>
      </p:sp>
      <p:sp>
        <p:nvSpPr>
          <p:cNvPr id="7" name="AutoShape 7"/>
          <p:cNvSpPr/>
          <p:nvPr/>
        </p:nvSpPr>
        <p:spPr>
          <a:xfrm>
            <a:off x="762000" y="2286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a:ea typeface="Noto Sans SC"/>
                <a:cs typeface="Noto Sans SC"/>
                <a:sym typeface="Noto Sans SC"/>
              </a:rPr>
              <a:t>Key U.S. Policy Frontlines &amp; Strategic Countermeasures</a:t>
            </a:r>
            <a:endParaRPr lang="en-US" sz="1100" dirty="0"/>
          </a:p>
        </p:txBody>
      </p:sp>
      <p:sp>
        <p:nvSpPr>
          <p:cNvPr id="8" name="AutoShape 8"/>
          <p:cNvSpPr/>
          <p:nvPr/>
        </p:nvSpPr>
        <p:spPr>
          <a:xfrm>
            <a:off x="762000" y="2857500"/>
            <a:ext cx="5207000" cy="1333500"/>
          </a:xfrm>
          <a:prstGeom prst="roundRect">
            <a:avLst>
              <a:gd name="adj" fmla="val 0"/>
            </a:avLst>
          </a:prstGeom>
          <a:solidFill>
            <a:srgbClr val="FFFFFF">
              <a:alpha val="75000"/>
            </a:srgbClr>
          </a:solidFill>
          <a:ln w="12700" cap="flat" cmpd="sng">
            <a:solidFill>
              <a:srgbClr val="333333">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048000"/>
            <a:ext cx="406400" cy="406400"/>
          </a:xfrm>
          <a:prstGeom prst="rect">
            <a:avLst/>
          </a:prstGeom>
        </p:spPr>
      </p:pic>
      <p:sp>
        <p:nvSpPr>
          <p:cNvPr id="10" name="AutoShape 10"/>
          <p:cNvSpPr/>
          <p:nvPr/>
        </p:nvSpPr>
        <p:spPr>
          <a:xfrm>
            <a:off x="1460500" y="2857500"/>
            <a:ext cx="4381500" cy="1333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Strategic Threat Framing</a:t>
            </a:r>
            <a:endParaRPr lang="en-US" sz="2000" dirty="0"/>
          </a:p>
          <a:p>
            <a:pPr indent="0" algn="l">
              <a:lnSpc>
                <a:spcPct val="125000"/>
              </a:lnSpc>
            </a:pPr>
            <a:r>
              <a:rPr lang="en-US" b="0" i="0" u="none" strike="noStrike" dirty="0">
                <a:solidFill>
                  <a:srgbClr val="555555"/>
                </a:solidFill>
                <a:latin typeface="Noto Sans SC"/>
                <a:ea typeface="Noto Sans SC"/>
                <a:cs typeface="Noto Sans SC"/>
                <a:sym typeface="Noto Sans SC"/>
              </a:rPr>
              <a:t>Washington has formally categorized China's entire clean-energy industrial complex as a core "strategic threat" to national security interests.</a:t>
            </a:r>
          </a:p>
        </p:txBody>
      </p:sp>
      <p:sp>
        <p:nvSpPr>
          <p:cNvPr id="11" name="AutoShape 11"/>
          <p:cNvSpPr/>
          <p:nvPr/>
        </p:nvSpPr>
        <p:spPr>
          <a:xfrm>
            <a:off x="6223000" y="2857500"/>
            <a:ext cx="5207000" cy="1333500"/>
          </a:xfrm>
          <a:prstGeom prst="roundRect">
            <a:avLst>
              <a:gd name="adj" fmla="val 0"/>
            </a:avLst>
          </a:prstGeom>
          <a:solidFill>
            <a:srgbClr val="FFFFFF">
              <a:alpha val="75000"/>
            </a:srgbClr>
          </a:solidFill>
          <a:ln w="12700" cap="flat" cmpd="sng">
            <a:solidFill>
              <a:srgbClr val="333333">
                <a:alpha val="15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3048000"/>
            <a:ext cx="406400" cy="406400"/>
          </a:xfrm>
          <a:prstGeom prst="rect">
            <a:avLst/>
          </a:prstGeom>
        </p:spPr>
      </p:pic>
      <p:sp>
        <p:nvSpPr>
          <p:cNvPr id="13" name="AutoShape 13"/>
          <p:cNvSpPr/>
          <p:nvPr/>
        </p:nvSpPr>
        <p:spPr>
          <a:xfrm>
            <a:off x="6921500" y="2857500"/>
            <a:ext cx="4381500" cy="1333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Escalating Tariff Barriers</a:t>
            </a:r>
            <a:endParaRPr lang="en-US" sz="2000" dirty="0"/>
          </a:p>
          <a:p>
            <a:pPr indent="0" algn="l">
              <a:lnSpc>
                <a:spcPct val="125000"/>
              </a:lnSpc>
            </a:pPr>
            <a:r>
              <a:rPr lang="en-US" b="0" i="0" u="none" strike="noStrike" dirty="0">
                <a:solidFill>
                  <a:srgbClr val="555555"/>
                </a:solidFill>
                <a:latin typeface="Noto Sans SC"/>
                <a:ea typeface="Noto Sans SC"/>
                <a:cs typeface="Noto Sans SC"/>
                <a:sym typeface="Noto Sans SC"/>
              </a:rPr>
              <a:t>Implementation of quadrupled tariffs on Chinese EV imports and a baseline 25% duty on lithium-ion batteries set to take full effect in 2026.</a:t>
            </a:r>
          </a:p>
        </p:txBody>
      </p:sp>
      <p:sp>
        <p:nvSpPr>
          <p:cNvPr id="14" name="AutoShape 14"/>
          <p:cNvSpPr/>
          <p:nvPr/>
        </p:nvSpPr>
        <p:spPr>
          <a:xfrm>
            <a:off x="762000" y="4318000"/>
            <a:ext cx="5207000" cy="1270000"/>
          </a:xfrm>
          <a:prstGeom prst="roundRect">
            <a:avLst>
              <a:gd name="adj" fmla="val 0"/>
            </a:avLst>
          </a:prstGeom>
          <a:solidFill>
            <a:srgbClr val="FFFFFF">
              <a:alpha val="75000"/>
            </a:srgbClr>
          </a:solidFill>
          <a:ln w="12700" cap="flat" cmpd="sng">
            <a:solidFill>
              <a:srgbClr val="333333">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635500"/>
            <a:ext cx="406400" cy="406400"/>
          </a:xfrm>
          <a:prstGeom prst="rect">
            <a:avLst/>
          </a:prstGeom>
        </p:spPr>
      </p:pic>
      <p:sp>
        <p:nvSpPr>
          <p:cNvPr id="16" name="AutoShape 16"/>
          <p:cNvSpPr/>
          <p:nvPr/>
        </p:nvSpPr>
        <p:spPr>
          <a:xfrm>
            <a:off x="1460500" y="4318000"/>
            <a:ext cx="46101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IRA Supply Chain Exclusion Clauses</a:t>
            </a:r>
            <a:endParaRPr lang="en-US" sz="2000" dirty="0"/>
          </a:p>
          <a:p>
            <a:pPr indent="0" algn="l">
              <a:lnSpc>
                <a:spcPct val="125000"/>
              </a:lnSpc>
            </a:pPr>
            <a:r>
              <a:rPr lang="en-US" b="0" i="0" u="none" strike="noStrike" dirty="0">
                <a:solidFill>
                  <a:srgbClr val="555555"/>
                </a:solidFill>
                <a:latin typeface="Noto Sans SC"/>
                <a:ea typeface="Noto Sans SC"/>
                <a:cs typeface="Noto Sans SC"/>
                <a:sym typeface="Noto Sans SC"/>
              </a:rPr>
              <a:t>The Inflation Reduction Act contains strict provisions that effectively ban any EV containing Chinese battery components from accessing federal tax credits.</a:t>
            </a:r>
          </a:p>
        </p:txBody>
      </p:sp>
      <p:sp>
        <p:nvSpPr>
          <p:cNvPr id="17" name="AutoShape 17"/>
          <p:cNvSpPr/>
          <p:nvPr/>
        </p:nvSpPr>
        <p:spPr>
          <a:xfrm>
            <a:off x="6223000" y="4318000"/>
            <a:ext cx="5207000" cy="1270000"/>
          </a:xfrm>
          <a:prstGeom prst="roundRect">
            <a:avLst>
              <a:gd name="adj" fmla="val 0"/>
            </a:avLst>
          </a:prstGeom>
          <a:solidFill>
            <a:srgbClr val="FFFFFF">
              <a:alpha val="75000"/>
            </a:srgbClr>
          </a:solidFill>
          <a:ln w="12700" cap="flat" cmpd="sng">
            <a:solidFill>
              <a:srgbClr val="333333">
                <a:alpha val="15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4508500"/>
            <a:ext cx="406400" cy="451556"/>
          </a:xfrm>
          <a:prstGeom prst="rect">
            <a:avLst/>
          </a:prstGeom>
        </p:spPr>
      </p:pic>
      <p:sp>
        <p:nvSpPr>
          <p:cNvPr id="19" name="AutoShape 19"/>
          <p:cNvSpPr/>
          <p:nvPr/>
        </p:nvSpPr>
        <p:spPr>
          <a:xfrm>
            <a:off x="6921500" y="4445000"/>
            <a:ext cx="4508500" cy="987778"/>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Military-linked Entity Designations</a:t>
            </a:r>
            <a:endParaRPr lang="en-US" sz="2000" dirty="0"/>
          </a:p>
          <a:p>
            <a:pPr indent="0" algn="l">
              <a:lnSpc>
                <a:spcPct val="125000"/>
              </a:lnSpc>
            </a:pPr>
            <a:r>
              <a:rPr lang="en-US" b="0" i="0" u="none" strike="noStrike" dirty="0">
                <a:solidFill>
                  <a:srgbClr val="555555"/>
                </a:solidFill>
                <a:latin typeface="Noto Sans SC"/>
                <a:ea typeface="Noto Sans SC"/>
                <a:cs typeface="Noto Sans SC"/>
                <a:sym typeface="Noto Sans SC"/>
              </a:rPr>
              <a:t>Industry leaders including BYD and CATL face designation as military-linked entities, signaling forthcoming investment and operational restrictions.</a:t>
            </a:r>
          </a:p>
        </p:txBody>
      </p:sp>
      <p:sp>
        <p:nvSpPr>
          <p:cNvPr id="20" name="AutoShape 20"/>
          <p:cNvSpPr/>
          <p:nvPr/>
        </p:nvSpPr>
        <p:spPr>
          <a:xfrm>
            <a:off x="762000" y="5842000"/>
            <a:ext cx="10668000" cy="762000"/>
          </a:xfrm>
          <a:prstGeom prst="roundRect">
            <a:avLst>
              <a:gd name="adj" fmla="val 0"/>
            </a:avLst>
          </a:prstGeom>
          <a:solidFill>
            <a:srgbClr val="333333">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016000" y="5969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FFFFFF"/>
                </a:solidFill>
                <a:latin typeface="Noto Sans SC"/>
                <a:ea typeface="Noto Sans SC"/>
                <a:cs typeface="Noto Sans SC"/>
                <a:sym typeface="Noto Sans SC"/>
              </a:rPr>
              <a:t>Central Research Question: How can China's EV industry strategically decouple and restructure to overcome these systemic supply-chain "chokeholds" imposed by U.S. industrial policy?</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10" grpId="0"/>
      <p:bldP spid="11" grpId="0" animBg="1"/>
      <p:bldP spid="13" grpId="0"/>
      <p:bldP spid="14" grpId="0" animBg="1"/>
      <p:bldP spid="16" grpId="0"/>
      <p:bldP spid="17" grpId="0" animBg="1"/>
      <p:bldP spid="19" grpId="0"/>
      <p:bldP spid="20" grpId="0" animBg="1"/>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Times New Roman"/>
                <a:ea typeface="Times New Roman"/>
                <a:cs typeface="Times New Roman"/>
                <a:sym typeface="Times New Roman"/>
              </a:rPr>
              <a:t>Introduction - The Blade Battery as a Solution</a:t>
            </a:r>
            <a:endParaRPr lang="en-US" sz="1100" dirty="0"/>
          </a:p>
        </p:txBody>
      </p:sp>
      <p:sp>
        <p:nvSpPr>
          <p:cNvPr id="4" name="AutoShape 4"/>
          <p:cNvSpPr/>
          <p:nvPr/>
        </p:nvSpPr>
        <p:spPr>
          <a:xfrm>
            <a:off x="497072" y="1320800"/>
            <a:ext cx="11274056"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505050"/>
                </a:solidFill>
                <a:latin typeface="Noto Sans SC"/>
                <a:ea typeface="Noto Sans SC"/>
                <a:cs typeface="Noto Sans SC"/>
                <a:sym typeface="Noto Sans SC"/>
              </a:rPr>
              <a:t>This presentation centers on BYD's Blade Battery, a domestically engineered Lithium Iron Phosphate (LFP) technology that represents a significant advancement in battery innovation and strategic resilience.</a:t>
            </a:r>
            <a:endParaRPr lang="en-US" sz="1800" dirty="0"/>
          </a:p>
        </p:txBody>
      </p:sp>
      <p:cxnSp>
        <p:nvCxnSpPr>
          <p:cNvPr id="5" name="Connector 5"/>
          <p:cNvCxnSpPr/>
          <p:nvPr/>
        </p:nvCxnSpPr>
        <p:spPr>
          <a:xfrm rot="-4092">
            <a:off x="762004" y="2025650"/>
            <a:ext cx="1066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6" name="AutoShape 6"/>
          <p:cNvSpPr/>
          <p:nvPr/>
        </p:nvSpPr>
        <p:spPr>
          <a:xfrm>
            <a:off x="762000" y="2285999"/>
            <a:ext cx="3429000" cy="1904893"/>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286000"/>
            <a:ext cx="45719" cy="1904892"/>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438400"/>
            <a:ext cx="304800" cy="304800"/>
          </a:xfrm>
          <a:prstGeom prst="rect">
            <a:avLst/>
          </a:prstGeom>
        </p:spPr>
      </p:pic>
      <p:sp>
        <p:nvSpPr>
          <p:cNvPr id="9" name="AutoShape 9"/>
          <p:cNvSpPr/>
          <p:nvPr/>
        </p:nvSpPr>
        <p:spPr>
          <a:xfrm>
            <a:off x="1327150" y="2345956"/>
            <a:ext cx="2794000" cy="642088"/>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Unparalleled Inherent Safety</a:t>
            </a:r>
            <a:endParaRPr lang="en-US" sz="2000" dirty="0"/>
          </a:p>
        </p:txBody>
      </p:sp>
      <p:sp>
        <p:nvSpPr>
          <p:cNvPr id="10" name="AutoShape 10"/>
          <p:cNvSpPr/>
          <p:nvPr/>
        </p:nvSpPr>
        <p:spPr>
          <a:xfrm>
            <a:off x="952500" y="2921000"/>
            <a:ext cx="3111500" cy="12319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5A5A5A"/>
                </a:solidFill>
                <a:latin typeface="Noto Sans SC"/>
                <a:ea typeface="Noto Sans SC"/>
                <a:cs typeface="Noto Sans SC"/>
                <a:sym typeface="Noto Sans SC"/>
              </a:rPr>
              <a:t>Utilizing chemically stable LFP materials, the design fundamentally mitigates thermal runaway risks, setting a new benchmark for fire safety standards in the industry.</a:t>
            </a:r>
            <a:endParaRPr lang="en-US" sz="1100" dirty="0"/>
          </a:p>
        </p:txBody>
      </p:sp>
      <p:sp>
        <p:nvSpPr>
          <p:cNvPr id="11" name="AutoShape 11"/>
          <p:cNvSpPr/>
          <p:nvPr/>
        </p:nvSpPr>
        <p:spPr>
          <a:xfrm>
            <a:off x="4381500" y="2286000"/>
            <a:ext cx="3505200" cy="1904892"/>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381500" y="2286000"/>
            <a:ext cx="45719" cy="18669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438400"/>
            <a:ext cx="304800" cy="304800"/>
          </a:xfrm>
          <a:prstGeom prst="rect">
            <a:avLst/>
          </a:prstGeom>
        </p:spPr>
      </p:pic>
      <p:sp>
        <p:nvSpPr>
          <p:cNvPr id="14" name="AutoShape 14"/>
          <p:cNvSpPr/>
          <p:nvPr/>
        </p:nvSpPr>
        <p:spPr>
          <a:xfrm>
            <a:off x="4914900" y="2345956"/>
            <a:ext cx="2908300" cy="642088"/>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Extended Operational Lifespan</a:t>
            </a:r>
            <a:endParaRPr lang="en-US" sz="2000" dirty="0"/>
          </a:p>
        </p:txBody>
      </p:sp>
      <p:sp>
        <p:nvSpPr>
          <p:cNvPr id="15" name="AutoShape 15"/>
          <p:cNvSpPr/>
          <p:nvPr/>
        </p:nvSpPr>
        <p:spPr>
          <a:xfrm>
            <a:off x="4572000" y="2921000"/>
            <a:ext cx="3111500" cy="126989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5A5A5A"/>
                </a:solidFill>
                <a:latin typeface="Noto Sans SC"/>
                <a:ea typeface="Noto Sans SC"/>
                <a:cs typeface="Noto Sans SC"/>
                <a:sym typeface="Noto Sans SC"/>
              </a:rPr>
              <a:t>Delivering exceptional cycle durability far exceeding conventional alternatives, it significantly lowers the total cost of ownership for both consumer and commercial vehicle applications.</a:t>
            </a:r>
            <a:endParaRPr lang="en-US" sz="1100" dirty="0"/>
          </a:p>
        </p:txBody>
      </p:sp>
      <p:sp>
        <p:nvSpPr>
          <p:cNvPr id="16" name="AutoShape 16"/>
          <p:cNvSpPr/>
          <p:nvPr/>
        </p:nvSpPr>
        <p:spPr>
          <a:xfrm>
            <a:off x="8001000" y="2286000"/>
            <a:ext cx="3606800" cy="1904892"/>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01000" y="2286000"/>
            <a:ext cx="45719" cy="1904892"/>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2438400"/>
            <a:ext cx="304800" cy="304800"/>
          </a:xfrm>
          <a:prstGeom prst="rect">
            <a:avLst/>
          </a:prstGeom>
        </p:spPr>
      </p:pic>
      <p:sp>
        <p:nvSpPr>
          <p:cNvPr id="19" name="AutoShape 19"/>
          <p:cNvSpPr/>
          <p:nvPr/>
        </p:nvSpPr>
        <p:spPr>
          <a:xfrm>
            <a:off x="8572500" y="2298700"/>
            <a:ext cx="3035300" cy="68934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Deep Supply Chain Localization</a:t>
            </a:r>
            <a:endParaRPr lang="en-US" sz="2000" dirty="0"/>
          </a:p>
        </p:txBody>
      </p:sp>
      <p:sp>
        <p:nvSpPr>
          <p:cNvPr id="20" name="AutoShape 20"/>
          <p:cNvSpPr/>
          <p:nvPr/>
        </p:nvSpPr>
        <p:spPr>
          <a:xfrm>
            <a:off x="8191500" y="2921000"/>
            <a:ext cx="3111500" cy="126989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5A5A5A"/>
                </a:solidFill>
                <a:latin typeface="Noto Sans SC"/>
                <a:ea typeface="Noto Sans SC"/>
                <a:cs typeface="Noto Sans SC"/>
                <a:sym typeface="Noto Sans SC"/>
              </a:rPr>
              <a:t>Predominantly relying on domestic raw material sourcing and indigenous manufacturing processes, it effectively insulates production from geopolitical and supply chain external pressures.</a:t>
            </a:r>
            <a:endParaRPr lang="en-US" sz="1100" dirty="0"/>
          </a:p>
        </p:txBody>
      </p:sp>
      <p:sp>
        <p:nvSpPr>
          <p:cNvPr id="21" name="AutoShape 21"/>
          <p:cNvSpPr/>
          <p:nvPr/>
        </p:nvSpPr>
        <p:spPr>
          <a:xfrm>
            <a:off x="762000" y="4228991"/>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Presentation Roadmap &amp; Analytical Framework</a:t>
            </a:r>
            <a:endParaRPr lang="en-US" sz="2000" dirty="0"/>
          </a:p>
        </p:txBody>
      </p:sp>
      <p:sp>
        <p:nvSpPr>
          <p:cNvPr id="22" name="AutoShape 22"/>
          <p:cNvSpPr/>
          <p:nvPr/>
        </p:nvSpPr>
        <p:spPr>
          <a:xfrm>
            <a:off x="762000" y="4699000"/>
            <a:ext cx="10668000" cy="1188484"/>
          </a:xfrm>
          <a:prstGeom prst="roundRect">
            <a:avLst>
              <a:gd name="adj" fmla="val 0"/>
            </a:avLst>
          </a:prstGeom>
          <a:solidFill>
            <a:srgbClr val="F5F5F5">
              <a:alpha val="70000"/>
            </a:srgbClr>
          </a:solidFill>
          <a:ln w="12700" cap="flat" cmpd="sng">
            <a:solidFill>
              <a:srgbClr val="C8C8C8">
                <a:alpha val="5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755656" y="4765936"/>
            <a:ext cx="2641597" cy="956448"/>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333333"/>
                </a:solidFill>
                <a:latin typeface="Noto Sans SC"/>
                <a:ea typeface="Noto Sans SC"/>
                <a:cs typeface="Noto Sans SC"/>
                <a:sym typeface="Noto Sans SC"/>
              </a:rPr>
              <a:t>01. Tech &amp; Bottlenecks Audit</a:t>
            </a:r>
            <a:endParaRPr lang="en-US" dirty="0"/>
          </a:p>
          <a:p>
            <a:pPr indent="0" algn="l">
              <a:lnSpc>
                <a:spcPct val="125000"/>
              </a:lnSpc>
            </a:pPr>
            <a:r>
              <a:rPr lang="en-US" sz="1100" b="0" i="0" u="none" strike="noStrike" dirty="0">
                <a:solidFill>
                  <a:srgbClr val="646464"/>
                </a:solidFill>
                <a:latin typeface="Noto Sans SC"/>
                <a:ea typeface="Noto Sans SC"/>
                <a:cs typeface="Noto Sans SC"/>
                <a:sym typeface="Noto Sans SC"/>
              </a:rPr>
              <a:t>Systematically review core cell-to-pack innovations and identify industry choke points.</a:t>
            </a:r>
          </a:p>
        </p:txBody>
      </p:sp>
      <p:cxnSp>
        <p:nvCxnSpPr>
          <p:cNvPr id="24" name="Connector 24"/>
          <p:cNvCxnSpPr/>
          <p:nvPr/>
        </p:nvCxnSpPr>
        <p:spPr>
          <a:xfrm rot="5342709">
            <a:off x="3048000" y="5200703"/>
            <a:ext cx="762000" cy="12700"/>
          </a:xfrm>
          <a:prstGeom prst="straightConnector1">
            <a:avLst/>
          </a:prstGeom>
          <a:solidFill>
            <a:srgbClr val="DEE0E3">
              <a:alpha val="100000"/>
            </a:srgbClr>
          </a:solidFill>
          <a:ln w="12700" cap="flat" cmpd="sng">
            <a:solidFill>
              <a:srgbClr val="B4B4B4">
                <a:alpha val="100000"/>
              </a:srgbClr>
            </a:solidFill>
            <a:prstDash val="solid"/>
            <a:round/>
            <a:headEnd type="none" w="med" len="med"/>
            <a:tailEnd type="none" w="med" len="med"/>
          </a:ln>
        </p:spPr>
      </p:cxnSp>
      <p:sp>
        <p:nvSpPr>
          <p:cNvPr id="25" name="AutoShape 25"/>
          <p:cNvSpPr/>
          <p:nvPr/>
        </p:nvSpPr>
        <p:spPr>
          <a:xfrm>
            <a:off x="3486150" y="4831906"/>
            <a:ext cx="2476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333333"/>
                </a:solidFill>
                <a:latin typeface="Noto Sans SC"/>
                <a:ea typeface="Noto Sans SC"/>
                <a:cs typeface="Noto Sans SC"/>
                <a:sym typeface="Noto Sans SC"/>
              </a:rPr>
              <a:t>02. R&amp;D Evolution Chronicle</a:t>
            </a:r>
            <a:endParaRPr lang="en-US" dirty="0"/>
          </a:p>
          <a:p>
            <a:pPr indent="0" algn="l">
              <a:lnSpc>
                <a:spcPct val="125000"/>
              </a:lnSpc>
            </a:pPr>
            <a:r>
              <a:rPr lang="en-US" sz="1100" b="0" i="0" u="none" strike="noStrike" dirty="0">
                <a:solidFill>
                  <a:srgbClr val="646464"/>
                </a:solidFill>
                <a:latin typeface="Noto Sans SC"/>
                <a:ea typeface="Noto Sans SC"/>
                <a:cs typeface="Noto Sans SC"/>
                <a:sym typeface="Noto Sans SC"/>
              </a:rPr>
              <a:t>Trace BYD's iterative engineering journey and quantify real-world performance efficiency gains.</a:t>
            </a:r>
          </a:p>
        </p:txBody>
      </p:sp>
      <p:cxnSp>
        <p:nvCxnSpPr>
          <p:cNvPr id="26" name="Connector 26"/>
          <p:cNvCxnSpPr/>
          <p:nvPr/>
        </p:nvCxnSpPr>
        <p:spPr>
          <a:xfrm rot="5342709">
            <a:off x="5600699" y="5200704"/>
            <a:ext cx="762000" cy="12700"/>
          </a:xfrm>
          <a:prstGeom prst="straightConnector1">
            <a:avLst/>
          </a:prstGeom>
          <a:solidFill>
            <a:srgbClr val="DEE0E3">
              <a:alpha val="100000"/>
            </a:srgbClr>
          </a:solidFill>
          <a:ln w="12700" cap="flat" cmpd="sng">
            <a:solidFill>
              <a:srgbClr val="B4B4B4">
                <a:alpha val="100000"/>
              </a:srgbClr>
            </a:solidFill>
            <a:prstDash val="solid"/>
            <a:round/>
            <a:headEnd type="none" w="med" len="med"/>
            <a:tailEnd type="none" w="med" len="med"/>
          </a:ln>
        </p:spPr>
      </p:cxnSp>
      <p:sp>
        <p:nvSpPr>
          <p:cNvPr id="27" name="AutoShape 27"/>
          <p:cNvSpPr/>
          <p:nvPr/>
        </p:nvSpPr>
        <p:spPr>
          <a:xfrm>
            <a:off x="6032494" y="4765936"/>
            <a:ext cx="2896193" cy="1146948"/>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333333"/>
                </a:solidFill>
                <a:latin typeface="Noto Sans SC"/>
                <a:ea typeface="Noto Sans SC"/>
                <a:cs typeface="Noto Sans SC"/>
                <a:sym typeface="Noto Sans SC"/>
              </a:rPr>
              <a:t>03. Geopolitical Comparative Lens</a:t>
            </a:r>
            <a:endParaRPr lang="en-US" dirty="0"/>
          </a:p>
          <a:p>
            <a:pPr indent="0" algn="l">
              <a:lnSpc>
                <a:spcPct val="125000"/>
              </a:lnSpc>
            </a:pPr>
            <a:r>
              <a:rPr lang="en-US" sz="1100" b="0" i="0" u="none" strike="noStrike" dirty="0">
                <a:solidFill>
                  <a:srgbClr val="646464"/>
                </a:solidFill>
                <a:latin typeface="Noto Sans SC"/>
                <a:ea typeface="Noto Sans SC"/>
                <a:cs typeface="Noto Sans SC"/>
                <a:sym typeface="Noto Sans SC"/>
              </a:rPr>
              <a:t>Benchmark against global competitors to extract strategic lessons for domestic industry autonomy.</a:t>
            </a:r>
          </a:p>
        </p:txBody>
      </p:sp>
      <p:cxnSp>
        <p:nvCxnSpPr>
          <p:cNvPr id="28" name="Connector 28"/>
          <p:cNvCxnSpPr/>
          <p:nvPr/>
        </p:nvCxnSpPr>
        <p:spPr>
          <a:xfrm rot="5342709">
            <a:off x="8458205" y="5200702"/>
            <a:ext cx="762000" cy="12700"/>
          </a:xfrm>
          <a:prstGeom prst="straightConnector1">
            <a:avLst/>
          </a:prstGeom>
          <a:solidFill>
            <a:srgbClr val="DEE0E3">
              <a:alpha val="100000"/>
            </a:srgbClr>
          </a:solidFill>
          <a:ln w="12700" cap="flat" cmpd="sng">
            <a:solidFill>
              <a:srgbClr val="B4B4B4">
                <a:alpha val="100000"/>
              </a:srgbClr>
            </a:solidFill>
            <a:prstDash val="solid"/>
            <a:round/>
            <a:headEnd type="none" w="med" len="med"/>
            <a:tailEnd type="none" w="med" len="med"/>
          </a:ln>
        </p:spPr>
      </p:cxnSp>
      <p:sp>
        <p:nvSpPr>
          <p:cNvPr id="29" name="AutoShape 29"/>
          <p:cNvSpPr/>
          <p:nvPr/>
        </p:nvSpPr>
        <p:spPr>
          <a:xfrm>
            <a:off x="8890000" y="4765936"/>
            <a:ext cx="2609844" cy="9455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333333"/>
                </a:solidFill>
                <a:latin typeface="Noto Sans SC"/>
                <a:ea typeface="Noto Sans SC"/>
                <a:cs typeface="Noto Sans SC"/>
                <a:sym typeface="Noto Sans SC"/>
              </a:rPr>
              <a:t>04. Future Outlook Synthesis</a:t>
            </a:r>
            <a:endParaRPr lang="en-US" dirty="0"/>
          </a:p>
          <a:p>
            <a:pPr indent="0" algn="l">
              <a:lnSpc>
                <a:spcPct val="125000"/>
              </a:lnSpc>
            </a:pPr>
            <a:r>
              <a:rPr lang="en-US" sz="1100" b="0" i="0" u="none" strike="noStrike" dirty="0">
                <a:solidFill>
                  <a:srgbClr val="646464"/>
                </a:solidFill>
                <a:latin typeface="Noto Sans SC"/>
                <a:ea typeface="Noto Sans SC"/>
                <a:cs typeface="Noto Sans SC"/>
                <a:sym typeface="Noto Sans SC"/>
              </a:rPr>
              <a:t>Conclude with existing industrial hurdles and the roadmap for next-generation LFP applications.</a:t>
            </a:r>
          </a:p>
        </p:txBody>
      </p:sp>
      <p:sp>
        <p:nvSpPr>
          <p:cNvPr id="30" name="AutoShape 30"/>
          <p:cNvSpPr/>
          <p:nvPr/>
        </p:nvSpPr>
        <p:spPr>
          <a:xfrm>
            <a:off x="762000" y="5969000"/>
            <a:ext cx="10668000" cy="665716"/>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6134100"/>
            <a:ext cx="254000" cy="254000"/>
          </a:xfrm>
          <a:prstGeom prst="rect">
            <a:avLst/>
          </a:prstGeom>
        </p:spPr>
      </p:pic>
      <p:sp>
        <p:nvSpPr>
          <p:cNvPr id="32" name="AutoShape 32"/>
          <p:cNvSpPr/>
          <p:nvPr/>
        </p:nvSpPr>
        <p:spPr>
          <a:xfrm>
            <a:off x="1333500" y="6070600"/>
            <a:ext cx="1003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FFFFFF"/>
                </a:solidFill>
                <a:latin typeface="Noto Sans SC"/>
                <a:ea typeface="Noto Sans SC"/>
                <a:cs typeface="Noto Sans SC"/>
                <a:sym typeface="Noto Sans SC"/>
              </a:rPr>
              <a:t>Core Thesis: Homegrown innovations like the Blade Battery are critical strategic assets for reducing high-tech industry vulnerability in an era of global competition.</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9" grpId="0"/>
      <p:bldP spid="10" grpId="0"/>
      <p:bldP spid="11" grpId="0" animBg="1"/>
      <p:bldP spid="12" grpId="0" animBg="1"/>
      <p:bldP spid="14" grpId="0"/>
      <p:bldP spid="15" grpId="0"/>
      <p:bldP spid="16" grpId="0" animBg="1"/>
      <p:bldP spid="17" grpId="0" animBg="1"/>
      <p:bldP spid="19" grpId="0"/>
      <p:bldP spid="20" grpId="0"/>
      <p:bldP spid="21" grpId="0"/>
      <p:bldP spid="23" grpId="0"/>
      <p:bldP spid="25" grpId="0"/>
      <p:bldP spid="27" grpId="0"/>
      <p:bldP spid="29" grpId="0"/>
      <p:bldP spid="30" grpId="0" animBg="1"/>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Times New Roman"/>
                <a:ea typeface="Times New Roman"/>
                <a:cs typeface="Times New Roman"/>
                <a:sym typeface="Times New Roman"/>
              </a:rPr>
              <a:t>Technology Background - What is the Blade Battery?</a:t>
            </a:r>
            <a:endParaRPr lang="en-US" sz="1100"/>
          </a:p>
        </p:txBody>
      </p:sp>
      <p:sp>
        <p:nvSpPr>
          <p:cNvPr id="4" name="AutoShape 4"/>
          <p:cNvSpPr/>
          <p:nvPr/>
        </p:nvSpPr>
        <p:spPr>
          <a:xfrm>
            <a:off x="762000" y="1524000"/>
            <a:ext cx="5334000" cy="2286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0800" cy="2286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14500"/>
            <a:ext cx="406400" cy="406400"/>
          </a:xfrm>
          <a:prstGeom prst="rect">
            <a:avLst/>
          </a:prstGeom>
        </p:spPr>
      </p:pic>
      <p:sp>
        <p:nvSpPr>
          <p:cNvPr id="7" name="AutoShape 7"/>
          <p:cNvSpPr/>
          <p:nvPr/>
        </p:nvSpPr>
        <p:spPr>
          <a:xfrm>
            <a:off x="1524000" y="1727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Times New Roman"/>
                <a:ea typeface="Times New Roman"/>
                <a:cs typeface="Times New Roman"/>
                <a:sym typeface="Times New Roman"/>
              </a:rPr>
              <a:t>1. Chemistry: Lithium Iron Phosphate (LFP)</a:t>
            </a:r>
            <a:endParaRPr lang="en-US" sz="1100" dirty="0"/>
          </a:p>
        </p:txBody>
      </p:sp>
      <p:sp>
        <p:nvSpPr>
          <p:cNvPr id="8" name="AutoShape 8"/>
          <p:cNvSpPr/>
          <p:nvPr/>
        </p:nvSpPr>
        <p:spPr>
          <a:xfrm>
            <a:off x="1016000" y="2222500"/>
            <a:ext cx="4826000" cy="139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dirty="0">
                <a:solidFill>
                  <a:srgbClr val="505050"/>
                </a:solidFill>
                <a:latin typeface="Noto Sans SC"/>
                <a:ea typeface="Noto Sans SC"/>
                <a:cs typeface="Noto Sans SC"/>
                <a:sym typeface="Noto Sans SC"/>
              </a:rPr>
              <a:t>Utilizes abundant Iron (Fe) and Phosphate materials, eliminating reliance on scarce Nickel (Ni) or Cobalt (Co). This formulation delivers exceptional inherent safety, a prolonged cycle life, and significant cost advantages, despite its historically lower energy density profile.</a:t>
            </a:r>
            <a:endParaRPr lang="en-US" sz="1100" dirty="0"/>
          </a:p>
        </p:txBody>
      </p:sp>
      <p:sp>
        <p:nvSpPr>
          <p:cNvPr id="9" name="AutoShape 9"/>
          <p:cNvSpPr/>
          <p:nvPr/>
        </p:nvSpPr>
        <p:spPr>
          <a:xfrm>
            <a:off x="762000" y="4064000"/>
            <a:ext cx="5334000" cy="2286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0" y="4064000"/>
            <a:ext cx="50800" cy="2286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254500"/>
            <a:ext cx="406400" cy="406400"/>
          </a:xfrm>
          <a:prstGeom prst="rect">
            <a:avLst/>
          </a:prstGeom>
        </p:spPr>
      </p:pic>
      <p:sp>
        <p:nvSpPr>
          <p:cNvPr id="12" name="AutoShape 12"/>
          <p:cNvSpPr/>
          <p:nvPr/>
        </p:nvSpPr>
        <p:spPr>
          <a:xfrm>
            <a:off x="1524000" y="4267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Times New Roman"/>
                <a:ea typeface="Times New Roman"/>
                <a:cs typeface="Times New Roman"/>
                <a:sym typeface="Times New Roman"/>
              </a:rPr>
              <a:t>2. Design: The Revolutionary "Blade" Architecture</a:t>
            </a:r>
            <a:endParaRPr lang="en-US" sz="1100" dirty="0"/>
          </a:p>
        </p:txBody>
      </p:sp>
      <p:sp>
        <p:nvSpPr>
          <p:cNvPr id="13" name="AutoShape 13"/>
          <p:cNvSpPr/>
          <p:nvPr/>
        </p:nvSpPr>
        <p:spPr>
          <a:xfrm>
            <a:off x="1016000" y="4762500"/>
            <a:ext cx="4826000" cy="139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dirty="0">
                <a:solidFill>
                  <a:srgbClr val="505050"/>
                </a:solidFill>
                <a:latin typeface="Noto Sans SC"/>
                <a:ea typeface="Noto Sans SC"/>
                <a:cs typeface="Noto Sans SC"/>
                <a:sym typeface="Noto Sans SC"/>
              </a:rPr>
              <a:t>Redefines structural integration through thousands of long, flat "blade" cells replacing conventional prismatic formats. Cells are organized in a honeycomb steel matrix, directly integrating into the pack frame via the innovative Cell-to-Body (CTB) technology for supreme space efficiency.</a:t>
            </a:r>
            <a:endParaRPr lang="en-US" sz="1100" dirty="0"/>
          </a:p>
        </p:txBody>
      </p:sp>
      <p:sp>
        <p:nvSpPr>
          <p:cNvPr id="14" name="AutoShape 14"/>
          <p:cNvSpPr/>
          <p:nvPr/>
        </p:nvSpPr>
        <p:spPr>
          <a:xfrm>
            <a:off x="6350000" y="1524000"/>
            <a:ext cx="5080000" cy="4826000"/>
          </a:xfrm>
          <a:prstGeom prst="roundRect">
            <a:avLst>
              <a:gd name="adj" fmla="val 0"/>
            </a:avLst>
          </a:prstGeom>
          <a:solidFill>
            <a:srgbClr val="F5F5F5">
              <a:alpha val="60000"/>
            </a:srgbClr>
          </a:solidFill>
          <a:ln cap="flat" cmpd="sng">
            <a:solidFill>
              <a:srgbClr val="DCC6C6">
                <a:alpha val="6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t="12375"/>
          <a:stretch>
            <a:fillRect/>
          </a:stretch>
        </p:blipFill>
        <p:spPr>
          <a:xfrm>
            <a:off x="6604000" y="1778000"/>
            <a:ext cx="4572000" cy="3048000"/>
          </a:xfrm>
          <a:prstGeom prst="rect">
            <a:avLst/>
          </a:prstGeom>
          <a:noFill/>
          <a:ln w="25400" cap="flat" cmpd="sng">
            <a:noFill/>
            <a:prstDash val="solid"/>
            <a:round/>
          </a:ln>
          <a:effectLst>
            <a:outerShdw blurRad="203200" dist="101600" dir="2700000" algn="tl" rotWithShape="0">
              <a:srgbClr val="000000">
                <a:alpha val="15000"/>
              </a:srgbClr>
            </a:outerShdw>
          </a:effectLst>
        </p:spPr>
      </p:pic>
      <p:cxnSp>
        <p:nvCxnSpPr>
          <p:cNvPr id="16" name="Connector 16"/>
          <p:cNvCxnSpPr/>
          <p:nvPr/>
        </p:nvCxnSpPr>
        <p:spPr>
          <a:xfrm rot="-9549">
            <a:off x="6604009" y="5073650"/>
            <a:ext cx="4572000" cy="12700"/>
          </a:xfrm>
          <a:prstGeom prst="straightConnector1">
            <a:avLst/>
          </a:prstGeom>
          <a:solidFill>
            <a:srgbClr val="DEE0E3">
              <a:alpha val="100000"/>
            </a:srgbClr>
          </a:solidFill>
          <a:ln w="12700" cap="flat" cmpd="sng">
            <a:solidFill>
              <a:srgbClr val="333333">
                <a:alpha val="30000"/>
              </a:srgbClr>
            </a:solidFill>
            <a:prstDash val="solid"/>
            <a:round/>
            <a:headEnd type="none" w="med" len="med"/>
            <a:tailEnd type="none" w="med" len="med"/>
          </a:ln>
        </p:spPr>
      </p:cxnSp>
      <p:sp>
        <p:nvSpPr>
          <p:cNvPr id="17" name="AutoShape 17"/>
          <p:cNvSpPr/>
          <p:nvPr/>
        </p:nvSpPr>
        <p:spPr>
          <a:xfrm>
            <a:off x="6604000" y="5207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Times New Roman"/>
                <a:ea typeface="Times New Roman"/>
                <a:cs typeface="Times New Roman"/>
                <a:sym typeface="Times New Roman"/>
              </a:rPr>
              <a:t>Structural Innovation Visualized</a:t>
            </a:r>
            <a:endParaRPr lang="en-US" sz="2000" dirty="0"/>
          </a:p>
        </p:txBody>
      </p:sp>
      <p:sp>
        <p:nvSpPr>
          <p:cNvPr id="18" name="AutoShape 18"/>
          <p:cNvSpPr/>
          <p:nvPr/>
        </p:nvSpPr>
        <p:spPr>
          <a:xfrm>
            <a:off x="6604000" y="5651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46464"/>
                </a:solidFill>
                <a:latin typeface="Noto Sans SC"/>
                <a:ea typeface="Noto Sans SC"/>
                <a:cs typeface="Noto Sans SC"/>
                <a:sym typeface="Noto Sans SC"/>
              </a:rPr>
              <a:t>The modular unit demonstrates the ultra-thin cell arrangement that maximizes volumetric efficiency within the battery pack enclosure.</a:t>
            </a:r>
            <a:endParaRPr lang="en-US"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8" grpId="0"/>
      <p:bldP spid="9" grpId="0" animBg="1"/>
      <p:bldP spid="10" grpId="0" animBg="1"/>
      <p:bldP spid="12" grpId="0"/>
      <p:bldP spid="13" grpId="0"/>
      <p:bldP spid="14" grpId="0" animBg="1"/>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Times New Roman"/>
                <a:ea typeface="Times New Roman"/>
                <a:cs typeface="Times New Roman"/>
                <a:sym typeface="Times New Roman"/>
              </a:rPr>
              <a:t>Technology Background - Advantages of the Blade Design</a:t>
            </a:r>
            <a:endParaRPr lang="en-US" sz="1100"/>
          </a:p>
        </p:txBody>
      </p:sp>
      <p:sp>
        <p:nvSpPr>
          <p:cNvPr id="4" name="AutoShape 4"/>
          <p:cNvSpPr/>
          <p:nvPr/>
        </p:nvSpPr>
        <p:spPr>
          <a:xfrm>
            <a:off x="762000" y="1524000"/>
            <a:ext cx="3429000" cy="4826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3429000" cy="508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841500"/>
            <a:ext cx="508000" cy="508000"/>
          </a:xfrm>
          <a:prstGeom prst="rect">
            <a:avLst/>
          </a:prstGeom>
        </p:spPr>
      </p:pic>
      <p:sp>
        <p:nvSpPr>
          <p:cNvPr id="7" name="AutoShape 7"/>
          <p:cNvSpPr/>
          <p:nvPr/>
        </p:nvSpPr>
        <p:spPr>
          <a:xfrm>
            <a:off x="1016000" y="2476500"/>
            <a:ext cx="292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Times New Roman"/>
                <a:ea typeface="Times New Roman"/>
                <a:cs typeface="Times New Roman"/>
                <a:sym typeface="Times New Roman"/>
              </a:rPr>
              <a:t>01. Unmatched Space Efficiency</a:t>
            </a:r>
            <a:endParaRPr lang="en-US" sz="1100" dirty="0"/>
          </a:p>
        </p:txBody>
      </p:sp>
      <p:cxnSp>
        <p:nvCxnSpPr>
          <p:cNvPr id="8" name="Connector 8"/>
          <p:cNvCxnSpPr/>
          <p:nvPr/>
        </p:nvCxnSpPr>
        <p:spPr>
          <a:xfrm rot="-14946">
            <a:off x="1016014" y="3041650"/>
            <a:ext cx="2921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9" name="AutoShape 9"/>
          <p:cNvSpPr/>
          <p:nvPr/>
        </p:nvSpPr>
        <p:spPr>
          <a:xfrm>
            <a:off x="1016000" y="3238500"/>
            <a:ext cx="2921000" cy="2921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dirty="0">
                <a:solidFill>
                  <a:srgbClr val="505050"/>
                </a:solidFill>
                <a:latin typeface="Noto Sans SC"/>
                <a:ea typeface="Noto Sans SC"/>
                <a:cs typeface="Noto Sans SC"/>
                <a:sym typeface="Noto Sans SC"/>
              </a:rPr>
              <a:t>By eliminating intermediate module supports, the innovative structural architecture unlocks significant internal space within the pack.</a:t>
            </a:r>
            <a:endParaRPr lang="en-US" sz="1100" dirty="0"/>
          </a:p>
          <a:p>
            <a:pPr indent="0" algn="l">
              <a:lnSpc>
                <a:spcPct val="116666"/>
              </a:lnSpc>
            </a:pPr>
            <a:br>
              <a:rPr lang="en-US" sz="1300" b="0" i="0" u="none" strike="noStrike" dirty="0">
                <a:solidFill>
                  <a:srgbClr val="1F2329"/>
                </a:solidFill>
                <a:latin typeface="Noto Sans SC"/>
                <a:ea typeface="Noto Sans SC"/>
                <a:cs typeface="Noto Sans SC"/>
                <a:sym typeface="Noto Sans SC"/>
              </a:rPr>
            </a:br>
            <a:endParaRPr lang="en-US" sz="1300" b="0" i="0" u="none" strike="noStrike" dirty="0">
              <a:solidFill>
                <a:srgbClr val="1F2329"/>
              </a:solidFill>
              <a:latin typeface="Noto Sans SC"/>
              <a:ea typeface="Noto Sans SC"/>
              <a:cs typeface="Noto Sans SC"/>
              <a:sym typeface="Noto Sans SC"/>
            </a:endParaRPr>
          </a:p>
          <a:p>
            <a:pPr indent="0" algn="l">
              <a:lnSpc>
                <a:spcPct val="116666"/>
              </a:lnSpc>
            </a:pPr>
            <a:r>
              <a:rPr lang="en-US" sz="1300" b="0" i="0" u="none" strike="noStrike" dirty="0">
                <a:solidFill>
                  <a:srgbClr val="505050"/>
                </a:solidFill>
                <a:latin typeface="Noto Sans SC"/>
                <a:ea typeface="Noto Sans SC"/>
                <a:cs typeface="Noto Sans SC"/>
                <a:sym typeface="Noto Sans SC"/>
              </a:rPr>
              <a:t>The result is a claimed</a:t>
            </a:r>
            <a:r>
              <a:rPr lang="en-US" sz="1300" b="1" i="0" u="none" strike="noStrike" dirty="0">
                <a:solidFill>
                  <a:srgbClr val="2C5EA9"/>
                </a:solidFill>
                <a:latin typeface="Noto Sans SC"/>
                <a:ea typeface="Noto Sans SC"/>
                <a:cs typeface="Noto Sans SC"/>
                <a:sym typeface="Noto Sans SC"/>
              </a:rPr>
              <a:t>~50% reduction in pack </a:t>
            </a:r>
            <a:r>
              <a:rPr lang="en-US" sz="1300" b="1" i="0" u="none" strike="noStrike" dirty="0" err="1">
                <a:solidFill>
                  <a:srgbClr val="2C5EA9"/>
                </a:solidFill>
                <a:latin typeface="Noto Sans SC"/>
                <a:ea typeface="Noto Sans SC"/>
                <a:cs typeface="Noto Sans SC"/>
                <a:sym typeface="Noto Sans SC"/>
              </a:rPr>
              <a:t>volume</a:t>
            </a:r>
            <a:r>
              <a:rPr lang="en-US" sz="1300" b="0" i="0" u="none" strike="noStrike" dirty="0" err="1">
                <a:solidFill>
                  <a:srgbClr val="505050"/>
                </a:solidFill>
                <a:latin typeface="Noto Sans SC"/>
                <a:ea typeface="Noto Sans SC"/>
                <a:cs typeface="Noto Sans SC"/>
                <a:sym typeface="Noto Sans SC"/>
              </a:rPr>
              <a:t>compared</a:t>
            </a:r>
            <a:r>
              <a:rPr lang="en-US" sz="1300" b="0" i="0" u="none" strike="noStrike" dirty="0">
                <a:solidFill>
                  <a:srgbClr val="505050"/>
                </a:solidFill>
                <a:latin typeface="Noto Sans SC"/>
                <a:ea typeface="Noto Sans SC"/>
                <a:cs typeface="Noto Sans SC"/>
                <a:sym typeface="Noto Sans SC"/>
              </a:rPr>
              <a:t> to conventional LFP configurations, drastically improving overall volumetric efficiency.</a:t>
            </a:r>
          </a:p>
        </p:txBody>
      </p:sp>
      <p:sp>
        <p:nvSpPr>
          <p:cNvPr id="10" name="AutoShape 10"/>
          <p:cNvSpPr/>
          <p:nvPr/>
        </p:nvSpPr>
        <p:spPr>
          <a:xfrm>
            <a:off x="4381500" y="1524000"/>
            <a:ext cx="3429000" cy="4826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381500" y="1524000"/>
            <a:ext cx="3429000" cy="508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1841500"/>
            <a:ext cx="508000" cy="508000"/>
          </a:xfrm>
          <a:prstGeom prst="rect">
            <a:avLst/>
          </a:prstGeom>
        </p:spPr>
      </p:pic>
      <p:sp>
        <p:nvSpPr>
          <p:cNvPr id="13" name="AutoShape 13"/>
          <p:cNvSpPr/>
          <p:nvPr/>
        </p:nvSpPr>
        <p:spPr>
          <a:xfrm>
            <a:off x="4635500" y="2476500"/>
            <a:ext cx="292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Times New Roman"/>
                <a:ea typeface="Times New Roman"/>
                <a:cs typeface="Times New Roman"/>
                <a:sym typeface="Times New Roman"/>
              </a:rPr>
              <a:t>02. Cell-to-Body Structural Safety</a:t>
            </a:r>
            <a:endParaRPr lang="en-US" sz="1100" dirty="0"/>
          </a:p>
        </p:txBody>
      </p:sp>
      <p:cxnSp>
        <p:nvCxnSpPr>
          <p:cNvPr id="14" name="Connector 14"/>
          <p:cNvCxnSpPr/>
          <p:nvPr/>
        </p:nvCxnSpPr>
        <p:spPr>
          <a:xfrm rot="-14946">
            <a:off x="4635514" y="3041650"/>
            <a:ext cx="2921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15" name="AutoShape 15"/>
          <p:cNvSpPr/>
          <p:nvPr/>
        </p:nvSpPr>
        <p:spPr>
          <a:xfrm>
            <a:off x="4635500" y="3238500"/>
            <a:ext cx="2921000" cy="2921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505050"/>
                </a:solidFill>
                <a:latin typeface="Noto Sans SC"/>
                <a:ea typeface="Noto Sans SC"/>
                <a:cs typeface="Noto Sans SC"/>
                <a:sym typeface="Noto Sans SC"/>
              </a:rPr>
              <a:t>Integrating cells directly into the body increases rigidity. Its elongated form factor provides superior surface-to-volume ratio for consistent thermal management.</a:t>
            </a:r>
            <a:endParaRPr lang="en-US" sz="1100"/>
          </a:p>
          <a:p>
            <a:pPr indent="0" algn="l">
              <a:lnSpc>
                <a:spcPct val="116666"/>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16666"/>
              </a:lnSpc>
            </a:pPr>
            <a:r>
              <a:rPr lang="en-US" sz="1300" b="0" i="0" u="none" strike="noStrike">
                <a:solidFill>
                  <a:srgbClr val="505050"/>
                </a:solidFill>
                <a:latin typeface="Noto Sans SC"/>
                <a:ea typeface="Noto Sans SC"/>
                <a:cs typeface="Noto Sans SC"/>
                <a:sym typeface="Noto Sans SC"/>
              </a:rPr>
              <a:t>In stringent nail-penetration tests, the Blade Battery shows</a:t>
            </a:r>
            <a:r>
              <a:rPr lang="en-US" sz="1300" b="1" i="0" u="none" strike="noStrike">
                <a:solidFill>
                  <a:srgbClr val="2C5EA9"/>
                </a:solidFill>
                <a:latin typeface="Noto Sans SC"/>
                <a:ea typeface="Noto Sans SC"/>
                <a:cs typeface="Noto Sans SC"/>
                <a:sym typeface="Noto Sans SC"/>
              </a:rPr>
              <a:t>no thermal runaway (surface &lt; 60°C)</a:t>
            </a:r>
            <a:r>
              <a:rPr lang="en-US" sz="1300" b="0" i="0" u="none" strike="noStrike">
                <a:solidFill>
                  <a:srgbClr val="505050"/>
                </a:solidFill>
                <a:latin typeface="Noto Sans SC"/>
                <a:ea typeface="Noto Sans SC"/>
                <a:cs typeface="Noto Sans SC"/>
                <a:sym typeface="Noto Sans SC"/>
              </a:rPr>
              <a:t>, a stark contrast to NMC batteries which typically ignite violently.</a:t>
            </a:r>
          </a:p>
        </p:txBody>
      </p:sp>
      <p:sp>
        <p:nvSpPr>
          <p:cNvPr id="16" name="AutoShape 16"/>
          <p:cNvSpPr/>
          <p:nvPr/>
        </p:nvSpPr>
        <p:spPr>
          <a:xfrm>
            <a:off x="8001000" y="1524000"/>
            <a:ext cx="3429000" cy="4826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01000" y="1524000"/>
            <a:ext cx="3429000" cy="508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1841500"/>
            <a:ext cx="508000" cy="508000"/>
          </a:xfrm>
          <a:prstGeom prst="rect">
            <a:avLst/>
          </a:prstGeom>
        </p:spPr>
      </p:pic>
      <p:sp>
        <p:nvSpPr>
          <p:cNvPr id="19" name="AutoShape 19"/>
          <p:cNvSpPr/>
          <p:nvPr/>
        </p:nvSpPr>
        <p:spPr>
          <a:xfrm>
            <a:off x="8255000" y="2476500"/>
            <a:ext cx="292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Times New Roman"/>
                <a:ea typeface="Times New Roman"/>
                <a:cs typeface="Times New Roman"/>
                <a:sym typeface="Times New Roman"/>
              </a:rPr>
              <a:t>03. Geopolitical &amp; Material Resilience</a:t>
            </a:r>
            <a:endParaRPr lang="en-US" sz="1100" dirty="0"/>
          </a:p>
        </p:txBody>
      </p:sp>
      <p:cxnSp>
        <p:nvCxnSpPr>
          <p:cNvPr id="20" name="Connector 20"/>
          <p:cNvCxnSpPr/>
          <p:nvPr/>
        </p:nvCxnSpPr>
        <p:spPr>
          <a:xfrm rot="-14946">
            <a:off x="8255014" y="3041650"/>
            <a:ext cx="2921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21" name="AutoShape 21"/>
          <p:cNvSpPr/>
          <p:nvPr/>
        </p:nvSpPr>
        <p:spPr>
          <a:xfrm>
            <a:off x="8255000" y="3238500"/>
            <a:ext cx="2921000" cy="2921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dirty="0">
                <a:solidFill>
                  <a:srgbClr val="505050"/>
                </a:solidFill>
                <a:latin typeface="Noto Sans SC"/>
                <a:ea typeface="Noto Sans SC"/>
                <a:cs typeface="Noto Sans SC"/>
                <a:sym typeface="Noto Sans SC"/>
              </a:rPr>
              <a:t>Utilizing Lithium Iron Phosphate (LFP) chemistry inherently avoids reliance on volatile Nickel and Cobalt markets, insulating costs from global supply shocks.</a:t>
            </a:r>
            <a:endParaRPr lang="en-US" sz="1100" dirty="0"/>
          </a:p>
          <a:p>
            <a:pPr indent="0" algn="l">
              <a:lnSpc>
                <a:spcPct val="116666"/>
              </a:lnSpc>
            </a:pPr>
            <a:br>
              <a:rPr lang="en-US" sz="1300" b="0" i="0" u="none" strike="noStrike" dirty="0">
                <a:solidFill>
                  <a:srgbClr val="1F2329"/>
                </a:solidFill>
                <a:latin typeface="Noto Sans SC"/>
                <a:ea typeface="Noto Sans SC"/>
                <a:cs typeface="Noto Sans SC"/>
                <a:sym typeface="Noto Sans SC"/>
              </a:rPr>
            </a:br>
            <a:endParaRPr lang="en-US" sz="1300" b="0" i="0" u="none" strike="noStrike" dirty="0">
              <a:solidFill>
                <a:srgbClr val="1F2329"/>
              </a:solidFill>
              <a:latin typeface="Noto Sans SC"/>
              <a:ea typeface="Noto Sans SC"/>
              <a:cs typeface="Noto Sans SC"/>
              <a:sym typeface="Noto Sans SC"/>
            </a:endParaRPr>
          </a:p>
          <a:p>
            <a:pPr indent="0" algn="l">
              <a:lnSpc>
                <a:spcPct val="116666"/>
              </a:lnSpc>
            </a:pPr>
            <a:r>
              <a:rPr lang="en-US" sz="1300" b="0" i="0" u="none" strike="noStrike" dirty="0">
                <a:solidFill>
                  <a:srgbClr val="505050"/>
                </a:solidFill>
                <a:latin typeface="Noto Sans SC"/>
                <a:ea typeface="Noto Sans SC"/>
                <a:cs typeface="Noto Sans SC"/>
                <a:sym typeface="Noto Sans SC"/>
              </a:rPr>
              <a:t>With China controlling nearly</a:t>
            </a:r>
            <a:r>
              <a:rPr lang="en-US" sz="1300" b="1" i="0" u="none" strike="noStrike" dirty="0">
                <a:solidFill>
                  <a:srgbClr val="2C5EA9"/>
                </a:solidFill>
                <a:latin typeface="Noto Sans SC"/>
                <a:ea typeface="Noto Sans SC"/>
                <a:cs typeface="Noto Sans SC"/>
                <a:sym typeface="Noto Sans SC"/>
              </a:rPr>
              <a:t>100% of global LFP production capacity</a:t>
            </a:r>
            <a:r>
              <a:rPr lang="en-US" sz="1300" b="0" i="0" u="none" strike="noStrike" dirty="0">
                <a:solidFill>
                  <a:srgbClr val="505050"/>
                </a:solidFill>
                <a:latin typeface="Noto Sans SC"/>
                <a:ea typeface="Noto Sans SC"/>
                <a:cs typeface="Noto Sans SC"/>
                <a:sym typeface="Noto Sans SC"/>
              </a:rPr>
              <a:t>, the design ensures a highly resilient and domestically secure supply chain ecosystem.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10" grpId="0" animBg="1"/>
      <p:bldP spid="11" grpId="0" animBg="1"/>
      <p:bldP spid="13" grpId="0"/>
      <p:bldP spid="15" grpId="0"/>
      <p:bldP spid="16" grpId="0" animBg="1"/>
      <p:bldP spid="17" grpId="0" animBg="1"/>
      <p:bldP spid="19"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56953" y="736600"/>
            <a:ext cx="11678093"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3000" b="1" i="0" u="none" strike="noStrike" dirty="0">
                <a:solidFill>
                  <a:srgbClr val="333333"/>
                </a:solidFill>
                <a:latin typeface="Times New Roman"/>
                <a:ea typeface="Times New Roman"/>
                <a:cs typeface="Times New Roman"/>
                <a:sym typeface="Times New Roman"/>
              </a:rPr>
              <a:t>The "Chokehold" Dilemma - U.S. Sanctions &amp; Supply Chain Pressures</a:t>
            </a:r>
            <a:endParaRPr lang="en-US" sz="3000" dirty="0"/>
          </a:p>
        </p:txBody>
      </p:sp>
      <p:sp>
        <p:nvSpPr>
          <p:cNvPr id="4" name="AutoShape 4"/>
          <p:cNvSpPr/>
          <p:nvPr/>
        </p:nvSpPr>
        <p:spPr>
          <a:xfrm>
            <a:off x="762000" y="1447800"/>
            <a:ext cx="10668000" cy="812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000" b="0" i="0" u="none" strike="noStrike" dirty="0">
                <a:solidFill>
                  <a:srgbClr val="555555"/>
                </a:solidFill>
                <a:latin typeface="Noto Sans SC"/>
                <a:ea typeface="Noto Sans SC"/>
                <a:cs typeface="Noto Sans SC"/>
                <a:sym typeface="Noto Sans SC"/>
              </a:rPr>
              <a:t>The U.S. strategy aims to isolate China's battery technology through multi-dimensional containment, triggering a series of strategic countermeasures in critical industrial sectors.</a:t>
            </a:r>
            <a:endParaRPr lang="en-US" sz="2000" dirty="0"/>
          </a:p>
        </p:txBody>
      </p:sp>
      <p:sp>
        <p:nvSpPr>
          <p:cNvPr id="5" name="AutoShape 5"/>
          <p:cNvSpPr/>
          <p:nvPr/>
        </p:nvSpPr>
        <p:spPr>
          <a:xfrm>
            <a:off x="762000" y="2413000"/>
            <a:ext cx="3429000" cy="3810000"/>
          </a:xfrm>
          <a:prstGeom prst="roundRect">
            <a:avLst>
              <a:gd name="adj" fmla="val 0"/>
            </a:avLst>
          </a:prstGeom>
          <a:solidFill>
            <a:srgbClr val="FFFFFF">
              <a:alpha val="65000"/>
            </a:srgbClr>
          </a:solidFill>
          <a:ln cap="flat" cmpd="sng">
            <a:solidFill>
              <a:srgbClr val="E6CFCF">
                <a:alpha val="65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413000"/>
            <a:ext cx="3429000" cy="508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667000"/>
            <a:ext cx="457200" cy="457200"/>
          </a:xfrm>
          <a:prstGeom prst="rect">
            <a:avLst/>
          </a:prstGeom>
        </p:spPr>
      </p:pic>
      <p:sp>
        <p:nvSpPr>
          <p:cNvPr id="8" name="AutoShape 8"/>
          <p:cNvSpPr/>
          <p:nvPr/>
        </p:nvSpPr>
        <p:spPr>
          <a:xfrm>
            <a:off x="1016000" y="31750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1. Materials &amp; Critical Minerals</a:t>
            </a:r>
            <a:endParaRPr lang="en-US" sz="2000" dirty="0"/>
          </a:p>
        </p:txBody>
      </p:sp>
      <p:sp>
        <p:nvSpPr>
          <p:cNvPr id="9" name="AutoShape 9"/>
          <p:cNvSpPr/>
          <p:nvPr/>
        </p:nvSpPr>
        <p:spPr>
          <a:xfrm>
            <a:off x="1016000" y="3835400"/>
            <a:ext cx="2921000" cy="2286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300" b="1" i="0" u="none" strike="noStrike" dirty="0">
                <a:solidFill>
                  <a:srgbClr val="505050"/>
                </a:solidFill>
                <a:latin typeface="Noto Sans SC"/>
                <a:ea typeface="Noto Sans SC"/>
                <a:cs typeface="Noto Sans SC"/>
                <a:sym typeface="Noto Sans SC"/>
              </a:rPr>
              <a:t>Containment </a:t>
            </a:r>
            <a:r>
              <a:rPr lang="en-US" sz="1300" b="1" i="0" u="none" strike="noStrike" dirty="0" err="1">
                <a:solidFill>
                  <a:srgbClr val="505050"/>
                </a:solidFill>
                <a:latin typeface="Noto Sans SC"/>
                <a:ea typeface="Noto Sans SC"/>
                <a:cs typeface="Noto Sans SC"/>
                <a:sym typeface="Noto Sans SC"/>
              </a:rPr>
              <a:t>Target:</a:t>
            </a:r>
            <a:r>
              <a:rPr lang="en-US" sz="1300" b="0" i="0" u="none" strike="noStrike" dirty="0" err="1">
                <a:solidFill>
                  <a:srgbClr val="646464"/>
                </a:solidFill>
                <a:latin typeface="Noto Sans SC"/>
                <a:ea typeface="Noto Sans SC"/>
                <a:cs typeface="Noto Sans SC"/>
                <a:sym typeface="Noto Sans SC"/>
              </a:rPr>
              <a:t>Restrict</a:t>
            </a:r>
            <a:r>
              <a:rPr lang="en-US" sz="1300" b="0" i="0" u="none" strike="noStrike" dirty="0">
                <a:solidFill>
                  <a:srgbClr val="646464"/>
                </a:solidFill>
                <a:latin typeface="Noto Sans SC"/>
                <a:ea typeface="Noto Sans SC"/>
                <a:cs typeface="Noto Sans SC"/>
                <a:sym typeface="Noto Sans SC"/>
              </a:rPr>
              <a:t> access to advanced processing technology for core resources including Lithium (Li), Nickel (Ni), and Cobalt (Co).</a:t>
            </a:r>
            <a:endParaRPr lang="en-US" sz="1100" dirty="0"/>
          </a:p>
          <a:p>
            <a:pPr indent="0" algn="l">
              <a:lnSpc>
                <a:spcPct val="108333"/>
              </a:lnSpc>
            </a:pPr>
            <a:r>
              <a:rPr lang="en-US" sz="1300" b="1" i="0" u="none" strike="noStrike" dirty="0">
                <a:solidFill>
                  <a:srgbClr val="505050"/>
                </a:solidFill>
                <a:latin typeface="Noto Sans SC"/>
                <a:ea typeface="Noto Sans SC"/>
                <a:cs typeface="Noto Sans SC"/>
                <a:sym typeface="Noto Sans SC"/>
              </a:rPr>
              <a:t>Strategic </a:t>
            </a:r>
            <a:r>
              <a:rPr lang="en-US" sz="1300" b="1" i="0" u="none" strike="noStrike" dirty="0" err="1">
                <a:solidFill>
                  <a:srgbClr val="505050"/>
                </a:solidFill>
                <a:latin typeface="Noto Sans SC"/>
                <a:ea typeface="Noto Sans SC"/>
                <a:cs typeface="Noto Sans SC"/>
                <a:sym typeface="Noto Sans SC"/>
              </a:rPr>
              <a:t>Counter:</a:t>
            </a:r>
            <a:r>
              <a:rPr lang="en-US" sz="1300" b="0" i="0" u="none" strike="noStrike" dirty="0" err="1">
                <a:solidFill>
                  <a:srgbClr val="646464"/>
                </a:solidFill>
                <a:latin typeface="Noto Sans SC"/>
                <a:ea typeface="Noto Sans SC"/>
                <a:cs typeface="Noto Sans SC"/>
                <a:sym typeface="Noto Sans SC"/>
              </a:rPr>
              <a:t>Accelerate</a:t>
            </a:r>
            <a:r>
              <a:rPr lang="en-US" sz="1300" b="0" i="0" u="none" strike="noStrike" dirty="0">
                <a:solidFill>
                  <a:srgbClr val="646464"/>
                </a:solidFill>
                <a:latin typeface="Noto Sans SC"/>
                <a:ea typeface="Noto Sans SC"/>
                <a:cs typeface="Noto Sans SC"/>
                <a:sym typeface="Noto Sans SC"/>
              </a:rPr>
              <a:t> full industrial chain self-sufficiency, particularly leveraging advantages in domestic LFP (Iron &amp; Phosphate) material reserves.</a:t>
            </a:r>
          </a:p>
        </p:txBody>
      </p:sp>
      <p:sp>
        <p:nvSpPr>
          <p:cNvPr id="10" name="AutoShape 10"/>
          <p:cNvSpPr/>
          <p:nvPr/>
        </p:nvSpPr>
        <p:spPr>
          <a:xfrm>
            <a:off x="4381500" y="2413000"/>
            <a:ext cx="3429000" cy="3810000"/>
          </a:xfrm>
          <a:prstGeom prst="roundRect">
            <a:avLst>
              <a:gd name="adj" fmla="val 0"/>
            </a:avLst>
          </a:prstGeom>
          <a:solidFill>
            <a:srgbClr val="FFFFFF">
              <a:alpha val="65000"/>
            </a:srgbClr>
          </a:solidFill>
          <a:ln cap="flat" cmpd="sng">
            <a:solidFill>
              <a:srgbClr val="E6CFCF">
                <a:alpha val="65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381500" y="2413000"/>
            <a:ext cx="3429000" cy="508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667000"/>
            <a:ext cx="457200" cy="457200"/>
          </a:xfrm>
          <a:prstGeom prst="rect">
            <a:avLst/>
          </a:prstGeom>
        </p:spPr>
      </p:pic>
      <p:sp>
        <p:nvSpPr>
          <p:cNvPr id="13" name="AutoShape 13"/>
          <p:cNvSpPr/>
          <p:nvPr/>
        </p:nvSpPr>
        <p:spPr>
          <a:xfrm>
            <a:off x="4635500" y="31750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2. High-End Equipment &amp; Core Patents</a:t>
            </a:r>
            <a:endParaRPr lang="en-US" sz="2000" dirty="0"/>
          </a:p>
        </p:txBody>
      </p:sp>
      <p:sp>
        <p:nvSpPr>
          <p:cNvPr id="14" name="AutoShape 14"/>
          <p:cNvSpPr/>
          <p:nvPr/>
        </p:nvSpPr>
        <p:spPr>
          <a:xfrm>
            <a:off x="4635500" y="3835400"/>
            <a:ext cx="2921000" cy="2286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300" b="1" i="0" u="none" strike="noStrike" dirty="0">
                <a:solidFill>
                  <a:srgbClr val="505050"/>
                </a:solidFill>
                <a:latin typeface="Noto Sans SC"/>
                <a:ea typeface="Noto Sans SC"/>
                <a:cs typeface="Noto Sans SC"/>
                <a:sym typeface="Noto Sans SC"/>
              </a:rPr>
              <a:t>Containment </a:t>
            </a:r>
            <a:r>
              <a:rPr lang="en-US" sz="1300" b="1" i="0" u="none" strike="noStrike" dirty="0" err="1">
                <a:solidFill>
                  <a:srgbClr val="505050"/>
                </a:solidFill>
                <a:latin typeface="Noto Sans SC"/>
                <a:ea typeface="Noto Sans SC"/>
                <a:cs typeface="Noto Sans SC"/>
                <a:sym typeface="Noto Sans SC"/>
              </a:rPr>
              <a:t>Target:</a:t>
            </a:r>
            <a:r>
              <a:rPr lang="en-US" sz="1300" b="0" i="0" u="none" strike="noStrike" dirty="0" err="1">
                <a:solidFill>
                  <a:srgbClr val="646464"/>
                </a:solidFill>
                <a:latin typeface="Noto Sans SC"/>
                <a:ea typeface="Noto Sans SC"/>
                <a:cs typeface="Noto Sans SC"/>
                <a:sym typeface="Noto Sans SC"/>
              </a:rPr>
              <a:t>Implement</a:t>
            </a:r>
            <a:r>
              <a:rPr lang="en-US" sz="1300" b="0" i="0" u="none" strike="noStrike" dirty="0">
                <a:solidFill>
                  <a:srgbClr val="646464"/>
                </a:solidFill>
                <a:latin typeface="Noto Sans SC"/>
                <a:ea typeface="Noto Sans SC"/>
                <a:cs typeface="Noto Sans SC"/>
                <a:sym typeface="Noto Sans SC"/>
              </a:rPr>
              <a:t> strict export controls to block the sale of cutting-edge manufacturing equipment and limit Chinese entities' access to Western technical blueprints.</a:t>
            </a:r>
            <a:endParaRPr lang="en-US" sz="1100" dirty="0"/>
          </a:p>
          <a:p>
            <a:pPr indent="0" algn="l">
              <a:lnSpc>
                <a:spcPct val="108333"/>
              </a:lnSpc>
            </a:pPr>
            <a:r>
              <a:rPr lang="en-US" sz="1300" b="1" i="0" u="none" strike="noStrike" dirty="0">
                <a:solidFill>
                  <a:srgbClr val="505050"/>
                </a:solidFill>
                <a:latin typeface="Noto Sans SC"/>
                <a:ea typeface="Noto Sans SC"/>
                <a:cs typeface="Noto Sans SC"/>
                <a:sym typeface="Noto Sans SC"/>
              </a:rPr>
              <a:t>Strategic </a:t>
            </a:r>
            <a:r>
              <a:rPr lang="en-US" sz="1300" b="1" i="0" u="none" strike="noStrike" dirty="0" err="1">
                <a:solidFill>
                  <a:srgbClr val="505050"/>
                </a:solidFill>
                <a:latin typeface="Noto Sans SC"/>
                <a:ea typeface="Noto Sans SC"/>
                <a:cs typeface="Noto Sans SC"/>
                <a:sym typeface="Noto Sans SC"/>
              </a:rPr>
              <a:t>Counter:</a:t>
            </a:r>
            <a:r>
              <a:rPr lang="en-US" sz="1300" b="0" i="0" u="none" strike="noStrike" dirty="0" err="1">
                <a:solidFill>
                  <a:srgbClr val="646464"/>
                </a:solidFill>
                <a:latin typeface="Noto Sans SC"/>
                <a:ea typeface="Noto Sans SC"/>
                <a:cs typeface="Noto Sans SC"/>
                <a:sym typeface="Noto Sans SC"/>
              </a:rPr>
              <a:t>Foster</a:t>
            </a:r>
            <a:r>
              <a:rPr lang="en-US" sz="1300" b="0" i="0" u="none" strike="noStrike" dirty="0">
                <a:solidFill>
                  <a:srgbClr val="646464"/>
                </a:solidFill>
                <a:latin typeface="Noto Sans SC"/>
                <a:ea typeface="Noto Sans SC"/>
                <a:cs typeface="Noto Sans SC"/>
                <a:sym typeface="Noto Sans SC"/>
              </a:rPr>
              <a:t> indigenous innovation; BYD has independently developed "over 300 core patents" supporting the domestic Blade Battery ecosystem.</a:t>
            </a:r>
          </a:p>
        </p:txBody>
      </p:sp>
      <p:sp>
        <p:nvSpPr>
          <p:cNvPr id="15" name="AutoShape 15"/>
          <p:cNvSpPr/>
          <p:nvPr/>
        </p:nvSpPr>
        <p:spPr>
          <a:xfrm>
            <a:off x="8001000" y="2413000"/>
            <a:ext cx="3429000" cy="3810000"/>
          </a:xfrm>
          <a:prstGeom prst="roundRect">
            <a:avLst>
              <a:gd name="adj" fmla="val 0"/>
            </a:avLst>
          </a:prstGeom>
          <a:solidFill>
            <a:srgbClr val="FFFFFF">
              <a:alpha val="65000"/>
            </a:srgbClr>
          </a:solidFill>
          <a:ln cap="flat" cmpd="sng">
            <a:solidFill>
              <a:srgbClr val="E6CFCF">
                <a:alpha val="65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001000" y="2413000"/>
            <a:ext cx="3429000" cy="508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2667000"/>
            <a:ext cx="457200" cy="457200"/>
          </a:xfrm>
          <a:prstGeom prst="rect">
            <a:avLst/>
          </a:prstGeom>
        </p:spPr>
      </p:pic>
      <p:sp>
        <p:nvSpPr>
          <p:cNvPr id="18" name="AutoShape 18"/>
          <p:cNvSpPr/>
          <p:nvPr/>
        </p:nvSpPr>
        <p:spPr>
          <a:xfrm>
            <a:off x="8255000" y="31750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3. Market Access &amp; Policy Barriers</a:t>
            </a:r>
            <a:endParaRPr lang="en-US" sz="2000" dirty="0"/>
          </a:p>
        </p:txBody>
      </p:sp>
      <p:sp>
        <p:nvSpPr>
          <p:cNvPr id="19" name="AutoShape 19"/>
          <p:cNvSpPr/>
          <p:nvPr/>
        </p:nvSpPr>
        <p:spPr>
          <a:xfrm>
            <a:off x="8255000" y="3835400"/>
            <a:ext cx="2921000" cy="2286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300" b="1" i="0" u="none" strike="noStrike" dirty="0">
                <a:solidFill>
                  <a:srgbClr val="505050"/>
                </a:solidFill>
                <a:latin typeface="Noto Sans SC"/>
                <a:ea typeface="Noto Sans SC"/>
                <a:cs typeface="Noto Sans SC"/>
                <a:sym typeface="Noto Sans SC"/>
              </a:rPr>
              <a:t>Containment </a:t>
            </a:r>
            <a:r>
              <a:rPr lang="en-US" sz="1300" b="1" i="0" u="none" strike="noStrike" dirty="0" err="1">
                <a:solidFill>
                  <a:srgbClr val="505050"/>
                </a:solidFill>
                <a:latin typeface="Noto Sans SC"/>
                <a:ea typeface="Noto Sans SC"/>
                <a:cs typeface="Noto Sans SC"/>
                <a:sym typeface="Noto Sans SC"/>
              </a:rPr>
              <a:t>Target:</a:t>
            </a:r>
            <a:r>
              <a:rPr lang="en-US" sz="1300" b="0" i="0" u="none" strike="noStrike" dirty="0" err="1">
                <a:solidFill>
                  <a:srgbClr val="646464"/>
                </a:solidFill>
                <a:latin typeface="Noto Sans SC"/>
                <a:ea typeface="Noto Sans SC"/>
                <a:cs typeface="Noto Sans SC"/>
                <a:sym typeface="Noto Sans SC"/>
              </a:rPr>
              <a:t>Levying</a:t>
            </a:r>
            <a:r>
              <a:rPr lang="en-US" sz="1300" b="0" i="0" u="none" strike="noStrike" dirty="0">
                <a:solidFill>
                  <a:srgbClr val="646464"/>
                </a:solidFill>
                <a:latin typeface="Noto Sans SC"/>
                <a:ea typeface="Noto Sans SC"/>
                <a:cs typeface="Noto Sans SC"/>
                <a:sym typeface="Noto Sans SC"/>
              </a:rPr>
              <a:t> punitive tariffs and utilizing the Inflation Reduction Act (IRA) to systematically exclude Chinese components from U.S. green industry tax incentives.</a:t>
            </a:r>
            <a:endParaRPr lang="en-US" sz="1100" dirty="0"/>
          </a:p>
          <a:p>
            <a:pPr indent="0" algn="l">
              <a:lnSpc>
                <a:spcPct val="108333"/>
              </a:lnSpc>
            </a:pPr>
            <a:r>
              <a:rPr lang="en-US" sz="1300" b="1" i="0" u="none" strike="noStrike" dirty="0">
                <a:solidFill>
                  <a:srgbClr val="505050"/>
                </a:solidFill>
                <a:latin typeface="Noto Sans SC"/>
                <a:ea typeface="Noto Sans SC"/>
                <a:cs typeface="Noto Sans SC"/>
                <a:sym typeface="Noto Sans SC"/>
              </a:rPr>
              <a:t>Strategic </a:t>
            </a:r>
            <a:r>
              <a:rPr lang="en-US" sz="1300" b="1" i="0" u="none" strike="noStrike" dirty="0" err="1">
                <a:solidFill>
                  <a:srgbClr val="505050"/>
                </a:solidFill>
                <a:latin typeface="Noto Sans SC"/>
                <a:ea typeface="Noto Sans SC"/>
                <a:cs typeface="Noto Sans SC"/>
                <a:sym typeface="Noto Sans SC"/>
              </a:rPr>
              <a:t>Counter:</a:t>
            </a:r>
            <a:r>
              <a:rPr lang="en-US" sz="1300" b="0" i="0" u="none" strike="noStrike" dirty="0" err="1">
                <a:solidFill>
                  <a:srgbClr val="646464"/>
                </a:solidFill>
                <a:latin typeface="Noto Sans SC"/>
                <a:ea typeface="Noto Sans SC"/>
                <a:cs typeface="Noto Sans SC"/>
                <a:sym typeface="Noto Sans SC"/>
              </a:rPr>
              <a:t>Diversify</a:t>
            </a:r>
            <a:r>
              <a:rPr lang="en-US" sz="1300" b="0" i="0" u="none" strike="noStrike" dirty="0">
                <a:solidFill>
                  <a:srgbClr val="646464"/>
                </a:solidFill>
                <a:latin typeface="Noto Sans SC"/>
                <a:ea typeface="Noto Sans SC"/>
                <a:cs typeface="Noto Sans SC"/>
                <a:sym typeface="Noto Sans SC"/>
              </a:rPr>
              <a:t> trade routes by deepening economic ties with Europe and ASEAN nations while consolidating the vast domestic consumer market demand.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animBg="1"/>
      <p:bldP spid="6" grpId="0" animBg="1"/>
      <p:bldP spid="8" grpId="0"/>
      <p:bldP spid="9" grpId="0"/>
      <p:bldP spid="10" grpId="0" animBg="1"/>
      <p:bldP spid="11" grpId="0" animBg="1"/>
      <p:bldP spid="13" grpId="0"/>
      <p:bldP spid="14" grpId="0"/>
      <p:bldP spid="15" grpId="0" animBg="1"/>
      <p:bldP spid="16" grpId="0" animBg="1"/>
      <p:bldP spid="18"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Times New Roman"/>
                <a:ea typeface="Times New Roman"/>
                <a:cs typeface="Times New Roman"/>
                <a:sym typeface="Times New Roman"/>
              </a:rPr>
              <a:t>Independent R&amp;D Process - A Timeline of Innovation</a:t>
            </a:r>
            <a:endParaRPr lang="en-US" sz="1100"/>
          </a:p>
        </p:txBody>
      </p:sp>
      <p:sp>
        <p:nvSpPr>
          <p:cNvPr id="4" name="AutoShape 4"/>
          <p:cNvSpPr/>
          <p:nvPr/>
        </p:nvSpPr>
        <p:spPr>
          <a:xfrm>
            <a:off x="762000" y="12065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555555"/>
                </a:solidFill>
                <a:latin typeface="Noto Sans SC"/>
                <a:ea typeface="Noto Sans SC"/>
                <a:cs typeface="Noto Sans SC"/>
                <a:sym typeface="Noto Sans SC"/>
              </a:rPr>
              <a:t>BYD's journey to the revolutionary Blade Battery was not an overnight success, but a result of decades of cumulative research, technological breakthroughs, and forward-thinking strategic planning in the energy storage sector.</a:t>
            </a:r>
            <a:endParaRPr lang="en-US" sz="1100" dirty="0"/>
          </a:p>
        </p:txBody>
      </p:sp>
      <p:cxnSp>
        <p:nvCxnSpPr>
          <p:cNvPr id="5" name="Connector 5"/>
          <p:cNvCxnSpPr/>
          <p:nvPr/>
        </p:nvCxnSpPr>
        <p:spPr>
          <a:xfrm rot="-4092">
            <a:off x="762004" y="1835150"/>
            <a:ext cx="10668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6" name="AutoShape 6"/>
          <p:cNvSpPr/>
          <p:nvPr/>
        </p:nvSpPr>
        <p:spPr>
          <a:xfrm>
            <a:off x="762000" y="1914525"/>
            <a:ext cx="5207000" cy="698500"/>
          </a:xfrm>
          <a:prstGeom prst="roundRect">
            <a:avLst>
              <a:gd name="adj" fmla="val 0"/>
            </a:avLst>
          </a:prstGeom>
          <a:solidFill>
            <a:srgbClr val="333333">
              <a:alpha val="4000"/>
            </a:srgbClr>
          </a:solidFill>
          <a:ln cap="flat" cmpd="sng">
            <a:solidFill>
              <a:srgbClr val="1A1717">
                <a:alpha val="4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1914525"/>
            <a:ext cx="50800" cy="698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1978025"/>
            <a:ext cx="495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2002: Foundational Research Initiation</a:t>
            </a:r>
            <a:endParaRPr lang="en-US" sz="1100"/>
          </a:p>
          <a:p>
            <a:pPr indent="0" algn="l">
              <a:lnSpc>
                <a:spcPct val="125000"/>
              </a:lnSpc>
            </a:pPr>
            <a:r>
              <a:rPr lang="en-US" sz="1200" b="0" i="0" u="none" strike="noStrike">
                <a:solidFill>
                  <a:srgbClr val="646464"/>
                </a:solidFill>
                <a:latin typeface="Noto Sans SC"/>
                <a:ea typeface="Noto Sans SC"/>
                <a:cs typeface="Noto Sans SC"/>
                <a:sym typeface="Noto Sans SC"/>
              </a:rPr>
              <a:t>Official R&amp;D commences focusing on Lithium Iron Phosphate (LFP) core stacking technology architecture.</a:t>
            </a:r>
          </a:p>
        </p:txBody>
      </p:sp>
      <p:sp>
        <p:nvSpPr>
          <p:cNvPr id="9" name="AutoShape 9"/>
          <p:cNvSpPr/>
          <p:nvPr/>
        </p:nvSpPr>
        <p:spPr>
          <a:xfrm>
            <a:off x="762000" y="2740025"/>
            <a:ext cx="5207000" cy="698500"/>
          </a:xfrm>
          <a:prstGeom prst="roundRect">
            <a:avLst>
              <a:gd name="adj" fmla="val 0"/>
            </a:avLst>
          </a:prstGeom>
          <a:solidFill>
            <a:srgbClr val="333333">
              <a:alpha val="4000"/>
            </a:srgbClr>
          </a:solidFill>
          <a:ln cap="flat" cmpd="sng">
            <a:solidFill>
              <a:srgbClr val="1A1717">
                <a:alpha val="4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0" y="2740025"/>
            <a:ext cx="50800" cy="698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952500" y="2803525"/>
            <a:ext cx="495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2008: Commercialization Breakthrough</a:t>
            </a:r>
            <a:endParaRPr lang="en-US" sz="1100"/>
          </a:p>
          <a:p>
            <a:pPr indent="0" algn="l">
              <a:lnSpc>
                <a:spcPct val="125000"/>
              </a:lnSpc>
            </a:pPr>
            <a:r>
              <a:rPr lang="en-US" sz="1200" b="0" i="0" u="none" strike="noStrike">
                <a:solidFill>
                  <a:srgbClr val="646464"/>
                </a:solidFill>
                <a:latin typeface="Noto Sans SC"/>
                <a:ea typeface="Noto Sans SC"/>
                <a:cs typeface="Noto Sans SC"/>
                <a:sym typeface="Noto Sans SC"/>
              </a:rPr>
              <a:t>The first generation of mass-produced LFP batteries is successfully launched, validating core technical routes.</a:t>
            </a:r>
          </a:p>
        </p:txBody>
      </p:sp>
      <p:sp>
        <p:nvSpPr>
          <p:cNvPr id="12" name="AutoShape 12"/>
          <p:cNvSpPr/>
          <p:nvPr/>
        </p:nvSpPr>
        <p:spPr>
          <a:xfrm>
            <a:off x="762000" y="3565525"/>
            <a:ext cx="5207000" cy="698500"/>
          </a:xfrm>
          <a:prstGeom prst="roundRect">
            <a:avLst>
              <a:gd name="adj" fmla="val 0"/>
            </a:avLst>
          </a:prstGeom>
          <a:solidFill>
            <a:srgbClr val="333333">
              <a:alpha val="4000"/>
            </a:srgbClr>
          </a:solidFill>
          <a:ln cap="flat" cmpd="sng">
            <a:solidFill>
              <a:srgbClr val="1A1717">
                <a:alpha val="4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3565525"/>
            <a:ext cx="50800" cy="698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52500" y="3629025"/>
            <a:ext cx="495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2019-2020: The Blade Battery Era Dawns</a:t>
            </a:r>
            <a:endParaRPr lang="en-US" sz="1100"/>
          </a:p>
          <a:p>
            <a:pPr indent="0" algn="l">
              <a:lnSpc>
                <a:spcPct val="125000"/>
              </a:lnSpc>
            </a:pPr>
            <a:r>
              <a:rPr lang="en-US" sz="1200" b="0" i="0" u="none" strike="noStrike">
                <a:solidFill>
                  <a:srgbClr val="646464"/>
                </a:solidFill>
                <a:latin typeface="Noto Sans SC"/>
                <a:ea typeface="Noto Sans SC"/>
                <a:cs typeface="Noto Sans SC"/>
                <a:sym typeface="Noto Sans SC"/>
              </a:rPr>
              <a:t>Chongqing pilot lines established; the revolutionary Blade Battery is officially launched, redefining safety standards.</a:t>
            </a:r>
          </a:p>
        </p:txBody>
      </p:sp>
      <p:sp>
        <p:nvSpPr>
          <p:cNvPr id="15" name="AutoShape 15"/>
          <p:cNvSpPr/>
          <p:nvPr/>
        </p:nvSpPr>
        <p:spPr>
          <a:xfrm>
            <a:off x="6223000" y="1914525"/>
            <a:ext cx="5207000" cy="698500"/>
          </a:xfrm>
          <a:prstGeom prst="roundRect">
            <a:avLst>
              <a:gd name="adj" fmla="val 0"/>
            </a:avLst>
          </a:prstGeom>
          <a:solidFill>
            <a:srgbClr val="333333">
              <a:alpha val="4000"/>
            </a:srgbClr>
          </a:solidFill>
          <a:ln cap="flat" cmpd="sng">
            <a:solidFill>
              <a:srgbClr val="1A1717">
                <a:alpha val="4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223000" y="1914525"/>
            <a:ext cx="50800" cy="698500"/>
          </a:xfrm>
          <a:prstGeom prst="roundRect">
            <a:avLst>
              <a:gd name="adj" fmla="val 0"/>
            </a:avLst>
          </a:prstGeom>
          <a:solidFill>
            <a:srgbClr val="5050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413500" y="1978025"/>
            <a:ext cx="495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2021: Full Ecosystem Integration</a:t>
            </a:r>
            <a:endParaRPr lang="en-US" sz="1100"/>
          </a:p>
          <a:p>
            <a:pPr indent="0" algn="l">
              <a:lnSpc>
                <a:spcPct val="125000"/>
              </a:lnSpc>
            </a:pPr>
            <a:r>
              <a:rPr lang="en-US" sz="1200" b="0" i="0" u="none" strike="noStrike">
                <a:solidFill>
                  <a:srgbClr val="646464"/>
                </a:solidFill>
                <a:latin typeface="Noto Sans SC"/>
                <a:ea typeface="Noto Sans SC"/>
                <a:cs typeface="Noto Sans SC"/>
                <a:sym typeface="Noto Sans SC"/>
              </a:rPr>
              <a:t>Blade cells become the standard configuration across BYD's entire new energy vehicle product lineup.</a:t>
            </a:r>
          </a:p>
        </p:txBody>
      </p:sp>
      <p:sp>
        <p:nvSpPr>
          <p:cNvPr id="18" name="AutoShape 18"/>
          <p:cNvSpPr/>
          <p:nvPr/>
        </p:nvSpPr>
        <p:spPr>
          <a:xfrm>
            <a:off x="6223000" y="2740025"/>
            <a:ext cx="5207000" cy="698500"/>
          </a:xfrm>
          <a:prstGeom prst="roundRect">
            <a:avLst>
              <a:gd name="adj" fmla="val 0"/>
            </a:avLst>
          </a:prstGeom>
          <a:solidFill>
            <a:srgbClr val="333333">
              <a:alpha val="4000"/>
            </a:srgbClr>
          </a:solidFill>
          <a:ln cap="flat" cmpd="sng">
            <a:solidFill>
              <a:srgbClr val="1A1717">
                <a:alpha val="4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223000" y="2740025"/>
            <a:ext cx="50800" cy="698500"/>
          </a:xfrm>
          <a:prstGeom prst="roundRect">
            <a:avLst>
              <a:gd name="adj" fmla="val 0"/>
            </a:avLst>
          </a:prstGeom>
          <a:solidFill>
            <a:srgbClr val="5050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413500" y="2803525"/>
            <a:ext cx="495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2023: Global Supply Chain Expansion</a:t>
            </a:r>
            <a:endParaRPr lang="en-US" sz="1100"/>
          </a:p>
          <a:p>
            <a:pPr indent="0" algn="l">
              <a:lnSpc>
                <a:spcPct val="125000"/>
              </a:lnSpc>
            </a:pPr>
            <a:r>
              <a:rPr lang="en-US" sz="1200" b="0" i="0" u="none" strike="noStrike">
                <a:solidFill>
                  <a:srgbClr val="646464"/>
                </a:solidFill>
                <a:latin typeface="Noto Sans SC"/>
                <a:ea typeface="Noto Sans SC"/>
                <a:cs typeface="Noto Sans SC"/>
                <a:sym typeface="Noto Sans SC"/>
              </a:rPr>
              <a:t>Strategic partnership established with BorgWarner to supply Blade cells, accelerating global industrialization influence.</a:t>
            </a:r>
          </a:p>
        </p:txBody>
      </p:sp>
      <p:sp>
        <p:nvSpPr>
          <p:cNvPr id="21" name="AutoShape 21"/>
          <p:cNvSpPr/>
          <p:nvPr/>
        </p:nvSpPr>
        <p:spPr>
          <a:xfrm>
            <a:off x="6223000" y="3565525"/>
            <a:ext cx="5207000" cy="698500"/>
          </a:xfrm>
          <a:prstGeom prst="roundRect">
            <a:avLst>
              <a:gd name="adj" fmla="val 0"/>
            </a:avLst>
          </a:prstGeom>
          <a:solidFill>
            <a:srgbClr val="333333">
              <a:alpha val="4000"/>
            </a:srgbClr>
          </a:solidFill>
          <a:ln cap="flat" cmpd="sng">
            <a:solidFill>
              <a:srgbClr val="1A1717">
                <a:alpha val="4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223000" y="3565525"/>
            <a:ext cx="50800" cy="698500"/>
          </a:xfrm>
          <a:prstGeom prst="roundRect">
            <a:avLst>
              <a:gd name="adj" fmla="val 0"/>
            </a:avLst>
          </a:prstGeom>
          <a:solidFill>
            <a:srgbClr val="5050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413500" y="3629025"/>
            <a:ext cx="495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33333"/>
                </a:solidFill>
                <a:latin typeface="Noto Sans SC"/>
                <a:ea typeface="Noto Sans SC"/>
                <a:cs typeface="Noto Sans SC"/>
                <a:sym typeface="Noto Sans SC"/>
              </a:rPr>
              <a:t>2024: Next-Gen Energy Diversification</a:t>
            </a:r>
            <a:endParaRPr lang="en-US" sz="1100" dirty="0"/>
          </a:p>
          <a:p>
            <a:pPr indent="0" algn="l">
              <a:lnSpc>
                <a:spcPct val="125000"/>
              </a:lnSpc>
            </a:pPr>
            <a:r>
              <a:rPr lang="en-US" sz="1200" b="0" i="0" u="none" strike="noStrike" dirty="0">
                <a:solidFill>
                  <a:srgbClr val="646464"/>
                </a:solidFill>
                <a:latin typeface="Noto Sans SC"/>
                <a:ea typeface="Noto Sans SC"/>
                <a:cs typeface="Noto Sans SC"/>
                <a:sym typeface="Noto Sans SC"/>
              </a:rPr>
              <a:t>Construction of Sodium-ion battery plant begins, building a solid technical backup for future low-cost energy storage.</a:t>
            </a:r>
          </a:p>
        </p:txBody>
      </p:sp>
      <p:sp>
        <p:nvSpPr>
          <p:cNvPr id="24" name="AutoShape 24"/>
          <p:cNvSpPr/>
          <p:nvPr/>
        </p:nvSpPr>
        <p:spPr>
          <a:xfrm>
            <a:off x="762000" y="4603750"/>
            <a:ext cx="1959935"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a:solidFill>
                  <a:srgbClr val="646464"/>
                </a:solidFill>
                <a:latin typeface="Noto Sans SC"/>
                <a:ea typeface="Noto Sans SC"/>
                <a:cs typeface="Noto Sans SC"/>
                <a:sym typeface="Noto Sans SC"/>
              </a:rPr>
              <a:t>Historical Research and Development Roadmap Overview Chart:</a:t>
            </a:r>
            <a:endParaRPr lang="en-US" sz="1100" dirty="0"/>
          </a:p>
        </p:txBody>
      </p:sp>
      <p:pic>
        <p:nvPicPr>
          <p:cNvPr id="1026" name="Picture 2">
            <a:extLst>
              <a:ext uri="{FF2B5EF4-FFF2-40B4-BE49-F238E27FC236}">
                <a16:creationId xmlns:a16="http://schemas.microsoft.com/office/drawing/2014/main" id="{9177B239-DFB4-6A75-68D1-DE95F60A5B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6818" y="4327525"/>
            <a:ext cx="4575205" cy="2416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8" grpId="0"/>
      <p:bldP spid="9" grpId="0" animBg="1"/>
      <p:bldP spid="10" grpId="0" animBg="1"/>
      <p:bldP spid="11" grpId="0"/>
      <p:bldP spid="12" grpId="0" animBg="1"/>
      <p:bldP spid="13" grpId="0" animBg="1"/>
      <p:bldP spid="14" grpId="0"/>
      <p:bldP spid="15" grpId="0" animBg="1"/>
      <p:bldP spid="16" grpId="0" animBg="1"/>
      <p:bldP spid="17" grpId="0"/>
      <p:bldP spid="18" grpId="0" animBg="1"/>
      <p:bldP spid="19" grpId="0" animBg="1"/>
      <p:bldP spid="20" grpId="0"/>
      <p:bldP spid="21" grpId="0" animBg="1"/>
      <p:bldP spid="22" grpId="0" animBg="1"/>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Times New Roman"/>
                <a:ea typeface="Times New Roman"/>
                <a:cs typeface="Times New Roman"/>
                <a:sym typeface="Times New Roman"/>
              </a:rPr>
              <a:t>R&amp;D Process - Overcoming Technical Challenges</a:t>
            </a:r>
            <a:endParaRPr lang="en-US" sz="1100" b="1" dirty="0"/>
          </a:p>
        </p:txBody>
      </p:sp>
      <p:sp>
        <p:nvSpPr>
          <p:cNvPr id="4" name="AutoShape 4"/>
          <p:cNvSpPr/>
          <p:nvPr/>
        </p:nvSpPr>
        <p:spPr>
          <a:xfrm>
            <a:off x="762000" y="1524000"/>
            <a:ext cx="5080000" cy="22225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0800" cy="2222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651000"/>
            <a:ext cx="4762500" cy="196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Times New Roman"/>
                <a:ea typeface="Times New Roman"/>
                <a:cs typeface="Times New Roman"/>
                <a:sym typeface="Times New Roman"/>
              </a:rPr>
              <a:t>01. Identifying Core Technological Limitations</a:t>
            </a:r>
            <a:endParaRPr lang="en-US" sz="2000" dirty="0"/>
          </a:p>
          <a:p>
            <a:pPr indent="0" algn="l">
              <a:lnSpc>
                <a:spcPct val="125000"/>
              </a:lnSpc>
            </a:pPr>
            <a:r>
              <a:rPr lang="en-US" sz="1300" b="0" i="0" u="none" strike="noStrike" dirty="0">
                <a:solidFill>
                  <a:srgbClr val="505050"/>
                </a:solidFill>
                <a:latin typeface="Times New Roman"/>
                <a:ea typeface="Times New Roman"/>
                <a:cs typeface="Times New Roman"/>
                <a:sym typeface="Times New Roman"/>
              </a:rPr>
              <a:t>The R&amp;D team pinpointed critical bottlenecks in conventional LFP cells, including excessive physical footprint and thermal runaway . The primary strategic goal was set to radically elevate volumetric packaging efficiency and extend the cycle life significantly through structural re-engineering.</a:t>
            </a:r>
          </a:p>
        </p:txBody>
      </p:sp>
      <p:sp>
        <p:nvSpPr>
          <p:cNvPr id="7" name="AutoShape 7"/>
          <p:cNvSpPr/>
          <p:nvPr/>
        </p:nvSpPr>
        <p:spPr>
          <a:xfrm>
            <a:off x="762000" y="3937000"/>
            <a:ext cx="5080000" cy="24765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3937000"/>
            <a:ext cx="50800" cy="2476500"/>
          </a:xfrm>
          <a:prstGeom prst="roundRect">
            <a:avLst>
              <a:gd name="adj" fmla="val 0"/>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4064000"/>
            <a:ext cx="4762500" cy="222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Times New Roman"/>
                <a:ea typeface="Times New Roman"/>
                <a:cs typeface="Times New Roman"/>
                <a:sym typeface="Times New Roman"/>
              </a:rPr>
              <a:t>02. Systematic Prototype Engineering &amp; Integration</a:t>
            </a:r>
            <a:endParaRPr lang="en-US" sz="2000" dirty="0"/>
          </a:p>
          <a:p>
            <a:pPr indent="0" algn="l">
              <a:lnSpc>
                <a:spcPct val="125000"/>
              </a:lnSpc>
            </a:pPr>
            <a:r>
              <a:rPr lang="en-US" sz="1300" b="0" i="0" u="none" strike="noStrike" dirty="0">
                <a:solidFill>
                  <a:srgbClr val="505050"/>
                </a:solidFill>
                <a:latin typeface="Times New Roman"/>
                <a:ea typeface="Times New Roman"/>
                <a:cs typeface="Times New Roman"/>
                <a:sym typeface="Times New Roman"/>
              </a:rPr>
              <a:t>A paradigm shift was achieved by conceptualizing cells as structural beams, evolving into the innovative long-form "Blade" design. This necessitated full production line retooling for high-precision assembly. Furthermore, the revolutionary "Cell-to-Body" concept was developed, directly embedding battery arrays into the vehicle's steel frame to optimize space utilization.</a:t>
            </a:r>
          </a:p>
        </p:txBody>
      </p:sp>
      <p:cxnSp>
        <p:nvCxnSpPr>
          <p:cNvPr id="10" name="Connector 10"/>
          <p:cNvCxnSpPr/>
          <p:nvPr/>
        </p:nvCxnSpPr>
        <p:spPr>
          <a:xfrm rot="5391070">
            <a:off x="3651250" y="3962408"/>
            <a:ext cx="48895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11" name="AutoShape 11"/>
          <p:cNvSpPr/>
          <p:nvPr/>
        </p:nvSpPr>
        <p:spPr>
          <a:xfrm>
            <a:off x="6350000" y="1524000"/>
            <a:ext cx="5080000" cy="2286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4"/>
          <a:srcRect t="7670" b="7670"/>
          <a:stretch>
            <a:fillRect/>
          </a:stretch>
        </p:blipFill>
        <p:spPr>
          <a:xfrm>
            <a:off x="6477000" y="1651000"/>
            <a:ext cx="4826000" cy="1778000"/>
          </a:xfrm>
          <a:prstGeom prst="rect">
            <a:avLst/>
          </a:prstGeom>
          <a:noFill/>
          <a:ln w="25400" cap="flat" cmpd="sng">
            <a:noFill/>
            <a:prstDash val="solid"/>
            <a:round/>
          </a:ln>
        </p:spPr>
      </p:pic>
      <p:sp>
        <p:nvSpPr>
          <p:cNvPr id="13" name="AutoShape 13"/>
          <p:cNvSpPr/>
          <p:nvPr/>
        </p:nvSpPr>
        <p:spPr>
          <a:xfrm>
            <a:off x="6477000" y="3492500"/>
            <a:ext cx="482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505050"/>
                </a:solidFill>
                <a:latin typeface="Times New Roman"/>
                <a:ea typeface="Times New Roman"/>
                <a:cs typeface="Times New Roman"/>
                <a:sym typeface="Times New Roman"/>
              </a:rPr>
              <a:t>Fig 1. Structural decomposition of the novel blade cell array architecture.</a:t>
            </a:r>
            <a:endParaRPr lang="en-US" sz="1100"/>
          </a:p>
        </p:txBody>
      </p:sp>
      <p:sp>
        <p:nvSpPr>
          <p:cNvPr id="14" name="AutoShape 14"/>
          <p:cNvSpPr/>
          <p:nvPr/>
        </p:nvSpPr>
        <p:spPr>
          <a:xfrm>
            <a:off x="6350000" y="4127500"/>
            <a:ext cx="5080000" cy="2286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5"/>
          <a:srcRect b="54555"/>
          <a:stretch>
            <a:fillRect/>
          </a:stretch>
        </p:blipFill>
        <p:spPr>
          <a:xfrm>
            <a:off x="6477000" y="4254500"/>
            <a:ext cx="4826000" cy="1778000"/>
          </a:xfrm>
          <a:prstGeom prst="rect">
            <a:avLst/>
          </a:prstGeom>
          <a:noFill/>
          <a:ln w="25400" cap="flat" cmpd="sng">
            <a:noFill/>
            <a:prstDash val="solid"/>
            <a:round/>
          </a:ln>
        </p:spPr>
      </p:pic>
      <p:sp>
        <p:nvSpPr>
          <p:cNvPr id="16" name="AutoShape 16"/>
          <p:cNvSpPr/>
          <p:nvPr/>
        </p:nvSpPr>
        <p:spPr>
          <a:xfrm>
            <a:off x="6477000" y="6096000"/>
            <a:ext cx="482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505050"/>
                </a:solidFill>
                <a:latin typeface="Times New Roman"/>
                <a:ea typeface="Times New Roman"/>
                <a:cs typeface="Times New Roman"/>
                <a:sym typeface="Times New Roman"/>
              </a:rPr>
              <a:t>Fig 2. Comparative schematic of volumetric efficiency in traditional vs. blade pack configurations.</a:t>
            </a:r>
            <a:endParaRPr lang="en-US"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p:bldP spid="11" grpId="0" animBg="1"/>
      <p:bldP spid="13" grpId="0"/>
      <p:bldP spid="14" grpId="0" animBg="1"/>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Times New Roman"/>
                <a:ea typeface="Times New Roman"/>
                <a:cs typeface="Times New Roman"/>
                <a:sym typeface="Times New Roman"/>
              </a:rPr>
              <a:t>R&amp;D Achievements - Technical Superiority</a:t>
            </a:r>
            <a:endParaRPr lang="en-US" sz="1100"/>
          </a:p>
        </p:txBody>
      </p:sp>
      <p:sp>
        <p:nvSpPr>
          <p:cNvPr id="4" name="AutoShape 4"/>
          <p:cNvSpPr/>
          <p:nvPr/>
        </p:nvSpPr>
        <p:spPr>
          <a:xfrm>
            <a:off x="762000" y="1524000"/>
            <a:ext cx="5207000" cy="2286000"/>
          </a:xfrm>
          <a:prstGeom prst="roundRect">
            <a:avLst>
              <a:gd name="adj" fmla="val 0"/>
            </a:avLst>
          </a:prstGeom>
          <a:solidFill>
            <a:srgbClr val="FFFFFF">
              <a:alpha val="65000"/>
            </a:srgbClr>
          </a:solidFill>
          <a:ln cap="flat" cmpd="sng">
            <a:solidFill>
              <a:srgbClr val="E6CFCF">
                <a:alpha val="6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0800" cy="2286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14500"/>
            <a:ext cx="406400" cy="406400"/>
          </a:xfrm>
          <a:prstGeom prst="rect">
            <a:avLst/>
          </a:prstGeom>
        </p:spPr>
      </p:pic>
      <p:sp>
        <p:nvSpPr>
          <p:cNvPr id="7" name="AutoShape 7"/>
          <p:cNvSpPr/>
          <p:nvPr/>
        </p:nvSpPr>
        <p:spPr>
          <a:xfrm>
            <a:off x="1524000" y="17272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333333"/>
                </a:solidFill>
                <a:latin typeface="Noto Sans SC"/>
                <a:ea typeface="Noto Sans SC"/>
                <a:cs typeface="Noto Sans SC"/>
                <a:sym typeface="Noto Sans SC"/>
              </a:rPr>
              <a:t>1. Safety &amp; Reliability Enhancement</a:t>
            </a:r>
            <a:endParaRPr lang="en-US" sz="1100" dirty="0"/>
          </a:p>
        </p:txBody>
      </p:sp>
      <p:sp>
        <p:nvSpPr>
          <p:cNvPr id="8" name="AutoShape 8"/>
          <p:cNvSpPr/>
          <p:nvPr/>
        </p:nvSpPr>
        <p:spPr>
          <a:xfrm>
            <a:off x="1016000" y="22225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dirty="0">
                <a:solidFill>
                  <a:srgbClr val="505050"/>
                </a:solidFill>
                <a:latin typeface="Noto Sans SC"/>
                <a:ea typeface="Noto Sans SC"/>
                <a:cs typeface="Noto Sans SC"/>
                <a:sym typeface="Noto Sans SC"/>
              </a:rPr>
              <a:t>Empirical proof shows no flame under severe abuse, maintaining surface temp &lt;60°C vs &gt;500°C for NMC batteries. This implies easier certification and a strong marketing advantage.</a:t>
            </a:r>
            <a:endParaRPr lang="en-US" sz="1100" dirty="0"/>
          </a:p>
        </p:txBody>
      </p:sp>
      <p:sp>
        <p:nvSpPr>
          <p:cNvPr id="9" name="AutoShape 9"/>
          <p:cNvSpPr/>
          <p:nvPr/>
        </p:nvSpPr>
        <p:spPr>
          <a:xfrm>
            <a:off x="6223000" y="1524000"/>
            <a:ext cx="5207000" cy="2286000"/>
          </a:xfrm>
          <a:prstGeom prst="roundRect">
            <a:avLst>
              <a:gd name="adj" fmla="val 0"/>
            </a:avLst>
          </a:prstGeom>
          <a:solidFill>
            <a:srgbClr val="FFFFFF">
              <a:alpha val="65000"/>
            </a:srgbClr>
          </a:solidFill>
          <a:ln cap="flat" cmpd="sng">
            <a:solidFill>
              <a:srgbClr val="E6CFCF">
                <a:alpha val="65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223000" y="1524000"/>
            <a:ext cx="50800" cy="2286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714500"/>
            <a:ext cx="406400" cy="406400"/>
          </a:xfrm>
          <a:prstGeom prst="rect">
            <a:avLst/>
          </a:prstGeom>
        </p:spPr>
      </p:pic>
      <p:sp>
        <p:nvSpPr>
          <p:cNvPr id="12" name="AutoShape 12"/>
          <p:cNvSpPr/>
          <p:nvPr/>
        </p:nvSpPr>
        <p:spPr>
          <a:xfrm>
            <a:off x="6985000" y="17272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2. Energy Density &amp; Extended Range</a:t>
            </a:r>
            <a:endParaRPr lang="en-US" sz="1100"/>
          </a:p>
        </p:txBody>
      </p:sp>
      <p:sp>
        <p:nvSpPr>
          <p:cNvPr id="13" name="AutoShape 13"/>
          <p:cNvSpPr/>
          <p:nvPr/>
        </p:nvSpPr>
        <p:spPr>
          <a:xfrm>
            <a:off x="6477000" y="22225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dirty="0">
                <a:solidFill>
                  <a:srgbClr val="505050"/>
                </a:solidFill>
                <a:latin typeface="Noto Sans SC"/>
                <a:ea typeface="Noto Sans SC"/>
                <a:cs typeface="Noto Sans SC"/>
                <a:sym typeface="Noto Sans SC"/>
              </a:rPr>
              <a:t>High space efficiency enables ~570 km CLTC range for the BYD Seal. Blade 2.0 (LMFP) elevates density to 190-210 </a:t>
            </a:r>
            <a:r>
              <a:rPr lang="en-US" sz="1300" b="0" i="0" u="none" strike="noStrike" dirty="0" err="1">
                <a:solidFill>
                  <a:srgbClr val="505050"/>
                </a:solidFill>
                <a:latin typeface="Noto Sans SC"/>
                <a:ea typeface="Noto Sans SC"/>
                <a:cs typeface="Noto Sans SC"/>
                <a:sym typeface="Noto Sans SC"/>
              </a:rPr>
              <a:t>Wh</a:t>
            </a:r>
            <a:r>
              <a:rPr lang="en-US" sz="1300" b="0" i="0" u="none" strike="noStrike" dirty="0">
                <a:solidFill>
                  <a:srgbClr val="505050"/>
                </a:solidFill>
                <a:latin typeface="Noto Sans SC"/>
                <a:ea typeface="Noto Sans SC"/>
                <a:cs typeface="Noto Sans SC"/>
                <a:sym typeface="Noto Sans SC"/>
              </a:rPr>
              <a:t>/kg, pushing flagship models beyond the 1,000 km milestone.</a:t>
            </a:r>
            <a:endParaRPr lang="en-US" sz="1100" dirty="0"/>
          </a:p>
        </p:txBody>
      </p:sp>
      <p:sp>
        <p:nvSpPr>
          <p:cNvPr id="14" name="AutoShape 14"/>
          <p:cNvSpPr/>
          <p:nvPr/>
        </p:nvSpPr>
        <p:spPr>
          <a:xfrm>
            <a:off x="762000" y="4064000"/>
            <a:ext cx="5207000" cy="2286000"/>
          </a:xfrm>
          <a:prstGeom prst="roundRect">
            <a:avLst>
              <a:gd name="adj" fmla="val 0"/>
            </a:avLst>
          </a:prstGeom>
          <a:solidFill>
            <a:srgbClr val="FFFFFF">
              <a:alpha val="65000"/>
            </a:srgbClr>
          </a:solidFill>
          <a:ln cap="flat" cmpd="sng">
            <a:solidFill>
              <a:srgbClr val="E6CFCF">
                <a:alpha val="65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4064000"/>
            <a:ext cx="50800" cy="2286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254500"/>
            <a:ext cx="406400" cy="406400"/>
          </a:xfrm>
          <a:prstGeom prst="rect">
            <a:avLst/>
          </a:prstGeom>
        </p:spPr>
      </p:pic>
      <p:sp>
        <p:nvSpPr>
          <p:cNvPr id="17" name="AutoShape 17"/>
          <p:cNvSpPr/>
          <p:nvPr/>
        </p:nvSpPr>
        <p:spPr>
          <a:xfrm>
            <a:off x="1524000" y="42672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333333"/>
                </a:solidFill>
                <a:latin typeface="Noto Sans SC"/>
                <a:ea typeface="Noto Sans SC"/>
                <a:cs typeface="Noto Sans SC"/>
                <a:sym typeface="Noto Sans SC"/>
              </a:rPr>
              <a:t>3. Exceptional Long Cycle Lifespan</a:t>
            </a:r>
            <a:endParaRPr lang="en-US" sz="1100" dirty="0"/>
          </a:p>
        </p:txBody>
      </p:sp>
      <p:sp>
        <p:nvSpPr>
          <p:cNvPr id="18" name="AutoShape 18"/>
          <p:cNvSpPr/>
          <p:nvPr/>
        </p:nvSpPr>
        <p:spPr>
          <a:xfrm>
            <a:off x="1016000" y="47625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a:ea typeface="Noto Sans SC"/>
                <a:cs typeface="Noto Sans SC"/>
                <a:sym typeface="Noto Sans SC"/>
              </a:rPr>
              <a:t>Engineering longevity is proven by retaining &gt;70% capacity after 1.2 million km or over 5,000 deep cycles. This durability drastically lowers the total cost of ownership for end-users.</a:t>
            </a:r>
            <a:endParaRPr lang="en-US" sz="1100"/>
          </a:p>
        </p:txBody>
      </p:sp>
      <p:sp>
        <p:nvSpPr>
          <p:cNvPr id="19" name="AutoShape 19"/>
          <p:cNvSpPr/>
          <p:nvPr/>
        </p:nvSpPr>
        <p:spPr>
          <a:xfrm>
            <a:off x="6223000" y="4064000"/>
            <a:ext cx="5207000" cy="2286000"/>
          </a:xfrm>
          <a:prstGeom prst="roundRect">
            <a:avLst>
              <a:gd name="adj" fmla="val 0"/>
            </a:avLst>
          </a:prstGeom>
          <a:solidFill>
            <a:srgbClr val="FFFFFF">
              <a:alpha val="65000"/>
            </a:srgbClr>
          </a:solidFill>
          <a:ln cap="flat" cmpd="sng">
            <a:solidFill>
              <a:srgbClr val="E6CFCF">
                <a:alpha val="65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223000" y="4064000"/>
            <a:ext cx="50800" cy="2286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254500"/>
            <a:ext cx="406400" cy="406400"/>
          </a:xfrm>
          <a:prstGeom prst="rect">
            <a:avLst/>
          </a:prstGeom>
        </p:spPr>
      </p:pic>
      <p:sp>
        <p:nvSpPr>
          <p:cNvPr id="22" name="AutoShape 22"/>
          <p:cNvSpPr/>
          <p:nvPr/>
        </p:nvSpPr>
        <p:spPr>
          <a:xfrm>
            <a:off x="6985000" y="42672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4. Unmatched Production Cost Efficiency</a:t>
            </a:r>
            <a:endParaRPr lang="en-US" sz="1100"/>
          </a:p>
        </p:txBody>
      </p:sp>
      <p:sp>
        <p:nvSpPr>
          <p:cNvPr id="23" name="AutoShape 23"/>
          <p:cNvSpPr/>
          <p:nvPr/>
        </p:nvSpPr>
        <p:spPr>
          <a:xfrm>
            <a:off x="6477000" y="47625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a:ea typeface="Noto Sans SC"/>
                <a:cs typeface="Noto Sans SC"/>
                <a:sym typeface="Noto Sans SC"/>
              </a:rPr>
              <a:t>Eliminating cobalt and nickel raw materials saves hundreds per pack. Analysts estimate Blade packs achieve a</a:t>
            </a:r>
            <a:r>
              <a:rPr lang="en-US" sz="1300" b="1" i="0" u="none" strike="noStrike">
                <a:solidFill>
                  <a:srgbClr val="333333"/>
                </a:solidFill>
                <a:latin typeface="Noto Sans SC"/>
                <a:ea typeface="Noto Sans SC"/>
                <a:cs typeface="Noto Sans SC"/>
                <a:sym typeface="Noto Sans SC"/>
              </a:rPr>
              <a:t>20-30% cost advantage per kWh</a:t>
            </a:r>
            <a:r>
              <a:rPr lang="en-US" sz="1300" b="0" i="0" u="none" strike="noStrike">
                <a:solidFill>
                  <a:srgbClr val="505050"/>
                </a:solidFill>
                <a:latin typeface="Noto Sans SC"/>
                <a:ea typeface="Noto Sans SC"/>
                <a:cs typeface="Noto Sans SC"/>
                <a:sym typeface="Noto Sans SC"/>
              </a:rPr>
              <a:t>compared to conventional NMC alternatives.</a:t>
            </a:r>
            <a:endParaRPr lang="en-US"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p:bldP spid="8" grpId="0"/>
      <p:bldP spid="9" grpId="0" animBg="1"/>
      <p:bldP spid="10" grpId="0" animBg="1"/>
      <p:bldP spid="12" grpId="0"/>
      <p:bldP spid="13" grpId="0"/>
      <p:bldP spid="14" grpId="0" animBg="1"/>
      <p:bldP spid="15" grpId="0" animBg="1"/>
      <p:bldP spid="17" grpId="0"/>
      <p:bldP spid="18" grpId="0"/>
      <p:bldP spid="19" grpId="0" animBg="1"/>
      <p:bldP spid="20" grpId="0" animBg="1"/>
      <p:bldP spid="22"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Times New Roman"/>
                <a:ea typeface="Times New Roman"/>
                <a:cs typeface="Times New Roman"/>
                <a:sym typeface="Times New Roman"/>
              </a:rPr>
              <a:t>Analysis - Comparative Analysis with Foreign Technologies</a:t>
            </a:r>
            <a:endParaRPr lang="en-US" sz="1100"/>
          </a:p>
        </p:txBody>
      </p:sp>
      <p:sp>
        <p:nvSpPr>
          <p:cNvPr id="4" name="AutoShape 4"/>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555555"/>
                </a:solidFill>
                <a:latin typeface="Noto Sans SC"/>
                <a:ea typeface="Noto Sans SC"/>
                <a:cs typeface="Noto Sans SC"/>
                <a:sym typeface="Noto Sans SC"/>
              </a:rPr>
              <a:t>A comprehensive head-to-head evaluation between BYD's innovative Blade Battery (LFP) and the conventional high-nickel NMC cells prevalent in Western markets.</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2963206481"/>
              </p:ext>
            </p:extLst>
          </p:nvPr>
        </p:nvGraphicFramePr>
        <p:xfrm>
          <a:off x="762000" y="1905000"/>
          <a:ext cx="10668000" cy="3578860"/>
        </p:xfrm>
        <a:graphic>
          <a:graphicData uri="http://schemas.openxmlformats.org/drawingml/2006/table">
            <a:tbl>
              <a:tblPr>
                <a:effectLst/>
              </a:tblPr>
              <a:tblGrid>
                <a:gridCol w="1651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279400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571500">
                <a:tc>
                  <a:txBody>
                    <a:bodyPr/>
                    <a:lstStyle/>
                    <a:p>
                      <a:pPr indent="0" algn="ctr">
                        <a:lnSpc>
                          <a:spcPct val="100000"/>
                        </a:lnSpc>
                        <a:defRPr/>
                      </a:pPr>
                      <a:r>
                        <a:rPr lang="en-US" sz="1300" b="1" i="0" u="none" strike="noStrike">
                          <a:solidFill>
                            <a:srgbClr val="333333"/>
                          </a:solidFill>
                          <a:latin typeface="Noto Sans SC"/>
                          <a:ea typeface="Noto Sans SC"/>
                          <a:cs typeface="Noto Sans SC"/>
                          <a:sym typeface="Noto Sans SC"/>
                        </a:rPr>
                        <a:t>Key Parameter</a:t>
                      </a:r>
                      <a:endParaRPr lang="en-US" sz="1100"/>
                    </a:p>
                  </a:txBody>
                  <a:tcPr marL="101600" marR="101600" marT="101600" marB="101600" anchor="ctr">
                    <a:lnL>
                      <a:noFill/>
                    </a:lnL>
                    <a:lnR>
                      <a:noFill/>
                    </a:lnR>
                    <a:lnT>
                      <a:noFill/>
                    </a:lnT>
                    <a:lnB w="12700" cap="flat" cmpd="sng" algn="ctr">
                      <a:solidFill>
                        <a:srgbClr val="333333"/>
                      </a:solidFill>
                      <a:prstDash val="solid"/>
                      <a:round/>
                      <a:headEnd type="none" w="med" len="med"/>
                      <a:tailEnd type="none" w="med" len="med"/>
                    </a:lnB>
                    <a:solidFill>
                      <a:srgbClr val="333333">
                        <a:alpha val="8000"/>
                      </a:srgbClr>
                    </a:solidFill>
                  </a:tcPr>
                </a:tc>
                <a:tc>
                  <a:txBody>
                    <a:bodyPr/>
                    <a:lstStyle/>
                    <a:p>
                      <a:pPr indent="0" algn="ctr">
                        <a:lnSpc>
                          <a:spcPct val="100000"/>
                        </a:lnSpc>
                        <a:defRPr/>
                      </a:pPr>
                      <a:r>
                        <a:rPr lang="en-US" sz="1300" b="1" i="0" u="none" strike="noStrike">
                          <a:solidFill>
                            <a:srgbClr val="333333"/>
                          </a:solidFill>
                          <a:latin typeface="Noto Sans SC"/>
                          <a:ea typeface="Noto Sans SC"/>
                          <a:cs typeface="Noto Sans SC"/>
                          <a:sym typeface="Noto Sans SC"/>
                        </a:rPr>
                        <a:t>BYD Blade Battery (LFP)</a:t>
                      </a:r>
                      <a:endParaRPr lang="en-US" sz="1100"/>
                    </a:p>
                  </a:txBody>
                  <a:tcPr marL="101600" marR="101600" marT="101600" marB="101600" anchor="ctr">
                    <a:lnL>
                      <a:noFill/>
                    </a:lnL>
                    <a:lnR>
                      <a:noFill/>
                    </a:lnR>
                    <a:lnT>
                      <a:noFill/>
                    </a:lnT>
                    <a:lnB w="12700" cap="flat" cmpd="sng" algn="ctr">
                      <a:solidFill>
                        <a:srgbClr val="333333"/>
                      </a:solidFill>
                      <a:prstDash val="solid"/>
                      <a:round/>
                      <a:headEnd type="none" w="med" len="med"/>
                      <a:tailEnd type="none" w="med" len="med"/>
                    </a:lnB>
                    <a:solidFill>
                      <a:srgbClr val="333333">
                        <a:alpha val="8000"/>
                      </a:srgbClr>
                    </a:solidFill>
                  </a:tcPr>
                </a:tc>
                <a:tc>
                  <a:txBody>
                    <a:bodyPr/>
                    <a:lstStyle/>
                    <a:p>
                      <a:pPr indent="0" algn="ctr">
                        <a:lnSpc>
                          <a:spcPct val="100000"/>
                        </a:lnSpc>
                        <a:defRPr/>
                      </a:pPr>
                      <a:r>
                        <a:rPr lang="en-US" sz="1300" b="1" i="0" u="none" strike="noStrike">
                          <a:solidFill>
                            <a:srgbClr val="333333"/>
                          </a:solidFill>
                          <a:latin typeface="Noto Sans SC"/>
                          <a:ea typeface="Noto Sans SC"/>
                          <a:cs typeface="Noto Sans SC"/>
                          <a:sym typeface="Noto Sans SC"/>
                        </a:rPr>
                        <a:t>Conventional NMC Battery</a:t>
                      </a:r>
                      <a:endParaRPr lang="en-US" sz="1100"/>
                    </a:p>
                  </a:txBody>
                  <a:tcPr marL="101600" marR="101600" marT="101600" marB="101600" anchor="ctr">
                    <a:lnL>
                      <a:noFill/>
                    </a:lnL>
                    <a:lnR>
                      <a:noFill/>
                    </a:lnR>
                    <a:lnT>
                      <a:noFill/>
                    </a:lnT>
                    <a:lnB w="12700" cap="flat" cmpd="sng" algn="ctr">
                      <a:solidFill>
                        <a:srgbClr val="333333"/>
                      </a:solidFill>
                      <a:prstDash val="solid"/>
                      <a:round/>
                      <a:headEnd type="none" w="med" len="med"/>
                      <a:tailEnd type="none" w="med" len="med"/>
                    </a:lnB>
                    <a:solidFill>
                      <a:srgbClr val="333333">
                        <a:alpha val="8000"/>
                      </a:srgbClr>
                    </a:solidFill>
                  </a:tcPr>
                </a:tc>
                <a:tc>
                  <a:txBody>
                    <a:bodyPr/>
                    <a:lstStyle/>
                    <a:p>
                      <a:pPr indent="0" algn="ctr">
                        <a:lnSpc>
                          <a:spcPct val="100000"/>
                        </a:lnSpc>
                        <a:defRPr/>
                      </a:pPr>
                      <a:r>
                        <a:rPr lang="en-US" sz="1300" b="1" i="0" u="none" strike="noStrike">
                          <a:solidFill>
                            <a:srgbClr val="333333"/>
                          </a:solidFill>
                          <a:latin typeface="Noto Sans SC"/>
                          <a:ea typeface="Noto Sans SC"/>
                          <a:cs typeface="Noto Sans SC"/>
                          <a:sym typeface="Noto Sans SC"/>
                        </a:rPr>
                        <a:t>Strategic Trade-off Analysis</a:t>
                      </a:r>
                      <a:endParaRPr lang="en-US" sz="1100"/>
                    </a:p>
                  </a:txBody>
                  <a:tcPr marL="101600" marR="101600" marT="101600" marB="101600" anchor="ctr">
                    <a:lnL>
                      <a:noFill/>
                    </a:lnL>
                    <a:lnR>
                      <a:noFill/>
                    </a:lnR>
                    <a:lnT>
                      <a:noFill/>
                    </a:lnT>
                    <a:lnB w="12700" cap="flat" cmpd="sng" algn="ctr">
                      <a:solidFill>
                        <a:srgbClr val="333333"/>
                      </a:solidFill>
                      <a:prstDash val="solid"/>
                      <a:round/>
                      <a:headEnd type="none" w="med" len="med"/>
                      <a:tailEnd type="none" w="med" len="med"/>
                    </a:lnB>
                    <a:solidFill>
                      <a:srgbClr val="333333">
                        <a:alpha val="8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200" b="1" i="0" u="none" strike="noStrike">
                          <a:solidFill>
                            <a:srgbClr val="333333"/>
                          </a:solidFill>
                          <a:latin typeface="Noto Sans SC"/>
                          <a:ea typeface="Noto Sans SC"/>
                          <a:cs typeface="Noto Sans SC"/>
                          <a:sym typeface="Noto Sans SC"/>
                        </a:rPr>
                        <a:t>Energy Density</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0" i="0" u="none" strike="noStrike">
                          <a:solidFill>
                            <a:srgbClr val="555555"/>
                          </a:solidFill>
                          <a:latin typeface="Noto Sans SC"/>
                          <a:ea typeface="Noto Sans SC"/>
                          <a:cs typeface="Noto Sans SC"/>
                          <a:sym typeface="Noto Sans SC"/>
                        </a:rPr>
                        <a:t>~150-210 Wh/kg</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0" i="0" u="none" strike="noStrike" dirty="0">
                          <a:solidFill>
                            <a:srgbClr val="FF0000"/>
                          </a:solidFill>
                          <a:latin typeface="Noto Sans SC"/>
                          <a:ea typeface="Noto Sans SC"/>
                          <a:cs typeface="Noto Sans SC"/>
                          <a:sym typeface="Noto Sans SC"/>
                        </a:rPr>
                        <a:t>~250-300 </a:t>
                      </a:r>
                      <a:r>
                        <a:rPr lang="en-US" sz="1200" b="0" i="0" u="none" strike="noStrike" dirty="0" err="1">
                          <a:solidFill>
                            <a:srgbClr val="FF0000"/>
                          </a:solidFill>
                          <a:latin typeface="Noto Sans SC"/>
                          <a:ea typeface="Noto Sans SC"/>
                          <a:cs typeface="Noto Sans SC"/>
                          <a:sym typeface="Noto Sans SC"/>
                        </a:rPr>
                        <a:t>Wh</a:t>
                      </a:r>
                      <a:r>
                        <a:rPr lang="en-US" sz="1200" b="0" i="0" u="none" strike="noStrike" dirty="0">
                          <a:solidFill>
                            <a:srgbClr val="FF0000"/>
                          </a:solidFill>
                          <a:latin typeface="Noto Sans SC"/>
                          <a:ea typeface="Noto Sans SC"/>
                          <a:cs typeface="Noto Sans SC"/>
                          <a:sym typeface="Noto Sans SC"/>
                        </a:rPr>
                        <a:t>/kg</a:t>
                      </a:r>
                      <a:endParaRPr lang="en-US" sz="1100" dirty="0">
                        <a:solidFill>
                          <a:srgbClr val="FF0000"/>
                        </a:solidFill>
                      </a:endParaRPr>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0" i="0" u="none" strike="noStrike">
                          <a:solidFill>
                            <a:srgbClr val="555555"/>
                          </a:solidFill>
                          <a:latin typeface="Noto Sans SC"/>
                          <a:ea typeface="Noto Sans SC"/>
                          <a:cs typeface="Noto Sans SC"/>
                          <a:sym typeface="Noto Sans SC"/>
                        </a:rPr>
                        <a:t>Blade intentionally sacrifices raw peak density to prioritize structural and chemical stability in daily cycles.</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200" b="1" i="0" u="none" strike="noStrike">
                          <a:solidFill>
                            <a:srgbClr val="333333"/>
                          </a:solidFill>
                          <a:latin typeface="Noto Sans SC"/>
                          <a:ea typeface="Noto Sans SC"/>
                          <a:cs typeface="Noto Sans SC"/>
                          <a:sym typeface="Noto Sans SC"/>
                        </a:rPr>
                        <a:t>Cycle Lifespan</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1" i="0" u="none" strike="noStrike" dirty="0">
                          <a:solidFill>
                            <a:srgbClr val="FF0000"/>
                          </a:solidFill>
                          <a:latin typeface="Noto Sans SC"/>
                          <a:ea typeface="Noto Sans SC"/>
                          <a:cs typeface="Noto Sans SC"/>
                          <a:sym typeface="Noto Sans SC"/>
                        </a:rPr>
                        <a:t>Exceeds 5,000 cycles</a:t>
                      </a:r>
                      <a:endParaRPr lang="en-US" sz="1100" dirty="0">
                        <a:solidFill>
                          <a:srgbClr val="FF0000"/>
                        </a:solidFill>
                      </a:endParaRPr>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0" i="0" u="none" strike="noStrike">
                          <a:solidFill>
                            <a:srgbClr val="555555"/>
                          </a:solidFill>
                          <a:latin typeface="Noto Sans SC"/>
                          <a:ea typeface="Noto Sans SC"/>
                          <a:cs typeface="Noto Sans SC"/>
                          <a:sym typeface="Noto Sans SC"/>
                        </a:rPr>
                        <a:t>Approx. 1,000-2,000 cycles</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0" i="0" u="none" strike="noStrike">
                          <a:solidFill>
                            <a:srgbClr val="555555"/>
                          </a:solidFill>
                          <a:latin typeface="Noto Sans SC"/>
                          <a:ea typeface="Noto Sans SC"/>
                          <a:cs typeface="Noto Sans SC"/>
                          <a:sym typeface="Noto Sans SC"/>
                        </a:rPr>
                        <a:t>Offers vastly superior longevity, reducing total ownership cost and enhancing second-life usability significantly.</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1200" b="1" i="0" u="none" strike="noStrike">
                          <a:solidFill>
                            <a:srgbClr val="333333"/>
                          </a:solidFill>
                          <a:latin typeface="Noto Sans SC"/>
                          <a:ea typeface="Noto Sans SC"/>
                          <a:cs typeface="Noto Sans SC"/>
                          <a:sym typeface="Noto Sans SC"/>
                        </a:rPr>
                        <a:t>Core Safety Profile</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1" i="0" u="none" strike="noStrike" dirty="0">
                          <a:solidFill>
                            <a:srgbClr val="FF0000"/>
                          </a:solidFill>
                          <a:latin typeface="Noto Sans SC"/>
                          <a:ea typeface="Noto Sans SC"/>
                          <a:cs typeface="Noto Sans SC"/>
                          <a:sym typeface="Noto Sans SC"/>
                        </a:rPr>
                        <a:t>No fire/smoke; &lt; 60°C thermal runaway</a:t>
                      </a:r>
                      <a:endParaRPr lang="en-US" sz="1100" dirty="0">
                        <a:solidFill>
                          <a:srgbClr val="FF0000"/>
                        </a:solidFill>
                      </a:endParaRPr>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0" i="0" u="none" strike="noStrike">
                          <a:solidFill>
                            <a:srgbClr val="555555"/>
                          </a:solidFill>
                          <a:latin typeface="Noto Sans SC"/>
                          <a:ea typeface="Noto Sans SC"/>
                          <a:cs typeface="Noto Sans SC"/>
                          <a:sym typeface="Noto Sans SC"/>
                        </a:rPr>
                        <a:t>High fire/explosion risk; &gt;200°C critical temp</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0" i="0" u="none" strike="noStrike">
                          <a:solidFill>
                            <a:srgbClr val="555555"/>
                          </a:solidFill>
                          <a:latin typeface="Noto Sans SC"/>
                          <a:ea typeface="Noto Sans SC"/>
                          <a:cs typeface="Noto Sans SC"/>
                          <a:sym typeface="Noto Sans SC"/>
                        </a:rPr>
                        <a:t>Dramatically safer under extreme conditions like puncture or overcharging, minimizing liability risks.</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10003"/>
                  </a:ext>
                </a:extLst>
              </a:tr>
              <a:tr h="635000">
                <a:tc>
                  <a:txBody>
                    <a:bodyPr/>
                    <a:lstStyle/>
                    <a:p>
                      <a:pPr indent="0" algn="ctr">
                        <a:lnSpc>
                          <a:spcPct val="100000"/>
                        </a:lnSpc>
                        <a:defRPr/>
                      </a:pPr>
                      <a:r>
                        <a:rPr lang="en-US" sz="1200" b="1" i="0" u="none" strike="noStrike">
                          <a:solidFill>
                            <a:srgbClr val="333333"/>
                          </a:solidFill>
                          <a:latin typeface="Noto Sans SC"/>
                          <a:ea typeface="Noto Sans SC"/>
                          <a:cs typeface="Noto Sans SC"/>
                          <a:sym typeface="Noto Sans SC"/>
                        </a:rPr>
                        <a:t>BOM &amp; Scaling Cost</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1" i="0" u="none" strike="noStrike" dirty="0">
                          <a:solidFill>
                            <a:srgbClr val="FF0000"/>
                          </a:solidFill>
                          <a:latin typeface="Noto Sans SC"/>
                          <a:ea typeface="Noto Sans SC"/>
                          <a:cs typeface="Noto Sans SC"/>
                          <a:sym typeface="Noto Sans SC"/>
                        </a:rPr>
                        <a:t>~20-30% lower at scale</a:t>
                      </a:r>
                      <a:endParaRPr lang="en-US" sz="1100" dirty="0">
                        <a:solidFill>
                          <a:srgbClr val="FF0000"/>
                        </a:solidFill>
                      </a:endParaRPr>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0" i="0" u="none" strike="noStrike">
                          <a:solidFill>
                            <a:srgbClr val="555555"/>
                          </a:solidFill>
                          <a:latin typeface="Noto Sans SC"/>
                          <a:ea typeface="Noto Sans SC"/>
                          <a:cs typeface="Noto Sans SC"/>
                          <a:sym typeface="Noto Sans SC"/>
                        </a:rPr>
                        <a:t>Higher costs driven by Nickel/Cobalt pricing</a:t>
                      </a:r>
                      <a:endParaRPr lang="en-US" sz="110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tc>
                  <a:txBody>
                    <a:bodyPr/>
                    <a:lstStyle/>
                    <a:p>
                      <a:pPr indent="0" algn="ctr">
                        <a:lnSpc>
                          <a:spcPct val="100000"/>
                        </a:lnSpc>
                        <a:defRPr/>
                      </a:pPr>
                      <a:r>
                        <a:rPr lang="en-US" sz="1200" b="0" i="0" u="none" strike="noStrike" dirty="0">
                          <a:solidFill>
                            <a:srgbClr val="555555"/>
                          </a:solidFill>
                          <a:latin typeface="Noto Sans SC"/>
                          <a:ea typeface="Noto Sans SC"/>
                          <a:cs typeface="Noto Sans SC"/>
                          <a:sym typeface="Noto Sans SC"/>
                        </a:rPr>
                        <a:t>Eliminates reliance on expensive conflict minerals, providing a decisive cost advantage for mass-market adoption.</a:t>
                      </a:r>
                      <a:endParaRPr lang="en-US" sz="1100" dirty="0"/>
                    </a:p>
                  </a:txBody>
                  <a:tcPr marL="101600" marR="101600" marT="101600" marB="101600" anchor="ctr">
                    <a:lnL>
                      <a:noFill/>
                    </a:lnL>
                    <a:lnR>
                      <a:noFill/>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6" name="AutoShape 6"/>
          <p:cNvSpPr/>
          <p:nvPr/>
        </p:nvSpPr>
        <p:spPr>
          <a:xfrm>
            <a:off x="762000" y="5778500"/>
            <a:ext cx="10668000" cy="762000"/>
          </a:xfrm>
          <a:prstGeom prst="roundRect">
            <a:avLst>
              <a:gd name="adj" fmla="val 0"/>
            </a:avLst>
          </a:prstGeom>
          <a:solidFill>
            <a:srgbClr val="2E5C55">
              <a:alpha val="8000"/>
            </a:srgbClr>
          </a:solidFill>
          <a:ln cap="flat" cmpd="sng">
            <a:solidFill>
              <a:srgbClr val="1B433C">
                <a:alpha val="8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5778500"/>
            <a:ext cx="50800" cy="762000"/>
          </a:xfrm>
          <a:prstGeom prst="roundRect">
            <a:avLst>
              <a:gd name="adj" fmla="val 0"/>
            </a:avLst>
          </a:prstGeom>
          <a:solidFill>
            <a:srgbClr val="2E5C5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5842000"/>
            <a:ext cx="10350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E5C55"/>
                </a:solidFill>
                <a:latin typeface="Noto Sans SC"/>
                <a:ea typeface="Noto Sans SC"/>
                <a:cs typeface="Noto Sans SC"/>
                <a:sym typeface="Noto Sans SC"/>
              </a:rPr>
              <a:t>Global Strategic Implications:</a:t>
            </a:r>
            <a:r>
              <a:rPr lang="en-US" sz="1300" b="0" i="0" u="none" strike="noStrike">
                <a:solidFill>
                  <a:srgbClr val="3C3C3C"/>
                </a:solidFill>
                <a:latin typeface="Noto Sans SC"/>
                <a:ea typeface="Noto Sans SC"/>
                <a:cs typeface="Noto Sans SC"/>
                <a:sym typeface="Noto Sans SC"/>
              </a:rPr>
              <a:t>The proven success of the Blade Battery architecture is fundamentally reshaping global supply chains, accelerating the adoption of LFP chemistry even in Western markets focused on budget resilience and passenger safety.</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Times New Roman"/>
                <a:ea typeface="Times New Roman"/>
                <a:cs typeface="Times New Roman"/>
                <a:sym typeface="Times New Roman"/>
              </a:rPr>
              <a:t>R&amp;D Achievements - Market Impact</a:t>
            </a:r>
            <a:endParaRPr lang="en-US" sz="1100"/>
          </a:p>
        </p:txBody>
      </p:sp>
      <p:sp>
        <p:nvSpPr>
          <p:cNvPr id="4" name="AutoShape 4"/>
          <p:cNvSpPr/>
          <p:nvPr/>
        </p:nvSpPr>
        <p:spPr>
          <a:xfrm>
            <a:off x="762000" y="1397000"/>
            <a:ext cx="5207000" cy="19050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50800" cy="1905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524000"/>
            <a:ext cx="4826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333333"/>
                </a:solidFill>
                <a:latin typeface="Noto Sans SC"/>
                <a:ea typeface="Noto Sans SC"/>
                <a:cs typeface="Noto Sans SC"/>
                <a:sym typeface="Noto Sans SC"/>
              </a:rPr>
              <a:t>1. Market Share Expansion &amp; Industry Paradigm Shift</a:t>
            </a:r>
            <a:endParaRPr lang="en-US" sz="1100" dirty="0"/>
          </a:p>
          <a:p>
            <a:pPr indent="0" algn="l">
              <a:lnSpc>
                <a:spcPct val="125000"/>
              </a:lnSpc>
            </a:pPr>
            <a:r>
              <a:rPr lang="en-US" sz="1200" b="0" i="0" u="none" strike="noStrike" dirty="0">
                <a:solidFill>
                  <a:srgbClr val="555555"/>
                </a:solidFill>
                <a:latin typeface="Noto Sans SC"/>
                <a:ea typeface="Noto Sans SC"/>
                <a:cs typeface="Noto Sans SC"/>
                <a:sym typeface="Noto Sans SC"/>
              </a:rPr>
              <a:t>In 2025, BYD's power battery installations in China hit approximately 165.8 GWh, empowering around 3.82 million electric vehicles and securing a 21.6% market share. This dominance has catalyzed a profound industry-wide transition towards LFP chemistry.</a:t>
            </a:r>
          </a:p>
        </p:txBody>
      </p:sp>
      <p:sp>
        <p:nvSpPr>
          <p:cNvPr id="7" name="AutoShape 7"/>
          <p:cNvSpPr/>
          <p:nvPr/>
        </p:nvSpPr>
        <p:spPr>
          <a:xfrm>
            <a:off x="6223000" y="1397000"/>
            <a:ext cx="5207000" cy="19050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223000" y="1397000"/>
            <a:ext cx="50800" cy="1905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477000" y="1524000"/>
            <a:ext cx="4826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2. Unmatched Safety Reputation and Consumer Confidence</a:t>
            </a:r>
            <a:endParaRPr lang="en-US" sz="1100"/>
          </a:p>
          <a:p>
            <a:pPr indent="0" algn="l">
              <a:lnSpc>
                <a:spcPct val="125000"/>
              </a:lnSpc>
            </a:pPr>
            <a:r>
              <a:rPr lang="en-US" sz="1200" b="0" i="0" u="none" strike="noStrike">
                <a:solidFill>
                  <a:srgbClr val="555555"/>
                </a:solidFill>
                <a:latin typeface="Noto Sans SC"/>
                <a:ea typeface="Noto Sans SC"/>
                <a:cs typeface="Noto Sans SC"/>
                <a:sym typeface="Noto Sans SC"/>
              </a:rPr>
              <a:t>Amidst growing consumer concerns over EV battery fires, BYD's strategic "safe battery" marketing narrative has strongly resonated. The Blade Battery maintains a pristine track record with no widely reported fire incidents or safety-related recalls, building enduring trust.</a:t>
            </a:r>
          </a:p>
        </p:txBody>
      </p:sp>
      <p:cxnSp>
        <p:nvCxnSpPr>
          <p:cNvPr id="10" name="Connector 10"/>
          <p:cNvCxnSpPr/>
          <p:nvPr/>
        </p:nvCxnSpPr>
        <p:spPr>
          <a:xfrm rot="-4092">
            <a:off x="762004" y="3549650"/>
            <a:ext cx="10668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11" name="AutoShape 11"/>
          <p:cNvSpPr/>
          <p:nvPr/>
        </p:nvSpPr>
        <p:spPr>
          <a:xfrm>
            <a:off x="762000" y="3810000"/>
            <a:ext cx="4610986"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a:ea typeface="Noto Sans SC"/>
                <a:cs typeface="Noto Sans SC"/>
                <a:sym typeface="Noto Sans SC"/>
              </a:rPr>
              <a:t>LFP Market Trajectory Outlook</a:t>
            </a:r>
            <a:endParaRPr lang="en-US" sz="1800" dirty="0"/>
          </a:p>
          <a:p>
            <a:pPr indent="0" algn="l">
              <a:lnSpc>
                <a:spcPct val="125000"/>
              </a:lnSpc>
            </a:pPr>
            <a:r>
              <a:rPr lang="en-US" sz="1200" b="0" i="0" u="none" strike="noStrike" dirty="0">
                <a:solidFill>
                  <a:srgbClr val="555555"/>
                </a:solidFill>
                <a:latin typeface="Noto Sans SC"/>
                <a:ea typeface="Noto Sans SC"/>
                <a:cs typeface="Noto Sans SC"/>
                <a:sym typeface="Noto Sans SC"/>
              </a:rPr>
              <a:t>The following chart illustrates the projected exponential growth of the Lithium Iron Phosphate (LFP) battery market from 2023 to 2034. This upward trend underscores the long-term commercial viability and technological advantages that BYD and other pioneers have unlocked within the energy storage sector.</a:t>
            </a:r>
          </a:p>
        </p:txBody>
      </p:sp>
      <p:pic>
        <p:nvPicPr>
          <p:cNvPr id="1027" name="图片 1">
            <a:extLst>
              <a:ext uri="{FF2B5EF4-FFF2-40B4-BE49-F238E27FC236}">
                <a16:creationId xmlns:a16="http://schemas.microsoft.com/office/drawing/2014/main" id="{AE148A86-9A37-12BF-2A80-3B90BA94F4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1191"/>
          <a:stretch>
            <a:fillRect/>
          </a:stretch>
        </p:blipFill>
        <p:spPr bwMode="auto">
          <a:xfrm>
            <a:off x="6248400" y="3592512"/>
            <a:ext cx="5273675" cy="312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Times New Roman"/>
                <a:ea typeface="Times New Roman"/>
                <a:cs typeface="Times New Roman"/>
                <a:sym typeface="Times New Roman"/>
              </a:rPr>
              <a:t>Analysis - Strategic Lessons for Technological Development</a:t>
            </a:r>
            <a:endParaRPr lang="en-US" sz="1100" dirty="0"/>
          </a:p>
        </p:txBody>
      </p:sp>
      <p:sp>
        <p:nvSpPr>
          <p:cNvPr id="4" name="AutoShape 4"/>
          <p:cNvSpPr/>
          <p:nvPr/>
        </p:nvSpPr>
        <p:spPr>
          <a:xfrm>
            <a:off x="762000" y="1270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555555"/>
                </a:solidFill>
                <a:latin typeface="Noto Sans SC"/>
                <a:ea typeface="Noto Sans SC"/>
                <a:cs typeface="Noto Sans SC"/>
                <a:sym typeface="Noto Sans SC"/>
              </a:rPr>
              <a:t>The Blade Battery case offers four key strategic lessons for navigating global technological sanctions and fostering long-term industry resilience.</a:t>
            </a:r>
            <a:endParaRPr lang="en-US" sz="1100" dirty="0"/>
          </a:p>
        </p:txBody>
      </p:sp>
      <p:sp>
        <p:nvSpPr>
          <p:cNvPr id="5" name="AutoShape 5"/>
          <p:cNvSpPr/>
          <p:nvPr/>
        </p:nvSpPr>
        <p:spPr>
          <a:xfrm>
            <a:off x="762000" y="2159000"/>
            <a:ext cx="5207000" cy="1905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dirty="0"/>
          </a:p>
        </p:txBody>
      </p:sp>
      <p:sp>
        <p:nvSpPr>
          <p:cNvPr id="6" name="AutoShape 6"/>
          <p:cNvSpPr/>
          <p:nvPr/>
        </p:nvSpPr>
        <p:spPr>
          <a:xfrm>
            <a:off x="762000" y="2159000"/>
            <a:ext cx="50800" cy="1905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349500"/>
            <a:ext cx="406400" cy="406400"/>
          </a:xfrm>
          <a:prstGeom prst="rect">
            <a:avLst/>
          </a:prstGeom>
        </p:spPr>
      </p:pic>
      <p:sp>
        <p:nvSpPr>
          <p:cNvPr id="8" name="文本框 7">
            <a:extLst>
              <a:ext uri="{FF2B5EF4-FFF2-40B4-BE49-F238E27FC236}">
                <a16:creationId xmlns:a16="http://schemas.microsoft.com/office/drawing/2014/main" id="{16DE2F6D-D184-425F-5360-4C2429FD09B3}"/>
              </a:ext>
            </a:extLst>
          </p:cNvPr>
          <p:cNvSpPr txBox="1"/>
          <p:nvPr/>
        </p:nvSpPr>
        <p:spPr>
          <a:xfrm>
            <a:off x="1482650" y="2259583"/>
            <a:ext cx="4237666" cy="1908215"/>
          </a:xfrm>
          <a:prstGeom prst="rect">
            <a:avLst/>
          </a:prstGeom>
          <a:noFill/>
        </p:spPr>
        <p:txBody>
          <a:bodyPr wrap="square" rtlCol="0">
            <a:spAutoFit/>
          </a:bodyPr>
          <a:lstStyle/>
          <a:p>
            <a:pPr marL="457200" indent="-457200">
              <a:buAutoNum type="arabicPeriod"/>
            </a:pPr>
            <a:r>
              <a:rPr lang="zh-CN" altLang="zh-CN" sz="2000" b="1" dirty="0"/>
              <a:t>Domestic Innovation Pays Off</a:t>
            </a:r>
            <a:endParaRPr lang="en-US" altLang="zh-CN" sz="2000" b="1" dirty="0"/>
          </a:p>
          <a:p>
            <a:endParaRPr lang="zh-CN" altLang="zh-CN" sz="2000" dirty="0"/>
          </a:p>
          <a:p>
            <a:r>
              <a:rPr lang="zh-CN" altLang="zh-CN" sz="1600" dirty="0"/>
              <a:t>Heavy investment in in-house R&amp;D, rather than licensing foreign tech, leads to greater technological autonomy. Sanctions pressure can be a powerful motivator for self-reliance.</a:t>
            </a:r>
          </a:p>
          <a:p>
            <a:endParaRPr lang="zh-CN" altLang="en-US" dirty="0"/>
          </a:p>
        </p:txBody>
      </p:sp>
      <p:sp>
        <p:nvSpPr>
          <p:cNvPr id="10" name="AutoShape 5">
            <a:extLst>
              <a:ext uri="{FF2B5EF4-FFF2-40B4-BE49-F238E27FC236}">
                <a16:creationId xmlns:a16="http://schemas.microsoft.com/office/drawing/2014/main" id="{DE315F55-5E22-D4FD-C01A-7A3E693AC695}"/>
              </a:ext>
            </a:extLst>
          </p:cNvPr>
          <p:cNvSpPr/>
          <p:nvPr/>
        </p:nvSpPr>
        <p:spPr>
          <a:xfrm>
            <a:off x="6287386" y="2176426"/>
            <a:ext cx="5207000" cy="1905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dirty="0"/>
          </a:p>
        </p:txBody>
      </p:sp>
      <p:sp>
        <p:nvSpPr>
          <p:cNvPr id="12" name="文本框 11">
            <a:extLst>
              <a:ext uri="{FF2B5EF4-FFF2-40B4-BE49-F238E27FC236}">
                <a16:creationId xmlns:a16="http://schemas.microsoft.com/office/drawing/2014/main" id="{528C51C7-B815-F3FF-71F6-8AD9A257D8A7}"/>
              </a:ext>
            </a:extLst>
          </p:cNvPr>
          <p:cNvSpPr txBox="1"/>
          <p:nvPr/>
        </p:nvSpPr>
        <p:spPr>
          <a:xfrm>
            <a:off x="7008036" y="2277009"/>
            <a:ext cx="4531834" cy="1692771"/>
          </a:xfrm>
          <a:prstGeom prst="rect">
            <a:avLst/>
          </a:prstGeom>
          <a:noFill/>
        </p:spPr>
        <p:txBody>
          <a:bodyPr wrap="square" rtlCol="0">
            <a:spAutoFit/>
          </a:bodyPr>
          <a:lstStyle/>
          <a:p>
            <a:pPr>
              <a:buNone/>
            </a:pPr>
            <a:r>
              <a:rPr lang="zh-CN" altLang="zh-CN" sz="2000" b="1" dirty="0">
                <a:solidFill>
                  <a:srgbClr val="333333"/>
                </a:solidFill>
                <a:effectLst/>
                <a:latin typeface="Times New Roman" panose="02020603050405020304" pitchFamily="18" charset="0"/>
              </a:rPr>
              <a:t>2. Supply Chain Localization is Critical</a:t>
            </a:r>
            <a:endParaRPr lang="en-US" altLang="zh-CN" sz="2000" b="1" dirty="0">
              <a:solidFill>
                <a:srgbClr val="333333"/>
              </a:solidFill>
              <a:effectLst/>
              <a:latin typeface="Times New Roman" panose="02020603050405020304" pitchFamily="18" charset="0"/>
            </a:endParaRPr>
          </a:p>
          <a:p>
            <a:pPr>
              <a:buNone/>
            </a:pPr>
            <a:endParaRPr lang="zh-CN" altLang="zh-CN" sz="2000" dirty="0">
              <a:effectLst/>
            </a:endParaRPr>
          </a:p>
          <a:p>
            <a:pPr>
              <a:buNone/>
            </a:pPr>
            <a:r>
              <a:rPr lang="zh-CN" altLang="zh-CN" sz="1600" dirty="0">
                <a:solidFill>
                  <a:srgbClr val="333333"/>
                </a:solidFill>
                <a:effectLst/>
                <a:latin typeface="Times New Roman" panose="02020603050405020304" pitchFamily="18" charset="0"/>
              </a:rPr>
              <a:t>Prioritizing the development of upstream industries (materials, equipment) creates a robust, self-contained ecosystem that is resilient to foreign export controls.</a:t>
            </a:r>
            <a:endParaRPr lang="zh-CN" altLang="zh-CN" sz="1600" dirty="0">
              <a:effectLst/>
            </a:endParaRPr>
          </a:p>
        </p:txBody>
      </p:sp>
      <p:sp>
        <p:nvSpPr>
          <p:cNvPr id="14" name="AutoShape 6">
            <a:extLst>
              <a:ext uri="{FF2B5EF4-FFF2-40B4-BE49-F238E27FC236}">
                <a16:creationId xmlns:a16="http://schemas.microsoft.com/office/drawing/2014/main" id="{C85FB1E1-74DB-3511-B5BA-EF20759BA912}"/>
              </a:ext>
            </a:extLst>
          </p:cNvPr>
          <p:cNvSpPr/>
          <p:nvPr/>
        </p:nvSpPr>
        <p:spPr>
          <a:xfrm>
            <a:off x="6287976" y="2176426"/>
            <a:ext cx="50800" cy="1905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2">
            <a:extLst>
              <a:ext uri="{FF2B5EF4-FFF2-40B4-BE49-F238E27FC236}">
                <a16:creationId xmlns:a16="http://schemas.microsoft.com/office/drawing/2014/main" id="{D3743226-C0EF-6FEB-4E03-F4CFE320C3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84260" y="2277009"/>
            <a:ext cx="457200" cy="457200"/>
          </a:xfrm>
          <a:prstGeom prst="rect">
            <a:avLst/>
          </a:prstGeom>
        </p:spPr>
      </p:pic>
      <p:sp>
        <p:nvSpPr>
          <p:cNvPr id="18" name="AutoShape 5">
            <a:extLst>
              <a:ext uri="{FF2B5EF4-FFF2-40B4-BE49-F238E27FC236}">
                <a16:creationId xmlns:a16="http://schemas.microsoft.com/office/drawing/2014/main" id="{7E183B83-1987-4F5C-6150-0E93661F2C34}"/>
              </a:ext>
            </a:extLst>
          </p:cNvPr>
          <p:cNvSpPr/>
          <p:nvPr/>
        </p:nvSpPr>
        <p:spPr>
          <a:xfrm>
            <a:off x="759636" y="4379301"/>
            <a:ext cx="5207000" cy="1905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dirty="0"/>
          </a:p>
        </p:txBody>
      </p:sp>
      <p:sp>
        <p:nvSpPr>
          <p:cNvPr id="20" name="文本框 19">
            <a:extLst>
              <a:ext uri="{FF2B5EF4-FFF2-40B4-BE49-F238E27FC236}">
                <a16:creationId xmlns:a16="http://schemas.microsoft.com/office/drawing/2014/main" id="{C2E9943E-6F7B-219D-2CEE-2CB45AFE202A}"/>
              </a:ext>
            </a:extLst>
          </p:cNvPr>
          <p:cNvSpPr txBox="1"/>
          <p:nvPr/>
        </p:nvSpPr>
        <p:spPr>
          <a:xfrm>
            <a:off x="1480286" y="4479884"/>
            <a:ext cx="4237666" cy="1631216"/>
          </a:xfrm>
          <a:prstGeom prst="rect">
            <a:avLst/>
          </a:prstGeom>
          <a:noFill/>
        </p:spPr>
        <p:txBody>
          <a:bodyPr wrap="square" rtlCol="0">
            <a:spAutoFit/>
          </a:bodyPr>
          <a:lstStyle/>
          <a:p>
            <a:r>
              <a:rPr lang="zh-CN" altLang="zh-CN" sz="2000" b="1" dirty="0"/>
              <a:t>3. Strategic Flexibility is Key</a:t>
            </a:r>
            <a:endParaRPr lang="zh-CN" altLang="zh-CN" sz="2000" dirty="0"/>
          </a:p>
          <a:p>
            <a:r>
              <a:rPr lang="zh-CN" altLang="zh-CN" sz="1600" dirty="0"/>
              <a:t>Choosing a technology path (LFP) that best suits domestic resources and strategic goals (safety, cost) is more effective than a one-size-fits-all approach. Diversifying into alternatives like sodium-ion is also prudent.</a:t>
            </a:r>
            <a:endParaRPr lang="zh-CN" altLang="zh-CN" sz="1600" dirty="0">
              <a:effectLst/>
            </a:endParaRPr>
          </a:p>
        </p:txBody>
      </p:sp>
      <p:sp>
        <p:nvSpPr>
          <p:cNvPr id="22" name="AutoShape 6">
            <a:extLst>
              <a:ext uri="{FF2B5EF4-FFF2-40B4-BE49-F238E27FC236}">
                <a16:creationId xmlns:a16="http://schemas.microsoft.com/office/drawing/2014/main" id="{F76D8C21-9EC4-A0D5-7D4F-FF82050D9920}"/>
              </a:ext>
            </a:extLst>
          </p:cNvPr>
          <p:cNvSpPr/>
          <p:nvPr/>
        </p:nvSpPr>
        <p:spPr>
          <a:xfrm>
            <a:off x="760226" y="4379301"/>
            <a:ext cx="50800" cy="1905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5">
            <a:extLst>
              <a:ext uri="{FF2B5EF4-FFF2-40B4-BE49-F238E27FC236}">
                <a16:creationId xmlns:a16="http://schemas.microsoft.com/office/drawing/2014/main" id="{900D73CE-8282-A831-CC11-79A7843D60B7}"/>
              </a:ext>
            </a:extLst>
          </p:cNvPr>
          <p:cNvSpPr/>
          <p:nvPr/>
        </p:nvSpPr>
        <p:spPr>
          <a:xfrm>
            <a:off x="6281479" y="4379301"/>
            <a:ext cx="5207000" cy="1905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dirty="0"/>
          </a:p>
        </p:txBody>
      </p:sp>
      <p:sp>
        <p:nvSpPr>
          <p:cNvPr id="28" name="文本框 27">
            <a:extLst>
              <a:ext uri="{FF2B5EF4-FFF2-40B4-BE49-F238E27FC236}">
                <a16:creationId xmlns:a16="http://schemas.microsoft.com/office/drawing/2014/main" id="{7FE0ED0D-74DE-E6A5-CF98-811014F63BDB}"/>
              </a:ext>
            </a:extLst>
          </p:cNvPr>
          <p:cNvSpPr txBox="1"/>
          <p:nvPr/>
        </p:nvSpPr>
        <p:spPr>
          <a:xfrm>
            <a:off x="7002128" y="4479884"/>
            <a:ext cx="4427871" cy="1692771"/>
          </a:xfrm>
          <a:prstGeom prst="rect">
            <a:avLst/>
          </a:prstGeom>
          <a:noFill/>
        </p:spPr>
        <p:txBody>
          <a:bodyPr wrap="square" rtlCol="0">
            <a:spAutoFit/>
          </a:bodyPr>
          <a:lstStyle/>
          <a:p>
            <a:r>
              <a:rPr lang="zh-CN" altLang="zh-CN" sz="2000" b="1" dirty="0"/>
              <a:t>4. Batteries are Geopolitical Tools</a:t>
            </a:r>
            <a:endParaRPr lang="en-US" altLang="zh-CN" sz="2000" b="1" dirty="0"/>
          </a:p>
          <a:p>
            <a:endParaRPr lang="zh-CN" altLang="zh-CN" sz="2000" dirty="0"/>
          </a:p>
          <a:p>
            <a:r>
              <a:rPr lang="zh-CN" altLang="zh-CN" sz="1600" dirty="0"/>
              <a:t>The technology and supply-chain choices have significant geopolitical weight. Controlling a key technology like LFP becomes a form of strategic leverage.</a:t>
            </a:r>
            <a:endParaRPr lang="zh-CN" altLang="zh-CN" sz="1600" dirty="0">
              <a:effectLst/>
            </a:endParaRPr>
          </a:p>
        </p:txBody>
      </p:sp>
      <p:sp>
        <p:nvSpPr>
          <p:cNvPr id="30" name="AutoShape 6">
            <a:extLst>
              <a:ext uri="{FF2B5EF4-FFF2-40B4-BE49-F238E27FC236}">
                <a16:creationId xmlns:a16="http://schemas.microsoft.com/office/drawing/2014/main" id="{DC31B5AC-8D86-3673-F8C7-7AC28D7E491D}"/>
              </a:ext>
            </a:extLst>
          </p:cNvPr>
          <p:cNvSpPr/>
          <p:nvPr/>
        </p:nvSpPr>
        <p:spPr>
          <a:xfrm>
            <a:off x="6282069" y="4379301"/>
            <a:ext cx="50800" cy="1905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4" name="Picture 17">
            <a:extLst>
              <a:ext uri="{FF2B5EF4-FFF2-40B4-BE49-F238E27FC236}">
                <a16:creationId xmlns:a16="http://schemas.microsoft.com/office/drawing/2014/main" id="{6944107B-B2DB-B677-657D-A0F4A3DD90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5200" y="4557101"/>
            <a:ext cx="457200" cy="457200"/>
          </a:xfrm>
          <a:prstGeom prst="rect">
            <a:avLst/>
          </a:prstGeom>
        </p:spPr>
      </p:pic>
      <p:pic>
        <p:nvPicPr>
          <p:cNvPr id="36" name="Picture 7">
            <a:extLst>
              <a:ext uri="{FF2B5EF4-FFF2-40B4-BE49-F238E27FC236}">
                <a16:creationId xmlns:a16="http://schemas.microsoft.com/office/drawing/2014/main" id="{040940B8-B9A1-BADC-B824-27C0AE482A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64299" y="4551834"/>
            <a:ext cx="406400" cy="40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8" grpId="0"/>
      <p:bldP spid="10" grpId="0" animBg="1"/>
      <p:bldP spid="12" grpId="0"/>
      <p:bldP spid="14" grpId="0" animBg="1"/>
      <p:bldP spid="18" grpId="0" animBg="1"/>
      <p:bldP spid="20" grpId="0"/>
      <p:bldP spid="22" grpId="0" animBg="1"/>
      <p:bldP spid="26" grpId="0" animBg="1"/>
      <p:bldP spid="28" grpId="0"/>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Times New Roman"/>
                <a:ea typeface="Times New Roman"/>
                <a:cs typeface="Times New Roman"/>
                <a:sym typeface="Times New Roman"/>
              </a:rPr>
              <a:t>Existing Shortcomings of the Blade Battery</a:t>
            </a:r>
            <a:endParaRPr lang="en-US" sz="1100"/>
          </a:p>
        </p:txBody>
      </p:sp>
      <p:sp>
        <p:nvSpPr>
          <p:cNvPr id="4" name="AutoShape 4"/>
          <p:cNvSpPr/>
          <p:nvPr/>
        </p:nvSpPr>
        <p:spPr>
          <a:xfrm>
            <a:off x="762000" y="12065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555555"/>
                </a:solidFill>
                <a:latin typeface="Noto Sans SC"/>
                <a:ea typeface="Noto Sans SC"/>
                <a:cs typeface="Noto Sans SC"/>
                <a:sym typeface="Noto Sans SC"/>
              </a:rPr>
              <a:t>Despite its market successes and technological innovations, the Blade Battery still faces several non-negligible technical and market challenges that limit its full potential expansion.</a:t>
            </a:r>
            <a:endParaRPr lang="en-US" sz="1100" dirty="0"/>
          </a:p>
        </p:txBody>
      </p:sp>
      <p:sp>
        <p:nvSpPr>
          <p:cNvPr id="5" name="AutoShape 5"/>
          <p:cNvSpPr/>
          <p:nvPr/>
        </p:nvSpPr>
        <p:spPr>
          <a:xfrm>
            <a:off x="762000" y="2032000"/>
            <a:ext cx="5207000" cy="19685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032000"/>
            <a:ext cx="50800" cy="1968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22500"/>
            <a:ext cx="406400" cy="406400"/>
          </a:xfrm>
          <a:prstGeom prst="rect">
            <a:avLst/>
          </a:prstGeom>
        </p:spPr>
      </p:pic>
      <p:sp>
        <p:nvSpPr>
          <p:cNvPr id="8" name="AutoShape 8"/>
          <p:cNvSpPr/>
          <p:nvPr/>
        </p:nvSpPr>
        <p:spPr>
          <a:xfrm>
            <a:off x="1587500" y="2105247"/>
            <a:ext cx="4432300" cy="68757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1. Energy Density Ceiling Bottleneck</a:t>
            </a:r>
            <a:endParaRPr lang="en-US" sz="2000" dirty="0"/>
          </a:p>
        </p:txBody>
      </p:sp>
      <p:sp>
        <p:nvSpPr>
          <p:cNvPr id="9" name="AutoShape 9"/>
          <p:cNvSpPr/>
          <p:nvPr/>
        </p:nvSpPr>
        <p:spPr>
          <a:xfrm>
            <a:off x="1016000" y="284923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0" i="0" u="none" strike="noStrike" dirty="0">
                <a:solidFill>
                  <a:srgbClr val="505050"/>
                </a:solidFill>
                <a:latin typeface="Noto Sans SC"/>
                <a:ea typeface="Noto Sans SC"/>
                <a:cs typeface="Noto Sans SC"/>
                <a:sym typeface="Noto Sans SC"/>
              </a:rPr>
              <a:t>Even with structural improvements, LFP-based cells likely max out around ~200 </a:t>
            </a:r>
            <a:r>
              <a:rPr lang="en-US" b="0" i="0" u="none" strike="noStrike" dirty="0" err="1">
                <a:solidFill>
                  <a:srgbClr val="505050"/>
                </a:solidFill>
                <a:latin typeface="Noto Sans SC"/>
                <a:ea typeface="Noto Sans SC"/>
                <a:cs typeface="Noto Sans SC"/>
                <a:sym typeface="Noto Sans SC"/>
              </a:rPr>
              <a:t>Wh</a:t>
            </a:r>
            <a:r>
              <a:rPr lang="en-US" b="0" i="0" u="none" strike="noStrike" dirty="0">
                <a:solidFill>
                  <a:srgbClr val="505050"/>
                </a:solidFill>
                <a:latin typeface="Noto Sans SC"/>
                <a:ea typeface="Noto Sans SC"/>
                <a:cs typeface="Noto Sans SC"/>
                <a:sym typeface="Noto Sans SC"/>
              </a:rPr>
              <a:t>/kg, inherently lower than leading NMC batteries, which limits its penetration in the high-end luxury EV segment.</a:t>
            </a:r>
            <a:endParaRPr lang="en-US" dirty="0"/>
          </a:p>
        </p:txBody>
      </p:sp>
      <p:sp>
        <p:nvSpPr>
          <p:cNvPr id="10" name="AutoShape 10"/>
          <p:cNvSpPr/>
          <p:nvPr/>
        </p:nvSpPr>
        <p:spPr>
          <a:xfrm>
            <a:off x="6223000" y="2032000"/>
            <a:ext cx="5207000" cy="19685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23000" y="2032000"/>
            <a:ext cx="50800" cy="1968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222500"/>
            <a:ext cx="406400" cy="406400"/>
          </a:xfrm>
          <a:prstGeom prst="rect">
            <a:avLst/>
          </a:prstGeom>
        </p:spPr>
      </p:pic>
      <p:sp>
        <p:nvSpPr>
          <p:cNvPr id="13" name="AutoShape 13"/>
          <p:cNvSpPr/>
          <p:nvPr/>
        </p:nvSpPr>
        <p:spPr>
          <a:xfrm>
            <a:off x="7048500" y="2105247"/>
            <a:ext cx="4318000" cy="62525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2. Diminished Low-Temperature Performance</a:t>
            </a:r>
            <a:endParaRPr lang="en-US" sz="2000" dirty="0"/>
          </a:p>
        </p:txBody>
      </p:sp>
      <p:sp>
        <p:nvSpPr>
          <p:cNvPr id="14" name="AutoShape 14"/>
          <p:cNvSpPr/>
          <p:nvPr/>
        </p:nvSpPr>
        <p:spPr>
          <a:xfrm>
            <a:off x="6477000" y="28321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0" i="0" u="none" strike="noStrike" dirty="0">
                <a:solidFill>
                  <a:srgbClr val="505050"/>
                </a:solidFill>
                <a:latin typeface="Noto Sans SC"/>
                <a:ea typeface="Noto Sans SC"/>
                <a:cs typeface="Noto Sans SC"/>
                <a:sym typeface="Noto Sans SC"/>
              </a:rPr>
              <a:t>The fundamental chemical properties of LFP result in significantly reduced conductivity in cold climates, directly leading to noticeable driving range attenuation during winter usage scenarios for end-users.</a:t>
            </a:r>
            <a:endParaRPr lang="en-US" dirty="0"/>
          </a:p>
        </p:txBody>
      </p:sp>
      <p:sp>
        <p:nvSpPr>
          <p:cNvPr id="15" name="AutoShape 15"/>
          <p:cNvSpPr/>
          <p:nvPr/>
        </p:nvSpPr>
        <p:spPr>
          <a:xfrm>
            <a:off x="762000" y="4318000"/>
            <a:ext cx="5207000" cy="19685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62000" y="4318000"/>
            <a:ext cx="50800" cy="1968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08500"/>
            <a:ext cx="406400" cy="406400"/>
          </a:xfrm>
          <a:prstGeom prst="rect">
            <a:avLst/>
          </a:prstGeom>
        </p:spPr>
      </p:pic>
      <p:sp>
        <p:nvSpPr>
          <p:cNvPr id="18" name="AutoShape 18"/>
          <p:cNvSpPr/>
          <p:nvPr/>
        </p:nvSpPr>
        <p:spPr>
          <a:xfrm>
            <a:off x="1587500" y="4391247"/>
            <a:ext cx="4318000" cy="62525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3. Persistent Critical Raw Material Reliance</a:t>
            </a:r>
            <a:endParaRPr lang="en-US" sz="2000" dirty="0"/>
          </a:p>
        </p:txBody>
      </p:sp>
      <p:sp>
        <p:nvSpPr>
          <p:cNvPr id="19" name="AutoShape 19"/>
          <p:cNvSpPr/>
          <p:nvPr/>
        </p:nvSpPr>
        <p:spPr>
          <a:xfrm>
            <a:off x="1016000" y="5101856"/>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0" i="0" u="none" strike="noStrike" dirty="0">
                <a:solidFill>
                  <a:srgbClr val="505050"/>
                </a:solidFill>
                <a:latin typeface="Noto Sans SC"/>
                <a:ea typeface="Noto Sans SC"/>
                <a:cs typeface="Noto Sans SC"/>
                <a:sym typeface="Noto Sans SC"/>
              </a:rPr>
              <a:t>While eliminating cobalt supply risks, the supply chain still heavily depends on imported lithium and graphite. Global geopolitical tensions and lithium price volatility continue to pose upstream production risks.</a:t>
            </a:r>
            <a:endParaRPr lang="en-US" dirty="0"/>
          </a:p>
        </p:txBody>
      </p:sp>
      <p:sp>
        <p:nvSpPr>
          <p:cNvPr id="20" name="AutoShape 20"/>
          <p:cNvSpPr/>
          <p:nvPr/>
        </p:nvSpPr>
        <p:spPr>
          <a:xfrm>
            <a:off x="6223000" y="4318000"/>
            <a:ext cx="5207000" cy="19685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223000" y="4318000"/>
            <a:ext cx="50800" cy="19685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508500"/>
            <a:ext cx="406400" cy="406400"/>
          </a:xfrm>
          <a:prstGeom prst="rect">
            <a:avLst/>
          </a:prstGeom>
        </p:spPr>
      </p:pic>
      <p:sp>
        <p:nvSpPr>
          <p:cNvPr id="23" name="AutoShape 23"/>
          <p:cNvSpPr/>
          <p:nvPr/>
        </p:nvSpPr>
        <p:spPr>
          <a:xfrm>
            <a:off x="7048500" y="447675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4. Eroding First-Mover Advantage</a:t>
            </a:r>
            <a:endParaRPr lang="en-US" sz="2000" dirty="0"/>
          </a:p>
        </p:txBody>
      </p:sp>
      <p:sp>
        <p:nvSpPr>
          <p:cNvPr id="24" name="AutoShape 24"/>
          <p:cNvSpPr/>
          <p:nvPr/>
        </p:nvSpPr>
        <p:spPr>
          <a:xfrm>
            <a:off x="6477000" y="5016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0" i="0" u="none" strike="noStrike" dirty="0">
                <a:solidFill>
                  <a:srgbClr val="505050"/>
                </a:solidFill>
                <a:latin typeface="Noto Sans SC"/>
                <a:ea typeface="Noto Sans SC"/>
                <a:cs typeface="Noto Sans SC"/>
                <a:sym typeface="Noto Sans SC"/>
              </a:rPr>
              <a:t>Competitors including CATL, CALB, and </a:t>
            </a:r>
            <a:r>
              <a:rPr lang="en-US" b="0" i="0" u="none" strike="noStrike" dirty="0" err="1">
                <a:solidFill>
                  <a:srgbClr val="505050"/>
                </a:solidFill>
                <a:latin typeface="Noto Sans SC"/>
                <a:ea typeface="Noto Sans SC"/>
                <a:cs typeface="Noto Sans SC"/>
                <a:sym typeface="Noto Sans SC"/>
              </a:rPr>
              <a:t>Gotion</a:t>
            </a:r>
            <a:r>
              <a:rPr lang="en-US" b="0" i="0" u="none" strike="noStrike" dirty="0">
                <a:solidFill>
                  <a:srgbClr val="505050"/>
                </a:solidFill>
                <a:latin typeface="Noto Sans SC"/>
                <a:ea typeface="Noto Sans SC"/>
                <a:cs typeface="Noto Sans SC"/>
                <a:sym typeface="Noto Sans SC"/>
              </a:rPr>
              <a:t> are rapidly advancing their LFP technologies with similar structural innovations. This intensifying homogenized competition is gradually compressing BYD's unique market moat.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8" grpId="0"/>
      <p:bldP spid="9" grpId="0"/>
      <p:bldP spid="10" grpId="0" animBg="1"/>
      <p:bldP spid="11" grpId="0" animBg="1"/>
      <p:bldP spid="13" grpId="0"/>
      <p:bldP spid="14" grpId="0"/>
      <p:bldP spid="15" grpId="0" animBg="1"/>
      <p:bldP spid="16" grpId="0" animBg="1"/>
      <p:bldP spid="18" grpId="0"/>
      <p:bldP spid="19" grpId="0"/>
      <p:bldP spid="20" grpId="0" animBg="1"/>
      <p:bldP spid="21" grpId="0" animBg="1"/>
      <p:bldP spid="23" grpId="0"/>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Times New Roman"/>
                <a:ea typeface="Times New Roman"/>
                <a:cs typeface="Times New Roman"/>
                <a:sym typeface="Times New Roman"/>
              </a:rPr>
              <a:t>Future Prospects</a:t>
            </a:r>
            <a:endParaRPr lang="en-US" sz="1100"/>
          </a:p>
        </p:txBody>
      </p:sp>
      <p:sp>
        <p:nvSpPr>
          <p:cNvPr id="4" name="AutoShape 4"/>
          <p:cNvSpPr/>
          <p:nvPr/>
        </p:nvSpPr>
        <p:spPr>
          <a:xfrm>
            <a:off x="762000" y="1397000"/>
            <a:ext cx="5207000" cy="4953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50800" cy="4953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651000"/>
            <a:ext cx="355600" cy="355600"/>
          </a:xfrm>
          <a:prstGeom prst="rect">
            <a:avLst/>
          </a:prstGeom>
        </p:spPr>
      </p:pic>
      <p:sp>
        <p:nvSpPr>
          <p:cNvPr id="7" name="AutoShape 7"/>
          <p:cNvSpPr/>
          <p:nvPr/>
        </p:nvSpPr>
        <p:spPr>
          <a:xfrm>
            <a:off x="1460500" y="16383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a:ea typeface="Noto Sans SC"/>
                <a:cs typeface="Noto Sans SC"/>
                <a:sym typeface="Noto Sans SC"/>
              </a:rPr>
              <a:t>01. Technical Advancements Roadmap</a:t>
            </a:r>
            <a:endParaRPr lang="en-US" sz="1100" dirty="0"/>
          </a:p>
        </p:txBody>
      </p:sp>
      <p:cxnSp>
        <p:nvCxnSpPr>
          <p:cNvPr id="8" name="Connector 8"/>
          <p:cNvCxnSpPr/>
          <p:nvPr/>
        </p:nvCxnSpPr>
        <p:spPr>
          <a:xfrm rot="-9291">
            <a:off x="1016009" y="2152650"/>
            <a:ext cx="4699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9" name="AutoShape 9"/>
          <p:cNvSpPr/>
          <p:nvPr/>
        </p:nvSpPr>
        <p:spPr>
          <a:xfrm>
            <a:off x="1016000" y="2349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33333"/>
                </a:solidFill>
                <a:latin typeface="Noto Sans SC"/>
                <a:ea typeface="Noto Sans SC"/>
                <a:cs typeface="Noto Sans SC"/>
                <a:sym typeface="Noto Sans SC"/>
              </a:rPr>
              <a:t>Blade 2.0 &amp; LMFP Integration</a:t>
            </a:r>
            <a:endParaRPr lang="en-US" sz="1100" dirty="0"/>
          </a:p>
          <a:p>
            <a:pPr indent="0" algn="l">
              <a:lnSpc>
                <a:spcPct val="125000"/>
              </a:lnSpc>
            </a:pPr>
            <a:r>
              <a:rPr lang="en-US" sz="1200" b="0" i="0" u="none" strike="noStrike" dirty="0">
                <a:solidFill>
                  <a:srgbClr val="555555"/>
                </a:solidFill>
                <a:latin typeface="Noto Sans SC"/>
                <a:ea typeface="Noto Sans SC"/>
                <a:cs typeface="Noto Sans SC"/>
                <a:sym typeface="Noto Sans SC"/>
              </a:rPr>
              <a:t>Focusing on the widespread adoption of manganese-enhanced LFP chemistry to significantly boost battery energy density and extend driving range capabilities.</a:t>
            </a:r>
          </a:p>
        </p:txBody>
      </p:sp>
      <p:sp>
        <p:nvSpPr>
          <p:cNvPr id="10" name="AutoShape 10"/>
          <p:cNvSpPr/>
          <p:nvPr/>
        </p:nvSpPr>
        <p:spPr>
          <a:xfrm>
            <a:off x="1016000" y="36830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33333"/>
                </a:solidFill>
                <a:latin typeface="Noto Sans SC"/>
                <a:ea typeface="Noto Sans SC"/>
                <a:cs typeface="Noto Sans SC"/>
                <a:sym typeface="Noto Sans SC"/>
              </a:rPr>
              <a:t>Ultra-Fast "FLASH Charging" Revolution</a:t>
            </a:r>
            <a:endParaRPr lang="en-US" sz="1100" dirty="0"/>
          </a:p>
          <a:p>
            <a:pPr indent="0" algn="l">
              <a:lnSpc>
                <a:spcPct val="125000"/>
              </a:lnSpc>
            </a:pPr>
            <a:r>
              <a:rPr lang="en-US" sz="1200" b="0" i="0" u="none" strike="noStrike" dirty="0">
                <a:solidFill>
                  <a:srgbClr val="555555"/>
                </a:solidFill>
                <a:latin typeface="Noto Sans SC"/>
                <a:ea typeface="Noto Sans SC"/>
                <a:cs typeface="Noto Sans SC"/>
                <a:sym typeface="Noto Sans SC"/>
              </a:rPr>
              <a:t>Introduction of a high-capacity charging protocol supporting up to 1,500 kW, drastically reducing charging time and elevating the user convenience experience.</a:t>
            </a:r>
          </a:p>
        </p:txBody>
      </p:sp>
      <p:sp>
        <p:nvSpPr>
          <p:cNvPr id="11" name="AutoShape 11"/>
          <p:cNvSpPr/>
          <p:nvPr/>
        </p:nvSpPr>
        <p:spPr>
          <a:xfrm>
            <a:off x="1016000" y="5016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33333"/>
                </a:solidFill>
                <a:latin typeface="Noto Sans SC"/>
                <a:ea typeface="Noto Sans SC"/>
                <a:cs typeface="Noto Sans SC"/>
                <a:sym typeface="Noto Sans SC"/>
              </a:rPr>
              <a:t>Frontier Material Science Research</a:t>
            </a:r>
            <a:endParaRPr lang="en-US" sz="1100" dirty="0"/>
          </a:p>
          <a:p>
            <a:pPr indent="0" algn="l">
              <a:lnSpc>
                <a:spcPct val="125000"/>
              </a:lnSpc>
            </a:pPr>
            <a:r>
              <a:rPr lang="en-US" sz="1200" b="0" i="0" u="none" strike="noStrike" dirty="0">
                <a:solidFill>
                  <a:srgbClr val="555555"/>
                </a:solidFill>
                <a:latin typeface="Noto Sans SC"/>
                <a:ea typeface="Noto Sans SC"/>
                <a:cs typeface="Noto Sans SC"/>
                <a:sym typeface="Noto Sans SC"/>
              </a:rPr>
              <a:t>Continuous investment in next-gen solid-state electrolyte development and advanced silicon doping techniques to push the boundaries of current performance limits.</a:t>
            </a:r>
          </a:p>
        </p:txBody>
      </p:sp>
      <p:sp>
        <p:nvSpPr>
          <p:cNvPr id="12" name="AutoShape 12"/>
          <p:cNvSpPr/>
          <p:nvPr/>
        </p:nvSpPr>
        <p:spPr>
          <a:xfrm>
            <a:off x="6223000" y="1397000"/>
            <a:ext cx="5207000" cy="4953000"/>
          </a:xfrm>
          <a:prstGeom prst="roundRect">
            <a:avLst>
              <a:gd name="adj" fmla="val 0"/>
            </a:avLst>
          </a:prstGeom>
          <a:solidFill>
            <a:srgbClr val="FFFFFF">
              <a:alpha val="75000"/>
            </a:srgbClr>
          </a:solidFill>
          <a:ln cap="flat" cmpd="sng">
            <a:solidFill>
              <a:srgbClr val="E6CFCF">
                <a:alpha val="75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23000" y="1397000"/>
            <a:ext cx="50800" cy="4953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651000"/>
            <a:ext cx="355600" cy="355600"/>
          </a:xfrm>
          <a:prstGeom prst="rect">
            <a:avLst/>
          </a:prstGeom>
        </p:spPr>
      </p:pic>
      <p:sp>
        <p:nvSpPr>
          <p:cNvPr id="15" name="AutoShape 15"/>
          <p:cNvSpPr/>
          <p:nvPr/>
        </p:nvSpPr>
        <p:spPr>
          <a:xfrm>
            <a:off x="6921500" y="16383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02. Long-Term Geopolitical &amp; Market Strategy</a:t>
            </a:r>
            <a:endParaRPr lang="en-US" sz="1100"/>
          </a:p>
        </p:txBody>
      </p:sp>
      <p:cxnSp>
        <p:nvCxnSpPr>
          <p:cNvPr id="16" name="Connector 16"/>
          <p:cNvCxnSpPr/>
          <p:nvPr/>
        </p:nvCxnSpPr>
        <p:spPr>
          <a:xfrm rot="-9291">
            <a:off x="6477009" y="2152650"/>
            <a:ext cx="4699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7" name="AutoShape 17"/>
          <p:cNvSpPr/>
          <p:nvPr/>
        </p:nvSpPr>
        <p:spPr>
          <a:xfrm>
            <a:off x="6477000" y="2349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33333"/>
                </a:solidFill>
                <a:latin typeface="Noto Sans SC"/>
                <a:ea typeface="Noto Sans SC"/>
                <a:cs typeface="Noto Sans SC"/>
                <a:sym typeface="Noto Sans SC"/>
              </a:rPr>
              <a:t>Deepening Supply Chain Self-Sufficiency</a:t>
            </a:r>
            <a:endParaRPr lang="en-US" sz="1100" dirty="0"/>
          </a:p>
          <a:p>
            <a:pPr indent="0" algn="l">
              <a:lnSpc>
                <a:spcPct val="125000"/>
              </a:lnSpc>
            </a:pPr>
            <a:r>
              <a:rPr lang="en-US" sz="1200" b="0" i="0" u="none" strike="noStrike" dirty="0">
                <a:solidFill>
                  <a:srgbClr val="555555"/>
                </a:solidFill>
                <a:latin typeface="Noto Sans SC"/>
                <a:ea typeface="Noto Sans SC"/>
                <a:cs typeface="Noto Sans SC"/>
                <a:sym typeface="Noto Sans SC"/>
              </a:rPr>
              <a:t>Strategic further vertical integration of the industry ecosystem, exploring state-backed joint ventures to establish localized overseas battery manufacturing gigafactories.</a:t>
            </a:r>
          </a:p>
        </p:txBody>
      </p:sp>
      <p:sp>
        <p:nvSpPr>
          <p:cNvPr id="18" name="AutoShape 18"/>
          <p:cNvSpPr/>
          <p:nvPr/>
        </p:nvSpPr>
        <p:spPr>
          <a:xfrm>
            <a:off x="6477000" y="36830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33333"/>
                </a:solidFill>
                <a:latin typeface="Noto Sans SC"/>
                <a:ea typeface="Noto Sans SC"/>
                <a:cs typeface="Noto Sans SC"/>
                <a:sym typeface="Noto Sans SC"/>
              </a:rPr>
              <a:t>Navigating the Evolving Geopolitical Landscape</a:t>
            </a:r>
            <a:endParaRPr lang="en-US" sz="1100" dirty="0"/>
          </a:p>
          <a:p>
            <a:pPr indent="0" algn="l">
              <a:lnSpc>
                <a:spcPct val="125000"/>
              </a:lnSpc>
            </a:pPr>
            <a:r>
              <a:rPr lang="en-US" sz="1200" b="0" i="0" u="none" strike="noStrike" dirty="0">
                <a:solidFill>
                  <a:srgbClr val="555555"/>
                </a:solidFill>
                <a:latin typeface="Noto Sans SC"/>
                <a:ea typeface="Noto Sans SC"/>
                <a:cs typeface="Noto Sans SC"/>
                <a:sym typeface="Noto Sans SC"/>
              </a:rPr>
              <a:t>Proactive monitoring of policy shifts among U.S. allies regarding LFP technology adoption and preparedness for potential emerging trade frictions in the EV sector.</a:t>
            </a:r>
          </a:p>
        </p:txBody>
      </p:sp>
      <p:sp>
        <p:nvSpPr>
          <p:cNvPr id="19" name="AutoShape 19"/>
          <p:cNvSpPr/>
          <p:nvPr/>
        </p:nvSpPr>
        <p:spPr>
          <a:xfrm>
            <a:off x="6477000" y="5016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33333"/>
                </a:solidFill>
                <a:latin typeface="Noto Sans SC"/>
                <a:ea typeface="Noto Sans SC"/>
                <a:cs typeface="Noto Sans SC"/>
                <a:sym typeface="Noto Sans SC"/>
              </a:rPr>
              <a:t>Elevating Core Competitive Assets</a:t>
            </a:r>
            <a:endParaRPr lang="en-US" sz="1100" dirty="0"/>
          </a:p>
          <a:p>
            <a:pPr indent="0" algn="l">
              <a:lnSpc>
                <a:spcPct val="125000"/>
              </a:lnSpc>
            </a:pPr>
            <a:r>
              <a:rPr lang="en-US" sz="1200" b="0" i="0" u="none" strike="noStrike" dirty="0">
                <a:solidFill>
                  <a:srgbClr val="555555"/>
                </a:solidFill>
                <a:latin typeface="Noto Sans SC"/>
                <a:ea typeface="Noto Sans SC"/>
                <a:cs typeface="Noto Sans SC"/>
                <a:sym typeface="Noto Sans SC"/>
              </a:rPr>
              <a:t>Positioning the Blade Battery platform as a critical strategic asset in an era of tightening global trade barriers, ensuring long-term technological leverage and industry security.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10" grpId="0"/>
      <p:bldP spid="11" grpId="0"/>
      <p:bldP spid="12" grpId="0" animBg="1"/>
      <p:bldP spid="13" grpId="0" animBg="1"/>
      <p:bldP spid="15" grpId="0"/>
      <p:bldP spid="17" grpId="0"/>
      <p:bldP spid="18"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Times New Roman"/>
                <a:ea typeface="Times New Roman"/>
                <a:cs typeface="Times New Roman"/>
                <a:sym typeface="Times New Roman"/>
              </a:rPr>
              <a:t>Conclusion</a:t>
            </a:r>
            <a:endParaRPr lang="en-US" sz="1100" dirty="0"/>
          </a:p>
        </p:txBody>
      </p:sp>
      <p:sp>
        <p:nvSpPr>
          <p:cNvPr id="4" name="AutoShape 4"/>
          <p:cNvSpPr/>
          <p:nvPr/>
        </p:nvSpPr>
        <p:spPr>
          <a:xfrm>
            <a:off x="762000" y="1270000"/>
            <a:ext cx="10668000" cy="762000"/>
          </a:xfrm>
          <a:prstGeom prst="roundRect">
            <a:avLst>
              <a:gd name="adj" fmla="val 0"/>
            </a:avLst>
          </a:prstGeom>
          <a:solidFill>
            <a:srgbClr val="333333">
              <a:alpha val="4000"/>
            </a:srgbClr>
          </a:solidFill>
          <a:ln cap="flat" cmpd="sng">
            <a:solidFill>
              <a:srgbClr val="1A1717">
                <a:alpha val="4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270000"/>
            <a:ext cx="50800" cy="762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333500"/>
            <a:ext cx="10350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The Blade Battery is not merely a technological innovation, but a landmark achievement in China's strategic move toward full independence in the global electric vehicle supply chain.</a:t>
            </a:r>
            <a:endParaRPr lang="en-US" sz="1100"/>
          </a:p>
        </p:txBody>
      </p:sp>
      <p:sp>
        <p:nvSpPr>
          <p:cNvPr id="7" name="AutoShape 7"/>
          <p:cNvSpPr/>
          <p:nvPr/>
        </p:nvSpPr>
        <p:spPr>
          <a:xfrm>
            <a:off x="762000" y="2286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333333"/>
                </a:solidFill>
                <a:latin typeface="Noto Sans SC"/>
                <a:ea typeface="Noto Sans SC"/>
                <a:cs typeface="Noto Sans SC"/>
                <a:sym typeface="Noto Sans SC"/>
              </a:rPr>
              <a:t>Critical Strategic Takeaways Analysis</a:t>
            </a:r>
            <a:endParaRPr lang="en-US" sz="1100" dirty="0"/>
          </a:p>
        </p:txBody>
      </p:sp>
      <p:sp>
        <p:nvSpPr>
          <p:cNvPr id="8" name="AutoShape 8"/>
          <p:cNvSpPr/>
          <p:nvPr/>
        </p:nvSpPr>
        <p:spPr>
          <a:xfrm>
            <a:off x="762000" y="2794000"/>
            <a:ext cx="3429000" cy="2286000"/>
          </a:xfrm>
          <a:prstGeom prst="roundRect">
            <a:avLst>
              <a:gd name="adj" fmla="val 0"/>
            </a:avLst>
          </a:prstGeom>
          <a:solidFill>
            <a:srgbClr val="FFFFFF">
              <a:alpha val="70000"/>
            </a:srgbClr>
          </a:solidFill>
          <a:ln w="12700" cap="flat" cmpd="sng">
            <a:solidFill>
              <a:srgbClr val="333333">
                <a:alpha val="1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984500"/>
            <a:ext cx="406400" cy="406400"/>
          </a:xfrm>
          <a:prstGeom prst="rect">
            <a:avLst/>
          </a:prstGeom>
        </p:spPr>
      </p:pic>
      <p:sp>
        <p:nvSpPr>
          <p:cNvPr id="10" name="AutoShape 10"/>
          <p:cNvSpPr/>
          <p:nvPr/>
        </p:nvSpPr>
        <p:spPr>
          <a:xfrm>
            <a:off x="1460500" y="29972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Blunting External Sanctions</a:t>
            </a:r>
            <a:endParaRPr lang="en-US" sz="1100"/>
          </a:p>
        </p:txBody>
      </p:sp>
      <p:sp>
        <p:nvSpPr>
          <p:cNvPr id="11" name="AutoShape 11"/>
          <p:cNvSpPr/>
          <p:nvPr/>
        </p:nvSpPr>
        <p:spPr>
          <a:xfrm>
            <a:off x="952500" y="34925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55555"/>
                </a:solidFill>
                <a:latin typeface="Noto Sans SC"/>
                <a:ea typeface="Noto Sans SC"/>
                <a:cs typeface="Noto Sans SC"/>
                <a:sym typeface="Noto Sans SC"/>
              </a:rPr>
              <a:t>Concentrated domestic innovation in LFP materials has created a globally competitive product ecosystem, successfully mitigating the impact of U.S. tech blockades and reducing foreign dependency.</a:t>
            </a:r>
            <a:endParaRPr lang="en-US" sz="1100"/>
          </a:p>
        </p:txBody>
      </p:sp>
      <p:sp>
        <p:nvSpPr>
          <p:cNvPr id="12" name="AutoShape 12"/>
          <p:cNvSpPr/>
          <p:nvPr/>
        </p:nvSpPr>
        <p:spPr>
          <a:xfrm>
            <a:off x="4381500" y="2794000"/>
            <a:ext cx="3429000" cy="2286000"/>
          </a:xfrm>
          <a:prstGeom prst="roundRect">
            <a:avLst>
              <a:gd name="adj" fmla="val 0"/>
            </a:avLst>
          </a:prstGeom>
          <a:solidFill>
            <a:srgbClr val="FFFFFF">
              <a:alpha val="70000"/>
            </a:srgbClr>
          </a:solidFill>
          <a:ln w="12700" cap="flat" cmpd="sng">
            <a:solidFill>
              <a:srgbClr val="333333">
                <a:alpha val="1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984500"/>
            <a:ext cx="406400" cy="406400"/>
          </a:xfrm>
          <a:prstGeom prst="rect">
            <a:avLst/>
          </a:prstGeom>
        </p:spPr>
      </p:pic>
      <p:sp>
        <p:nvSpPr>
          <p:cNvPr id="14" name="AutoShape 14"/>
          <p:cNvSpPr/>
          <p:nvPr/>
        </p:nvSpPr>
        <p:spPr>
          <a:xfrm>
            <a:off x="5080000" y="29972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Breaking Supply Monopolies</a:t>
            </a:r>
            <a:endParaRPr lang="en-US" sz="1100"/>
          </a:p>
        </p:txBody>
      </p:sp>
      <p:sp>
        <p:nvSpPr>
          <p:cNvPr id="15" name="AutoShape 15"/>
          <p:cNvSpPr/>
          <p:nvPr/>
        </p:nvSpPr>
        <p:spPr>
          <a:xfrm>
            <a:off x="4572000" y="34925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555555"/>
                </a:solidFill>
                <a:latin typeface="Noto Sans SC"/>
                <a:ea typeface="Noto Sans SC"/>
                <a:cs typeface="Noto Sans SC"/>
                <a:sym typeface="Noto Sans SC"/>
              </a:rPr>
              <a:t>The project exemplifies how to "break the chain" of supply-side restrictions. By substituting critical foreign components with high-quality homegrown alternatives, it ensures industrial security and resilience.</a:t>
            </a:r>
            <a:endParaRPr lang="en-US" sz="1100" dirty="0"/>
          </a:p>
        </p:txBody>
      </p:sp>
      <p:sp>
        <p:nvSpPr>
          <p:cNvPr id="16" name="AutoShape 16"/>
          <p:cNvSpPr/>
          <p:nvPr/>
        </p:nvSpPr>
        <p:spPr>
          <a:xfrm>
            <a:off x="8001000" y="2794000"/>
            <a:ext cx="3429000" cy="2286000"/>
          </a:xfrm>
          <a:prstGeom prst="roundRect">
            <a:avLst>
              <a:gd name="adj" fmla="val 0"/>
            </a:avLst>
          </a:prstGeom>
          <a:solidFill>
            <a:srgbClr val="FFFFFF">
              <a:alpha val="70000"/>
            </a:srgbClr>
          </a:solidFill>
          <a:ln w="12700" cap="flat" cmpd="sng">
            <a:solidFill>
              <a:srgbClr val="333333">
                <a:alpha val="1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2984500"/>
            <a:ext cx="406400" cy="406400"/>
          </a:xfrm>
          <a:prstGeom prst="rect">
            <a:avLst/>
          </a:prstGeom>
        </p:spPr>
      </p:pic>
      <p:sp>
        <p:nvSpPr>
          <p:cNvPr id="18" name="AutoShape 18"/>
          <p:cNvSpPr/>
          <p:nvPr/>
        </p:nvSpPr>
        <p:spPr>
          <a:xfrm>
            <a:off x="8699500" y="29972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33333"/>
                </a:solidFill>
                <a:latin typeface="Noto Sans SC"/>
                <a:ea typeface="Noto Sans SC"/>
                <a:cs typeface="Noto Sans SC"/>
                <a:sym typeface="Noto Sans SC"/>
              </a:rPr>
              <a:t>Path to Technological Autarky</a:t>
            </a:r>
            <a:endParaRPr lang="en-US" sz="1100" dirty="0"/>
          </a:p>
        </p:txBody>
      </p:sp>
      <p:sp>
        <p:nvSpPr>
          <p:cNvPr id="22" name="AutoShape 15">
            <a:extLst>
              <a:ext uri="{FF2B5EF4-FFF2-40B4-BE49-F238E27FC236}">
                <a16:creationId xmlns:a16="http://schemas.microsoft.com/office/drawing/2014/main" id="{D9C6CE4C-E10A-0668-D5B8-6C445BA07C26}"/>
              </a:ext>
            </a:extLst>
          </p:cNvPr>
          <p:cNvSpPr/>
          <p:nvPr/>
        </p:nvSpPr>
        <p:spPr>
          <a:xfrm>
            <a:off x="8680450" y="3308202"/>
            <a:ext cx="2667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555555"/>
                </a:solidFill>
                <a:latin typeface="Noto Sans SC"/>
                <a:ea typeface="Noto Sans SC"/>
                <a:cs typeface="Noto Sans SC"/>
                <a:sym typeface="Noto Sans SC"/>
              </a:rPr>
              <a:t>The case underscores a broader lesson: technological autarky, achieved through vertical integration and local R&amp;D, can turn sanctions into motivation for self-reliance.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p:bldP spid="7" grpId="0"/>
      <p:bldP spid="8" grpId="0" animBg="1"/>
      <p:bldP spid="10" grpId="0"/>
      <p:bldP spid="11" grpId="0"/>
      <p:bldP spid="12" grpId="0" animBg="1"/>
      <p:bldP spid="14" grpId="0"/>
      <p:bldP spid="15" grpId="0"/>
      <p:bldP spid="16" grpId="0" animBg="1"/>
      <p:bldP spid="18" grpId="0"/>
      <p:bldP spid="22" grpId="0"/>
    </p:bldLst>
  </p:timing>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3508</Words>
  <Application>Microsoft Office PowerPoint</Application>
  <PresentationFormat>宽屏</PresentationFormat>
  <Paragraphs>228</Paragraphs>
  <Slides>16</Slides>
  <Notes>16</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16</vt:i4>
      </vt:variant>
    </vt:vector>
  </HeadingPairs>
  <TitlesOfParts>
    <vt:vector size="21" baseType="lpstr">
      <vt:lpstr>Noto Sans SC</vt:lpstr>
      <vt:lpstr>Arial</vt:lpstr>
      <vt:lpstr>Times New Roman</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9319727@qq.com</cp:lastModifiedBy>
  <cp:revision>9</cp:revision>
  <dcterms:modified xsi:type="dcterms:W3CDTF">2026-06-15T10:57:13Z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{"Label":"1","ContentProducer":"001191110102MACQD9K64010000","ProduceID":"7651143720151370725","ReservedCode1":"","ContentPropagator":"","PropagateID":"","ReservedCode2":""}</vt:lpwstr>
  </property>
</Properties>
</file>