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7" r:id="rId6"/>
    <p:sldId id="262" r:id="rId7"/>
    <p:sldId id="263" r:id="rId8"/>
    <p:sldId id="268" r:id="rId9"/>
    <p:sldId id="270" r:id="rId10"/>
    <p:sldId id="271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000"/>
    <a:srgbClr val="E5E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0" d="100"/>
          <a:sy n="90" d="100"/>
        </p:scale>
        <p:origin x="7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59DA6-3086-4DA6-A75A-987AA577D45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46871-75FC-445D-A45A-452AC4C242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25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46871-75FC-445D-A45A-452AC4C242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366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93CF-C7D9-E975-4138-6F414608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39200D-6CCF-90A8-EE41-1660C6519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2AA28A-B5CB-3FC8-D1F5-2C1FB2A1D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228120-C8A4-C780-46AF-F9FA377BC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46871-75FC-445D-A45A-452AC4C242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353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46871-75FC-445D-A45A-452AC4C242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39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89C12-AC6A-2FB0-50FE-4EC671BA6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F88F73-9E25-AAD8-CBDC-A62418C99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EA5B1-C8FC-D33D-AE89-969448F6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BE8C97-4438-14D1-5381-13FA07C4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C5D45E-465C-6F4E-41E3-4FF8CC75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76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03504-3E44-96AD-FA6A-E1416362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45ACB6-504C-7EE9-E129-592815C2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C63206-201A-8A01-F1B1-E52BCA3D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0EB584-6F29-5B51-ABB8-B14CEE2F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EDED6-08E4-0F5A-8A25-150161C0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98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B63A0-293E-FD0C-7DC2-C4E96CB6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C414F1-379D-AE60-C872-74D2293F3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08426F-0B96-74EF-6B24-511BF8294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29BE3-5393-52EC-503B-1C88FB45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5F420-72AA-CDE9-6CD1-639DAD30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20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489F5-8A16-E9CA-C49E-060EDCF9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E41065-D0B6-8D07-07F0-790BF6519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AC256E-F320-84B6-E79E-6CDBCD9AB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1124FC-972D-3591-B0FA-A3A627C7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D7DE66-010D-0761-13FD-CE8FA5EA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2450FA-AFD1-95AD-A4DE-5C94FDF8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40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74E3F-A835-5966-E172-E4612631E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5161FC-DE1F-3070-F166-6233B3977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50AD47-C94D-A2F5-747F-579419C5E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DC2153-9E7D-F611-3C9E-5F6B66918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CEBBC0-A046-33A9-036A-C3589FEE9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E7A805-576E-A256-A828-1BB1228A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4F6147-80E0-AA6C-789F-10C20569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95F738-5159-8537-0550-D41E742B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0F17D-9D70-0D8F-864A-F66A5EC7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6508ED-AE45-49D4-3BF8-209F07F11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FCE61F-2152-63FA-17FC-FE1C0E163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66C6D8-724A-0867-6A4D-E449255D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61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5C4326-5115-2186-97FC-FD8A7F70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84BE2E-1B34-78F8-006C-B83A5CBC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CD5FF-C6C7-B5CC-14E1-04079E8A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91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38DAD-0A0F-A34F-EF9B-CBFE55F0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DD2358-B307-C6AF-3BEF-05175B8C5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8A2AE1-2020-C1F1-4B49-AC9839D2C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32DA31-A901-28A0-3748-B64175BA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24A913-73B1-2E7F-2752-97BE8618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80A709-B2BE-D200-CB2F-99F45720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13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E924A-8C10-2875-4E41-D6E2906E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39C3A9-B803-54D9-5D87-58CE71CC5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9E5845-B648-40DA-FF99-C4E62A483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1B3A0B-1318-328D-2A23-A02ECE148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F1F3ED-D6ED-BA6E-596F-AC221E34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83E9C5-7428-DE64-1312-A0B2757C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09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A08DF-828E-CB32-7CA3-5E6649DF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D935F8-2B0B-2B4C-F85C-91E20AAE7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AAF3C2-03B6-BE09-2532-8C4F25DB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81BD4-C359-5E03-6149-CDB78A71B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44156-EC49-52F7-BC08-4043E242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32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76F34B-FE9A-59E5-D1FE-6789AB83B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C79C3C-2ABD-6F95-54FF-3CFC65AAC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48C88C-E400-B2A5-38AD-1186D8F0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152AEF-BB7E-ABED-C6C6-B0BB7C11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96209-7A51-ECA8-C179-7626319F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66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9BD91B-7322-31DB-704F-5EFD4F8D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2A6BCA-9982-3FF3-0649-4540B2D81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AD5EBB-DF44-F675-D502-615E5992F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78395-B7B3-4971-8E20-667D7EB3AE00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41D67B-F5A3-29A2-10F6-77AC99E3F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57D6F7-B26B-AA5D-757A-3A58206EC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CE764-3555-4F39-8FA2-4DB1CC5B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85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zhida.zhihu.com/search?content_id=255715331&amp;content_type=Article&amp;match_order=1&amp;q=ResNet&amp;zhida_source=entity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C8C7A-7B33-4CD6-440E-1EB726F15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249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39FC9B-A84F-AB50-1402-FC9C923A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AB379055-61CC-29E5-C2CA-7CB3AD31F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FD23F51-3720-E62E-D846-5C37B734EF03}"/>
              </a:ext>
            </a:extLst>
          </p:cNvPr>
          <p:cNvSpPr/>
          <p:nvPr/>
        </p:nvSpPr>
        <p:spPr>
          <a:xfrm>
            <a:off x="292099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F9A853-E402-1E4D-AF2C-AFC968969617}"/>
              </a:ext>
            </a:extLst>
          </p:cNvPr>
          <p:cNvSpPr txBox="1"/>
          <p:nvPr/>
        </p:nvSpPr>
        <p:spPr>
          <a:xfrm>
            <a:off x="4605866" y="4335565"/>
            <a:ext cx="2980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自动化</a:t>
            </a:r>
            <a:r>
              <a:rPr lang="en-US" altLang="zh-CN" sz="2400" b="1" dirty="0">
                <a:latin typeface="得意黑" pitchFamily="2" charset="-122"/>
                <a:ea typeface="得意黑" pitchFamily="2" charset="-122"/>
              </a:rPr>
              <a:t>2501</a:t>
            </a:r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班</a:t>
            </a:r>
            <a:endParaRPr lang="en-US" altLang="zh-CN" sz="2400" b="1" dirty="0">
              <a:latin typeface="得意黑" pitchFamily="2" charset="-122"/>
              <a:ea typeface="得意黑" pitchFamily="2" charset="-122"/>
            </a:endParaRPr>
          </a:p>
          <a:p>
            <a:pPr algn="ctr"/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莫天皓  </a:t>
            </a:r>
            <a:r>
              <a:rPr lang="en-US" altLang="zh-CN" sz="2400" b="1" dirty="0">
                <a:latin typeface="得意黑" pitchFamily="2" charset="-122"/>
                <a:ea typeface="得意黑" pitchFamily="2" charset="-122"/>
              </a:rPr>
              <a:t>1120253612</a:t>
            </a:r>
            <a:endParaRPr lang="zh-CN" altLang="en-US" sz="24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31BB95-3CBE-EA9F-2225-B1F71CE2014F}"/>
              </a:ext>
            </a:extLst>
          </p:cNvPr>
          <p:cNvSpPr txBox="1"/>
          <p:nvPr/>
        </p:nvSpPr>
        <p:spPr>
          <a:xfrm>
            <a:off x="1803399" y="2075638"/>
            <a:ext cx="858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9600" dirty="0">
                <a:latin typeface="得意黑" pitchFamily="2" charset="-122"/>
                <a:ea typeface="得意黑" pitchFamily="2" charset="-122"/>
              </a:rPr>
              <a:t>残差网络</a:t>
            </a:r>
          </a:p>
        </p:txBody>
      </p:sp>
    </p:spTree>
    <p:extLst>
      <p:ext uri="{BB962C8B-B14F-4D97-AF65-F5344CB8AC3E}">
        <p14:creationId xmlns:p14="http://schemas.microsoft.com/office/powerpoint/2010/main" val="405216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6108B-24BE-823A-40AB-9CC3F380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6D594-9502-1397-DB46-5D859D93F1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1EFB6D-19F4-4CDF-2939-2B36F49BB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29374276-1618-935A-11C8-B52E93CA7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8A5B4D6-B317-8763-2B75-D4FCB7515580}"/>
              </a:ext>
            </a:extLst>
          </p:cNvPr>
          <p:cNvSpPr/>
          <p:nvPr/>
        </p:nvSpPr>
        <p:spPr>
          <a:xfrm>
            <a:off x="292099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7C5DFC2-F5F2-782F-D76E-FFB69D8C5278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F03E07E-0186-1619-DB95-0BEB37A81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6" y="1122363"/>
            <a:ext cx="6689204" cy="221403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BC02ABE-0B6F-E760-92B3-395D82D061F1}"/>
              </a:ext>
            </a:extLst>
          </p:cNvPr>
          <p:cNvSpPr txBox="1"/>
          <p:nvPr/>
        </p:nvSpPr>
        <p:spPr>
          <a:xfrm>
            <a:off x="1210733" y="383957"/>
            <a:ext cx="1456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0.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概述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A29CA0-AEBC-EE71-C111-003AC37E3883}"/>
              </a:ext>
            </a:extLst>
          </p:cNvPr>
          <p:cNvSpPr txBox="1"/>
          <p:nvPr/>
        </p:nvSpPr>
        <p:spPr>
          <a:xfrm>
            <a:off x="8012114" y="1122363"/>
            <a:ext cx="38877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残差网络（</a:t>
            </a:r>
            <a:r>
              <a:rPr lang="en-US" altLang="zh-CN" sz="2400" b="1" dirty="0" err="1">
                <a:latin typeface="得意黑" pitchFamily="2" charset="-122"/>
                <a:ea typeface="得意黑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ResNet</a:t>
            </a:r>
            <a:r>
              <a:rPr lang="en-US" altLang="zh-CN" sz="2400" b="1" dirty="0">
                <a:latin typeface="得意黑" pitchFamily="2" charset="-122"/>
                <a:ea typeface="得意黑" pitchFamily="2" charset="-122"/>
              </a:rPr>
              <a:t>, Residual Network</a:t>
            </a:r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）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由 何恺明（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Kaiming He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） 等人于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2015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年 在微软亚洲研究院（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Microsoft Research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）提出。第一篇论文中说明了其是一种有效的可以训练更深的网络的方法，并介绍它的基本架构。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在第二篇论文中，他们使用数学的公式和方法从理论方面说明了</a:t>
            </a:r>
            <a:r>
              <a:rPr lang="en-US" altLang="zh-CN" sz="24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en-US" altLang="zh-CN" dirty="0">
                <a:latin typeface="得意黑" pitchFamily="2" charset="-122"/>
                <a:ea typeface="得意黑" pitchFamily="2" charset="-122"/>
              </a:rPr>
              <a:t>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中跳跃链接和恒等映射的重要性，同时论证了</a:t>
            </a:r>
            <a:r>
              <a:rPr lang="en-US" altLang="zh-CN" sz="24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的高效性。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88A21C6-6A4A-0C97-F62F-A3E5CECF4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268" y="3852239"/>
            <a:ext cx="6689203" cy="172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D382C-0B63-4DCF-3E8B-988C1C754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04F0A-45C7-0C59-89C1-3C0BED50B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89DA0D-046D-F430-F7DC-C59366F637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D5686DC7-C659-410A-8D2C-DB35C8526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DF84B7E8-720E-F438-8BD0-65C7C7FD4EC2}"/>
              </a:ext>
            </a:extLst>
          </p:cNvPr>
          <p:cNvSpPr/>
          <p:nvPr/>
        </p:nvSpPr>
        <p:spPr>
          <a:xfrm>
            <a:off x="292099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8417CB8-3324-DA77-328C-CAABE05AE537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5C19C37-127F-C9A4-5E00-10CBC9EF4126}"/>
              </a:ext>
            </a:extLst>
          </p:cNvPr>
          <p:cNvSpPr txBox="1"/>
          <p:nvPr/>
        </p:nvSpPr>
        <p:spPr>
          <a:xfrm>
            <a:off x="1210732" y="383957"/>
            <a:ext cx="4783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1.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研究背景以及核心问题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D181B1-D0CB-DFB1-7A49-C553A01DAEAE}"/>
              </a:ext>
            </a:extLst>
          </p:cNvPr>
          <p:cNvSpPr txBox="1"/>
          <p:nvPr/>
        </p:nvSpPr>
        <p:spPr>
          <a:xfrm>
            <a:off x="1023939" y="2813618"/>
            <a:ext cx="503872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目前困境</a:t>
            </a:r>
            <a:r>
              <a:rPr lang="zh-CN" altLang="en-US" sz="2800" b="1" dirty="0">
                <a:latin typeface="得意黑" pitchFamily="2" charset="-122"/>
                <a:ea typeface="得意黑" pitchFamily="2" charset="-122"/>
              </a:rPr>
              <a:t>：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但是随着网络深度的增加，会出现梯度消失的问题。这种下降并非由过拟合引起，因为连训练误差也会随之增加。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6609B1-59F4-1891-58C1-FE6EDA8BE7D3}"/>
              </a:ext>
            </a:extLst>
          </p:cNvPr>
          <p:cNvSpPr txBox="1"/>
          <p:nvPr/>
        </p:nvSpPr>
        <p:spPr>
          <a:xfrm>
            <a:off x="1066800" y="1377950"/>
            <a:ext cx="51689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研究目的</a:t>
            </a:r>
            <a:r>
              <a:rPr lang="zh-CN" altLang="en-US" sz="2800" b="1" dirty="0">
                <a:latin typeface="得意黑" pitchFamily="2" charset="-122"/>
                <a:ea typeface="得意黑" pitchFamily="2" charset="-122"/>
              </a:rPr>
              <a:t>：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训练更深的网络，可以集成更多更细致的特征，从而拥有更强的表达能力。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9FAFCB-4FA1-CB60-B2EC-2E2E4F5537CC}"/>
              </a:ext>
            </a:extLst>
          </p:cNvPr>
          <p:cNvSpPr txBox="1"/>
          <p:nvPr/>
        </p:nvSpPr>
        <p:spPr>
          <a:xfrm>
            <a:off x="1057276" y="4700393"/>
            <a:ext cx="503872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解决方法</a:t>
            </a:r>
            <a:r>
              <a:rPr lang="zh-CN" altLang="en-US" sz="2800" b="1" dirty="0">
                <a:latin typeface="得意黑" pitchFamily="2" charset="-122"/>
                <a:ea typeface="得意黑" pitchFamily="2" charset="-122"/>
              </a:rPr>
              <a:t>：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构造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shortcut connection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和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identity mapping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，引入残差链接来实现更深层的网络。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6A51D47-ADE3-45C8-0172-70895CDB46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119"/>
          <a:stretch>
            <a:fillRect/>
          </a:stretch>
        </p:blipFill>
        <p:spPr>
          <a:xfrm>
            <a:off x="7408180" y="1364882"/>
            <a:ext cx="3135995" cy="213954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292C543-EE30-BF8F-2C66-33853F193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180" y="3533686"/>
            <a:ext cx="3135995" cy="222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97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B8CAE-4DE1-1682-3651-0D3474FC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CCD1B-5300-D45B-100E-EA4A09D286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676989-D222-4E08-DDA9-BCFAC62FDE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0C682F74-970E-5764-D10C-2210ACFC2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EC4DC74-4C3A-F417-7748-D73CF33DFB98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9F746C4-5878-AAEF-AC0C-2F36B5A538CA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426B9C5-B9DD-7294-AB74-B3AB76FEED6E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2.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研究方法</a:t>
            </a:r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——Deep Residual Learning framework</a:t>
            </a:r>
            <a:endParaRPr lang="zh-CN" altLang="en-US" sz="36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ED9053-2145-4C7F-D031-D1C7755B0DDB}"/>
              </a:ext>
            </a:extLst>
          </p:cNvPr>
          <p:cNvSpPr/>
          <p:nvPr/>
        </p:nvSpPr>
        <p:spPr>
          <a:xfrm>
            <a:off x="4943046" y="2528827"/>
            <a:ext cx="1594713" cy="4754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权重层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40EE08D-FFD7-8361-EC4E-A634A607DDF5}"/>
              </a:ext>
            </a:extLst>
          </p:cNvPr>
          <p:cNvCxnSpPr/>
          <p:nvPr/>
        </p:nvCxnSpPr>
        <p:spPr>
          <a:xfrm>
            <a:off x="5761570" y="1911745"/>
            <a:ext cx="0" cy="637954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FE24FEA6-A815-E3C4-4EB1-163F98367680}"/>
              </a:ext>
            </a:extLst>
          </p:cNvPr>
          <p:cNvSpPr/>
          <p:nvPr/>
        </p:nvSpPr>
        <p:spPr>
          <a:xfrm>
            <a:off x="4964212" y="3614299"/>
            <a:ext cx="1594713" cy="4754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权重层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E4515AA-6E07-2049-E14F-6F7D02D5CE31}"/>
              </a:ext>
            </a:extLst>
          </p:cNvPr>
          <p:cNvCxnSpPr/>
          <p:nvPr/>
        </p:nvCxnSpPr>
        <p:spPr>
          <a:xfrm>
            <a:off x="5761568" y="3004315"/>
            <a:ext cx="0" cy="637954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D5FADAC-8A6F-947C-ECCB-E7C6B693FD7E}"/>
              </a:ext>
            </a:extLst>
          </p:cNvPr>
          <p:cNvCxnSpPr/>
          <p:nvPr/>
        </p:nvCxnSpPr>
        <p:spPr>
          <a:xfrm>
            <a:off x="5761568" y="4089787"/>
            <a:ext cx="0" cy="637954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85026E98-E1B7-F539-EF4E-F79E03FCB97D}"/>
              </a:ext>
            </a:extLst>
          </p:cNvPr>
          <p:cNvSpPr/>
          <p:nvPr/>
        </p:nvSpPr>
        <p:spPr>
          <a:xfrm>
            <a:off x="5427138" y="4727741"/>
            <a:ext cx="668862" cy="6688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+</a:t>
            </a:r>
            <a:endParaRPr lang="zh-CN" altLang="en-US" sz="4000" b="1" dirty="0">
              <a:solidFill>
                <a:schemeClr val="tx1"/>
              </a:solidFill>
              <a:latin typeface="得意黑" pitchFamily="2" charset="-122"/>
              <a:ea typeface="得意黑" pitchFamily="2" charset="-122"/>
            </a:endParaRP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988AC734-9F04-38E2-4CCE-806B1B592AEB}"/>
              </a:ext>
            </a:extLst>
          </p:cNvPr>
          <p:cNvCxnSpPr>
            <a:cxnSpLocks/>
            <a:stCxn id="58" idx="6"/>
            <a:endCxn id="16" idx="6"/>
          </p:cNvCxnSpPr>
          <p:nvPr/>
        </p:nvCxnSpPr>
        <p:spPr>
          <a:xfrm>
            <a:off x="6096000" y="1569846"/>
            <a:ext cx="12700" cy="3492326"/>
          </a:xfrm>
          <a:prstGeom prst="bentConnector3">
            <a:avLst>
              <a:gd name="adj1" fmla="val 14970591"/>
            </a:avLst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椭圆 57">
            <a:extLst>
              <a:ext uri="{FF2B5EF4-FFF2-40B4-BE49-F238E27FC236}">
                <a16:creationId xmlns:a16="http://schemas.microsoft.com/office/drawing/2014/main" id="{7A01A2F0-0346-7418-2728-3DD2F749F5A7}"/>
              </a:ext>
            </a:extLst>
          </p:cNvPr>
          <p:cNvSpPr/>
          <p:nvPr/>
        </p:nvSpPr>
        <p:spPr>
          <a:xfrm>
            <a:off x="5427138" y="1235415"/>
            <a:ext cx="668862" cy="6688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X</a:t>
            </a:r>
            <a:endParaRPr lang="zh-CN" altLang="en-US" sz="4000" b="1" dirty="0">
              <a:solidFill>
                <a:schemeClr val="tx1"/>
              </a:solidFill>
              <a:latin typeface="得意黑" pitchFamily="2" charset="-122"/>
              <a:ea typeface="得意黑" pitchFamily="2" charset="-122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B8EA247-5F4E-DBCC-F4D2-913AF5B9865D}"/>
              </a:ext>
            </a:extLst>
          </p:cNvPr>
          <p:cNvCxnSpPr>
            <a:cxnSpLocks/>
          </p:cNvCxnSpPr>
          <p:nvPr/>
        </p:nvCxnSpPr>
        <p:spPr>
          <a:xfrm flipH="1">
            <a:off x="5741564" y="5396603"/>
            <a:ext cx="11560" cy="473758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B77E9273-A580-CA56-10BF-C211236BE8FA}"/>
              </a:ext>
            </a:extLst>
          </p:cNvPr>
          <p:cNvSpPr txBox="1"/>
          <p:nvPr/>
        </p:nvSpPr>
        <p:spPr>
          <a:xfrm>
            <a:off x="4972014" y="5535406"/>
            <a:ext cx="298151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得意黑" pitchFamily="2" charset="-122"/>
                <a:ea typeface="得意黑" pitchFamily="2" charset="-122"/>
              </a:rPr>
              <a:t>最终结果</a:t>
            </a:r>
            <a:r>
              <a:rPr lang="en-US" altLang="zh-CN" sz="4000" dirty="0">
                <a:latin typeface="得意黑" pitchFamily="2" charset="-122"/>
                <a:ea typeface="得意黑" pitchFamily="2" charset="-122"/>
              </a:rPr>
              <a:t>H(X)=F(X)+X</a:t>
            </a:r>
            <a:endParaRPr lang="zh-CN" altLang="en-US" sz="4000" dirty="0">
              <a:latin typeface="得意黑" pitchFamily="2" charset="-122"/>
              <a:ea typeface="得意黑" pitchFamily="2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B545F807-AA6D-E9B0-0743-1ABBCAC4403F}"/>
              </a:ext>
            </a:extLst>
          </p:cNvPr>
          <p:cNvCxnSpPr>
            <a:cxnSpLocks/>
          </p:cNvCxnSpPr>
          <p:nvPr/>
        </p:nvCxnSpPr>
        <p:spPr>
          <a:xfrm>
            <a:off x="4512238" y="1561186"/>
            <a:ext cx="861616" cy="8660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CDBAAFE6-5ECE-93C3-C975-DDD7D76DFB85}"/>
              </a:ext>
            </a:extLst>
          </p:cNvPr>
          <p:cNvSpPr txBox="1"/>
          <p:nvPr/>
        </p:nvSpPr>
        <p:spPr>
          <a:xfrm>
            <a:off x="7863647" y="3032909"/>
            <a:ext cx="10494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得意黑" pitchFamily="2" charset="-122"/>
                <a:ea typeface="得意黑" pitchFamily="2" charset="-122"/>
              </a:rPr>
              <a:t>X</a:t>
            </a:r>
          </a:p>
          <a:p>
            <a:pPr algn="ctr"/>
            <a:r>
              <a:rPr lang="zh-CN" altLang="en-US" sz="1600" dirty="0">
                <a:latin typeface="得意黑" pitchFamily="2" charset="-122"/>
                <a:ea typeface="得意黑" pitchFamily="2" charset="-122"/>
              </a:rPr>
              <a:t>恒等链接</a:t>
            </a:r>
            <a:r>
              <a:rPr lang="en-US" altLang="zh-CN" sz="1600" dirty="0">
                <a:latin typeface="得意黑" pitchFamily="2" charset="-122"/>
                <a:ea typeface="得意黑" pitchFamily="2" charset="-122"/>
              </a:rPr>
              <a:t> </a:t>
            </a:r>
            <a:endParaRPr lang="zh-CN" altLang="en-US" sz="1600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C8F3C24-6189-B755-6E59-C2B46423BF87}"/>
              </a:ext>
            </a:extLst>
          </p:cNvPr>
          <p:cNvSpPr txBox="1"/>
          <p:nvPr/>
        </p:nvSpPr>
        <p:spPr>
          <a:xfrm>
            <a:off x="2403246" y="1196391"/>
            <a:ext cx="2265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得意黑" pitchFamily="2" charset="-122"/>
                <a:ea typeface="得意黑" pitchFamily="2" charset="-122"/>
              </a:rPr>
              <a:t>浅层网络学习的成果  </a:t>
            </a:r>
            <a:r>
              <a:rPr lang="en-US" altLang="zh-CN" sz="4000" b="1" dirty="0">
                <a:latin typeface="得意黑" pitchFamily="2" charset="-122"/>
                <a:ea typeface="得意黑" pitchFamily="2" charset="-122"/>
              </a:rPr>
              <a:t>X</a:t>
            </a:r>
            <a:endParaRPr lang="zh-CN" altLang="en-US" sz="40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4CAEC7DE-FB4A-C4D6-BFDC-129A7640465C}"/>
              </a:ext>
            </a:extLst>
          </p:cNvPr>
          <p:cNvSpPr/>
          <p:nvPr/>
        </p:nvSpPr>
        <p:spPr>
          <a:xfrm>
            <a:off x="4322759" y="2316163"/>
            <a:ext cx="246680" cy="2295601"/>
          </a:xfrm>
          <a:prstGeom prst="leftBrace">
            <a:avLst/>
          </a:prstGeom>
          <a:ln w="508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8CE58C5-CCBC-5D53-65BA-0F260A2952F9}"/>
              </a:ext>
            </a:extLst>
          </p:cNvPr>
          <p:cNvSpPr txBox="1"/>
          <p:nvPr/>
        </p:nvSpPr>
        <p:spPr>
          <a:xfrm>
            <a:off x="2336882" y="2936964"/>
            <a:ext cx="215593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得意黑" pitchFamily="2" charset="-122"/>
                <a:ea typeface="得意黑" pitchFamily="2" charset="-122"/>
              </a:rPr>
              <a:t>更深层的网络学习残差  </a:t>
            </a:r>
            <a:endParaRPr lang="en-US" altLang="zh-CN" dirty="0">
              <a:latin typeface="得意黑" pitchFamily="2" charset="-122"/>
              <a:ea typeface="得意黑" pitchFamily="2" charset="-122"/>
            </a:endParaRPr>
          </a:p>
          <a:p>
            <a:pPr algn="ctr"/>
            <a:r>
              <a:rPr lang="en-US" altLang="zh-CN" sz="4000" dirty="0">
                <a:latin typeface="得意黑" pitchFamily="2" charset="-122"/>
                <a:ea typeface="得意黑" pitchFamily="2" charset="-122"/>
              </a:rPr>
              <a:t>F(X)</a:t>
            </a:r>
            <a:endParaRPr lang="zh-CN" altLang="en-US" sz="4000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EB508-7D7C-A0E6-3DFE-3F387D717F75}"/>
              </a:ext>
            </a:extLst>
          </p:cNvPr>
          <p:cNvSpPr txBox="1"/>
          <p:nvPr/>
        </p:nvSpPr>
        <p:spPr>
          <a:xfrm>
            <a:off x="1045260" y="1076246"/>
            <a:ext cx="13047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如何实现</a:t>
            </a:r>
            <a:endParaRPr lang="en-US" altLang="zh-CN" sz="7200" dirty="0">
              <a:solidFill>
                <a:srgbClr val="96000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FED378-0FA2-C83A-4309-90356D7AF895}"/>
              </a:ext>
            </a:extLst>
          </p:cNvPr>
          <p:cNvSpPr txBox="1"/>
          <p:nvPr/>
        </p:nvSpPr>
        <p:spPr>
          <a:xfrm>
            <a:off x="5769061" y="3111617"/>
            <a:ext cx="135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得意黑" pitchFamily="2" charset="-122"/>
                <a:ea typeface="得意黑" pitchFamily="2" charset="-122"/>
              </a:rPr>
              <a:t>ReLu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函数激活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F1958B-E2DE-E0C2-508D-E934A3E10876}"/>
              </a:ext>
            </a:extLst>
          </p:cNvPr>
          <p:cNvSpPr txBox="1"/>
          <p:nvPr/>
        </p:nvSpPr>
        <p:spPr>
          <a:xfrm>
            <a:off x="4388979" y="5406447"/>
            <a:ext cx="135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得意黑" pitchFamily="2" charset="-122"/>
                <a:ea typeface="得意黑" pitchFamily="2" charset="-122"/>
              </a:rPr>
              <a:t>ReLu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函数激活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BBB1F7-EDD1-3286-DE10-585BC5CFAFCF}"/>
              </a:ext>
            </a:extLst>
          </p:cNvPr>
          <p:cNvSpPr txBox="1"/>
          <p:nvPr/>
        </p:nvSpPr>
        <p:spPr>
          <a:xfrm>
            <a:off x="9248165" y="2384516"/>
            <a:ext cx="21797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将深层网络学习的内容变为学习残差，在保证梯度不会下降的同时，提高了训练的效率。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67D6EB-078D-A88E-51B7-7B4890F06E70}"/>
              </a:ext>
            </a:extLst>
          </p:cNvPr>
          <p:cNvSpPr txBox="1"/>
          <p:nvPr/>
        </p:nvSpPr>
        <p:spPr>
          <a:xfrm>
            <a:off x="8250687" y="1099521"/>
            <a:ext cx="2738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得意黑" pitchFamily="2" charset="-122"/>
                <a:ea typeface="得意黑" pitchFamily="2" charset="-122"/>
              </a:rPr>
              <a:t>如何构造一个残差链接？</a:t>
            </a:r>
          </a:p>
        </p:txBody>
      </p:sp>
    </p:spTree>
    <p:extLst>
      <p:ext uri="{BB962C8B-B14F-4D97-AF65-F5344CB8AC3E}">
        <p14:creationId xmlns:p14="http://schemas.microsoft.com/office/powerpoint/2010/main" val="364853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4334C-BE2E-F34A-1A48-478474E8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EE6EE-A7F0-7FF9-8DB4-C5D06E5B7E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6E0267-01D7-1982-8013-10DB10141C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61E94BC8-FDF8-0BBF-3442-D543B29EE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A31709F-629F-608A-41C0-4630C423B12A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7F457F4-B6DC-93F4-A745-2B622D54C60A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07E2132-7E64-FC8F-13CF-F91E8474FC11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2.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研究方法</a:t>
            </a:r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——Deep Residual Learning framework</a:t>
            </a:r>
            <a:endParaRPr lang="zh-CN" altLang="en-US" sz="36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91A9E6-220F-EA4E-04FD-9AEAD6C5477E}"/>
              </a:ext>
            </a:extLst>
          </p:cNvPr>
          <p:cNvSpPr/>
          <p:nvPr/>
        </p:nvSpPr>
        <p:spPr>
          <a:xfrm>
            <a:off x="4943046" y="2528827"/>
            <a:ext cx="1594713" cy="4754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1x1   64</a:t>
            </a:r>
            <a:endParaRPr lang="zh-CN" altLang="en-US" sz="2800" b="1" dirty="0">
              <a:solidFill>
                <a:schemeClr val="tx1"/>
              </a:solidFill>
              <a:latin typeface="得意黑" pitchFamily="2" charset="-122"/>
              <a:ea typeface="得意黑" pitchFamily="2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63D0F9E-C094-A2A7-CB7E-15208A8168EC}"/>
              </a:ext>
            </a:extLst>
          </p:cNvPr>
          <p:cNvCxnSpPr/>
          <p:nvPr/>
        </p:nvCxnSpPr>
        <p:spPr>
          <a:xfrm>
            <a:off x="5761570" y="1911745"/>
            <a:ext cx="0" cy="637954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1FACF61F-C529-5377-3529-BC2D71EEF3F8}"/>
              </a:ext>
            </a:extLst>
          </p:cNvPr>
          <p:cNvSpPr/>
          <p:nvPr/>
        </p:nvSpPr>
        <p:spPr>
          <a:xfrm>
            <a:off x="4964212" y="3614299"/>
            <a:ext cx="1594713" cy="4754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3x3  64</a:t>
            </a:r>
            <a:endParaRPr lang="zh-CN" altLang="en-US" sz="2800" b="1" dirty="0">
              <a:solidFill>
                <a:schemeClr val="tx1"/>
              </a:solidFill>
              <a:latin typeface="得意黑" pitchFamily="2" charset="-122"/>
              <a:ea typeface="得意黑" pitchFamily="2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B31BDEE-04F9-11BA-DF38-050647D4FA01}"/>
              </a:ext>
            </a:extLst>
          </p:cNvPr>
          <p:cNvCxnSpPr/>
          <p:nvPr/>
        </p:nvCxnSpPr>
        <p:spPr>
          <a:xfrm>
            <a:off x="5761568" y="3004315"/>
            <a:ext cx="0" cy="637954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3D824E8-D770-3650-FB6F-1B80610DD94C}"/>
              </a:ext>
            </a:extLst>
          </p:cNvPr>
          <p:cNvCxnSpPr/>
          <p:nvPr/>
        </p:nvCxnSpPr>
        <p:spPr>
          <a:xfrm>
            <a:off x="5761568" y="4089787"/>
            <a:ext cx="0" cy="637954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105A350C-9109-092A-7554-71CA5A3D90B5}"/>
              </a:ext>
            </a:extLst>
          </p:cNvPr>
          <p:cNvSpPr txBox="1"/>
          <p:nvPr/>
        </p:nvSpPr>
        <p:spPr>
          <a:xfrm>
            <a:off x="1045260" y="1076246"/>
            <a:ext cx="13047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如何实现</a:t>
            </a:r>
            <a:endParaRPr lang="en-US" altLang="zh-CN" sz="7200" dirty="0">
              <a:solidFill>
                <a:srgbClr val="96000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AD5764-6080-78A0-8621-51F9338552C3}"/>
              </a:ext>
            </a:extLst>
          </p:cNvPr>
          <p:cNvSpPr/>
          <p:nvPr/>
        </p:nvSpPr>
        <p:spPr>
          <a:xfrm>
            <a:off x="4940627" y="4734089"/>
            <a:ext cx="1594713" cy="4754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1x1  256</a:t>
            </a:r>
            <a:endParaRPr lang="zh-CN" altLang="en-US" sz="2800" b="1" dirty="0">
              <a:solidFill>
                <a:schemeClr val="tx1"/>
              </a:solidFill>
              <a:latin typeface="得意黑" pitchFamily="2" charset="-122"/>
              <a:ea typeface="得意黑" pitchFamily="2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464C18F-37EE-7DBC-F1C7-BDF7811B7024}"/>
              </a:ext>
            </a:extLst>
          </p:cNvPr>
          <p:cNvCxnSpPr/>
          <p:nvPr/>
        </p:nvCxnSpPr>
        <p:spPr>
          <a:xfrm>
            <a:off x="5761568" y="5209577"/>
            <a:ext cx="0" cy="637954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C8AEAC40-EA65-DED4-7ED1-1E213B710FF2}"/>
              </a:ext>
            </a:extLst>
          </p:cNvPr>
          <p:cNvCxnSpPr>
            <a:cxnSpLocks/>
            <a:endCxn id="27" idx="2"/>
          </p:cNvCxnSpPr>
          <p:nvPr/>
        </p:nvCxnSpPr>
        <p:spPr>
          <a:xfrm rot="5400000">
            <a:off x="3511463" y="3932234"/>
            <a:ext cx="4165781" cy="321732"/>
          </a:xfrm>
          <a:prstGeom prst="bentConnector4">
            <a:avLst>
              <a:gd name="adj1" fmla="val 1248"/>
              <a:gd name="adj2" fmla="val 401466"/>
            </a:avLst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1EB95B9-C114-FC21-35DD-353296F1CCD6}"/>
              </a:ext>
            </a:extLst>
          </p:cNvPr>
          <p:cNvSpPr txBox="1"/>
          <p:nvPr/>
        </p:nvSpPr>
        <p:spPr>
          <a:xfrm>
            <a:off x="5339817" y="1443060"/>
            <a:ext cx="935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得意黑" pitchFamily="2" charset="-122"/>
                <a:ea typeface="得意黑" pitchFamily="2" charset="-122"/>
              </a:rPr>
              <a:t>256d</a:t>
            </a:r>
            <a:endParaRPr lang="zh-CN" altLang="en-US" sz="28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2F01C0-E34B-C2A7-025C-5325B89DAD66}"/>
              </a:ext>
            </a:extLst>
          </p:cNvPr>
          <p:cNvSpPr txBox="1"/>
          <p:nvPr/>
        </p:nvSpPr>
        <p:spPr>
          <a:xfrm>
            <a:off x="1920713" y="3084165"/>
            <a:ext cx="24600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如何构造一个深层的网络</a:t>
            </a:r>
            <a:r>
              <a:rPr lang="en-US" altLang="zh-CN" sz="28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——</a:t>
            </a:r>
          </a:p>
          <a:p>
            <a:pPr algn="ctr"/>
            <a:r>
              <a:rPr lang="en-US" altLang="zh-CN" sz="28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Bottleneck</a:t>
            </a:r>
            <a:r>
              <a:rPr lang="zh-CN" altLang="en-US" sz="28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设计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4E1A26A-0D82-9FB9-4639-28A06E4E81CE}"/>
              </a:ext>
            </a:extLst>
          </p:cNvPr>
          <p:cNvSpPr txBox="1"/>
          <p:nvPr/>
        </p:nvSpPr>
        <p:spPr>
          <a:xfrm>
            <a:off x="5769061" y="3111617"/>
            <a:ext cx="135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得意黑" pitchFamily="2" charset="-122"/>
                <a:ea typeface="得意黑" pitchFamily="2" charset="-122"/>
              </a:rPr>
              <a:t>ReLu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函数激活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75D2360-79DB-09C6-FCB9-73CF489C1D32}"/>
              </a:ext>
            </a:extLst>
          </p:cNvPr>
          <p:cNvSpPr txBox="1"/>
          <p:nvPr/>
        </p:nvSpPr>
        <p:spPr>
          <a:xfrm>
            <a:off x="5767918" y="4224098"/>
            <a:ext cx="135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得意黑" pitchFamily="2" charset="-122"/>
                <a:ea typeface="得意黑" pitchFamily="2" charset="-122"/>
              </a:rPr>
              <a:t>ReLu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函数激活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125DE01-25EE-6E9B-C0F3-02D7202F6749}"/>
              </a:ext>
            </a:extLst>
          </p:cNvPr>
          <p:cNvSpPr/>
          <p:nvPr/>
        </p:nvSpPr>
        <p:spPr>
          <a:xfrm>
            <a:off x="5433487" y="5841560"/>
            <a:ext cx="668862" cy="6688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chemeClr val="tx1"/>
                </a:solidFill>
                <a:latin typeface="得意黑" pitchFamily="2" charset="-122"/>
                <a:ea typeface="得意黑" pitchFamily="2" charset="-122"/>
              </a:rPr>
              <a:t>+</a:t>
            </a:r>
            <a:endParaRPr lang="zh-CN" altLang="en-US" sz="4000" b="1" dirty="0">
              <a:solidFill>
                <a:schemeClr val="tx1"/>
              </a:solidFill>
              <a:latin typeface="得意黑" pitchFamily="2" charset="-122"/>
              <a:ea typeface="得意黑" pitchFamily="2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60DAAE7-B63B-2038-ACB2-466A3461A782}"/>
              </a:ext>
            </a:extLst>
          </p:cNvPr>
          <p:cNvCxnSpPr>
            <a:cxnSpLocks/>
          </p:cNvCxnSpPr>
          <p:nvPr/>
        </p:nvCxnSpPr>
        <p:spPr>
          <a:xfrm>
            <a:off x="6098235" y="6175991"/>
            <a:ext cx="1482211" cy="0"/>
          </a:xfrm>
          <a:prstGeom prst="straightConnector1">
            <a:avLst/>
          </a:prstGeom>
          <a:ln w="508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D6A1B9C-7F9B-9F44-448C-46ECBC928946}"/>
              </a:ext>
            </a:extLst>
          </p:cNvPr>
          <p:cNvSpPr txBox="1"/>
          <p:nvPr/>
        </p:nvSpPr>
        <p:spPr>
          <a:xfrm>
            <a:off x="6044998" y="5745546"/>
            <a:ext cx="135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得意黑" pitchFamily="2" charset="-122"/>
                <a:ea typeface="得意黑" pitchFamily="2" charset="-122"/>
              </a:rPr>
              <a:t>ReLu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函数激活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E8EF2A7-9C3B-BAB0-4B0C-1DD14F7712ED}"/>
              </a:ext>
            </a:extLst>
          </p:cNvPr>
          <p:cNvSpPr txBox="1"/>
          <p:nvPr/>
        </p:nvSpPr>
        <p:spPr>
          <a:xfrm>
            <a:off x="8264841" y="1903214"/>
            <a:ext cx="323758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压缩（降维）</a:t>
            </a:r>
            <a:endParaRPr lang="en-US" altLang="zh-CN" sz="2400" b="1" dirty="0">
              <a:solidFill>
                <a:srgbClr val="00206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en-US" altLang="zh-CN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1x1</a:t>
            </a:r>
            <a:r>
              <a:rPr lang="zh-CN" altLang="en-US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  </a:t>
            </a:r>
            <a:r>
              <a:rPr lang="en-US" altLang="zh-CN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64</a:t>
            </a:r>
            <a:r>
              <a:rPr lang="zh-CN" altLang="en-US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通道的卷积</a:t>
            </a:r>
          </a:p>
          <a:p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把</a:t>
            </a:r>
            <a:r>
              <a:rPr lang="en-US" altLang="zh-CN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256</a:t>
            </a:r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通道的</a:t>
            </a:r>
            <a:r>
              <a:rPr lang="en-US" altLang="zh-CN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"</a:t>
            </a:r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厚重</a:t>
            </a:r>
            <a:r>
              <a:rPr lang="en-US" altLang="zh-CN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"</a:t>
            </a:r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特征图，压缩到只有</a:t>
            </a:r>
            <a:r>
              <a:rPr lang="en-US" altLang="zh-CN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64</a:t>
            </a:r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通道</a:t>
            </a:r>
            <a:r>
              <a:rPr lang="en-US" altLang="zh-CN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,</a:t>
            </a:r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大幅减少后续操作的数据量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97DB237-2BB8-66E0-61D0-AE3E180196DE}"/>
              </a:ext>
            </a:extLst>
          </p:cNvPr>
          <p:cNvSpPr txBox="1"/>
          <p:nvPr/>
        </p:nvSpPr>
        <p:spPr>
          <a:xfrm>
            <a:off x="8216538" y="3344211"/>
            <a:ext cx="361571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核心卷积（轻量计算）</a:t>
            </a:r>
            <a:endParaRPr lang="en-US" altLang="zh-CN" sz="2400" b="1" dirty="0">
              <a:solidFill>
                <a:srgbClr val="002060"/>
              </a:solidFill>
              <a:latin typeface="得意黑" pitchFamily="2" charset="-122"/>
              <a:ea typeface="得意黑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3x3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得意黑" pitchFamily="2" charset="-122"/>
                <a:ea typeface="得意黑" pitchFamily="2" charset="-122"/>
                <a:cs typeface="+mn-cs"/>
              </a:rPr>
              <a:t>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得意黑" pitchFamily="2" charset="-122"/>
                <a:ea typeface="得意黑" pitchFamily="2" charset="-122"/>
                <a:cs typeface="+mn-cs"/>
              </a:rPr>
              <a:t>64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得意黑" pitchFamily="2" charset="-122"/>
                <a:ea typeface="得意黑" pitchFamily="2" charset="-122"/>
                <a:cs typeface="+mn-cs"/>
              </a:rPr>
              <a:t>通道的卷积</a:t>
            </a:r>
            <a:endParaRPr lang="zh-CN" altLang="en-US" sz="2400" b="1" dirty="0">
              <a:solidFill>
                <a:srgbClr val="00206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在压缩后的数据上进行主要特征提取计算量比直接在</a:t>
            </a:r>
            <a:r>
              <a:rPr lang="en-US" altLang="zh-CN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256</a:t>
            </a:r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通道上做</a:t>
            </a:r>
            <a:r>
              <a:rPr lang="en-US" altLang="zh-CN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3x3</a:t>
            </a:r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卷积小得多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55ED683-78DA-DC91-B621-2D8E1AA7A7B8}"/>
              </a:ext>
            </a:extLst>
          </p:cNvPr>
          <p:cNvSpPr txBox="1"/>
          <p:nvPr/>
        </p:nvSpPr>
        <p:spPr>
          <a:xfrm>
            <a:off x="8213863" y="4754430"/>
            <a:ext cx="342204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解压缩（恢复维度）</a:t>
            </a:r>
          </a:p>
          <a:p>
            <a:r>
              <a:rPr lang="en-US" altLang="zh-CN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1x1</a:t>
            </a:r>
            <a:r>
              <a:rPr lang="zh-CN" altLang="en-US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 </a:t>
            </a:r>
            <a:r>
              <a:rPr lang="en-US" altLang="zh-CN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256</a:t>
            </a:r>
            <a:r>
              <a:rPr lang="zh-CN" altLang="en-US" sz="14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通道的卷积</a:t>
            </a:r>
            <a:r>
              <a:rPr lang="zh-CN" altLang="en-US" sz="1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 </a:t>
            </a:r>
            <a:endParaRPr lang="en-US" altLang="zh-CN" sz="1400" dirty="0">
              <a:solidFill>
                <a:srgbClr val="00206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把处理后的数据恢复回原始维度以便与快捷连接的输入相加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2EFCB181-BBEA-B3D2-A391-48D04906961E}"/>
              </a:ext>
            </a:extLst>
          </p:cNvPr>
          <p:cNvSpPr/>
          <p:nvPr/>
        </p:nvSpPr>
        <p:spPr>
          <a:xfrm>
            <a:off x="6984531" y="2568336"/>
            <a:ext cx="1191829" cy="36933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821706DA-171E-08D5-9EE5-79CCF4978EDC}"/>
              </a:ext>
            </a:extLst>
          </p:cNvPr>
          <p:cNvSpPr/>
          <p:nvPr/>
        </p:nvSpPr>
        <p:spPr>
          <a:xfrm>
            <a:off x="6984531" y="3705002"/>
            <a:ext cx="1191829" cy="36933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E1057A10-283B-C5BF-13EE-827EE3FF2690}"/>
              </a:ext>
            </a:extLst>
          </p:cNvPr>
          <p:cNvSpPr/>
          <p:nvPr/>
        </p:nvSpPr>
        <p:spPr>
          <a:xfrm>
            <a:off x="6984530" y="4917119"/>
            <a:ext cx="1191829" cy="36933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428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BC9E3-93DA-51B0-9B41-F5ABE173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63A63-3A5E-6D5A-8F9E-1AC7C87263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20E270-1C8C-5505-95D6-EE9E7AAE7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6276DA1C-B4AB-C9E8-F9D0-4AC21C605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A16F2FA8-29CF-FA61-6259-FBB32D8A8849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A06364C-3393-0776-9891-99579DFF61AA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CC5C44E-A9EE-6989-D251-4710A08045D5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2.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研究方法</a:t>
            </a:r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——Deep Residual Learning framework</a:t>
            </a:r>
            <a:endParaRPr lang="zh-CN" altLang="en-US" sz="36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88C2B0-03A8-1D1E-5F59-4186927D2A9C}"/>
              </a:ext>
            </a:extLst>
          </p:cNvPr>
          <p:cNvSpPr txBox="1"/>
          <p:nvPr/>
        </p:nvSpPr>
        <p:spPr>
          <a:xfrm>
            <a:off x="1045260" y="1076246"/>
            <a:ext cx="13047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为何有效</a:t>
            </a:r>
            <a:endParaRPr lang="en-US" altLang="zh-CN" sz="7200" dirty="0">
              <a:solidFill>
                <a:srgbClr val="96000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4ED02C-3E62-15A5-A1ED-DA1DF5150D4E}"/>
              </a:ext>
            </a:extLst>
          </p:cNvPr>
          <p:cNvSpPr txBox="1"/>
          <p:nvPr/>
        </p:nvSpPr>
        <p:spPr>
          <a:xfrm>
            <a:off x="2349866" y="1201639"/>
            <a:ext cx="7788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浅层的网络将结果学习到一个大致的范围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X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，深层的网络通过学习残差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F(X)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将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X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进行精调，最终获得准确的结果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H(X)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。</a:t>
            </a:r>
          </a:p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如果当前层什么也不学最好（即恒等映射 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H(x) = x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 是最优解），那么将残差 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F(x)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 推向 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0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，远比让一堆非线性层去拟合一个恒等映射要容易得多。</a:t>
            </a:r>
          </a:p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如果需要学习新的特征，那么网络也是在 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x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 这个“高起点”上学习一个“扰动” 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F(x)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，优化起来也相对更简单。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7F93D9-90BF-2794-37A1-397639C40186}"/>
              </a:ext>
            </a:extLst>
          </p:cNvPr>
          <p:cNvSpPr txBox="1"/>
          <p:nvPr/>
        </p:nvSpPr>
        <p:spPr>
          <a:xfrm>
            <a:off x="10330602" y="968778"/>
            <a:ext cx="11632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降低优化难度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5FA511CA-4D1E-FDE1-3F70-17A72CCBD4AA}"/>
              </a:ext>
            </a:extLst>
          </p:cNvPr>
          <p:cNvSpPr/>
          <p:nvPr/>
        </p:nvSpPr>
        <p:spPr>
          <a:xfrm>
            <a:off x="8378687" y="3464779"/>
            <a:ext cx="1951915" cy="63117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得意黑" pitchFamily="2" charset="-122"/>
                <a:ea typeface="得意黑" pitchFamily="2" charset="-122"/>
              </a:rPr>
              <a:t>核心思想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41D0B9-E1A6-9AE8-47FD-964301565231}"/>
              </a:ext>
            </a:extLst>
          </p:cNvPr>
          <p:cNvSpPr txBox="1"/>
          <p:nvPr/>
        </p:nvSpPr>
        <p:spPr>
          <a:xfrm>
            <a:off x="2664286" y="4242137"/>
            <a:ext cx="27385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得意黑" pitchFamily="2" charset="-122"/>
                <a:ea typeface="得意黑" pitchFamily="2" charset="-122"/>
              </a:rPr>
              <a:t>传统网络（</a:t>
            </a:r>
            <a:r>
              <a:rPr lang="en-US" altLang="zh-CN" b="1" dirty="0">
                <a:latin typeface="得意黑" pitchFamily="2" charset="-122"/>
                <a:ea typeface="得意黑" pitchFamily="2" charset="-122"/>
              </a:rPr>
              <a:t>Plain Network</a:t>
            </a:r>
            <a:r>
              <a:rPr lang="zh-CN" altLang="en-US" b="1" dirty="0">
                <a:latin typeface="得意黑" pitchFamily="2" charset="-122"/>
                <a:ea typeface="得意黑" pitchFamily="2" charset="-122"/>
              </a:rPr>
              <a:t>）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：</a:t>
            </a:r>
          </a:p>
          <a:p>
            <a:r>
              <a:rPr lang="zh-CN" altLang="en-US" dirty="0">
                <a:latin typeface="得意黑" pitchFamily="2" charset="-122"/>
                <a:ea typeface="得意黑" pitchFamily="2" charset="-122"/>
              </a:rPr>
              <a:t>就像让你从零开始造一辆完整的汽车</a:t>
            </a:r>
          </a:p>
          <a:p>
            <a:r>
              <a:rPr lang="zh-CN" altLang="en-US" dirty="0">
                <a:latin typeface="得意黑" pitchFamily="2" charset="-122"/>
                <a:ea typeface="得意黑" pitchFamily="2" charset="-122"/>
              </a:rPr>
              <a:t>任务艰巨：需要设计发动机、底盘、车身等所有部件，如果某个部件设计错了，整个车都可能无法运行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44B471-0CC6-6C33-81E9-93DF39B0ADF0}"/>
              </a:ext>
            </a:extLst>
          </p:cNvPr>
          <p:cNvSpPr txBox="1"/>
          <p:nvPr/>
        </p:nvSpPr>
        <p:spPr>
          <a:xfrm>
            <a:off x="5402798" y="4245427"/>
            <a:ext cx="3802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得意黑" pitchFamily="2" charset="-122"/>
                <a:ea typeface="得意黑" pitchFamily="2" charset="-122"/>
              </a:rPr>
              <a:t>残差网络（</a:t>
            </a:r>
            <a:r>
              <a:rPr lang="en-US" altLang="zh-CN" b="1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b="1" dirty="0">
                <a:latin typeface="得意黑" pitchFamily="2" charset="-122"/>
                <a:ea typeface="得意黑" pitchFamily="2" charset="-122"/>
              </a:rPr>
              <a:t>）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：</a:t>
            </a:r>
          </a:p>
          <a:p>
            <a:r>
              <a:rPr lang="zh-CN" altLang="en-US" dirty="0">
                <a:latin typeface="得意黑" pitchFamily="2" charset="-122"/>
                <a:ea typeface="得意黑" pitchFamily="2" charset="-122"/>
              </a:rPr>
              <a:t>就像你已经有一辆能开的汽车（输入</a:t>
            </a:r>
            <a:r>
              <a:rPr lang="en-US" altLang="zh-CN" dirty="0">
                <a:latin typeface="得意黑" pitchFamily="2" charset="-122"/>
                <a:ea typeface="得意黑" pitchFamily="2" charset="-122"/>
              </a:rPr>
              <a:t>x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），现在只需要给它加装改装件</a:t>
            </a:r>
          </a:p>
          <a:p>
            <a:r>
              <a:rPr lang="zh-CN" altLang="en-US" dirty="0">
                <a:latin typeface="得意黑" pitchFamily="2" charset="-122"/>
                <a:ea typeface="得意黑" pitchFamily="2" charset="-122"/>
              </a:rPr>
              <a:t>任务简单：只需要设计改装套件 </a:t>
            </a:r>
            <a:r>
              <a:rPr lang="en-US" altLang="zh-CN" dirty="0">
                <a:latin typeface="得意黑" pitchFamily="2" charset="-122"/>
                <a:ea typeface="得意黑" pitchFamily="2" charset="-122"/>
              </a:rPr>
              <a:t>F(x)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，比如：</a:t>
            </a:r>
          </a:p>
          <a:p>
            <a:pPr lvl="1"/>
            <a:r>
              <a:rPr lang="zh-CN" altLang="en-US" dirty="0">
                <a:latin typeface="得意黑" pitchFamily="2" charset="-122"/>
                <a:ea typeface="得意黑" pitchFamily="2" charset="-122"/>
              </a:rPr>
              <a:t>加个涡轮增压（提升性能）</a:t>
            </a:r>
          </a:p>
          <a:p>
            <a:pPr lvl="1"/>
            <a:r>
              <a:rPr lang="zh-CN" altLang="en-US" dirty="0">
                <a:latin typeface="得意黑" pitchFamily="2" charset="-122"/>
                <a:ea typeface="得意黑" pitchFamily="2" charset="-122"/>
              </a:rPr>
              <a:t>换个包围套件（改善外观）</a:t>
            </a:r>
          </a:p>
          <a:p>
            <a:pPr lvl="1"/>
            <a:r>
              <a:rPr lang="zh-CN" altLang="en-US" dirty="0">
                <a:latin typeface="得意黑" pitchFamily="2" charset="-122"/>
                <a:ea typeface="得意黑" pitchFamily="2" charset="-122"/>
              </a:rPr>
              <a:t>什么都不做（保持原样，</a:t>
            </a:r>
            <a:r>
              <a:rPr lang="en-US" altLang="zh-CN" dirty="0">
                <a:latin typeface="得意黑" pitchFamily="2" charset="-122"/>
                <a:ea typeface="得意黑" pitchFamily="2" charset="-122"/>
              </a:rPr>
              <a:t>F(x)=0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22312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FEEEE-1707-D7CD-7154-9EF7FC10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1EF50-B4E0-EF48-6F83-73FD2B6BD4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AEDC48-D235-ED39-6FC7-A4FA29EC32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4ECFABE1-1E6E-00D3-36E0-07DF6F230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DC4288-F2C9-24F1-2E4E-C67BD6110C16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4209F51-2325-4673-B4CF-4C5A28ED54E5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1CDD938-502E-EF72-7213-090411E72C00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2.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研究方法</a:t>
            </a:r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——Deep Residual Learning framework</a:t>
            </a:r>
            <a:endParaRPr lang="zh-CN" altLang="en-US" sz="36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3A1927-3FAB-1B7B-0102-08589CDED03D}"/>
              </a:ext>
            </a:extLst>
          </p:cNvPr>
          <p:cNvSpPr txBox="1"/>
          <p:nvPr/>
        </p:nvSpPr>
        <p:spPr>
          <a:xfrm>
            <a:off x="1045260" y="1076246"/>
            <a:ext cx="13047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为何有效</a:t>
            </a:r>
            <a:endParaRPr lang="en-US" altLang="zh-CN" sz="7200" dirty="0">
              <a:solidFill>
                <a:srgbClr val="96000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D30F7B7-C897-6767-1C4D-94957C4CEDBA}"/>
                  </a:ext>
                </a:extLst>
              </p:cNvPr>
              <p:cNvSpPr txBox="1"/>
              <p:nvPr/>
            </p:nvSpPr>
            <p:spPr>
              <a:xfrm>
                <a:off x="2664286" y="3297326"/>
                <a:ext cx="4814843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𝐥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𝓍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𝐥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𝐥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D30F7B7-C897-6767-1C4D-94957C4CE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86" y="3297326"/>
                <a:ext cx="4814843" cy="891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25BA599-FF2D-E462-7E02-5FB525A9CFEA}"/>
                  </a:ext>
                </a:extLst>
              </p:cNvPr>
              <p:cNvSpPr txBox="1"/>
              <p:nvPr/>
            </p:nvSpPr>
            <p:spPr>
              <a:xfrm>
                <a:off x="2577835" y="1825326"/>
                <a:ext cx="29974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𝑹𝒆𝑳𝒖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25BA599-FF2D-E462-7E02-5FB525A9C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835" y="1825326"/>
                <a:ext cx="2997407" cy="276999"/>
              </a:xfrm>
              <a:prstGeom prst="rect">
                <a:avLst/>
              </a:prstGeom>
              <a:blipFill>
                <a:blip r:embed="rId4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A428DC4-EB96-3478-E96D-27157BF5EE5F}"/>
                  </a:ext>
                </a:extLst>
              </p:cNvPr>
              <p:cNvSpPr txBox="1"/>
              <p:nvPr/>
            </p:nvSpPr>
            <p:spPr>
              <a:xfrm>
                <a:off x="2664286" y="2223821"/>
                <a:ext cx="1324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A428DC4-EB96-3478-E96D-27157BF5E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86" y="2223821"/>
                <a:ext cx="1324785" cy="276999"/>
              </a:xfrm>
              <a:prstGeom prst="rect">
                <a:avLst/>
              </a:prstGeom>
              <a:blipFill>
                <a:blip r:embed="rId5"/>
                <a:stretch>
                  <a:fillRect l="-1843" t="-222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3F9BB767-9170-3C42-C4E6-2CC115733602}"/>
              </a:ext>
            </a:extLst>
          </p:cNvPr>
          <p:cNvSpPr txBox="1"/>
          <p:nvPr/>
        </p:nvSpPr>
        <p:spPr>
          <a:xfrm>
            <a:off x="2582656" y="1296988"/>
            <a:ext cx="2408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残差单元可以表示为：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1185AA-E704-BF24-5DC3-51612F594D69}"/>
              </a:ext>
            </a:extLst>
          </p:cNvPr>
          <p:cNvSpPr txBox="1"/>
          <p:nvPr/>
        </p:nvSpPr>
        <p:spPr>
          <a:xfrm>
            <a:off x="2577835" y="2730024"/>
            <a:ext cx="5899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基于上式，我们求得从浅层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l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到深层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L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的学习特征为：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844255C-BBFA-D73D-F480-7DC11C6CB377}"/>
                  </a:ext>
                </a:extLst>
              </p:cNvPr>
              <p:cNvSpPr txBox="1"/>
              <p:nvPr/>
            </p:nvSpPr>
            <p:spPr>
              <a:xfrm>
                <a:off x="3053953" y="4481334"/>
                <a:ext cx="185448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/>
                        <m:t> 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𝐥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844255C-BBFA-D73D-F480-7DC11C6C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953" y="4481334"/>
                <a:ext cx="1854482" cy="670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CEBC304-BE93-BEBA-28AA-8735065FD777}"/>
              </a:ext>
            </a:extLst>
          </p:cNvPr>
          <p:cNvSpPr txBox="1"/>
          <p:nvPr/>
        </p:nvSpPr>
        <p:spPr>
          <a:xfrm>
            <a:off x="2499254" y="4562138"/>
            <a:ext cx="7336631" cy="1220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即使                                 很小，梯度也不会消失，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因为至少有          直接回传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0E95B4E-84D3-4E80-1682-6CF641620C2D}"/>
                  </a:ext>
                </a:extLst>
              </p:cNvPr>
              <p:cNvSpPr txBox="1"/>
              <p:nvPr/>
            </p:nvSpPr>
            <p:spPr>
              <a:xfrm>
                <a:off x="3815934" y="5232899"/>
                <a:ext cx="530850" cy="572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/>
                        <m:t> 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0E95B4E-84D3-4E80-1682-6CF641620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934" y="5232899"/>
                <a:ext cx="530850" cy="572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D9FCD7F5-912C-1968-FFFC-B04F90B67F1C}"/>
              </a:ext>
            </a:extLst>
          </p:cNvPr>
          <p:cNvSpPr txBox="1"/>
          <p:nvPr/>
        </p:nvSpPr>
        <p:spPr>
          <a:xfrm>
            <a:off x="8549478" y="1814511"/>
            <a:ext cx="31500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梯度可以直接通过快捷连接反向传播，缓解梯度消失。每一组层可以自由选择：学习新东西（</a:t>
            </a:r>
            <a:r>
              <a:rPr lang="en-US" altLang="zh-CN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F(x) ≠ 0</a:t>
            </a:r>
            <a:r>
              <a:rPr lang="zh-CN" altLang="en-US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）；或者</a:t>
            </a:r>
            <a:r>
              <a:rPr lang="en-US" altLang="zh-CN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“</a:t>
            </a:r>
            <a:r>
              <a:rPr lang="zh-CN" altLang="en-US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躺平</a:t>
            </a:r>
            <a:r>
              <a:rPr lang="en-US" altLang="zh-CN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”</a:t>
            </a:r>
            <a:r>
              <a:rPr lang="zh-CN" altLang="en-US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当个传递者（</a:t>
            </a:r>
            <a:r>
              <a:rPr lang="en-US" altLang="zh-CN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F(x) ≈ 0</a:t>
            </a:r>
            <a:r>
              <a:rPr lang="zh-CN" altLang="en-US" sz="20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）。最差的情况也是保持输入不变，不会让性能变差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86814A-B806-14C0-CDC6-756598C64735}"/>
              </a:ext>
            </a:extLst>
          </p:cNvPr>
          <p:cNvSpPr txBox="1"/>
          <p:nvPr/>
        </p:nvSpPr>
        <p:spPr>
          <a:xfrm>
            <a:off x="8033828" y="4616659"/>
            <a:ext cx="4106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作者认为，最高效的</a:t>
            </a:r>
            <a:r>
              <a:rPr lang="en-US" altLang="zh-CN" sz="20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结构应该是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94F03F1-EFE3-7A37-9001-D8C288C831C6}"/>
                  </a:ext>
                </a:extLst>
              </p:cNvPr>
              <p:cNvSpPr txBox="1"/>
              <p:nvPr/>
            </p:nvSpPr>
            <p:spPr>
              <a:xfrm>
                <a:off x="7983889" y="5072876"/>
                <a:ext cx="29974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𝑹𝒆𝑳𝒖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94F03F1-EFE3-7A37-9001-D8C288C83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889" y="5072876"/>
                <a:ext cx="2997407" cy="276999"/>
              </a:xfrm>
              <a:prstGeom prst="rect">
                <a:avLst/>
              </a:prstGeom>
              <a:blipFill>
                <a:blip r:embed="rId8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10DC3A1-51DC-217F-2000-E9C05556A764}"/>
                  </a:ext>
                </a:extLst>
              </p:cNvPr>
              <p:cNvSpPr txBox="1"/>
              <p:nvPr/>
            </p:nvSpPr>
            <p:spPr>
              <a:xfrm>
                <a:off x="8476986" y="5425795"/>
                <a:ext cx="21430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10DC3A1-51DC-217F-2000-E9C05556A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986" y="5425795"/>
                <a:ext cx="2143086" cy="276999"/>
              </a:xfrm>
              <a:prstGeom prst="rect">
                <a:avLst/>
              </a:prstGeom>
              <a:blipFill>
                <a:blip r:embed="rId9"/>
                <a:stretch>
                  <a:fillRect l="-855" t="-222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46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5ABEF-41B9-025C-3450-9A8AB753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4E1AB-DB74-287D-ECC2-1E3ABBE459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E0DD42-3EA3-206A-6331-F3288CC62C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E5D2E318-08E3-D848-006A-6AA82CB21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1C139DF-23DB-5AE0-A798-E9F675E5E672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C422BCE-B129-BAA8-7775-7F25E9138E28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310D774-CA7F-6A9B-2846-94D1E218915E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2.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研究方法</a:t>
            </a:r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——Deep Residual Learning framework</a:t>
            </a:r>
            <a:endParaRPr lang="zh-CN" altLang="en-US" sz="3600" b="1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F3A6BE-DF6C-4167-76AB-0F5ABCE6BD32}"/>
              </a:ext>
            </a:extLst>
          </p:cNvPr>
          <p:cNvSpPr txBox="1"/>
          <p:nvPr/>
        </p:nvSpPr>
        <p:spPr>
          <a:xfrm>
            <a:off x="1045260" y="1076246"/>
            <a:ext cx="13047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为何有效</a:t>
            </a:r>
            <a:endParaRPr lang="en-US" altLang="zh-CN" sz="7200" dirty="0">
              <a:solidFill>
                <a:srgbClr val="960000"/>
              </a:solidFill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7200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AEF2D8-073F-55C3-4D8E-F4365E03D47D}"/>
              </a:ext>
            </a:extLst>
          </p:cNvPr>
          <p:cNvSpPr txBox="1"/>
          <p:nvPr/>
        </p:nvSpPr>
        <p:spPr>
          <a:xfrm>
            <a:off x="4329112" y="1296988"/>
            <a:ext cx="3378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为什么</a:t>
            </a:r>
            <a:r>
              <a:rPr lang="en-US" altLang="zh-CN" sz="24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Bottleneck</a:t>
            </a:r>
            <a:r>
              <a:rPr lang="zh-CN" altLang="en-US" sz="2400" b="1" dirty="0">
                <a:solidFill>
                  <a:srgbClr val="960000"/>
                </a:solidFill>
                <a:latin typeface="得意黑" pitchFamily="2" charset="-122"/>
                <a:ea typeface="得意黑" pitchFamily="2" charset="-122"/>
              </a:rPr>
              <a:t>设计更高效？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7C8779-B3E2-9EDF-1797-BED4944BB234}"/>
              </a:ext>
            </a:extLst>
          </p:cNvPr>
          <p:cNvSpPr txBox="1"/>
          <p:nvPr/>
        </p:nvSpPr>
        <p:spPr>
          <a:xfrm>
            <a:off x="4657724" y="1956621"/>
            <a:ext cx="2721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得意黑" pitchFamily="2" charset="-122"/>
                <a:ea typeface="得意黑" pitchFamily="2" charset="-122"/>
              </a:rPr>
              <a:t>对于</a:t>
            </a:r>
            <a:r>
              <a:rPr lang="en-US" altLang="zh-CN" dirty="0">
                <a:latin typeface="得意黑" pitchFamily="2" charset="-122"/>
                <a:ea typeface="得意黑" pitchFamily="2" charset="-122"/>
              </a:rPr>
              <a:t>56x56  256</a:t>
            </a:r>
            <a:r>
              <a:rPr lang="zh-CN" altLang="en-US" dirty="0">
                <a:latin typeface="得意黑" pitchFamily="2" charset="-122"/>
                <a:ea typeface="得意黑" pitchFamily="2" charset="-122"/>
              </a:rPr>
              <a:t>通道的特征图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ACFCCF-C6B9-6115-8760-93A11217EB5B}"/>
              </a:ext>
            </a:extLst>
          </p:cNvPr>
          <p:cNvSpPr txBox="1"/>
          <p:nvPr/>
        </p:nvSpPr>
        <p:spPr>
          <a:xfrm>
            <a:off x="2597778" y="2814302"/>
            <a:ext cx="272177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普通的两个</a:t>
            </a:r>
            <a:r>
              <a:rPr lang="en-US" altLang="zh-CN" sz="2400" b="1" dirty="0">
                <a:latin typeface="得意黑" pitchFamily="2" charset="-122"/>
                <a:ea typeface="得意黑" pitchFamily="2" charset="-122"/>
              </a:rPr>
              <a:t>3x3</a:t>
            </a:r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 块</a:t>
            </a:r>
            <a:endParaRPr lang="en-US" altLang="zh-CN" sz="2000" dirty="0">
              <a:latin typeface="得意黑" pitchFamily="2" charset="-122"/>
              <a:ea typeface="得意黑" pitchFamily="2" charset="-122"/>
            </a:endParaRPr>
          </a:p>
          <a:p>
            <a:pPr algn="ctr"/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计算量 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= 256×3×3×256×56×56 ×2 ≈ 3.7x1e9</a:t>
            </a:r>
            <a:endParaRPr lang="zh-CN" altLang="en-US" sz="2000" dirty="0">
              <a:latin typeface="得意黑" pitchFamily="2" charset="-122"/>
              <a:ea typeface="得意黑" pitchFamily="2" charset="-122"/>
            </a:endParaRPr>
          </a:p>
          <a:p>
            <a:pPr algn="ctr"/>
            <a:endParaRPr lang="zh-CN" altLang="en-US" dirty="0">
              <a:latin typeface="得意黑" pitchFamily="2" charset="-122"/>
              <a:ea typeface="得意黑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6ED9B5-9337-C508-D8C7-ADB46EC56FE9}"/>
              </a:ext>
            </a:extLst>
          </p:cNvPr>
          <p:cNvSpPr txBox="1"/>
          <p:nvPr/>
        </p:nvSpPr>
        <p:spPr>
          <a:xfrm>
            <a:off x="6392814" y="2696813"/>
            <a:ext cx="5035070" cy="199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latin typeface="得意黑" pitchFamily="2" charset="-122"/>
                <a:ea typeface="得意黑" pitchFamily="2" charset="-122"/>
              </a:rPr>
              <a:t>Bottleneck</a:t>
            </a:r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块</a:t>
            </a:r>
          </a:p>
          <a:p>
            <a:pPr algn="ctr">
              <a:lnSpc>
                <a:spcPts val="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第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1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步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(1x1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降维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)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：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256×1×1×64×56×56 ≈ 0.05x1e9</a:t>
            </a:r>
          </a:p>
          <a:p>
            <a:pPr algn="ctr">
              <a:lnSpc>
                <a:spcPts val="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第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2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步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(3x3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核心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)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：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64×3×3×64×56×56  ≈ 0.35x1e9  </a:t>
            </a:r>
          </a:p>
          <a:p>
            <a:pPr algn="ctr">
              <a:lnSpc>
                <a:spcPts val="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第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3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步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(1x1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升维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)</a:t>
            </a: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：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64×1×1×256×56×56 ≈ 0.05x1e9</a:t>
            </a:r>
          </a:p>
          <a:p>
            <a:pPr algn="ctr">
              <a:lnSpc>
                <a:spcPts val="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sz="2000" dirty="0">
                <a:latin typeface="得意黑" pitchFamily="2" charset="-122"/>
                <a:ea typeface="得意黑" pitchFamily="2" charset="-122"/>
              </a:rPr>
              <a:t>总计算量 ≈ </a:t>
            </a:r>
            <a:r>
              <a:rPr lang="en-US" altLang="zh-CN" sz="2000" dirty="0">
                <a:latin typeface="得意黑" pitchFamily="2" charset="-122"/>
                <a:ea typeface="得意黑" pitchFamily="2" charset="-122"/>
              </a:rPr>
              <a:t>0.45x1e9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62D656-E987-2D8B-638D-241AAEC692AA}"/>
              </a:ext>
            </a:extLst>
          </p:cNvPr>
          <p:cNvSpPr txBox="1"/>
          <p:nvPr/>
        </p:nvSpPr>
        <p:spPr>
          <a:xfrm>
            <a:off x="3904786" y="4950807"/>
            <a:ext cx="48648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因为学习的残差很小或者趋近于</a:t>
            </a:r>
            <a:r>
              <a:rPr lang="en-US" altLang="zh-CN" sz="2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0</a:t>
            </a:r>
            <a:r>
              <a:rPr lang="zh-CN" altLang="en-US" sz="2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，所以</a:t>
            </a:r>
            <a:r>
              <a:rPr lang="en-US" altLang="zh-CN" sz="2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Bottleneck</a:t>
            </a:r>
            <a:r>
              <a:rPr lang="zh-CN" altLang="en-US" sz="2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降维和升维的操作中数据的损失对于结果的影响很小。</a:t>
            </a:r>
            <a:r>
              <a:rPr lang="en-US" altLang="zh-CN" sz="2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Bottleneck</a:t>
            </a:r>
            <a:r>
              <a:rPr lang="zh-CN" altLang="en-US" sz="2400" dirty="0">
                <a:solidFill>
                  <a:srgbClr val="002060"/>
                </a:solidFill>
                <a:latin typeface="得意黑" pitchFamily="2" charset="-122"/>
                <a:ea typeface="得意黑" pitchFamily="2" charset="-122"/>
              </a:rPr>
              <a:t>在保证合理的精度的同时也大大降低了计算量。</a:t>
            </a:r>
          </a:p>
        </p:txBody>
      </p:sp>
    </p:spTree>
    <p:extLst>
      <p:ext uri="{BB962C8B-B14F-4D97-AF65-F5344CB8AC3E}">
        <p14:creationId xmlns:p14="http://schemas.microsoft.com/office/powerpoint/2010/main" val="14862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4EB16-5400-D63F-1D47-104B8BEB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FC960-6F70-7DB6-4C1C-153AC07F5A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80F7D9-E472-867A-C2D2-41241706EC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88E40BE1-608D-66EF-0AE2-75D34E9AE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34116DA-C3CB-7B44-8C5C-AC7851885C4E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98C57EE-4EC0-2177-B5A2-1A0BB6D8C2E2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8803467-45FD-9458-ECB1-F02AC06154B9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3.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分析与思考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4F2207-4D8E-88D3-3D13-D5C26696D4E5}"/>
              </a:ext>
            </a:extLst>
          </p:cNvPr>
          <p:cNvSpPr txBox="1"/>
          <p:nvPr/>
        </p:nvSpPr>
        <p:spPr>
          <a:xfrm>
            <a:off x="1209675" y="1161523"/>
            <a:ext cx="46238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真正的智慧在于简化问题，通过深刻的理解找到那个能够化繁为简的关键洞察。</a:t>
            </a:r>
            <a:endParaRPr lang="en-US" altLang="zh-CN" sz="2400" b="1" dirty="0"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2400" b="1" dirty="0">
                <a:latin typeface="得意黑" pitchFamily="2" charset="-122"/>
                <a:ea typeface="得意黑" pitchFamily="2" charset="-122"/>
              </a:rPr>
              <a:t>优化的智慧往往在于做减法而非加法。</a:t>
            </a:r>
          </a:p>
          <a:p>
            <a:br>
              <a:rPr lang="zh-CN" altLang="en-US" sz="2400" dirty="0">
                <a:latin typeface="得意黑" pitchFamily="2" charset="-122"/>
                <a:ea typeface="得意黑" pitchFamily="2" charset="-122"/>
              </a:rPr>
            </a:b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通过极其简单的快捷连接，从根本上改变了问题的性质。</a:t>
            </a:r>
          </a:p>
          <a:p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有时候，绕过问题比直接解决问题更有效。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895E87-6BBA-4239-2CD7-2EE714DF2A30}"/>
              </a:ext>
            </a:extLst>
          </p:cNvPr>
          <p:cNvSpPr txBox="1"/>
          <p:nvPr/>
        </p:nvSpPr>
        <p:spPr>
          <a:xfrm>
            <a:off x="6849666" y="3054953"/>
            <a:ext cx="46238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对于人生的启示：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1.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我们不需要每次都要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“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从零开始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”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学习，可以在现有知识基础上进行累加微调，将新知识与已有经验直接关联。</a:t>
            </a:r>
          </a:p>
          <a:p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2.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允许自己有时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“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什么都不学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”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，保持现状。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3.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面对困难问题时，考虑是否可以重构问题使其更容易解决。</a:t>
            </a:r>
          </a:p>
          <a:p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4.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有时候绕过障碍比直接克服障碍更有效。</a:t>
            </a:r>
          </a:p>
          <a:p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5.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简单的解决方案往往比复杂的更强大。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BF0CBA3-4829-EAA7-0D97-DF336DFFE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557" y="3839982"/>
            <a:ext cx="3798094" cy="25320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8C21FF9-AADC-7B20-B381-34B0848FF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469" y="1129240"/>
            <a:ext cx="3622146" cy="187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9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E98F5-6E50-7B67-CF36-4D70115B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4716B-24AE-A498-C5D1-A5AF8B326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76435F-2A32-73CA-EC97-77FF16CD3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4A1B3344-F633-98BA-9BCC-3AA96396A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E7C147-97F8-0C17-F37C-2C26024FCD4F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86A2C43-9873-C768-0792-901C7F5CE39E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8C0AC69-EB39-B5B1-EEA3-237A125376C3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3.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分析与思考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86B517-E991-2A91-A48F-788BE01A8303}"/>
              </a:ext>
            </a:extLst>
          </p:cNvPr>
          <p:cNvSpPr txBox="1"/>
          <p:nvPr/>
        </p:nvSpPr>
        <p:spPr>
          <a:xfrm>
            <a:off x="1209675" y="1316568"/>
            <a:ext cx="82043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以及两篇论文的一些局限性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无法优化非视觉任务。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如果深层网络学习到的残差 </a:t>
            </a:r>
            <a:r>
              <a:rPr lang="en-US" altLang="zh-CN" sz="2400" dirty="0">
                <a:latin typeface="得意黑" pitchFamily="2" charset="-122"/>
                <a:ea typeface="得意黑" pitchFamily="2" charset="-122"/>
              </a:rPr>
              <a:t>F(x)=0 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，那是否存在有很多无效层的问题？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在深度很大时，也无法完全解决梯度消失的问题，只能将其降到一个可以接受的范围之内。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pPr marL="457200" indent="-457200">
              <a:buAutoNum type="arabicPeriod"/>
            </a:pPr>
            <a:r>
              <a:rPr lang="en-US" altLang="zh-CN" sz="24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为什么更高效的深层机制仍然没有解释清楚。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  <a:p>
            <a:pPr marL="457200" indent="-457200">
              <a:buAutoNum type="arabicPeriod"/>
            </a:pPr>
            <a:r>
              <a:rPr lang="zh-CN" altLang="en-US" sz="2400" dirty="0">
                <a:latin typeface="得意黑" pitchFamily="2" charset="-122"/>
                <a:ea typeface="得意黑" pitchFamily="2" charset="-122"/>
              </a:rPr>
              <a:t>快捷连接虽然不增加参数，但增加了内存访问成本和硬件实现复杂度。</a:t>
            </a:r>
            <a:endParaRPr lang="en-US" altLang="zh-CN" sz="2400" dirty="0">
              <a:latin typeface="得意黑" pitchFamily="2" charset="-122"/>
              <a:ea typeface="得意黑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A5B6527-86B1-7CE4-B11D-C74E51324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82" y="4047124"/>
            <a:ext cx="5662529" cy="242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68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818D0-147D-D03A-CCDB-099AE85B6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1379A-069F-51C4-6A5F-51845F7046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324FF0-5B53-7A61-4E8C-B5C51C5C5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, 形状&#10;&#10;AI 生成的内容可能不正确。">
            <a:extLst>
              <a:ext uri="{FF2B5EF4-FFF2-40B4-BE49-F238E27FC236}">
                <a16:creationId xmlns:a16="http://schemas.microsoft.com/office/drawing/2014/main" id="{D5F4C9DF-AA7A-DFFC-5B13-7E1EF1D50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0"/>
            <a:ext cx="10979151" cy="68619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67C5D78D-D22F-46DD-2192-E71B8F496BF6}"/>
              </a:ext>
            </a:extLst>
          </p:cNvPr>
          <p:cNvSpPr/>
          <p:nvPr/>
        </p:nvSpPr>
        <p:spPr>
          <a:xfrm>
            <a:off x="292100" y="266700"/>
            <a:ext cx="11607800" cy="6324600"/>
          </a:xfrm>
          <a:prstGeom prst="round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574A41C-8358-C43B-456C-485166EFF755}"/>
              </a:ext>
            </a:extLst>
          </p:cNvPr>
          <p:cNvCxnSpPr>
            <a:cxnSpLocks/>
          </p:cNvCxnSpPr>
          <p:nvPr/>
        </p:nvCxnSpPr>
        <p:spPr>
          <a:xfrm>
            <a:off x="764116" y="1049867"/>
            <a:ext cx="106637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D030C20-EF05-F772-5FEA-9634B3A2CAFD}"/>
              </a:ext>
            </a:extLst>
          </p:cNvPr>
          <p:cNvSpPr txBox="1"/>
          <p:nvPr/>
        </p:nvSpPr>
        <p:spPr>
          <a:xfrm>
            <a:off x="1210732" y="383957"/>
            <a:ext cx="930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得意黑" pitchFamily="2" charset="-122"/>
                <a:ea typeface="得意黑" pitchFamily="2" charset="-122"/>
              </a:rPr>
              <a:t>4. </a:t>
            </a:r>
            <a:r>
              <a:rPr lang="zh-CN" altLang="en-US" sz="3600" b="1" dirty="0">
                <a:latin typeface="得意黑" pitchFamily="2" charset="-122"/>
                <a:ea typeface="得意黑" pitchFamily="2" charset="-122"/>
              </a:rPr>
              <a:t>总结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258980-9A56-CBEB-CB52-DBC8CFF9F196}"/>
              </a:ext>
            </a:extLst>
          </p:cNvPr>
          <p:cNvSpPr txBox="1"/>
          <p:nvPr/>
        </p:nvSpPr>
        <p:spPr>
          <a:xfrm>
            <a:off x="550068" y="1154201"/>
            <a:ext cx="1134983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得意黑" pitchFamily="2" charset="-122"/>
                <a:ea typeface="得意黑" pitchFamily="2" charset="-122"/>
              </a:rPr>
              <a:t>成功解决退化问题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：极深的残差网络（</a:t>
            </a:r>
            <a:r>
              <a:rPr lang="en-US" altLang="zh-CN" sz="28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）易于优化，而相同深度的“普通”网络则表现出更高的训练误差。成功训练出</a:t>
            </a:r>
            <a:r>
              <a:rPr lang="en-US" altLang="zh-CN" sz="2800" dirty="0">
                <a:latin typeface="得意黑" pitchFamily="2" charset="-122"/>
                <a:ea typeface="得意黑" pitchFamily="2" charset="-122"/>
              </a:rPr>
              <a:t>1000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层的网络并且具有很高的精度，为训练更复杂的网络奠定了基础。</a:t>
            </a:r>
          </a:p>
          <a:p>
            <a:r>
              <a:rPr lang="zh-CN" altLang="en-US" sz="2800" b="1" dirty="0">
                <a:latin typeface="得意黑" pitchFamily="2" charset="-122"/>
                <a:ea typeface="得意黑" pitchFamily="2" charset="-122"/>
              </a:rPr>
              <a:t>享受深度红利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：</a:t>
            </a:r>
            <a:r>
              <a:rPr lang="en-US" altLang="zh-CN" sz="2800" dirty="0" err="1">
                <a:latin typeface="得意黑" pitchFamily="2" charset="-122"/>
                <a:ea typeface="得意黑" pitchFamily="2" charset="-122"/>
              </a:rPr>
              <a:t>ResNet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能够从深度的大幅增加中显著获得精度提升。为后来计算机视觉任务的快速发展奠定了基础，撑起了计算机视觉的半边天。</a:t>
            </a:r>
          </a:p>
          <a:p>
            <a:r>
              <a:rPr lang="zh-CN" altLang="en-US" sz="2800" b="1" dirty="0">
                <a:latin typeface="得意黑" pitchFamily="2" charset="-122"/>
                <a:ea typeface="得意黑" pitchFamily="2" charset="-122"/>
              </a:rPr>
              <a:t>泛化能力强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：在</a:t>
            </a:r>
            <a:r>
              <a:rPr lang="en-US" altLang="zh-CN" sz="2800" dirty="0">
                <a:latin typeface="得意黑" pitchFamily="2" charset="-122"/>
                <a:ea typeface="得意黑" pitchFamily="2" charset="-122"/>
              </a:rPr>
              <a:t>CIFAR-10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数据集上成功训练了</a:t>
            </a:r>
            <a:r>
              <a:rPr lang="en-US" altLang="zh-CN" sz="2800" dirty="0">
                <a:latin typeface="得意黑" pitchFamily="2" charset="-122"/>
                <a:ea typeface="得意黑" pitchFamily="2" charset="-122"/>
              </a:rPr>
              <a:t>110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层乃至</a:t>
            </a:r>
            <a:r>
              <a:rPr lang="en-US" altLang="zh-CN" sz="2800" dirty="0">
                <a:latin typeface="得意黑" pitchFamily="2" charset="-122"/>
                <a:ea typeface="得意黑" pitchFamily="2" charset="-122"/>
              </a:rPr>
              <a:t>1202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层的网络，证明了其通用性。</a:t>
            </a:r>
            <a:endParaRPr lang="en-US" altLang="zh-CN" sz="2800" dirty="0">
              <a:latin typeface="得意黑" pitchFamily="2" charset="-122"/>
              <a:ea typeface="得意黑" pitchFamily="2" charset="-122"/>
            </a:endParaRPr>
          </a:p>
          <a:p>
            <a:r>
              <a:rPr lang="zh-CN" altLang="en-US" sz="2800" b="1" dirty="0">
                <a:latin typeface="得意黑" pitchFamily="2" charset="-122"/>
                <a:ea typeface="得意黑" pitchFamily="2" charset="-122"/>
              </a:rPr>
              <a:t>解决问题的新路径：</a:t>
            </a:r>
            <a:r>
              <a:rPr lang="zh-CN" altLang="en-US" sz="2800" dirty="0">
                <a:latin typeface="得意黑" pitchFamily="2" charset="-122"/>
                <a:ea typeface="得意黑" pitchFamily="2" charset="-122"/>
              </a:rPr>
              <a:t>提出了一种可以通过做减法绕过障碍从而进行优化的想法。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737AC80-0E64-504E-AD16-19D64AC32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890" y="4345602"/>
            <a:ext cx="6612188" cy="203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2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1359</Words>
  <Application>Microsoft Office PowerPoint</Application>
  <PresentationFormat>宽屏</PresentationFormat>
  <Paragraphs>124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得意黑</vt:lpstr>
      <vt:lpstr>等线</vt:lpstr>
      <vt:lpstr>等线 Light</vt:lpstr>
      <vt:lpstr>Arial</vt:lpstr>
      <vt:lpstr>Cambria Math</vt:lpstr>
      <vt:lpstr>Office 主题​​</vt:lpstr>
      <vt:lpstr>249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9319727@qq.com</dc:creator>
  <cp:lastModifiedBy>9319727@qq.com</cp:lastModifiedBy>
  <cp:revision>13</cp:revision>
  <dcterms:created xsi:type="dcterms:W3CDTF">2025-11-15T11:58:35Z</dcterms:created>
  <dcterms:modified xsi:type="dcterms:W3CDTF">2025-11-28T12:32:27Z</dcterms:modified>
</cp:coreProperties>
</file>