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62" r:id="rId4"/>
    <p:sldId id="264" r:id="rId5"/>
    <p:sldId id="259" r:id="rId6"/>
    <p:sldId id="261" r:id="rId7"/>
    <p:sldId id="26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37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284" y="7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CB032E-0165-4816-B1A5-B0BD7E4C2798}" type="datetimeFigureOut">
              <a:rPr lang="zh-CN" altLang="en-US" smtClean="0"/>
              <a:t>2026/6/4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2248E0-E517-41DC-87E6-7D491FE765EB}" type="slidenum">
              <a:rPr lang="zh-CN" altLang="en-US" smtClean="0"/>
              <a:t>‹#›</a:t>
            </a:fld>
            <a:endParaRPr lang="zh-CN" altLang="en-US"/>
          </a:p>
        </p:txBody>
      </p:sp>
    </p:spTree>
    <p:extLst>
      <p:ext uri="{BB962C8B-B14F-4D97-AF65-F5344CB8AC3E}">
        <p14:creationId xmlns:p14="http://schemas.microsoft.com/office/powerpoint/2010/main" val="190781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22248E0-E517-41DC-87E6-7D491FE765EB}" type="slidenum">
              <a:rPr lang="zh-CN" altLang="en-US" smtClean="0"/>
              <a:t>2</a:t>
            </a:fld>
            <a:endParaRPr lang="zh-CN" altLang="en-US"/>
          </a:p>
        </p:txBody>
      </p:sp>
    </p:spTree>
    <p:extLst>
      <p:ext uri="{BB962C8B-B14F-4D97-AF65-F5344CB8AC3E}">
        <p14:creationId xmlns:p14="http://schemas.microsoft.com/office/powerpoint/2010/main" val="926238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22248E0-E517-41DC-87E6-7D491FE765EB}" type="slidenum">
              <a:rPr lang="zh-CN" altLang="en-US" smtClean="0"/>
              <a:t>3</a:t>
            </a:fld>
            <a:endParaRPr lang="zh-CN" altLang="en-US"/>
          </a:p>
        </p:txBody>
      </p:sp>
    </p:spTree>
    <p:extLst>
      <p:ext uri="{BB962C8B-B14F-4D97-AF65-F5344CB8AC3E}">
        <p14:creationId xmlns:p14="http://schemas.microsoft.com/office/powerpoint/2010/main" val="2966776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4A765-FC17-4109-BD3B-7ED904AE694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15452F1-C9AF-EE0C-09B0-8998849C13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10BE012-5D42-C658-523F-D597B7C4ED26}"/>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5478452C-C7AF-6D3D-B018-0B260F5544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478E11-C91B-3C56-7793-6D3B014050CF}"/>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42343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4A546D-5AC2-C3FA-C7C1-F155F98019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9B3649F-F9EF-E449-4ADA-0A581C989D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9E9D93-AA91-680D-02E0-68BD19741053}"/>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A1C37897-03A3-22C7-1A0C-CCB80CE127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0348FF-9AD7-5756-D045-727FBF47942A}"/>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2507606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1561A-E3F3-9F8F-5298-3643C86B4F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4F713BB-9B4A-BC22-7527-AFC3EF8982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3250F4-4301-85FC-3D36-D80017E0316B}"/>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09EC2445-DEAC-968E-E152-2539A7198E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7D44A7-981B-842B-C10A-35C892E94355}"/>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2555330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D26370-43EA-AB97-0222-84DCED74B2E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3568E3-9358-AC8B-882B-E9BEB0576E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02E07D3-BD39-BDD5-30D7-08094220EA7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72F4D3C-D392-9444-1A8C-C6F8BDD9CBB0}"/>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6" name="页脚占位符 5">
            <a:extLst>
              <a:ext uri="{FF2B5EF4-FFF2-40B4-BE49-F238E27FC236}">
                <a16:creationId xmlns:a16="http://schemas.microsoft.com/office/drawing/2014/main" id="{7A15AF45-DC99-C47C-49FF-6B4DA6C15E7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86026-3EAA-F032-9F46-2F96780F2AF1}"/>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3402662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F0C921-BA41-A066-B1E1-627F04CEB19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4CB47DD-E23A-29F6-92F5-3E777D685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E5790C1-00C4-E14A-BCE2-550B3EB81D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A13FBCB-A789-25D3-D2D6-30C2EB4C0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C9C6F56-C3B3-19F9-D72C-7B89B9128FD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8E52618-CC9A-16D6-A182-330FA3F9C58C}"/>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8" name="页脚占位符 7">
            <a:extLst>
              <a:ext uri="{FF2B5EF4-FFF2-40B4-BE49-F238E27FC236}">
                <a16:creationId xmlns:a16="http://schemas.microsoft.com/office/drawing/2014/main" id="{D93EFE7A-582F-C9F7-8950-B961FBA6715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82418A5-7987-50F6-C94B-4195B87E14D8}"/>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101846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F4BC3B-0E89-9CE0-F857-0DA299C53D8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280DCB7-796C-E11C-7B83-3A13966A0B4D}"/>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4" name="页脚占位符 3">
            <a:extLst>
              <a:ext uri="{FF2B5EF4-FFF2-40B4-BE49-F238E27FC236}">
                <a16:creationId xmlns:a16="http://schemas.microsoft.com/office/drawing/2014/main" id="{C87BE0C8-522F-A7F9-A89C-3F0B0D89338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0243729-234E-B442-F4E7-9E6A88F551A3}"/>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623562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E8CAE80-728B-CB7B-7040-00B29338B864}"/>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3" name="页脚占位符 2">
            <a:extLst>
              <a:ext uri="{FF2B5EF4-FFF2-40B4-BE49-F238E27FC236}">
                <a16:creationId xmlns:a16="http://schemas.microsoft.com/office/drawing/2014/main" id="{C1463919-6440-49FE-35AD-CDCE192F06E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65B00DC-B402-C2D0-D37D-8CA31D24C067}"/>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523689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C5F47-F9CE-7838-28F2-CD45D6261DB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8DD22B-6228-239C-6F70-DA2C6E5E42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0737A76-F347-AC9B-A8AB-3F2EF58BB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E585FFF-12FE-52B1-78FA-CBA8EA74C6EE}"/>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6" name="页脚占位符 5">
            <a:extLst>
              <a:ext uri="{FF2B5EF4-FFF2-40B4-BE49-F238E27FC236}">
                <a16:creationId xmlns:a16="http://schemas.microsoft.com/office/drawing/2014/main" id="{78E2AFE9-FAAB-7D48-C447-CBE55D93BD1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5AB5A7-BB97-3C31-F004-BB0E492FA1AA}"/>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2765089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21DC1-3574-7DD0-58B7-571B2F33EE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57E515F-F9A0-75B2-030D-4CDBFC02C4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A08A9A5-C5B5-DD3F-737B-E94B217AB6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50DF7E-EBBD-9027-80DE-94FA4FB04397}"/>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6" name="页脚占位符 5">
            <a:extLst>
              <a:ext uri="{FF2B5EF4-FFF2-40B4-BE49-F238E27FC236}">
                <a16:creationId xmlns:a16="http://schemas.microsoft.com/office/drawing/2014/main" id="{3836F11E-20A0-6C9B-5971-9BCAA20979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3A1A3E-81B6-0873-8A83-589A4A12782B}"/>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1807803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85BBD-8197-C132-2291-AE311E5E08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3CE05C9-4A23-9B26-F1C3-C0EDF9E75AF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B69900-EB47-6466-35B1-1CC44A7D5953}"/>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5E9A650C-007E-4505-F39F-88259A7403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C91E87-1D38-1F3B-6844-133385AE1039}"/>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1793753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6E3BED-EDB3-06A2-09D1-8579A75262F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48D685-DC92-629B-D653-6B592CD2834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C92383C-EEC6-CDAB-0C73-48E763451801}"/>
              </a:ext>
            </a:extLst>
          </p:cNvPr>
          <p:cNvSpPr>
            <a:spLocks noGrp="1"/>
          </p:cNvSpPr>
          <p:nvPr>
            <p:ph type="dt" sz="half" idx="10"/>
          </p:nvPr>
        </p:nvSpPr>
        <p:spPr/>
        <p:txBody>
          <a:body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100DD8C6-957C-4640-5154-5C7236A9EF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3E4BA9-9641-10A4-FCC1-F98FB0BA364F}"/>
              </a:ext>
            </a:extLst>
          </p:cNvPr>
          <p:cNvSpPr>
            <a:spLocks noGrp="1"/>
          </p:cNvSpPr>
          <p:nvPr>
            <p:ph type="sldNum" sz="quarter" idx="12"/>
          </p:nvPr>
        </p:nvSpPr>
        <p:spPr/>
        <p:txBody>
          <a:body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2527415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75994B6-40FB-FDFC-838F-4D9C8D1F4D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EF0971D-9C87-C066-3A7E-DAD775A13F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BD9AA2-0745-5B45-F576-EE745FD34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4466A7-E24B-4243-8E45-256019087E39}" type="datetimeFigureOut">
              <a:rPr lang="zh-CN" altLang="en-US" smtClean="0"/>
              <a:t>2026/6/4</a:t>
            </a:fld>
            <a:endParaRPr lang="zh-CN" altLang="en-US"/>
          </a:p>
        </p:txBody>
      </p:sp>
      <p:sp>
        <p:nvSpPr>
          <p:cNvPr id="5" name="页脚占位符 4">
            <a:extLst>
              <a:ext uri="{FF2B5EF4-FFF2-40B4-BE49-F238E27FC236}">
                <a16:creationId xmlns:a16="http://schemas.microsoft.com/office/drawing/2014/main" id="{9BBC831A-1AB0-2F6B-78A4-5DA171F8E3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6B50315-E72E-47C5-9B2C-1C9938B250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4D3B10-B389-4B8D-A8AA-7BFDE169152B}" type="slidenum">
              <a:rPr lang="zh-CN" altLang="en-US" smtClean="0"/>
              <a:t>‹#›</a:t>
            </a:fld>
            <a:endParaRPr lang="zh-CN" altLang="en-US"/>
          </a:p>
        </p:txBody>
      </p:sp>
    </p:spTree>
    <p:extLst>
      <p:ext uri="{BB962C8B-B14F-4D97-AF65-F5344CB8AC3E}">
        <p14:creationId xmlns:p14="http://schemas.microsoft.com/office/powerpoint/2010/main" val="856059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6B074F6A-EB6F-3634-66BE-F684768AB6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88EFCB86-27D3-846C-6438-EFE1F6E773A2}"/>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809FA5F-06C8-D230-67F8-1E0934AB8E53}"/>
              </a:ext>
            </a:extLst>
          </p:cNvPr>
          <p:cNvSpPr txBox="1"/>
          <p:nvPr/>
        </p:nvSpPr>
        <p:spPr>
          <a:xfrm>
            <a:off x="1274233" y="1129113"/>
            <a:ext cx="9643533" cy="3046988"/>
          </a:xfrm>
          <a:prstGeom prst="rect">
            <a:avLst/>
          </a:prstGeom>
          <a:noFill/>
        </p:spPr>
        <p:txBody>
          <a:bodyPr wrap="square" rtlCol="0">
            <a:spAutoFit/>
          </a:bodyPr>
          <a:lstStyle/>
          <a:p>
            <a:pPr algn="ctr"/>
            <a:r>
              <a:rPr lang="zh-CN" altLang="en-US" sz="9600" b="1" dirty="0">
                <a:latin typeface="黑体" panose="02010609060101010101" pitchFamily="49" charset="-122"/>
                <a:ea typeface="黑体" panose="02010609060101010101" pitchFamily="49" charset="-122"/>
              </a:rPr>
              <a:t>一种博物馆导览系统的设计</a:t>
            </a:r>
          </a:p>
        </p:txBody>
      </p:sp>
      <p:sp>
        <p:nvSpPr>
          <p:cNvPr id="3" name="文本框 2">
            <a:extLst>
              <a:ext uri="{FF2B5EF4-FFF2-40B4-BE49-F238E27FC236}">
                <a16:creationId xmlns:a16="http://schemas.microsoft.com/office/drawing/2014/main" id="{5B0551A3-13D4-85F8-94BE-93EE2216F504}"/>
              </a:ext>
            </a:extLst>
          </p:cNvPr>
          <p:cNvSpPr txBox="1"/>
          <p:nvPr/>
        </p:nvSpPr>
        <p:spPr>
          <a:xfrm>
            <a:off x="5196367" y="5038514"/>
            <a:ext cx="1693531" cy="461665"/>
          </a:xfrm>
          <a:prstGeom prst="rect">
            <a:avLst/>
          </a:prstGeom>
          <a:noFill/>
        </p:spPr>
        <p:txBody>
          <a:bodyPr wrap="square" rtlCol="0">
            <a:spAutoFit/>
          </a:bodyPr>
          <a:lstStyle/>
          <a:p>
            <a:pPr algn="ctr"/>
            <a:r>
              <a:rPr lang="en-US" altLang="zh-CN" sz="2400" b="1" dirty="0">
                <a:latin typeface="黑体" panose="02010609060101010101" pitchFamily="49" charset="-122"/>
                <a:ea typeface="黑体" panose="02010609060101010101" pitchFamily="49" charset="-122"/>
              </a:rPr>
              <a:t>BY </a:t>
            </a:r>
            <a:r>
              <a:rPr lang="zh-CN" altLang="en-US" sz="2400" b="1" dirty="0">
                <a:latin typeface="黑体" panose="02010609060101010101" pitchFamily="49" charset="-122"/>
                <a:ea typeface="黑体" panose="02010609060101010101" pitchFamily="49" charset="-122"/>
              </a:rPr>
              <a:t>莫天皓</a:t>
            </a:r>
            <a:endParaRPr lang="en-US" altLang="zh-CN"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23054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B229-7C6C-AD03-5D94-8470BF6E0FA7}"/>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1EBD454C-39DF-4406-F4C9-32BA8EC753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3A77CBDF-F6EF-9471-C390-AE6D2A0330D9}"/>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E5D09E48-7D4F-200B-B696-C5C30B07FC34}"/>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5896D159-8247-F9B8-6145-943321E43B6B}"/>
              </a:ext>
            </a:extLst>
          </p:cNvPr>
          <p:cNvSpPr txBox="1"/>
          <p:nvPr/>
        </p:nvSpPr>
        <p:spPr>
          <a:xfrm>
            <a:off x="701157" y="524587"/>
            <a:ext cx="3261243"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现状与痛点分析</a:t>
            </a:r>
          </a:p>
        </p:txBody>
      </p:sp>
      <p:sp>
        <p:nvSpPr>
          <p:cNvPr id="10" name="文本框 9">
            <a:extLst>
              <a:ext uri="{FF2B5EF4-FFF2-40B4-BE49-F238E27FC236}">
                <a16:creationId xmlns:a16="http://schemas.microsoft.com/office/drawing/2014/main" id="{F255318B-CDC7-6796-2B31-0CD7EB5526CA}"/>
              </a:ext>
            </a:extLst>
          </p:cNvPr>
          <p:cNvSpPr txBox="1"/>
          <p:nvPr/>
        </p:nvSpPr>
        <p:spPr>
          <a:xfrm>
            <a:off x="440634" y="4624071"/>
            <a:ext cx="5325532" cy="1077218"/>
          </a:xfrm>
          <a:prstGeom prst="rect">
            <a:avLst/>
          </a:prstGeom>
          <a:noFill/>
        </p:spPr>
        <p:txBody>
          <a:bodyPr wrap="square">
            <a:spAutoFit/>
          </a:bodyPr>
          <a:lstStyle/>
          <a:p>
            <a:r>
              <a:rPr lang="en-US" altLang="zh-CN" sz="2400"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设备形态单一：</a:t>
            </a:r>
            <a:r>
              <a:rPr lang="zh-CN" altLang="en-US" sz="2000" dirty="0">
                <a:latin typeface="黑体" panose="02010609060101010101" pitchFamily="49" charset="-122"/>
                <a:ea typeface="黑体" panose="02010609060101010101" pitchFamily="49" charset="-122"/>
              </a:rPr>
              <a:t>当前耳机样式单一，无法适配不同人群；且无法为不同需求的人提供多样化选择。</a:t>
            </a:r>
          </a:p>
        </p:txBody>
      </p:sp>
      <p:pic>
        <p:nvPicPr>
          <p:cNvPr id="2050" name="Picture 2" descr="订制游客讲解器耳机景区博物馆导览器耳机线软硅胶舒适佩戴大音量-阿里巴巴">
            <a:extLst>
              <a:ext uri="{FF2B5EF4-FFF2-40B4-BE49-F238E27FC236}">
                <a16:creationId xmlns:a16="http://schemas.microsoft.com/office/drawing/2014/main" id="{77176847-F7E4-861A-D47F-6B35C18A3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0900" y="1821729"/>
            <a:ext cx="3401895" cy="3401895"/>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CCB7CAF0-B728-5D49-2DE7-406C4234596C}"/>
              </a:ext>
            </a:extLst>
          </p:cNvPr>
          <p:cNvSpPr txBox="1"/>
          <p:nvPr/>
        </p:nvSpPr>
        <p:spPr>
          <a:xfrm>
            <a:off x="440634" y="1350434"/>
            <a:ext cx="5002808" cy="1692771"/>
          </a:xfrm>
          <a:prstGeom prst="rect">
            <a:avLst/>
          </a:prstGeom>
          <a:noFill/>
        </p:spPr>
        <p:txBody>
          <a:bodyPr wrap="square" rtlCol="0">
            <a:spAutoFit/>
          </a:bodyPr>
          <a:lstStyle/>
          <a:p>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物理不适显著：</a:t>
            </a:r>
            <a:r>
              <a:rPr lang="zh-CN" altLang="en-US" sz="2000" dirty="0">
                <a:latin typeface="黑体" panose="02010609060101010101" pitchFamily="49" charset="-122"/>
                <a:ea typeface="黑体" panose="02010609060101010101" pitchFamily="49" charset="-122"/>
              </a:rPr>
              <a:t>现有市面上的主流的耳机样式分为入耳式和耳挂式。入耳式耳机耳塞尺寸不匹配，容易引起耳道胀痛；耳挂式耳机无法稳固地固定在耳朵上，易引起耳廓疼痛、且易滑落。</a:t>
            </a:r>
          </a:p>
        </p:txBody>
      </p:sp>
      <p:sp>
        <p:nvSpPr>
          <p:cNvPr id="13" name="文本框 12">
            <a:extLst>
              <a:ext uri="{FF2B5EF4-FFF2-40B4-BE49-F238E27FC236}">
                <a16:creationId xmlns:a16="http://schemas.microsoft.com/office/drawing/2014/main" id="{CD81B2F6-858F-C5DA-79D6-EDA3CB3CEB8D}"/>
              </a:ext>
            </a:extLst>
          </p:cNvPr>
          <p:cNvSpPr txBox="1"/>
          <p:nvPr/>
        </p:nvSpPr>
        <p:spPr>
          <a:xfrm>
            <a:off x="440634" y="3430075"/>
            <a:ext cx="5082587" cy="769441"/>
          </a:xfrm>
          <a:prstGeom prst="rect">
            <a:avLst/>
          </a:prstGeom>
          <a:noFill/>
        </p:spPr>
        <p:txBody>
          <a:bodyPr wrap="square" rtlCol="0">
            <a:spAutoFit/>
          </a:bodyPr>
          <a:lstStyle/>
          <a:p>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使用体验割裂：</a:t>
            </a:r>
            <a:r>
              <a:rPr lang="zh-CN" altLang="en-US" sz="2000" dirty="0">
                <a:latin typeface="黑体" panose="02010609060101010101" pitchFamily="49" charset="-122"/>
                <a:ea typeface="黑体" panose="02010609060101010101" pitchFamily="49" charset="-122"/>
              </a:rPr>
              <a:t>设备质量差，操作不灵敏；设备质量大，佩戴时有明显的坠耳感。</a:t>
            </a:r>
          </a:p>
        </p:txBody>
      </p:sp>
      <p:pic>
        <p:nvPicPr>
          <p:cNvPr id="2052" name="Picture 4" descr="比西特无线讲解器一对多讲解器蓝牙耳机博物馆培训接待导游电子耳麦无线讲解器BCITY711R/911R同声翻译耳机_虎窝淘">
            <a:extLst>
              <a:ext uri="{FF2B5EF4-FFF2-40B4-BE49-F238E27FC236}">
                <a16:creationId xmlns:a16="http://schemas.microsoft.com/office/drawing/2014/main" id="{9CE8640F-5DC5-16C8-8881-832278315C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7529" y="2040748"/>
            <a:ext cx="2101301" cy="312193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B1B53A59-E003-2640-68E5-30A77853521F}"/>
              </a:ext>
            </a:extLst>
          </p:cNvPr>
          <p:cNvSpPr txBox="1"/>
          <p:nvPr/>
        </p:nvSpPr>
        <p:spPr>
          <a:xfrm>
            <a:off x="7136118" y="5246594"/>
            <a:ext cx="4453353" cy="307777"/>
          </a:xfrm>
          <a:prstGeom prst="rect">
            <a:avLst/>
          </a:prstGeom>
          <a:noFill/>
        </p:spPr>
        <p:txBody>
          <a:bodyPr wrap="square" rtlCol="0">
            <a:spAutoFit/>
          </a:bodyPr>
          <a:lstStyle/>
          <a:p>
            <a:pPr algn="ctr"/>
            <a:r>
              <a:rPr lang="zh-CN" altLang="en-US" sz="1400" dirty="0"/>
              <a:t>市面上两种常见的导览耳机样式</a:t>
            </a:r>
          </a:p>
        </p:txBody>
      </p:sp>
    </p:spTree>
    <p:extLst>
      <p:ext uri="{BB962C8B-B14F-4D97-AF65-F5344CB8AC3E}">
        <p14:creationId xmlns:p14="http://schemas.microsoft.com/office/powerpoint/2010/main" val="2713392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4DF87-FA9A-5B96-0644-26EC60036425}"/>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35D6C6E0-CD7A-B7F8-208B-1F30A01F82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F7FC0E62-C540-AA3B-D829-A7460960F02A}"/>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DBF2B844-C8D9-D1D3-5557-1894FA384FBF}"/>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8275151D-3173-67EB-285C-7A6F7563F50F}"/>
              </a:ext>
            </a:extLst>
          </p:cNvPr>
          <p:cNvSpPr txBox="1"/>
          <p:nvPr/>
        </p:nvSpPr>
        <p:spPr>
          <a:xfrm>
            <a:off x="701157" y="524587"/>
            <a:ext cx="4296293"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2. </a:t>
            </a:r>
            <a:r>
              <a:rPr lang="zh-CN" altLang="en-US" sz="2800" b="1" dirty="0">
                <a:latin typeface="黑体" panose="02010609060101010101" pitchFamily="49" charset="-122"/>
                <a:ea typeface="黑体" panose="02010609060101010101" pitchFamily="49" charset="-122"/>
              </a:rPr>
              <a:t>需求定义与问题陈述</a:t>
            </a:r>
          </a:p>
        </p:txBody>
      </p:sp>
      <p:sp>
        <p:nvSpPr>
          <p:cNvPr id="4" name="文本框 3">
            <a:extLst>
              <a:ext uri="{FF2B5EF4-FFF2-40B4-BE49-F238E27FC236}">
                <a16:creationId xmlns:a16="http://schemas.microsoft.com/office/drawing/2014/main" id="{A26E50AE-3BA0-A8A7-CEE3-491C02929843}"/>
              </a:ext>
            </a:extLst>
          </p:cNvPr>
          <p:cNvSpPr txBox="1"/>
          <p:nvPr/>
        </p:nvSpPr>
        <p:spPr>
          <a:xfrm>
            <a:off x="1367509" y="1227695"/>
            <a:ext cx="9645650" cy="461665"/>
          </a:xfrm>
          <a:prstGeom prst="rect">
            <a:avLst/>
          </a:prstGeom>
          <a:noFill/>
        </p:spPr>
        <p:txBody>
          <a:bodyPr wrap="square" rtlCol="0">
            <a:spAutoFit/>
          </a:bodyPr>
          <a:lstStyle/>
          <a:p>
            <a:pPr algn="ctr"/>
            <a:r>
              <a:rPr lang="zh-CN" altLang="en-US" sz="2400" b="1" dirty="0">
                <a:latin typeface="黑体" panose="02010609060101010101" pitchFamily="49" charset="-122"/>
                <a:ea typeface="黑体" panose="02010609060101010101" pitchFamily="49" charset="-122"/>
              </a:rPr>
              <a:t>核心矛盾：传统导览耳机的佩戴不舒适导致的观展体验差。</a:t>
            </a:r>
          </a:p>
        </p:txBody>
      </p:sp>
      <p:sp>
        <p:nvSpPr>
          <p:cNvPr id="7" name="矩形: 圆角 6">
            <a:extLst>
              <a:ext uri="{FF2B5EF4-FFF2-40B4-BE49-F238E27FC236}">
                <a16:creationId xmlns:a16="http://schemas.microsoft.com/office/drawing/2014/main" id="{87001557-1180-1B7A-749F-5FD371A0AE86}"/>
              </a:ext>
            </a:extLst>
          </p:cNvPr>
          <p:cNvSpPr/>
          <p:nvPr/>
        </p:nvSpPr>
        <p:spPr>
          <a:xfrm>
            <a:off x="449698" y="2235805"/>
            <a:ext cx="3359761" cy="2860735"/>
          </a:xfrm>
          <a:prstGeom prst="roundRect">
            <a:avLst/>
          </a:prstGeom>
          <a:solidFill>
            <a:schemeClr val="tx2">
              <a:lumMod val="90000"/>
              <a:lumOff val="1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3200" b="1" dirty="0">
                <a:latin typeface="黑体" panose="02010609060101010101" pitchFamily="49" charset="-122"/>
                <a:ea typeface="黑体" panose="02010609060101010101" pitchFamily="49" charset="-122"/>
              </a:rPr>
              <a:t>用户需求</a:t>
            </a:r>
            <a:endParaRPr lang="en-US" altLang="zh-CN" sz="3200" b="1" dirty="0">
              <a:latin typeface="黑体" panose="02010609060101010101" pitchFamily="49" charset="-122"/>
              <a:ea typeface="黑体" panose="02010609060101010101" pitchFamily="49" charset="-122"/>
            </a:endParaRPr>
          </a:p>
          <a:p>
            <a:pPr marL="342900" indent="-342900">
              <a:buAutoNum type="arabicPeriod"/>
            </a:pPr>
            <a:r>
              <a:rPr lang="zh-CN" altLang="en-US" sz="2400" dirty="0">
                <a:latin typeface="黑体" panose="02010609060101010101" pitchFamily="49" charset="-122"/>
                <a:ea typeface="黑体" panose="02010609060101010101" pitchFamily="49" charset="-122"/>
              </a:rPr>
              <a:t>佩戴舒适</a:t>
            </a:r>
            <a:endParaRPr lang="en-US" altLang="zh-CN" sz="2400" dirty="0">
              <a:latin typeface="黑体" panose="02010609060101010101" pitchFamily="49" charset="-122"/>
              <a:ea typeface="黑体" panose="02010609060101010101" pitchFamily="49" charset="-122"/>
            </a:endParaRPr>
          </a:p>
          <a:p>
            <a:pPr marL="342900" indent="-342900">
              <a:buAutoNum type="arabicPeriod"/>
            </a:pPr>
            <a:r>
              <a:rPr lang="zh-CN" altLang="en-US" sz="2400" dirty="0">
                <a:latin typeface="黑体" panose="02010609060101010101" pitchFamily="49" charset="-122"/>
                <a:ea typeface="黑体" panose="02010609060101010101" pitchFamily="49" charset="-122"/>
              </a:rPr>
              <a:t>质量轻巧</a:t>
            </a:r>
            <a:endParaRPr lang="en-US" altLang="zh-CN" sz="2400" dirty="0">
              <a:latin typeface="黑体" panose="02010609060101010101" pitchFamily="49" charset="-122"/>
              <a:ea typeface="黑体" panose="02010609060101010101" pitchFamily="49" charset="-122"/>
            </a:endParaRPr>
          </a:p>
          <a:p>
            <a:pPr marL="342900" indent="-342900">
              <a:buAutoNum type="arabicPeriod"/>
            </a:pPr>
            <a:r>
              <a:rPr lang="zh-CN" altLang="en-US" sz="2400" dirty="0">
                <a:latin typeface="黑体" panose="02010609060101010101" pitchFamily="49" charset="-122"/>
                <a:ea typeface="黑体" panose="02010609060101010101" pitchFamily="49" charset="-122"/>
              </a:rPr>
              <a:t>操作简单</a:t>
            </a:r>
            <a:endParaRPr lang="en-US" altLang="zh-CN" sz="2400" dirty="0">
              <a:latin typeface="黑体" panose="02010609060101010101" pitchFamily="49" charset="-122"/>
              <a:ea typeface="黑体" panose="02010609060101010101" pitchFamily="49" charset="-122"/>
            </a:endParaRPr>
          </a:p>
          <a:p>
            <a:pPr marL="342900" indent="-342900">
              <a:buFontTx/>
              <a:buAutoNum type="arabicPeriod"/>
            </a:pPr>
            <a:r>
              <a:rPr lang="zh-CN" altLang="en-US" sz="2400" dirty="0">
                <a:latin typeface="黑体" panose="02010609060101010101" pitchFamily="49" charset="-122"/>
                <a:ea typeface="黑体" panose="02010609060101010101" pitchFamily="49" charset="-122"/>
              </a:rPr>
              <a:t>适配不同人群</a:t>
            </a:r>
            <a:endParaRPr lang="en-US" altLang="zh-CN" sz="2400" dirty="0">
              <a:latin typeface="黑体" panose="02010609060101010101" pitchFamily="49" charset="-122"/>
              <a:ea typeface="黑体" panose="02010609060101010101" pitchFamily="49" charset="-122"/>
            </a:endParaRPr>
          </a:p>
          <a:p>
            <a:pPr marL="342900" indent="-342900">
              <a:buAutoNum type="arabicPeriod"/>
            </a:pPr>
            <a:r>
              <a:rPr lang="zh-CN" altLang="en-US" sz="2400" dirty="0">
                <a:latin typeface="黑体" panose="02010609060101010101" pitchFamily="49" charset="-122"/>
                <a:ea typeface="黑体" panose="02010609060101010101" pitchFamily="49" charset="-122"/>
              </a:rPr>
              <a:t>提供更沉浸式的导览体验</a:t>
            </a:r>
            <a:endParaRPr lang="en-US" altLang="zh-CN" sz="2400" dirty="0">
              <a:latin typeface="黑体" panose="02010609060101010101" pitchFamily="49" charset="-122"/>
              <a:ea typeface="黑体" panose="02010609060101010101" pitchFamily="49" charset="-122"/>
            </a:endParaRPr>
          </a:p>
        </p:txBody>
      </p:sp>
      <p:sp>
        <p:nvSpPr>
          <p:cNvPr id="8" name="矩形: 圆角 7">
            <a:extLst>
              <a:ext uri="{FF2B5EF4-FFF2-40B4-BE49-F238E27FC236}">
                <a16:creationId xmlns:a16="http://schemas.microsoft.com/office/drawing/2014/main" id="{5C5D41EA-5181-95C1-A6F8-B542A899F8F3}"/>
              </a:ext>
            </a:extLst>
          </p:cNvPr>
          <p:cNvSpPr/>
          <p:nvPr/>
        </p:nvSpPr>
        <p:spPr>
          <a:xfrm>
            <a:off x="8400773" y="2297771"/>
            <a:ext cx="3166534" cy="2859178"/>
          </a:xfrm>
          <a:prstGeom prst="roundRect">
            <a:avLst/>
          </a:prstGeom>
          <a:solidFill>
            <a:schemeClr val="accent2">
              <a:lumMod val="5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b="1" dirty="0"/>
              <a:t>问题陈述</a:t>
            </a:r>
          </a:p>
          <a:p>
            <a:r>
              <a:rPr lang="zh-CN" altLang="en-US" sz="2400" dirty="0"/>
              <a:t>如何为不同的博物馆参观者，设计一套佩戴舒适的导览耳机，为其提供更沉浸的更个性化的参展体验</a:t>
            </a:r>
            <a:endParaRPr lang="zh-CN" altLang="en-US" sz="2400" dirty="0">
              <a:latin typeface="黑体" panose="02010609060101010101" pitchFamily="49" charset="-122"/>
              <a:ea typeface="黑体" panose="02010609060101010101" pitchFamily="49" charset="-122"/>
            </a:endParaRPr>
          </a:p>
        </p:txBody>
      </p:sp>
      <p:sp>
        <p:nvSpPr>
          <p:cNvPr id="9" name="矩形: 圆角 8">
            <a:extLst>
              <a:ext uri="{FF2B5EF4-FFF2-40B4-BE49-F238E27FC236}">
                <a16:creationId xmlns:a16="http://schemas.microsoft.com/office/drawing/2014/main" id="{4D5F8AED-BFBF-142A-1F76-4D4162D507FB}"/>
              </a:ext>
            </a:extLst>
          </p:cNvPr>
          <p:cNvSpPr/>
          <p:nvPr/>
        </p:nvSpPr>
        <p:spPr>
          <a:xfrm>
            <a:off x="4064423" y="1824416"/>
            <a:ext cx="4141617" cy="3805889"/>
          </a:xfrm>
          <a:prstGeom prst="roundRect">
            <a:avLst/>
          </a:prstGeom>
          <a:solidFill>
            <a:schemeClr val="tx1">
              <a:lumMod val="50000"/>
              <a:lumOff val="5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r>
              <a:rPr lang="zh-CN" altLang="en-US" sz="2800" b="1" dirty="0"/>
              <a:t>方案构想</a:t>
            </a:r>
            <a:endParaRPr lang="en-US" altLang="zh-CN" sz="2800" b="1" dirty="0"/>
          </a:p>
          <a:p>
            <a:pPr marL="457200" indent="-457200">
              <a:buAutoNum type="arabicPeriod"/>
            </a:pPr>
            <a:r>
              <a:rPr lang="zh-CN" altLang="en-US" sz="2400" dirty="0"/>
              <a:t>设计一款佩戴舒适且符合人体工学特性的耳机</a:t>
            </a:r>
            <a:endParaRPr lang="en-US" altLang="zh-CN" sz="2400" dirty="0"/>
          </a:p>
          <a:p>
            <a:r>
              <a:rPr lang="en-US" altLang="zh-CN" sz="2400" dirty="0"/>
              <a:t>2.   </a:t>
            </a:r>
            <a:r>
              <a:rPr lang="zh-CN" altLang="en-US" sz="2400" dirty="0"/>
              <a:t>设计一款智能</a:t>
            </a:r>
            <a:r>
              <a:rPr lang="en-US" altLang="zh-CN" sz="2400" dirty="0"/>
              <a:t>AR</a:t>
            </a:r>
            <a:r>
              <a:rPr lang="zh-CN" altLang="en-US" sz="2400" dirty="0"/>
              <a:t>眼睛，在解决耳机佩戴问题的同时为游客多感官的沉浸式导览体验</a:t>
            </a:r>
            <a:endParaRPr lang="en-US" altLang="zh-CN" sz="2400" dirty="0"/>
          </a:p>
          <a:p>
            <a:r>
              <a:rPr lang="en-US" altLang="zh-CN" sz="2400" dirty="0"/>
              <a:t>3.   </a:t>
            </a:r>
            <a:r>
              <a:rPr lang="zh-CN" altLang="en-US" sz="2400" dirty="0"/>
              <a:t>针对不同人群采取多选择的个性化导览方案。</a:t>
            </a:r>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21553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8C7E8-C7AB-E6BC-89D4-D0DF8615D464}"/>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49DD8F93-CFA7-04EB-141C-BFC41DDB7A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9681C451-1DA6-AA2D-2278-4698D9FDF55B}"/>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B7BF0373-608C-ED93-BD1E-031FC5E0D632}"/>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BF1E4D94-56CF-3A0E-9658-30CB3F9B03B8}"/>
              </a:ext>
            </a:extLst>
          </p:cNvPr>
          <p:cNvSpPr txBox="1"/>
          <p:nvPr/>
        </p:nvSpPr>
        <p:spPr>
          <a:xfrm>
            <a:off x="701157" y="524587"/>
            <a:ext cx="9320422"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3.1 </a:t>
            </a:r>
            <a:r>
              <a:rPr lang="zh-CN" altLang="en-US" sz="2800" b="1" dirty="0">
                <a:latin typeface="黑体" panose="02010609060101010101" pitchFamily="49" charset="-122"/>
                <a:ea typeface="黑体" panose="02010609060101010101" pitchFamily="49" charset="-122"/>
              </a:rPr>
              <a:t>解决方案一</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一种更舒适的博物馆导览耳机的设计</a:t>
            </a:r>
          </a:p>
        </p:txBody>
      </p:sp>
      <p:sp>
        <p:nvSpPr>
          <p:cNvPr id="4" name="文本框 3">
            <a:extLst>
              <a:ext uri="{FF2B5EF4-FFF2-40B4-BE49-F238E27FC236}">
                <a16:creationId xmlns:a16="http://schemas.microsoft.com/office/drawing/2014/main" id="{4D868664-0073-B4C8-F1D4-551FFD0815A4}"/>
              </a:ext>
            </a:extLst>
          </p:cNvPr>
          <p:cNvSpPr txBox="1"/>
          <p:nvPr/>
        </p:nvSpPr>
        <p:spPr>
          <a:xfrm>
            <a:off x="701157" y="1569475"/>
            <a:ext cx="2865938" cy="1200329"/>
          </a:xfrm>
          <a:prstGeom prst="rect">
            <a:avLst/>
          </a:prstGeom>
          <a:noFill/>
        </p:spPr>
        <p:txBody>
          <a:bodyPr wrap="square" rtlCol="0">
            <a:spAutoFit/>
          </a:bodyPr>
          <a:lstStyle/>
          <a:p>
            <a:r>
              <a:rPr lang="zh-CN" altLang="en-US" sz="2400" b="1" dirty="0"/>
              <a:t>从人体工学的角度，重新设计耳机的构型使佩戴更为舒适</a:t>
            </a:r>
          </a:p>
        </p:txBody>
      </p:sp>
      <p:cxnSp>
        <p:nvCxnSpPr>
          <p:cNvPr id="8" name="直接连接符 7">
            <a:extLst>
              <a:ext uri="{FF2B5EF4-FFF2-40B4-BE49-F238E27FC236}">
                <a16:creationId xmlns:a16="http://schemas.microsoft.com/office/drawing/2014/main" id="{B9F921BD-9AAD-A426-C701-93970D399E7A}"/>
              </a:ext>
            </a:extLst>
          </p:cNvPr>
          <p:cNvCxnSpPr/>
          <p:nvPr/>
        </p:nvCxnSpPr>
        <p:spPr>
          <a:xfrm>
            <a:off x="701157" y="1660275"/>
            <a:ext cx="0" cy="1018728"/>
          </a:xfrm>
          <a:prstGeom prst="line">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图片 11">
            <a:extLst>
              <a:ext uri="{FF2B5EF4-FFF2-40B4-BE49-F238E27FC236}">
                <a16:creationId xmlns:a16="http://schemas.microsoft.com/office/drawing/2014/main" id="{7DCEE1B6-0257-D92E-CDE6-0C367A885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8198" y="1165601"/>
            <a:ext cx="7907965" cy="5271977"/>
          </a:xfrm>
          <a:prstGeom prst="rect">
            <a:avLst/>
          </a:prstGeom>
        </p:spPr>
      </p:pic>
      <p:cxnSp>
        <p:nvCxnSpPr>
          <p:cNvPr id="13" name="直接连接符 12">
            <a:extLst>
              <a:ext uri="{FF2B5EF4-FFF2-40B4-BE49-F238E27FC236}">
                <a16:creationId xmlns:a16="http://schemas.microsoft.com/office/drawing/2014/main" id="{86B7AA5D-EDEC-C354-39F8-A76A0B017975}"/>
              </a:ext>
            </a:extLst>
          </p:cNvPr>
          <p:cNvCxnSpPr>
            <a:cxnSpLocks/>
          </p:cNvCxnSpPr>
          <p:nvPr/>
        </p:nvCxnSpPr>
        <p:spPr>
          <a:xfrm>
            <a:off x="701157" y="2934298"/>
            <a:ext cx="0" cy="1611009"/>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9A80A307-0F54-4EE6-88C5-4162A7C78375}"/>
              </a:ext>
            </a:extLst>
          </p:cNvPr>
          <p:cNvSpPr txBox="1"/>
          <p:nvPr/>
        </p:nvSpPr>
        <p:spPr>
          <a:xfrm>
            <a:off x="2069805" y="1864839"/>
            <a:ext cx="184731" cy="369332"/>
          </a:xfrm>
          <a:prstGeom prst="rect">
            <a:avLst/>
          </a:prstGeom>
          <a:noFill/>
        </p:spPr>
        <p:txBody>
          <a:bodyPr wrap="none" rtlCol="0">
            <a:spAutoFit/>
          </a:bodyPr>
          <a:lstStyle/>
          <a:p>
            <a:endParaRPr lang="zh-CN" altLang="en-US" dirty="0"/>
          </a:p>
        </p:txBody>
      </p:sp>
      <p:sp>
        <p:nvSpPr>
          <p:cNvPr id="17" name="文本框 16">
            <a:extLst>
              <a:ext uri="{FF2B5EF4-FFF2-40B4-BE49-F238E27FC236}">
                <a16:creationId xmlns:a16="http://schemas.microsoft.com/office/drawing/2014/main" id="{E7B127F5-AB33-A038-EA9B-7E47DB80B1AB}"/>
              </a:ext>
            </a:extLst>
          </p:cNvPr>
          <p:cNvSpPr txBox="1"/>
          <p:nvPr/>
        </p:nvSpPr>
        <p:spPr>
          <a:xfrm>
            <a:off x="701157" y="2907720"/>
            <a:ext cx="2438991" cy="1692771"/>
          </a:xfrm>
          <a:prstGeom prst="rect">
            <a:avLst/>
          </a:prstGeom>
          <a:noFill/>
        </p:spPr>
        <p:txBody>
          <a:bodyPr wrap="square" rtlCol="0">
            <a:spAutoFit/>
          </a:bodyPr>
          <a:lstStyle/>
          <a:p>
            <a:r>
              <a:rPr lang="zh-CN" altLang="en-US" sz="3200" b="1" dirty="0"/>
              <a:t>骨传导耳机：</a:t>
            </a:r>
            <a:endParaRPr lang="en-US" altLang="zh-CN" sz="3200" b="1" dirty="0"/>
          </a:p>
          <a:p>
            <a:r>
              <a:rPr lang="zh-CN" altLang="en-US" sz="2400" b="1" dirty="0"/>
              <a:t>解决佩戴舒适性的问题和多人群适配的问题</a:t>
            </a:r>
          </a:p>
        </p:txBody>
      </p:sp>
      <p:sp>
        <p:nvSpPr>
          <p:cNvPr id="6" name="文本框 5">
            <a:extLst>
              <a:ext uri="{FF2B5EF4-FFF2-40B4-BE49-F238E27FC236}">
                <a16:creationId xmlns:a16="http://schemas.microsoft.com/office/drawing/2014/main" id="{568668A0-16B9-97A8-7196-095EEFF46012}"/>
              </a:ext>
            </a:extLst>
          </p:cNvPr>
          <p:cNvSpPr txBox="1"/>
          <p:nvPr/>
        </p:nvSpPr>
        <p:spPr>
          <a:xfrm>
            <a:off x="701157" y="4859765"/>
            <a:ext cx="2321442" cy="1200329"/>
          </a:xfrm>
          <a:prstGeom prst="rect">
            <a:avLst/>
          </a:prstGeom>
          <a:noFill/>
        </p:spPr>
        <p:txBody>
          <a:bodyPr wrap="square" rtlCol="0">
            <a:spAutoFit/>
          </a:bodyPr>
          <a:lstStyle/>
          <a:p>
            <a:r>
              <a:rPr lang="zh-CN" altLang="en-US" sz="2400" b="1" dirty="0"/>
              <a:t>现阶段骨传导技术不成熟，产品成本较高</a:t>
            </a:r>
          </a:p>
        </p:txBody>
      </p:sp>
      <p:cxnSp>
        <p:nvCxnSpPr>
          <p:cNvPr id="7" name="直接连接符 6">
            <a:extLst>
              <a:ext uri="{FF2B5EF4-FFF2-40B4-BE49-F238E27FC236}">
                <a16:creationId xmlns:a16="http://schemas.microsoft.com/office/drawing/2014/main" id="{A96108FC-7964-2B92-C0F1-87405F6D5518}"/>
              </a:ext>
            </a:extLst>
          </p:cNvPr>
          <p:cNvCxnSpPr/>
          <p:nvPr/>
        </p:nvCxnSpPr>
        <p:spPr>
          <a:xfrm>
            <a:off x="701157" y="4950565"/>
            <a:ext cx="0" cy="1018728"/>
          </a:xfrm>
          <a:prstGeom prst="line">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745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B969-CC89-97DE-32DE-6D09E170084E}"/>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F89C6836-7A0F-991B-7617-3AFA761B6F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6" r="10086" b="5223"/>
          <a:stretch>
            <a:fillRect/>
          </a:stretch>
        </p:blipFill>
        <p:spPr bwMode="auto">
          <a:xfrm>
            <a:off x="0" y="-53789"/>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95C8BFC2-0A1C-F19A-7413-F6EC53001B82}"/>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861B537A-3282-0D92-7771-4DD44921B199}"/>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A21AA228-174C-2D77-DEE0-FBC4F55C3505}"/>
              </a:ext>
            </a:extLst>
          </p:cNvPr>
          <p:cNvSpPr txBox="1"/>
          <p:nvPr/>
        </p:nvSpPr>
        <p:spPr>
          <a:xfrm>
            <a:off x="701157" y="524587"/>
            <a:ext cx="9602775"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3.2 </a:t>
            </a:r>
            <a:r>
              <a:rPr lang="zh-CN" altLang="en-US" sz="2800" b="1" dirty="0">
                <a:latin typeface="黑体" panose="02010609060101010101" pitchFamily="49" charset="-122"/>
                <a:ea typeface="黑体" panose="02010609060101010101" pitchFamily="49" charset="-122"/>
              </a:rPr>
              <a:t>解决方案二</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一种用于博物馆导览的</a:t>
            </a:r>
            <a:r>
              <a:rPr lang="en-US" altLang="zh-CN" sz="2800" b="1" dirty="0">
                <a:latin typeface="黑体" panose="02010609060101010101" pitchFamily="49" charset="-122"/>
                <a:ea typeface="黑体" panose="02010609060101010101" pitchFamily="49" charset="-122"/>
              </a:rPr>
              <a:t>AR</a:t>
            </a:r>
            <a:r>
              <a:rPr lang="zh-CN" altLang="en-US" sz="2800" b="1" dirty="0">
                <a:latin typeface="黑体" panose="02010609060101010101" pitchFamily="49" charset="-122"/>
                <a:ea typeface="黑体" panose="02010609060101010101" pitchFamily="49" charset="-122"/>
              </a:rPr>
              <a:t>智能眼镜设计</a:t>
            </a:r>
          </a:p>
        </p:txBody>
      </p:sp>
      <p:pic>
        <p:nvPicPr>
          <p:cNvPr id="6" name="图片 5">
            <a:extLst>
              <a:ext uri="{FF2B5EF4-FFF2-40B4-BE49-F238E27FC236}">
                <a16:creationId xmlns:a16="http://schemas.microsoft.com/office/drawing/2014/main" id="{A303FD81-936F-614A-C1E3-05031B7B6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178" y="1174947"/>
            <a:ext cx="7987707" cy="5325139"/>
          </a:xfrm>
          <a:prstGeom prst="rect">
            <a:avLst/>
          </a:prstGeom>
        </p:spPr>
      </p:pic>
      <p:cxnSp>
        <p:nvCxnSpPr>
          <p:cNvPr id="4" name="直接连接符 3">
            <a:extLst>
              <a:ext uri="{FF2B5EF4-FFF2-40B4-BE49-F238E27FC236}">
                <a16:creationId xmlns:a16="http://schemas.microsoft.com/office/drawing/2014/main" id="{1DCFB737-F384-D11E-3B87-51FAD840CC69}"/>
              </a:ext>
            </a:extLst>
          </p:cNvPr>
          <p:cNvCxnSpPr>
            <a:cxnSpLocks/>
          </p:cNvCxnSpPr>
          <p:nvPr/>
        </p:nvCxnSpPr>
        <p:spPr>
          <a:xfrm>
            <a:off x="701157" y="1377012"/>
            <a:ext cx="0" cy="1296861"/>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FD2D5866-C845-7890-962C-9AEE84CB8331}"/>
              </a:ext>
            </a:extLst>
          </p:cNvPr>
          <p:cNvSpPr txBox="1"/>
          <p:nvPr/>
        </p:nvSpPr>
        <p:spPr>
          <a:xfrm>
            <a:off x="701157" y="1385968"/>
            <a:ext cx="2438991" cy="1323439"/>
          </a:xfrm>
          <a:prstGeom prst="rect">
            <a:avLst/>
          </a:prstGeom>
          <a:noFill/>
        </p:spPr>
        <p:txBody>
          <a:bodyPr wrap="square" rtlCol="0">
            <a:spAutoFit/>
          </a:bodyPr>
          <a:lstStyle/>
          <a:p>
            <a:r>
              <a:rPr lang="zh-CN" altLang="en-US" sz="2000" b="1" dirty="0"/>
              <a:t>跳脱出“博物馆导览必须使用耳机”的固定思维，同时提升用户的参展沉浸感</a:t>
            </a:r>
          </a:p>
        </p:txBody>
      </p:sp>
      <p:cxnSp>
        <p:nvCxnSpPr>
          <p:cNvPr id="9" name="直接连接符 8">
            <a:extLst>
              <a:ext uri="{FF2B5EF4-FFF2-40B4-BE49-F238E27FC236}">
                <a16:creationId xmlns:a16="http://schemas.microsoft.com/office/drawing/2014/main" id="{DAB827C0-2164-1A6A-01E6-A8E35215D6AE}"/>
              </a:ext>
            </a:extLst>
          </p:cNvPr>
          <p:cNvCxnSpPr>
            <a:cxnSpLocks/>
          </p:cNvCxnSpPr>
          <p:nvPr/>
        </p:nvCxnSpPr>
        <p:spPr>
          <a:xfrm>
            <a:off x="701157" y="2946773"/>
            <a:ext cx="0" cy="1611009"/>
          </a:xfrm>
          <a:prstGeom prst="line">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38F99FA8-E65B-7210-F308-A6B715B4C754}"/>
              </a:ext>
            </a:extLst>
          </p:cNvPr>
          <p:cNvSpPr txBox="1"/>
          <p:nvPr/>
        </p:nvSpPr>
        <p:spPr>
          <a:xfrm>
            <a:off x="701156" y="2884661"/>
            <a:ext cx="2438991" cy="1815882"/>
          </a:xfrm>
          <a:prstGeom prst="rect">
            <a:avLst/>
          </a:prstGeom>
          <a:noFill/>
        </p:spPr>
        <p:txBody>
          <a:bodyPr wrap="square" rtlCol="0">
            <a:spAutoFit/>
          </a:bodyPr>
          <a:lstStyle/>
          <a:p>
            <a:r>
              <a:rPr lang="en-US" altLang="zh-CN" sz="3200" b="1" dirty="0"/>
              <a:t>AR</a:t>
            </a:r>
            <a:r>
              <a:rPr lang="zh-CN" altLang="en-US" sz="3200" b="1" dirty="0"/>
              <a:t>眼镜：</a:t>
            </a:r>
            <a:endParaRPr lang="en-US" altLang="zh-CN" sz="3200" b="1" dirty="0"/>
          </a:p>
          <a:p>
            <a:r>
              <a:rPr lang="zh-CN" altLang="en-US" sz="2000" b="1" dirty="0"/>
              <a:t>在听觉之上提供视觉方面的导览体验，丰富游客的信息获取方式</a:t>
            </a:r>
          </a:p>
        </p:txBody>
      </p:sp>
      <p:cxnSp>
        <p:nvCxnSpPr>
          <p:cNvPr id="11" name="直接连接符 10">
            <a:extLst>
              <a:ext uri="{FF2B5EF4-FFF2-40B4-BE49-F238E27FC236}">
                <a16:creationId xmlns:a16="http://schemas.microsoft.com/office/drawing/2014/main" id="{6EF96943-1B43-3ECA-5C76-34729F818E3C}"/>
              </a:ext>
            </a:extLst>
          </p:cNvPr>
          <p:cNvCxnSpPr>
            <a:cxnSpLocks/>
          </p:cNvCxnSpPr>
          <p:nvPr/>
        </p:nvCxnSpPr>
        <p:spPr>
          <a:xfrm>
            <a:off x="701156" y="4833893"/>
            <a:ext cx="0" cy="1173751"/>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D73ECA2E-5881-21D2-3CA1-76EEBBACB853}"/>
              </a:ext>
            </a:extLst>
          </p:cNvPr>
          <p:cNvSpPr txBox="1"/>
          <p:nvPr/>
        </p:nvSpPr>
        <p:spPr>
          <a:xfrm>
            <a:off x="701156" y="4807315"/>
            <a:ext cx="2438991" cy="1200329"/>
          </a:xfrm>
          <a:prstGeom prst="rect">
            <a:avLst/>
          </a:prstGeom>
          <a:noFill/>
        </p:spPr>
        <p:txBody>
          <a:bodyPr wrap="square" rtlCol="0">
            <a:spAutoFit/>
          </a:bodyPr>
          <a:lstStyle/>
          <a:p>
            <a:r>
              <a:rPr lang="zh-CN" altLang="en-US" sz="2400" b="1" dirty="0"/>
              <a:t>单一设备并不能符合所有人的使用偏好和习惯</a:t>
            </a:r>
          </a:p>
        </p:txBody>
      </p:sp>
    </p:spTree>
    <p:extLst>
      <p:ext uri="{BB962C8B-B14F-4D97-AF65-F5344CB8AC3E}">
        <p14:creationId xmlns:p14="http://schemas.microsoft.com/office/powerpoint/2010/main" val="54702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1B4E-E922-0EE9-8F99-FA119F14DDCB}"/>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B1EAB779-BEAC-E9E7-3133-7AAE3ECA26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67D48CFB-439E-1F20-E5CD-4F122935901F}"/>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6620BDD6-BF36-55A0-98FA-9E7A2FFA931A}"/>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536AF063-6319-43FC-0D98-4FECFEE35AE6}"/>
              </a:ext>
            </a:extLst>
          </p:cNvPr>
          <p:cNvSpPr txBox="1"/>
          <p:nvPr/>
        </p:nvSpPr>
        <p:spPr>
          <a:xfrm>
            <a:off x="701156" y="524587"/>
            <a:ext cx="9471159"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3.3 </a:t>
            </a:r>
            <a:r>
              <a:rPr lang="zh-CN" altLang="en-US" sz="2800" b="1" dirty="0">
                <a:latin typeface="黑体" panose="02010609060101010101" pitchFamily="49" charset="-122"/>
                <a:ea typeface="黑体" panose="02010609060101010101" pitchFamily="49" charset="-122"/>
              </a:rPr>
              <a:t>解决方案三</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一种博物馆智能导览设备系统的设计</a:t>
            </a:r>
          </a:p>
        </p:txBody>
      </p:sp>
      <p:cxnSp>
        <p:nvCxnSpPr>
          <p:cNvPr id="6" name="直接连接符 5">
            <a:extLst>
              <a:ext uri="{FF2B5EF4-FFF2-40B4-BE49-F238E27FC236}">
                <a16:creationId xmlns:a16="http://schemas.microsoft.com/office/drawing/2014/main" id="{1FF3A2C1-0D87-A55C-0532-1D1BB517A41E}"/>
              </a:ext>
            </a:extLst>
          </p:cNvPr>
          <p:cNvCxnSpPr>
            <a:cxnSpLocks/>
          </p:cNvCxnSpPr>
          <p:nvPr/>
        </p:nvCxnSpPr>
        <p:spPr>
          <a:xfrm flipH="1">
            <a:off x="701156" y="1438967"/>
            <a:ext cx="1" cy="1254614"/>
          </a:xfrm>
          <a:prstGeom prst="line">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F6EEF122-6007-02ED-1971-EA1F5A8F38F8}"/>
              </a:ext>
            </a:extLst>
          </p:cNvPr>
          <p:cNvSpPr txBox="1"/>
          <p:nvPr/>
        </p:nvSpPr>
        <p:spPr>
          <a:xfrm>
            <a:off x="701156" y="1438967"/>
            <a:ext cx="2438991" cy="1323439"/>
          </a:xfrm>
          <a:prstGeom prst="rect">
            <a:avLst/>
          </a:prstGeom>
          <a:noFill/>
        </p:spPr>
        <p:txBody>
          <a:bodyPr wrap="square" rtlCol="0">
            <a:spAutoFit/>
          </a:bodyPr>
          <a:lstStyle/>
          <a:p>
            <a:r>
              <a:rPr lang="zh-CN" altLang="en-US" sz="2000" b="1" dirty="0"/>
              <a:t>设计一个系统，使游客可以根据自己的喜好或者需求自行选择设备</a:t>
            </a:r>
          </a:p>
        </p:txBody>
      </p:sp>
      <p:cxnSp>
        <p:nvCxnSpPr>
          <p:cNvPr id="11" name="直接连接符 10">
            <a:extLst>
              <a:ext uri="{FF2B5EF4-FFF2-40B4-BE49-F238E27FC236}">
                <a16:creationId xmlns:a16="http://schemas.microsoft.com/office/drawing/2014/main" id="{F095907D-20EB-DC00-4508-0C0509BE3FF0}"/>
              </a:ext>
            </a:extLst>
          </p:cNvPr>
          <p:cNvCxnSpPr>
            <a:cxnSpLocks/>
          </p:cNvCxnSpPr>
          <p:nvPr/>
        </p:nvCxnSpPr>
        <p:spPr>
          <a:xfrm flipH="1">
            <a:off x="701156" y="2946773"/>
            <a:ext cx="1" cy="2492433"/>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A9313371-5421-592A-72CB-11E3D912B681}"/>
              </a:ext>
            </a:extLst>
          </p:cNvPr>
          <p:cNvSpPr txBox="1"/>
          <p:nvPr/>
        </p:nvSpPr>
        <p:spPr>
          <a:xfrm>
            <a:off x="701156" y="2884661"/>
            <a:ext cx="2438991" cy="2554545"/>
          </a:xfrm>
          <a:prstGeom prst="rect">
            <a:avLst/>
          </a:prstGeom>
          <a:noFill/>
        </p:spPr>
        <p:txBody>
          <a:bodyPr wrap="square" rtlCol="0">
            <a:spAutoFit/>
          </a:bodyPr>
          <a:lstStyle/>
          <a:p>
            <a:r>
              <a:rPr lang="zh-CN" altLang="en-US" sz="2000" b="1" dirty="0"/>
              <a:t>不同的人群和不同的需求有不同的解决方案。可以租赁如</a:t>
            </a:r>
            <a:r>
              <a:rPr lang="en-US" altLang="zh-CN" sz="2000" b="1" dirty="0"/>
              <a:t>AR</a:t>
            </a:r>
            <a:r>
              <a:rPr lang="zh-CN" altLang="en-US" sz="2000" b="1" dirty="0"/>
              <a:t>眼睛等设备提升观展的沉浸感，也可以通过使用自带设备解决舒适性和卫生性的问题</a:t>
            </a:r>
          </a:p>
        </p:txBody>
      </p:sp>
      <p:pic>
        <p:nvPicPr>
          <p:cNvPr id="9" name="图片 8">
            <a:extLst>
              <a:ext uri="{FF2B5EF4-FFF2-40B4-BE49-F238E27FC236}">
                <a16:creationId xmlns:a16="http://schemas.microsoft.com/office/drawing/2014/main" id="{A3D3361D-9F11-2EDC-3630-D01AE932F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6803" y="1173576"/>
            <a:ext cx="7884041" cy="5256027"/>
          </a:xfrm>
          <a:prstGeom prst="rect">
            <a:avLst/>
          </a:prstGeom>
        </p:spPr>
      </p:pic>
    </p:spTree>
    <p:extLst>
      <p:ext uri="{BB962C8B-B14F-4D97-AF65-F5344CB8AC3E}">
        <p14:creationId xmlns:p14="http://schemas.microsoft.com/office/powerpoint/2010/main" val="709385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A54C8-0E4A-6500-B262-BB47A2B9F41A}"/>
            </a:ext>
          </a:extLst>
        </p:cNvPr>
        <p:cNvGrpSpPr/>
        <p:nvPr/>
      </p:nvGrpSpPr>
      <p:grpSpPr>
        <a:xfrm>
          <a:off x="0" y="0"/>
          <a:ext cx="0" cy="0"/>
          <a:chOff x="0" y="0"/>
          <a:chExt cx="0" cy="0"/>
        </a:xfrm>
      </p:grpSpPr>
      <p:pic>
        <p:nvPicPr>
          <p:cNvPr id="1026" name="Picture 2" descr="Set Headphones Wired Wireless Earphones Audio Stock Vector (Royalty Free)  2012121722 | Shutterstock">
            <a:extLst>
              <a:ext uri="{FF2B5EF4-FFF2-40B4-BE49-F238E27FC236}">
                <a16:creationId xmlns:a16="http://schemas.microsoft.com/office/drawing/2014/main" id="{12758EFD-C492-6F6E-E859-F891990D42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86" r="10086" b="5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9D207C98-1AE8-4336-985B-F69DD2772FEC}"/>
              </a:ext>
            </a:extLst>
          </p:cNvPr>
          <p:cNvSpPr/>
          <p:nvPr/>
        </p:nvSpPr>
        <p:spPr>
          <a:xfrm>
            <a:off x="194733" y="266700"/>
            <a:ext cx="11802533" cy="6324600"/>
          </a:xfrm>
          <a:prstGeom prst="round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A44017A2-7C12-94C5-EA9E-42961B332E3A}"/>
              </a:ext>
            </a:extLst>
          </p:cNvPr>
          <p:cNvCxnSpPr>
            <a:cxnSpLocks/>
          </p:cNvCxnSpPr>
          <p:nvPr/>
        </p:nvCxnSpPr>
        <p:spPr>
          <a:xfrm>
            <a:off x="330200" y="1083733"/>
            <a:ext cx="114808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E7814139-CBF3-1013-29F2-196FF9644F78}"/>
              </a:ext>
            </a:extLst>
          </p:cNvPr>
          <p:cNvSpPr txBox="1"/>
          <p:nvPr/>
        </p:nvSpPr>
        <p:spPr>
          <a:xfrm>
            <a:off x="701156" y="524587"/>
            <a:ext cx="9471159" cy="523220"/>
          </a:xfrm>
          <a:prstGeom prst="rect">
            <a:avLst/>
          </a:prstGeom>
          <a:noFill/>
        </p:spPr>
        <p:txBody>
          <a:bodyPr wrap="square" rtlCol="0">
            <a:spAutoFit/>
          </a:bodyPr>
          <a:lstStyle/>
          <a:p>
            <a:r>
              <a:rPr lang="en-US" altLang="zh-CN" sz="2800" b="1" dirty="0">
                <a:latin typeface="黑体" panose="02010609060101010101" pitchFamily="49" charset="-122"/>
                <a:ea typeface="黑体" panose="02010609060101010101" pitchFamily="49" charset="-122"/>
              </a:rPr>
              <a:t>4. </a:t>
            </a:r>
            <a:r>
              <a:rPr lang="zh-CN" altLang="en-US" sz="2800" b="1" dirty="0">
                <a:latin typeface="黑体" panose="02010609060101010101" pitchFamily="49" charset="-122"/>
                <a:ea typeface="黑体" panose="02010609060101010101" pitchFamily="49" charset="-122"/>
              </a:rPr>
              <a:t>总结与展望</a:t>
            </a:r>
          </a:p>
        </p:txBody>
      </p:sp>
      <p:sp>
        <p:nvSpPr>
          <p:cNvPr id="6" name="文本框 5">
            <a:extLst>
              <a:ext uri="{FF2B5EF4-FFF2-40B4-BE49-F238E27FC236}">
                <a16:creationId xmlns:a16="http://schemas.microsoft.com/office/drawing/2014/main" id="{741E1F62-1937-4F55-F6A7-D75D6016C79E}"/>
              </a:ext>
            </a:extLst>
          </p:cNvPr>
          <p:cNvSpPr txBox="1"/>
          <p:nvPr/>
        </p:nvSpPr>
        <p:spPr>
          <a:xfrm>
            <a:off x="6751104" y="3429000"/>
            <a:ext cx="4816975" cy="2985433"/>
          </a:xfrm>
          <a:prstGeom prst="rect">
            <a:avLst/>
          </a:prstGeom>
          <a:noFill/>
        </p:spPr>
        <p:txBody>
          <a:bodyPr wrap="square">
            <a:spAutoFit/>
          </a:bodyPr>
          <a:lstStyle/>
          <a:p>
            <a:pPr>
              <a:buNone/>
            </a:pPr>
            <a:r>
              <a:rPr lang="zh-CN" altLang="en-US" sz="2800" b="1" dirty="0">
                <a:latin typeface="+mn-ea"/>
              </a:rPr>
              <a:t>未来的展望</a:t>
            </a:r>
            <a:endParaRPr lang="en-US" altLang="zh-CN" sz="2800" b="1" dirty="0">
              <a:latin typeface="+mn-ea"/>
            </a:endParaRPr>
          </a:p>
          <a:p>
            <a:pPr>
              <a:buNone/>
            </a:pPr>
            <a:r>
              <a:rPr lang="zh-CN" altLang="zh-CN" sz="2000" dirty="0">
                <a:latin typeface="+mn-ea"/>
              </a:rPr>
              <a:t>未来博物馆导览系统</a:t>
            </a:r>
            <a:r>
              <a:rPr lang="zh-CN" altLang="en-US" sz="2000" dirty="0">
                <a:latin typeface="+mn-ea"/>
              </a:rPr>
              <a:t>讲不单单局限于声音上的输出。</a:t>
            </a:r>
            <a:r>
              <a:rPr lang="zh-CN" altLang="zh-CN" sz="2000" dirty="0">
                <a:latin typeface="+mn-ea"/>
              </a:rPr>
              <a:t>未来</a:t>
            </a:r>
            <a:r>
              <a:rPr lang="zh-CN" altLang="en-US" sz="2000" dirty="0">
                <a:latin typeface="+mn-ea"/>
              </a:rPr>
              <a:t>随着人工智能的发展，</a:t>
            </a:r>
            <a:r>
              <a:rPr lang="zh-CN" altLang="zh-CN" sz="2000" dirty="0">
                <a:latin typeface="+mn-ea"/>
              </a:rPr>
              <a:t>系统可接入大语言模型，</a:t>
            </a:r>
            <a:r>
              <a:rPr lang="zh-CN" altLang="en-US" sz="2000" dirty="0">
                <a:latin typeface="+mn-ea"/>
              </a:rPr>
              <a:t>游客可以与设备进行互动；</a:t>
            </a:r>
            <a:r>
              <a:rPr lang="zh-CN" altLang="zh-CN" sz="2000" dirty="0">
                <a:latin typeface="+mn-ea"/>
              </a:rPr>
              <a:t>游客无需按照固定流程参观，而是能够通过自然语言与导览系统进行实时交流，获得更加灵活、个性化的知识服务。</a:t>
            </a:r>
            <a:r>
              <a:rPr lang="en-US" altLang="zh-CN" sz="2000" dirty="0">
                <a:latin typeface="+mn-ea"/>
              </a:rPr>
              <a:t>AR</a:t>
            </a:r>
            <a:r>
              <a:rPr lang="zh-CN" altLang="en-US" sz="2000" dirty="0">
                <a:latin typeface="+mn-ea"/>
              </a:rPr>
              <a:t>技术的推广也</a:t>
            </a:r>
            <a:r>
              <a:rPr lang="zh-CN" altLang="zh-CN" sz="2000" dirty="0">
                <a:latin typeface="+mn-ea"/>
              </a:rPr>
              <a:t>可</a:t>
            </a:r>
            <a:r>
              <a:rPr lang="zh-CN" altLang="en-US" sz="2000" dirty="0">
                <a:latin typeface="+mn-ea"/>
              </a:rPr>
              <a:t>提供视觉上的指导，</a:t>
            </a:r>
            <a:r>
              <a:rPr lang="zh-CN" altLang="zh-CN" sz="2000" dirty="0">
                <a:latin typeface="+mn-ea"/>
              </a:rPr>
              <a:t>使静态文物转变为动态内容。</a:t>
            </a:r>
          </a:p>
        </p:txBody>
      </p:sp>
      <p:sp>
        <p:nvSpPr>
          <p:cNvPr id="8" name="文本框 7">
            <a:extLst>
              <a:ext uri="{FF2B5EF4-FFF2-40B4-BE49-F238E27FC236}">
                <a16:creationId xmlns:a16="http://schemas.microsoft.com/office/drawing/2014/main" id="{30456805-413C-B9AF-4993-81D2230F4F37}"/>
              </a:ext>
            </a:extLst>
          </p:cNvPr>
          <p:cNvSpPr txBox="1"/>
          <p:nvPr/>
        </p:nvSpPr>
        <p:spPr>
          <a:xfrm>
            <a:off x="701156" y="1264675"/>
            <a:ext cx="5300745" cy="2062103"/>
          </a:xfrm>
          <a:prstGeom prst="rect">
            <a:avLst/>
          </a:prstGeom>
          <a:noFill/>
        </p:spPr>
        <p:txBody>
          <a:bodyPr wrap="square" rtlCol="0">
            <a:spAutoFit/>
          </a:bodyPr>
          <a:lstStyle/>
          <a:p>
            <a:r>
              <a:rPr lang="zh-CN" altLang="en-US" sz="2800" b="1" dirty="0"/>
              <a:t>目前的局限性</a:t>
            </a:r>
            <a:endParaRPr lang="en-US" altLang="zh-CN" sz="2800" b="1" dirty="0"/>
          </a:p>
          <a:p>
            <a:pPr marL="342900" indent="-342900">
              <a:buAutoNum type="arabicPeriod"/>
            </a:pPr>
            <a:r>
              <a:rPr lang="zh-CN" altLang="en-US" sz="2000" dirty="0"/>
              <a:t>骨传导和</a:t>
            </a:r>
            <a:r>
              <a:rPr lang="en-US" altLang="zh-CN" sz="2000" dirty="0"/>
              <a:t>AR</a:t>
            </a:r>
            <a:r>
              <a:rPr lang="zh-CN" altLang="en-US" sz="2000" dirty="0"/>
              <a:t>眼镜技术现阶段都不成熟，实现的成本高昂也不适合博物馆这种需要便宜、大量需求的场所。</a:t>
            </a:r>
            <a:endParaRPr lang="en-US" altLang="zh-CN" sz="2000" dirty="0"/>
          </a:p>
          <a:p>
            <a:pPr marL="342900" indent="-342900">
              <a:buAutoNum type="arabicPeriod"/>
            </a:pPr>
            <a:r>
              <a:rPr lang="zh-CN" altLang="en-US" sz="2000" dirty="0"/>
              <a:t>博物馆导览系统需要大量设备的协同，构建一整套系统的经济、空间等成本都很高</a:t>
            </a:r>
          </a:p>
        </p:txBody>
      </p:sp>
      <p:cxnSp>
        <p:nvCxnSpPr>
          <p:cNvPr id="11" name="直接连接符 10">
            <a:extLst>
              <a:ext uri="{FF2B5EF4-FFF2-40B4-BE49-F238E27FC236}">
                <a16:creationId xmlns:a16="http://schemas.microsoft.com/office/drawing/2014/main" id="{D5E13EF0-7682-7824-BCE8-A754A2BDE941}"/>
              </a:ext>
            </a:extLst>
          </p:cNvPr>
          <p:cNvCxnSpPr>
            <a:cxnSpLocks/>
          </p:cNvCxnSpPr>
          <p:nvPr/>
        </p:nvCxnSpPr>
        <p:spPr>
          <a:xfrm>
            <a:off x="701156" y="1350121"/>
            <a:ext cx="0" cy="2078879"/>
          </a:xfrm>
          <a:prstGeom prst="line">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直接连接符 13">
            <a:extLst>
              <a:ext uri="{FF2B5EF4-FFF2-40B4-BE49-F238E27FC236}">
                <a16:creationId xmlns:a16="http://schemas.microsoft.com/office/drawing/2014/main" id="{75B9667D-2661-53B0-047D-1262EFA00E17}"/>
              </a:ext>
            </a:extLst>
          </p:cNvPr>
          <p:cNvCxnSpPr>
            <a:cxnSpLocks/>
          </p:cNvCxnSpPr>
          <p:nvPr/>
        </p:nvCxnSpPr>
        <p:spPr>
          <a:xfrm>
            <a:off x="6751104" y="3516451"/>
            <a:ext cx="0" cy="2816962"/>
          </a:xfrm>
          <a:prstGeom prst="line">
            <a:avLst/>
          </a:prstGeom>
          <a:ln w="571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8" name="图片 17" descr="7 Amazing Chinese Museums | DailyArt Magazine">
            <a:extLst>
              <a:ext uri="{FF2B5EF4-FFF2-40B4-BE49-F238E27FC236}">
                <a16:creationId xmlns:a16="http://schemas.microsoft.com/office/drawing/2014/main" id="{2CA11B1F-9951-C59A-4614-63065D5A1380}"/>
              </a:ext>
            </a:extLst>
          </p:cNvPr>
          <p:cNvPicPr>
            <a:picLocks noChangeAspect="1"/>
          </p:cNvPicPr>
          <p:nvPr/>
        </p:nvPicPr>
        <p:blipFill>
          <a:blip r:embed="rId3"/>
          <a:stretch>
            <a:fillRect/>
          </a:stretch>
        </p:blipFill>
        <p:spPr>
          <a:xfrm>
            <a:off x="1032398" y="3516451"/>
            <a:ext cx="4408499" cy="2940435"/>
          </a:xfrm>
          <a:prstGeom prst="rect">
            <a:avLst/>
          </a:prstGeom>
        </p:spPr>
      </p:pic>
    </p:spTree>
    <p:extLst>
      <p:ext uri="{BB962C8B-B14F-4D97-AF65-F5344CB8AC3E}">
        <p14:creationId xmlns:p14="http://schemas.microsoft.com/office/powerpoint/2010/main" val="2835679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1779</TotalTime>
  <Words>609</Words>
  <Application>Microsoft Office PowerPoint</Application>
  <PresentationFormat>宽屏</PresentationFormat>
  <Paragraphs>42</Paragraphs>
  <Slides>7</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等线</vt:lpstr>
      <vt:lpstr>等线 Light</vt:lpstr>
      <vt:lpstr>黑体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9319727@qq.com</dc:creator>
  <cp:lastModifiedBy>9319727@qq.com</cp:lastModifiedBy>
  <cp:revision>23</cp:revision>
  <dcterms:created xsi:type="dcterms:W3CDTF">2026-04-16T09:33:47Z</dcterms:created>
  <dcterms:modified xsi:type="dcterms:W3CDTF">2026-06-04T07:59:01Z</dcterms:modified>
</cp:coreProperties>
</file>