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0"/>
  </p:notesMasterIdLst>
  <p:sldIdLst>
    <p:sldId id="258" r:id="rId2"/>
    <p:sldId id="273" r:id="rId3"/>
    <p:sldId id="261" r:id="rId4"/>
    <p:sldId id="262" r:id="rId5"/>
    <p:sldId id="263" r:id="rId6"/>
    <p:sldId id="264" r:id="rId7"/>
    <p:sldId id="274" r:id="rId8"/>
    <p:sldId id="260" r:id="rId9"/>
    <p:sldId id="267" r:id="rId10"/>
    <p:sldId id="275" r:id="rId11"/>
    <p:sldId id="265" r:id="rId12"/>
    <p:sldId id="266" r:id="rId13"/>
    <p:sldId id="276" r:id="rId14"/>
    <p:sldId id="268" r:id="rId15"/>
    <p:sldId id="269" r:id="rId16"/>
    <p:sldId id="270" r:id="rId17"/>
    <p:sldId id="271" r:id="rId18"/>
    <p:sldId id="272" r:id="rId19"/>
  </p:sldIdLst>
  <p:sldSz cx="12192000" cy="6858000"/>
  <p:notesSz cx="6858000" cy="9144000"/>
  <p:embeddedFontLst>
    <p:embeddedFont>
      <p:font typeface="Microsoft YaHei UI" panose="020B0503020204020204" pitchFamily="34" charset="-122"/>
      <p:regular r:id="rId21"/>
      <p:bold r:id="rId22"/>
    </p:embeddedFont>
    <p:embeddedFont>
      <p:font typeface="等线" panose="02010600030101010101" pitchFamily="2" charset="-122"/>
      <p:regular r:id="rId23"/>
      <p:bold r:id="rId24"/>
    </p:embeddedFont>
    <p:embeddedFont>
      <p:font typeface="等线 Light" panose="02010600030101010101" pitchFamily="2" charset="-122"/>
      <p:regular r:id="rId25"/>
    </p:embeddedFont>
    <p:embeddedFont>
      <p:font typeface="微软雅黑" panose="020B0503020204020204" pitchFamily="34" charset="-122"/>
      <p:regular r:id="rId26"/>
      <p:bold r:id="rId27"/>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392CB"/>
    <a:srgbClr val="74ACC6"/>
    <a:srgbClr val="4495CD"/>
    <a:srgbClr val="4386BA"/>
    <a:srgbClr val="679DB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1" autoAdjust="0"/>
    <p:restoredTop sz="94431" autoAdjust="0"/>
  </p:normalViewPr>
  <p:slideViewPr>
    <p:cSldViewPr snapToGrid="0" showGuides="1">
      <p:cViewPr varScale="1">
        <p:scale>
          <a:sx n="90" d="100"/>
          <a:sy n="90" d="100"/>
        </p:scale>
        <p:origin x="852" y="92"/>
      </p:cViewPr>
      <p:guideLst>
        <p:guide orient="horz" pos="2160"/>
        <p:guide pos="384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2306A5-F203-4171-9D1B-D4D26E353CB4}" type="datetimeFigureOut">
              <a:rPr lang="zh-CN" altLang="en-US" smtClean="0"/>
              <a:t>2025/12/26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52360D-EC87-4BC7-A6B0-620FC4E53BEA}" type="slidenum">
              <a:rPr lang="zh-CN" altLang="en-US" smtClean="0"/>
              <a:t>‹#›</a:t>
            </a:fld>
            <a:endParaRPr lang="zh-CN" altLang="en-US"/>
          </a:p>
        </p:txBody>
      </p:sp>
    </p:spTree>
    <p:extLst>
      <p:ext uri="{BB962C8B-B14F-4D97-AF65-F5344CB8AC3E}">
        <p14:creationId xmlns:p14="http://schemas.microsoft.com/office/powerpoint/2010/main" val="19454157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652360D-EC87-4BC7-A6B0-620FC4E53BEA}" type="slidenum">
              <a:rPr lang="zh-CN" altLang="en-US" smtClean="0"/>
              <a:t>1</a:t>
            </a:fld>
            <a:endParaRPr lang="zh-CN" altLang="en-US"/>
          </a:p>
        </p:txBody>
      </p:sp>
    </p:spTree>
    <p:extLst>
      <p:ext uri="{BB962C8B-B14F-4D97-AF65-F5344CB8AC3E}">
        <p14:creationId xmlns:p14="http://schemas.microsoft.com/office/powerpoint/2010/main" val="15774307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63C5AA-7B63-F5F6-D6DA-22DE46FF427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17897D0-F01A-7476-DB13-F4B1EE95044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0A624F8-BABB-C461-D352-BF6AAD9211F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A3A9B07D-7567-5995-2D49-9B40F18B2D75}"/>
              </a:ext>
            </a:extLst>
          </p:cNvPr>
          <p:cNvSpPr>
            <a:spLocks noGrp="1"/>
          </p:cNvSpPr>
          <p:nvPr>
            <p:ph type="sldNum" sz="quarter" idx="5"/>
          </p:nvPr>
        </p:nvSpPr>
        <p:spPr/>
        <p:txBody>
          <a:bodyPr/>
          <a:lstStyle/>
          <a:p>
            <a:fld id="{E652360D-EC87-4BC7-A6B0-620FC4E53BEA}" type="slidenum">
              <a:rPr lang="zh-CN" altLang="en-US" smtClean="0"/>
              <a:t>2</a:t>
            </a:fld>
            <a:endParaRPr lang="zh-CN" altLang="en-US"/>
          </a:p>
        </p:txBody>
      </p:sp>
    </p:spTree>
    <p:extLst>
      <p:ext uri="{BB962C8B-B14F-4D97-AF65-F5344CB8AC3E}">
        <p14:creationId xmlns:p14="http://schemas.microsoft.com/office/powerpoint/2010/main" val="42823479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652360D-EC87-4BC7-A6B0-620FC4E53BEA}" type="slidenum">
              <a:rPr lang="zh-CN" altLang="en-US" smtClean="0"/>
              <a:t>3</a:t>
            </a:fld>
            <a:endParaRPr lang="zh-CN" altLang="en-US"/>
          </a:p>
        </p:txBody>
      </p:sp>
    </p:spTree>
    <p:extLst>
      <p:ext uri="{BB962C8B-B14F-4D97-AF65-F5344CB8AC3E}">
        <p14:creationId xmlns:p14="http://schemas.microsoft.com/office/powerpoint/2010/main" val="21652022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18CFC5-ADC9-3FA8-F6D0-5DC53617B4C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CA5D5B5-8AD3-D4FD-8AB2-F1F5BB09286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C7CBAFB-7ABA-8652-7593-3BB78F21779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FE0AFA11-2714-B771-F791-232B372916B9}"/>
              </a:ext>
            </a:extLst>
          </p:cNvPr>
          <p:cNvSpPr>
            <a:spLocks noGrp="1"/>
          </p:cNvSpPr>
          <p:nvPr>
            <p:ph type="sldNum" sz="quarter" idx="5"/>
          </p:nvPr>
        </p:nvSpPr>
        <p:spPr/>
        <p:txBody>
          <a:bodyPr/>
          <a:lstStyle/>
          <a:p>
            <a:fld id="{E652360D-EC87-4BC7-A6B0-620FC4E53BEA}" type="slidenum">
              <a:rPr lang="zh-CN" altLang="en-US" smtClean="0"/>
              <a:t>4</a:t>
            </a:fld>
            <a:endParaRPr lang="zh-CN" altLang="en-US"/>
          </a:p>
        </p:txBody>
      </p:sp>
    </p:spTree>
    <p:extLst>
      <p:ext uri="{BB962C8B-B14F-4D97-AF65-F5344CB8AC3E}">
        <p14:creationId xmlns:p14="http://schemas.microsoft.com/office/powerpoint/2010/main" val="36238060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11FE24-DBA9-92A1-40F0-8D80364CC85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2C90B42-A002-C23D-5B8B-5ECF67D0CE9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2D126AB-CB87-0954-693E-47C49E35AAF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AD276BC-B4ED-725D-FE2E-766B7DBDF625}"/>
              </a:ext>
            </a:extLst>
          </p:cNvPr>
          <p:cNvSpPr>
            <a:spLocks noGrp="1"/>
          </p:cNvSpPr>
          <p:nvPr>
            <p:ph type="sldNum" sz="quarter" idx="5"/>
          </p:nvPr>
        </p:nvSpPr>
        <p:spPr/>
        <p:txBody>
          <a:bodyPr/>
          <a:lstStyle/>
          <a:p>
            <a:fld id="{E652360D-EC87-4BC7-A6B0-620FC4E53BEA}" type="slidenum">
              <a:rPr lang="zh-CN" altLang="en-US" smtClean="0"/>
              <a:t>5</a:t>
            </a:fld>
            <a:endParaRPr lang="zh-CN" altLang="en-US"/>
          </a:p>
        </p:txBody>
      </p:sp>
    </p:spTree>
    <p:extLst>
      <p:ext uri="{BB962C8B-B14F-4D97-AF65-F5344CB8AC3E}">
        <p14:creationId xmlns:p14="http://schemas.microsoft.com/office/powerpoint/2010/main" val="21202956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9B25B5-1DC3-E707-DF78-29F12AEE4CB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EEBB811-198F-A079-3004-A5D80D568C9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A754A9F-8B72-1846-0DFF-3497865E002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68F9852-CC23-2D55-CC33-A887B261C9C6}"/>
              </a:ext>
            </a:extLst>
          </p:cNvPr>
          <p:cNvSpPr>
            <a:spLocks noGrp="1"/>
          </p:cNvSpPr>
          <p:nvPr>
            <p:ph type="sldNum" sz="quarter" idx="5"/>
          </p:nvPr>
        </p:nvSpPr>
        <p:spPr/>
        <p:txBody>
          <a:bodyPr/>
          <a:lstStyle/>
          <a:p>
            <a:fld id="{E652360D-EC87-4BC7-A6B0-620FC4E53BEA}" type="slidenum">
              <a:rPr lang="zh-CN" altLang="en-US" smtClean="0"/>
              <a:t>6</a:t>
            </a:fld>
            <a:endParaRPr lang="zh-CN" altLang="en-US"/>
          </a:p>
        </p:txBody>
      </p:sp>
    </p:spTree>
    <p:extLst>
      <p:ext uri="{BB962C8B-B14F-4D97-AF65-F5344CB8AC3E}">
        <p14:creationId xmlns:p14="http://schemas.microsoft.com/office/powerpoint/2010/main" val="36568703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4D6903-1D01-6394-0055-A0AC903C5F6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3DABAAD-EF69-6BF9-5498-FB7347D524B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D5D730A-0720-219C-9BDB-5BEF31480AD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D6AEF70-5252-07B7-6EF3-0BF5A3268229}"/>
              </a:ext>
            </a:extLst>
          </p:cNvPr>
          <p:cNvSpPr>
            <a:spLocks noGrp="1"/>
          </p:cNvSpPr>
          <p:nvPr>
            <p:ph type="sldNum" sz="quarter" idx="5"/>
          </p:nvPr>
        </p:nvSpPr>
        <p:spPr/>
        <p:txBody>
          <a:bodyPr/>
          <a:lstStyle/>
          <a:p>
            <a:fld id="{E652360D-EC87-4BC7-A6B0-620FC4E53BEA}" type="slidenum">
              <a:rPr lang="zh-CN" altLang="en-US" smtClean="0"/>
              <a:t>7</a:t>
            </a:fld>
            <a:endParaRPr lang="zh-CN" altLang="en-US"/>
          </a:p>
        </p:txBody>
      </p:sp>
    </p:spTree>
    <p:extLst>
      <p:ext uri="{BB962C8B-B14F-4D97-AF65-F5344CB8AC3E}">
        <p14:creationId xmlns:p14="http://schemas.microsoft.com/office/powerpoint/2010/main" val="13666624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E9D90-CE04-1ECC-9692-8C8ABEA1EE8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FF37C8A-7FE0-097A-43C6-45B0263DCDC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CAD0CE2-62DC-C0FC-07CE-C5EAACC5C37B}"/>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A906785-C51B-5938-926E-62D21DCB999D}"/>
              </a:ext>
            </a:extLst>
          </p:cNvPr>
          <p:cNvSpPr>
            <a:spLocks noGrp="1"/>
          </p:cNvSpPr>
          <p:nvPr>
            <p:ph type="sldNum" sz="quarter" idx="5"/>
          </p:nvPr>
        </p:nvSpPr>
        <p:spPr/>
        <p:txBody>
          <a:bodyPr/>
          <a:lstStyle/>
          <a:p>
            <a:fld id="{E652360D-EC87-4BC7-A6B0-620FC4E53BEA}" type="slidenum">
              <a:rPr lang="zh-CN" altLang="en-US" smtClean="0"/>
              <a:t>10</a:t>
            </a:fld>
            <a:endParaRPr lang="zh-CN" altLang="en-US"/>
          </a:p>
        </p:txBody>
      </p:sp>
    </p:spTree>
    <p:extLst>
      <p:ext uri="{BB962C8B-B14F-4D97-AF65-F5344CB8AC3E}">
        <p14:creationId xmlns:p14="http://schemas.microsoft.com/office/powerpoint/2010/main" val="28859532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652360D-EC87-4BC7-A6B0-620FC4E53BEA}" type="slidenum">
              <a:rPr lang="zh-CN" altLang="en-US" smtClean="0"/>
              <a:t>11</a:t>
            </a:fld>
            <a:endParaRPr lang="zh-CN" altLang="en-US"/>
          </a:p>
        </p:txBody>
      </p:sp>
    </p:spTree>
    <p:extLst>
      <p:ext uri="{BB962C8B-B14F-4D97-AF65-F5344CB8AC3E}">
        <p14:creationId xmlns:p14="http://schemas.microsoft.com/office/powerpoint/2010/main" val="33104000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B334A-EEB8-37FE-F8D7-74A4B0E4DEC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E47C24C-9C40-3324-9AC7-2CE10B315CD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8E8F912-F3A5-A074-A63F-0ECB17130D8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7E6DDD9-BA11-8CAE-935C-E554820DB41F}"/>
              </a:ext>
            </a:extLst>
          </p:cNvPr>
          <p:cNvSpPr>
            <a:spLocks noGrp="1"/>
          </p:cNvSpPr>
          <p:nvPr>
            <p:ph type="sldNum" sz="quarter" idx="5"/>
          </p:nvPr>
        </p:nvSpPr>
        <p:spPr/>
        <p:txBody>
          <a:bodyPr/>
          <a:lstStyle/>
          <a:p>
            <a:fld id="{E652360D-EC87-4BC7-A6B0-620FC4E53BEA}" type="slidenum">
              <a:rPr lang="zh-CN" altLang="en-US" smtClean="0"/>
              <a:t>12</a:t>
            </a:fld>
            <a:endParaRPr lang="zh-CN" altLang="en-US"/>
          </a:p>
        </p:txBody>
      </p:sp>
    </p:spTree>
    <p:extLst>
      <p:ext uri="{BB962C8B-B14F-4D97-AF65-F5344CB8AC3E}">
        <p14:creationId xmlns:p14="http://schemas.microsoft.com/office/powerpoint/2010/main" val="35628075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367BA-8613-C586-048F-413823A284E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6D8991F-2098-726E-6FF9-FB5517C33AE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5EC32BA-B85B-793B-3F22-D9288F3861E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84C78C6-C4F4-A4B6-9EE1-1A4E29797F27}"/>
              </a:ext>
            </a:extLst>
          </p:cNvPr>
          <p:cNvSpPr>
            <a:spLocks noGrp="1"/>
          </p:cNvSpPr>
          <p:nvPr>
            <p:ph type="sldNum" sz="quarter" idx="5"/>
          </p:nvPr>
        </p:nvSpPr>
        <p:spPr/>
        <p:txBody>
          <a:bodyPr/>
          <a:lstStyle/>
          <a:p>
            <a:fld id="{E652360D-EC87-4BC7-A6B0-620FC4E53BEA}" type="slidenum">
              <a:rPr lang="zh-CN" altLang="en-US" smtClean="0"/>
              <a:t>13</a:t>
            </a:fld>
            <a:endParaRPr lang="zh-CN" altLang="en-US"/>
          </a:p>
        </p:txBody>
      </p:sp>
    </p:spTree>
    <p:extLst>
      <p:ext uri="{BB962C8B-B14F-4D97-AF65-F5344CB8AC3E}">
        <p14:creationId xmlns:p14="http://schemas.microsoft.com/office/powerpoint/2010/main" val="18917061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C7277E-2186-F57E-B2A7-46CE28838A0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DE0F766-60BC-2A2F-DF3D-266E1DD649E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55044F5-C5F9-FE5B-645F-E3370F53CDD8}"/>
              </a:ext>
            </a:extLst>
          </p:cNvPr>
          <p:cNvSpPr>
            <a:spLocks noGrp="1"/>
          </p:cNvSpPr>
          <p:nvPr>
            <p:ph type="body" idx="1"/>
          </p:nvPr>
        </p:nvSpPr>
        <p:spPr/>
        <p:txBody>
          <a:bodyPr/>
          <a:lstStyle/>
          <a:p>
            <a:r>
              <a:rPr lang="en-US" altLang="zh-CN" dirty="0"/>
              <a:t>Catalonia region</a:t>
            </a:r>
            <a:endParaRPr lang="zh-CN" altLang="en-US" dirty="0"/>
          </a:p>
        </p:txBody>
      </p:sp>
      <p:sp>
        <p:nvSpPr>
          <p:cNvPr id="4" name="灯片编号占位符 3">
            <a:extLst>
              <a:ext uri="{FF2B5EF4-FFF2-40B4-BE49-F238E27FC236}">
                <a16:creationId xmlns:a16="http://schemas.microsoft.com/office/drawing/2014/main" id="{DC7C3883-5A4E-277A-E567-CA5B655B05DE}"/>
              </a:ext>
            </a:extLst>
          </p:cNvPr>
          <p:cNvSpPr>
            <a:spLocks noGrp="1"/>
          </p:cNvSpPr>
          <p:nvPr>
            <p:ph type="sldNum" sz="quarter" idx="5"/>
          </p:nvPr>
        </p:nvSpPr>
        <p:spPr/>
        <p:txBody>
          <a:bodyPr/>
          <a:lstStyle/>
          <a:p>
            <a:fld id="{E652360D-EC87-4BC7-A6B0-620FC4E53BEA}" type="slidenum">
              <a:rPr lang="zh-CN" altLang="en-US" smtClean="0"/>
              <a:t>14</a:t>
            </a:fld>
            <a:endParaRPr lang="zh-CN" altLang="en-US"/>
          </a:p>
        </p:txBody>
      </p:sp>
    </p:spTree>
    <p:extLst>
      <p:ext uri="{BB962C8B-B14F-4D97-AF65-F5344CB8AC3E}">
        <p14:creationId xmlns:p14="http://schemas.microsoft.com/office/powerpoint/2010/main" val="35006170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48D13D-5C0F-836E-7571-43C7AAA51EA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450E348-EA5A-A9BB-6D80-25ECAE047D0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31950FA-1810-AEBE-A678-E3912CA53796}"/>
              </a:ext>
            </a:extLst>
          </p:cNvPr>
          <p:cNvSpPr>
            <a:spLocks noGrp="1"/>
          </p:cNvSpPr>
          <p:nvPr>
            <p:ph type="body" idx="1"/>
          </p:nvPr>
        </p:nvSpPr>
        <p:spPr/>
        <p:txBody>
          <a:bodyPr/>
          <a:lstStyle/>
          <a:p>
            <a:r>
              <a:rPr lang="en-US" altLang="zh-CN" dirty="0"/>
              <a:t>3 detailed smart examples</a:t>
            </a:r>
          </a:p>
          <a:p>
            <a:r>
              <a:rPr lang="en-US" altLang="zh-CN" dirty="0"/>
              <a:t>“</a:t>
            </a:r>
            <a:r>
              <a:rPr lang="en-US" altLang="zh-CN" dirty="0" err="1"/>
              <a:t>Decidim</a:t>
            </a:r>
            <a:r>
              <a:rPr lang="en-US" altLang="zh-CN" dirty="0"/>
              <a:t> Barcelona”   we decide in </a:t>
            </a:r>
            <a:r>
              <a:rPr lang="en-US" altLang="zh-CN" dirty="0" err="1"/>
              <a:t>Catalonoian</a:t>
            </a:r>
            <a:endParaRPr lang="en-US" altLang="zh-CN" dirty="0"/>
          </a:p>
          <a:p>
            <a:r>
              <a:rPr lang="en-US" altLang="zh-CN" dirty="0"/>
              <a:t>Aim to give citizens a voice to participant in deciding the future of the city </a:t>
            </a:r>
            <a:endParaRPr lang="zh-CN" altLang="en-US" dirty="0"/>
          </a:p>
        </p:txBody>
      </p:sp>
      <p:sp>
        <p:nvSpPr>
          <p:cNvPr id="4" name="灯片编号占位符 3">
            <a:extLst>
              <a:ext uri="{FF2B5EF4-FFF2-40B4-BE49-F238E27FC236}">
                <a16:creationId xmlns:a16="http://schemas.microsoft.com/office/drawing/2014/main" id="{907C7ED8-0695-BDA0-0371-B79A63616E76}"/>
              </a:ext>
            </a:extLst>
          </p:cNvPr>
          <p:cNvSpPr>
            <a:spLocks noGrp="1"/>
          </p:cNvSpPr>
          <p:nvPr>
            <p:ph type="sldNum" sz="quarter" idx="5"/>
          </p:nvPr>
        </p:nvSpPr>
        <p:spPr/>
        <p:txBody>
          <a:bodyPr/>
          <a:lstStyle/>
          <a:p>
            <a:fld id="{E652360D-EC87-4BC7-A6B0-620FC4E53BEA}" type="slidenum">
              <a:rPr lang="zh-CN" altLang="en-US" smtClean="0"/>
              <a:t>15</a:t>
            </a:fld>
            <a:endParaRPr lang="zh-CN" altLang="en-US"/>
          </a:p>
        </p:txBody>
      </p:sp>
    </p:spTree>
    <p:extLst>
      <p:ext uri="{BB962C8B-B14F-4D97-AF65-F5344CB8AC3E}">
        <p14:creationId xmlns:p14="http://schemas.microsoft.com/office/powerpoint/2010/main" val="30252282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BE633-53A9-A23C-42B0-53C706B0BE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C4F3E16-E11A-2EE4-BB4D-0316FA07138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67683F8-2DE9-FC74-ADFE-B51417DD614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EA84C238-EF19-927A-A049-13564F26E054}"/>
              </a:ext>
            </a:extLst>
          </p:cNvPr>
          <p:cNvSpPr>
            <a:spLocks noGrp="1"/>
          </p:cNvSpPr>
          <p:nvPr>
            <p:ph type="sldNum" sz="quarter" idx="5"/>
          </p:nvPr>
        </p:nvSpPr>
        <p:spPr/>
        <p:txBody>
          <a:bodyPr/>
          <a:lstStyle/>
          <a:p>
            <a:fld id="{E652360D-EC87-4BC7-A6B0-620FC4E53BEA}" type="slidenum">
              <a:rPr lang="zh-CN" altLang="en-US" smtClean="0"/>
              <a:t>16</a:t>
            </a:fld>
            <a:endParaRPr lang="zh-CN" altLang="en-US"/>
          </a:p>
        </p:txBody>
      </p:sp>
    </p:spTree>
    <p:extLst>
      <p:ext uri="{BB962C8B-B14F-4D97-AF65-F5344CB8AC3E}">
        <p14:creationId xmlns:p14="http://schemas.microsoft.com/office/powerpoint/2010/main" val="37093167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1B377D-696E-03CA-04C9-B5D927524B9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CAF8326-420D-5790-EC1B-36DFBB153A8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D6DE7D3-4550-0B57-4FC2-351FFADEE8A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0EB4BBB-0934-B776-8756-3178812936E6}"/>
              </a:ext>
            </a:extLst>
          </p:cNvPr>
          <p:cNvSpPr>
            <a:spLocks noGrp="1"/>
          </p:cNvSpPr>
          <p:nvPr>
            <p:ph type="sldNum" sz="quarter" idx="5"/>
          </p:nvPr>
        </p:nvSpPr>
        <p:spPr/>
        <p:txBody>
          <a:bodyPr/>
          <a:lstStyle/>
          <a:p>
            <a:fld id="{E652360D-EC87-4BC7-A6B0-620FC4E53BEA}" type="slidenum">
              <a:rPr lang="zh-CN" altLang="en-US" smtClean="0"/>
              <a:t>17</a:t>
            </a:fld>
            <a:endParaRPr lang="zh-CN" altLang="en-US"/>
          </a:p>
        </p:txBody>
      </p:sp>
    </p:spTree>
    <p:extLst>
      <p:ext uri="{BB962C8B-B14F-4D97-AF65-F5344CB8AC3E}">
        <p14:creationId xmlns:p14="http://schemas.microsoft.com/office/powerpoint/2010/main" val="33675222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8781E1-238D-2892-9CB6-7F9907B01D7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6FC0A75-A5D3-3080-0E86-EBDDFA5E9A3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3A5A6F3-BDF2-0129-5DFE-E9A2FB75FD6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4BE906A-5CEC-42BD-3B3F-ACB5E2A6BF0E}"/>
              </a:ext>
            </a:extLst>
          </p:cNvPr>
          <p:cNvSpPr>
            <a:spLocks noGrp="1"/>
          </p:cNvSpPr>
          <p:nvPr>
            <p:ph type="sldNum" sz="quarter" idx="5"/>
          </p:nvPr>
        </p:nvSpPr>
        <p:spPr/>
        <p:txBody>
          <a:bodyPr/>
          <a:lstStyle/>
          <a:p>
            <a:fld id="{E652360D-EC87-4BC7-A6B0-620FC4E53BEA}" type="slidenum">
              <a:rPr lang="zh-CN" altLang="en-US" smtClean="0"/>
              <a:t>18</a:t>
            </a:fld>
            <a:endParaRPr lang="zh-CN" altLang="en-US"/>
          </a:p>
        </p:txBody>
      </p:sp>
    </p:spTree>
    <p:extLst>
      <p:ext uri="{BB962C8B-B14F-4D97-AF65-F5344CB8AC3E}">
        <p14:creationId xmlns:p14="http://schemas.microsoft.com/office/powerpoint/2010/main" val="41787381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4491C78-E056-5A81-6F9F-42C9332CD75D}"/>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3D06C737-3928-2B7C-1D8A-67495BAC3E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005E3D88-9012-C1FC-3E90-5C930ADED187}"/>
              </a:ext>
            </a:extLst>
          </p:cNvPr>
          <p:cNvSpPr>
            <a:spLocks noGrp="1"/>
          </p:cNvSpPr>
          <p:nvPr>
            <p:ph type="dt" sz="half" idx="10"/>
          </p:nvPr>
        </p:nvSpPr>
        <p:spPr/>
        <p:txBody>
          <a:bodyPr/>
          <a:lstStyle/>
          <a:p>
            <a:fld id="{87A670D1-3822-424A-9F0D-C26265496239}" type="datetimeFigureOut">
              <a:rPr lang="zh-CN" altLang="en-US" smtClean="0"/>
              <a:t>2025/12/26</a:t>
            </a:fld>
            <a:endParaRPr lang="zh-CN" altLang="en-US"/>
          </a:p>
        </p:txBody>
      </p:sp>
      <p:sp>
        <p:nvSpPr>
          <p:cNvPr id="5" name="页脚占位符 4">
            <a:extLst>
              <a:ext uri="{FF2B5EF4-FFF2-40B4-BE49-F238E27FC236}">
                <a16:creationId xmlns:a16="http://schemas.microsoft.com/office/drawing/2014/main" id="{3DD854F4-B19D-6FFE-D206-484D01594A5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3B2CB83-4EB9-099A-27E6-C5F21B20C081}"/>
              </a:ext>
            </a:extLst>
          </p:cNvPr>
          <p:cNvSpPr>
            <a:spLocks noGrp="1"/>
          </p:cNvSpPr>
          <p:nvPr>
            <p:ph type="sldNum" sz="quarter" idx="12"/>
          </p:nvPr>
        </p:nvSpPr>
        <p:spPr/>
        <p:txBody>
          <a:bodyPr/>
          <a:lstStyle/>
          <a:p>
            <a:fld id="{D24E9D6F-55F5-4A9F-B8EC-E2B38236DD2F}" type="slidenum">
              <a:rPr lang="zh-CN" altLang="en-US" smtClean="0"/>
              <a:t>‹#›</a:t>
            </a:fld>
            <a:endParaRPr lang="zh-CN" altLang="en-US"/>
          </a:p>
        </p:txBody>
      </p:sp>
    </p:spTree>
    <p:extLst>
      <p:ext uri="{BB962C8B-B14F-4D97-AF65-F5344CB8AC3E}">
        <p14:creationId xmlns:p14="http://schemas.microsoft.com/office/powerpoint/2010/main" val="27942394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E24043-FF71-656D-625E-4DEDAE35BD3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B80B3EA-9A04-D37B-225D-BA921D4E40FE}"/>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F8F8264-BC40-9696-9C0B-88FB97090BB4}"/>
              </a:ext>
            </a:extLst>
          </p:cNvPr>
          <p:cNvSpPr>
            <a:spLocks noGrp="1"/>
          </p:cNvSpPr>
          <p:nvPr>
            <p:ph type="dt" sz="half" idx="10"/>
          </p:nvPr>
        </p:nvSpPr>
        <p:spPr/>
        <p:txBody>
          <a:bodyPr/>
          <a:lstStyle/>
          <a:p>
            <a:fld id="{87A670D1-3822-424A-9F0D-C26265496239}" type="datetimeFigureOut">
              <a:rPr lang="zh-CN" altLang="en-US" smtClean="0"/>
              <a:t>2025/12/26</a:t>
            </a:fld>
            <a:endParaRPr lang="zh-CN" altLang="en-US"/>
          </a:p>
        </p:txBody>
      </p:sp>
      <p:sp>
        <p:nvSpPr>
          <p:cNvPr id="5" name="页脚占位符 4">
            <a:extLst>
              <a:ext uri="{FF2B5EF4-FFF2-40B4-BE49-F238E27FC236}">
                <a16:creationId xmlns:a16="http://schemas.microsoft.com/office/drawing/2014/main" id="{01086256-B72D-2392-7694-63C9A987994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89D7A8E-BE42-46E9-5086-73295DF80082}"/>
              </a:ext>
            </a:extLst>
          </p:cNvPr>
          <p:cNvSpPr>
            <a:spLocks noGrp="1"/>
          </p:cNvSpPr>
          <p:nvPr>
            <p:ph type="sldNum" sz="quarter" idx="12"/>
          </p:nvPr>
        </p:nvSpPr>
        <p:spPr/>
        <p:txBody>
          <a:bodyPr/>
          <a:lstStyle/>
          <a:p>
            <a:fld id="{D24E9D6F-55F5-4A9F-B8EC-E2B38236DD2F}" type="slidenum">
              <a:rPr lang="zh-CN" altLang="en-US" smtClean="0"/>
              <a:t>‹#›</a:t>
            </a:fld>
            <a:endParaRPr lang="zh-CN" altLang="en-US"/>
          </a:p>
        </p:txBody>
      </p:sp>
    </p:spTree>
    <p:extLst>
      <p:ext uri="{BB962C8B-B14F-4D97-AF65-F5344CB8AC3E}">
        <p14:creationId xmlns:p14="http://schemas.microsoft.com/office/powerpoint/2010/main" val="13252272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858404-E2EE-8F88-DDBF-C6E39F266957}"/>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4463DFE4-C9B5-BF89-5AE2-A878EDAFAEE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2EAF4B8A-2BD2-C0E7-C0CA-FDE281A48E76}"/>
              </a:ext>
            </a:extLst>
          </p:cNvPr>
          <p:cNvSpPr>
            <a:spLocks noGrp="1"/>
          </p:cNvSpPr>
          <p:nvPr>
            <p:ph type="dt" sz="half" idx="10"/>
          </p:nvPr>
        </p:nvSpPr>
        <p:spPr/>
        <p:txBody>
          <a:bodyPr/>
          <a:lstStyle/>
          <a:p>
            <a:fld id="{87A670D1-3822-424A-9F0D-C26265496239}" type="datetimeFigureOut">
              <a:rPr lang="zh-CN" altLang="en-US" smtClean="0"/>
              <a:t>2025/12/26</a:t>
            </a:fld>
            <a:endParaRPr lang="zh-CN" altLang="en-US"/>
          </a:p>
        </p:txBody>
      </p:sp>
      <p:sp>
        <p:nvSpPr>
          <p:cNvPr id="5" name="页脚占位符 4">
            <a:extLst>
              <a:ext uri="{FF2B5EF4-FFF2-40B4-BE49-F238E27FC236}">
                <a16:creationId xmlns:a16="http://schemas.microsoft.com/office/drawing/2014/main" id="{ABCFC7BC-D0C2-E306-F4D1-98618473DE9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D8D5B56-F54E-C39C-FF26-55DF2BE8C382}"/>
              </a:ext>
            </a:extLst>
          </p:cNvPr>
          <p:cNvSpPr>
            <a:spLocks noGrp="1"/>
          </p:cNvSpPr>
          <p:nvPr>
            <p:ph type="sldNum" sz="quarter" idx="12"/>
          </p:nvPr>
        </p:nvSpPr>
        <p:spPr/>
        <p:txBody>
          <a:bodyPr/>
          <a:lstStyle/>
          <a:p>
            <a:fld id="{D24E9D6F-55F5-4A9F-B8EC-E2B38236DD2F}" type="slidenum">
              <a:rPr lang="zh-CN" altLang="en-US" smtClean="0"/>
              <a:t>‹#›</a:t>
            </a:fld>
            <a:endParaRPr lang="zh-CN" altLang="en-US"/>
          </a:p>
        </p:txBody>
      </p:sp>
    </p:spTree>
    <p:extLst>
      <p:ext uri="{BB962C8B-B14F-4D97-AF65-F5344CB8AC3E}">
        <p14:creationId xmlns:p14="http://schemas.microsoft.com/office/powerpoint/2010/main" val="30565334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B446F0-0F79-6203-753D-AA1B32312D3A}"/>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BF70C2B-4ADD-1D09-CD74-C398D26B3697}"/>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18D8A50D-E85B-6912-A00F-B90DD4F2003D}"/>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4D28F775-4DB4-6932-A832-F8A83AC7B3F3}"/>
              </a:ext>
            </a:extLst>
          </p:cNvPr>
          <p:cNvSpPr>
            <a:spLocks noGrp="1"/>
          </p:cNvSpPr>
          <p:nvPr>
            <p:ph type="dt" sz="half" idx="10"/>
          </p:nvPr>
        </p:nvSpPr>
        <p:spPr/>
        <p:txBody>
          <a:bodyPr/>
          <a:lstStyle/>
          <a:p>
            <a:fld id="{87A670D1-3822-424A-9F0D-C26265496239}" type="datetimeFigureOut">
              <a:rPr lang="zh-CN" altLang="en-US" smtClean="0"/>
              <a:t>2025/12/26</a:t>
            </a:fld>
            <a:endParaRPr lang="zh-CN" altLang="en-US"/>
          </a:p>
        </p:txBody>
      </p:sp>
      <p:sp>
        <p:nvSpPr>
          <p:cNvPr id="6" name="页脚占位符 5">
            <a:extLst>
              <a:ext uri="{FF2B5EF4-FFF2-40B4-BE49-F238E27FC236}">
                <a16:creationId xmlns:a16="http://schemas.microsoft.com/office/drawing/2014/main" id="{27F24560-48FC-7C70-5190-7CB92D22675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10D2A73-0D8F-1F55-0541-9A27FF922BA1}"/>
              </a:ext>
            </a:extLst>
          </p:cNvPr>
          <p:cNvSpPr>
            <a:spLocks noGrp="1"/>
          </p:cNvSpPr>
          <p:nvPr>
            <p:ph type="sldNum" sz="quarter" idx="12"/>
          </p:nvPr>
        </p:nvSpPr>
        <p:spPr/>
        <p:txBody>
          <a:bodyPr/>
          <a:lstStyle/>
          <a:p>
            <a:fld id="{D24E9D6F-55F5-4A9F-B8EC-E2B38236DD2F}" type="slidenum">
              <a:rPr lang="zh-CN" altLang="en-US" smtClean="0"/>
              <a:t>‹#›</a:t>
            </a:fld>
            <a:endParaRPr lang="zh-CN" altLang="en-US"/>
          </a:p>
        </p:txBody>
      </p:sp>
    </p:spTree>
    <p:extLst>
      <p:ext uri="{BB962C8B-B14F-4D97-AF65-F5344CB8AC3E}">
        <p14:creationId xmlns:p14="http://schemas.microsoft.com/office/powerpoint/2010/main" val="16615291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357EA5-1B5B-5CC3-49F3-E889174662C3}"/>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FD05ABB4-7317-2C75-389B-8031C0A704E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5D7B0E69-9B86-EFE9-9822-3A75138C80C3}"/>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C41337F8-8685-320A-5E2F-C369E3DD169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3CC1F007-662A-F2E0-7082-6ED9FB9C5818}"/>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7DB9779F-CBF0-F3E8-EADA-D3299F6DA790}"/>
              </a:ext>
            </a:extLst>
          </p:cNvPr>
          <p:cNvSpPr>
            <a:spLocks noGrp="1"/>
          </p:cNvSpPr>
          <p:nvPr>
            <p:ph type="dt" sz="half" idx="10"/>
          </p:nvPr>
        </p:nvSpPr>
        <p:spPr/>
        <p:txBody>
          <a:bodyPr/>
          <a:lstStyle/>
          <a:p>
            <a:fld id="{87A670D1-3822-424A-9F0D-C26265496239}" type="datetimeFigureOut">
              <a:rPr lang="zh-CN" altLang="en-US" smtClean="0"/>
              <a:t>2025/12/26</a:t>
            </a:fld>
            <a:endParaRPr lang="zh-CN" altLang="en-US"/>
          </a:p>
        </p:txBody>
      </p:sp>
      <p:sp>
        <p:nvSpPr>
          <p:cNvPr id="8" name="页脚占位符 7">
            <a:extLst>
              <a:ext uri="{FF2B5EF4-FFF2-40B4-BE49-F238E27FC236}">
                <a16:creationId xmlns:a16="http://schemas.microsoft.com/office/drawing/2014/main" id="{CF99228A-7C19-68AF-80FA-89B89E33A97C}"/>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3EBF1376-2441-A0C6-A9B3-379C5F138148}"/>
              </a:ext>
            </a:extLst>
          </p:cNvPr>
          <p:cNvSpPr>
            <a:spLocks noGrp="1"/>
          </p:cNvSpPr>
          <p:nvPr>
            <p:ph type="sldNum" sz="quarter" idx="12"/>
          </p:nvPr>
        </p:nvSpPr>
        <p:spPr/>
        <p:txBody>
          <a:bodyPr/>
          <a:lstStyle/>
          <a:p>
            <a:fld id="{D24E9D6F-55F5-4A9F-B8EC-E2B38236DD2F}" type="slidenum">
              <a:rPr lang="zh-CN" altLang="en-US" smtClean="0"/>
              <a:t>‹#›</a:t>
            </a:fld>
            <a:endParaRPr lang="zh-CN" altLang="en-US"/>
          </a:p>
        </p:txBody>
      </p:sp>
    </p:spTree>
    <p:extLst>
      <p:ext uri="{BB962C8B-B14F-4D97-AF65-F5344CB8AC3E}">
        <p14:creationId xmlns:p14="http://schemas.microsoft.com/office/powerpoint/2010/main" val="10474538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EB9742-91DD-2783-8808-EFC777182AD1}"/>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4A736438-256B-2B18-1A85-54AA2477C227}"/>
              </a:ext>
            </a:extLst>
          </p:cNvPr>
          <p:cNvSpPr>
            <a:spLocks noGrp="1"/>
          </p:cNvSpPr>
          <p:nvPr>
            <p:ph type="dt" sz="half" idx="10"/>
          </p:nvPr>
        </p:nvSpPr>
        <p:spPr/>
        <p:txBody>
          <a:bodyPr/>
          <a:lstStyle/>
          <a:p>
            <a:fld id="{87A670D1-3822-424A-9F0D-C26265496239}" type="datetimeFigureOut">
              <a:rPr lang="zh-CN" altLang="en-US" smtClean="0"/>
              <a:t>2025/12/26</a:t>
            </a:fld>
            <a:endParaRPr lang="zh-CN" altLang="en-US"/>
          </a:p>
        </p:txBody>
      </p:sp>
      <p:sp>
        <p:nvSpPr>
          <p:cNvPr id="4" name="页脚占位符 3">
            <a:extLst>
              <a:ext uri="{FF2B5EF4-FFF2-40B4-BE49-F238E27FC236}">
                <a16:creationId xmlns:a16="http://schemas.microsoft.com/office/drawing/2014/main" id="{E9DBDBCE-CC08-B88C-EF93-C3C639CA34F5}"/>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694C197C-6D0D-F489-DB53-92A67E1B0782}"/>
              </a:ext>
            </a:extLst>
          </p:cNvPr>
          <p:cNvSpPr>
            <a:spLocks noGrp="1"/>
          </p:cNvSpPr>
          <p:nvPr>
            <p:ph type="sldNum" sz="quarter" idx="12"/>
          </p:nvPr>
        </p:nvSpPr>
        <p:spPr/>
        <p:txBody>
          <a:bodyPr/>
          <a:lstStyle/>
          <a:p>
            <a:fld id="{D24E9D6F-55F5-4A9F-B8EC-E2B38236DD2F}" type="slidenum">
              <a:rPr lang="zh-CN" altLang="en-US" smtClean="0"/>
              <a:t>‹#›</a:t>
            </a:fld>
            <a:endParaRPr lang="zh-CN" altLang="en-US"/>
          </a:p>
        </p:txBody>
      </p:sp>
    </p:spTree>
    <p:extLst>
      <p:ext uri="{BB962C8B-B14F-4D97-AF65-F5344CB8AC3E}">
        <p14:creationId xmlns:p14="http://schemas.microsoft.com/office/powerpoint/2010/main" val="3193686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225128F5-AD57-05B8-AC1F-F4EE373C6392}"/>
              </a:ext>
            </a:extLst>
          </p:cNvPr>
          <p:cNvSpPr>
            <a:spLocks noGrp="1"/>
          </p:cNvSpPr>
          <p:nvPr>
            <p:ph type="dt" sz="half" idx="10"/>
          </p:nvPr>
        </p:nvSpPr>
        <p:spPr/>
        <p:txBody>
          <a:bodyPr/>
          <a:lstStyle/>
          <a:p>
            <a:fld id="{87A670D1-3822-424A-9F0D-C26265496239}" type="datetimeFigureOut">
              <a:rPr lang="zh-CN" altLang="en-US" smtClean="0"/>
              <a:t>2025/12/26</a:t>
            </a:fld>
            <a:endParaRPr lang="zh-CN" altLang="en-US"/>
          </a:p>
        </p:txBody>
      </p:sp>
      <p:sp>
        <p:nvSpPr>
          <p:cNvPr id="3" name="页脚占位符 2">
            <a:extLst>
              <a:ext uri="{FF2B5EF4-FFF2-40B4-BE49-F238E27FC236}">
                <a16:creationId xmlns:a16="http://schemas.microsoft.com/office/drawing/2014/main" id="{BBADD2F6-8988-B934-5E7A-524D606F7474}"/>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AED72FD4-0356-7F2A-1721-AAC354A63E77}"/>
              </a:ext>
            </a:extLst>
          </p:cNvPr>
          <p:cNvSpPr>
            <a:spLocks noGrp="1"/>
          </p:cNvSpPr>
          <p:nvPr>
            <p:ph type="sldNum" sz="quarter" idx="12"/>
          </p:nvPr>
        </p:nvSpPr>
        <p:spPr/>
        <p:txBody>
          <a:bodyPr/>
          <a:lstStyle/>
          <a:p>
            <a:fld id="{D24E9D6F-55F5-4A9F-B8EC-E2B38236DD2F}" type="slidenum">
              <a:rPr lang="zh-CN" altLang="en-US" smtClean="0"/>
              <a:t>‹#›</a:t>
            </a:fld>
            <a:endParaRPr lang="zh-CN" altLang="en-US"/>
          </a:p>
        </p:txBody>
      </p:sp>
    </p:spTree>
    <p:extLst>
      <p:ext uri="{BB962C8B-B14F-4D97-AF65-F5344CB8AC3E}">
        <p14:creationId xmlns:p14="http://schemas.microsoft.com/office/powerpoint/2010/main" val="15428420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F3B2489-9BA3-F5E2-9EEF-30A74C424DC6}"/>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3B017011-D287-DD86-06A7-A9EEBEAF309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61C9CF94-2171-78F4-2C79-8112B3E819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43C692E4-67A4-BA9C-31B5-3849399C6487}"/>
              </a:ext>
            </a:extLst>
          </p:cNvPr>
          <p:cNvSpPr>
            <a:spLocks noGrp="1"/>
          </p:cNvSpPr>
          <p:nvPr>
            <p:ph type="dt" sz="half" idx="10"/>
          </p:nvPr>
        </p:nvSpPr>
        <p:spPr/>
        <p:txBody>
          <a:bodyPr/>
          <a:lstStyle/>
          <a:p>
            <a:fld id="{87A670D1-3822-424A-9F0D-C26265496239}" type="datetimeFigureOut">
              <a:rPr lang="zh-CN" altLang="en-US" smtClean="0"/>
              <a:t>2025/12/26</a:t>
            </a:fld>
            <a:endParaRPr lang="zh-CN" altLang="en-US"/>
          </a:p>
        </p:txBody>
      </p:sp>
      <p:sp>
        <p:nvSpPr>
          <p:cNvPr id="6" name="页脚占位符 5">
            <a:extLst>
              <a:ext uri="{FF2B5EF4-FFF2-40B4-BE49-F238E27FC236}">
                <a16:creationId xmlns:a16="http://schemas.microsoft.com/office/drawing/2014/main" id="{73BDD91D-C7AB-B597-4540-9FB023B7B12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771E3FC-7C32-4D45-6540-14676973B2E8}"/>
              </a:ext>
            </a:extLst>
          </p:cNvPr>
          <p:cNvSpPr>
            <a:spLocks noGrp="1"/>
          </p:cNvSpPr>
          <p:nvPr>
            <p:ph type="sldNum" sz="quarter" idx="12"/>
          </p:nvPr>
        </p:nvSpPr>
        <p:spPr/>
        <p:txBody>
          <a:bodyPr/>
          <a:lstStyle/>
          <a:p>
            <a:fld id="{D24E9D6F-55F5-4A9F-B8EC-E2B38236DD2F}" type="slidenum">
              <a:rPr lang="zh-CN" altLang="en-US" smtClean="0"/>
              <a:t>‹#›</a:t>
            </a:fld>
            <a:endParaRPr lang="zh-CN" altLang="en-US"/>
          </a:p>
        </p:txBody>
      </p:sp>
    </p:spTree>
    <p:extLst>
      <p:ext uri="{BB962C8B-B14F-4D97-AF65-F5344CB8AC3E}">
        <p14:creationId xmlns:p14="http://schemas.microsoft.com/office/powerpoint/2010/main" val="39117090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F8B4DA-AA97-E1D7-424A-C41B83216BF3}"/>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028C4C6D-0522-62C8-2A2D-0958E4EF51D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02668FB8-73D6-CF1A-46F3-117C9C585B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276E59F-7E4F-E06C-0AAA-0A843E7E3F3E}"/>
              </a:ext>
            </a:extLst>
          </p:cNvPr>
          <p:cNvSpPr>
            <a:spLocks noGrp="1"/>
          </p:cNvSpPr>
          <p:nvPr>
            <p:ph type="dt" sz="half" idx="10"/>
          </p:nvPr>
        </p:nvSpPr>
        <p:spPr/>
        <p:txBody>
          <a:bodyPr/>
          <a:lstStyle/>
          <a:p>
            <a:fld id="{87A670D1-3822-424A-9F0D-C26265496239}" type="datetimeFigureOut">
              <a:rPr lang="zh-CN" altLang="en-US" smtClean="0"/>
              <a:t>2025/12/26</a:t>
            </a:fld>
            <a:endParaRPr lang="zh-CN" altLang="en-US"/>
          </a:p>
        </p:txBody>
      </p:sp>
      <p:sp>
        <p:nvSpPr>
          <p:cNvPr id="6" name="页脚占位符 5">
            <a:extLst>
              <a:ext uri="{FF2B5EF4-FFF2-40B4-BE49-F238E27FC236}">
                <a16:creationId xmlns:a16="http://schemas.microsoft.com/office/drawing/2014/main" id="{D44DA38C-B4B7-C21E-9D0D-C8FE557B59C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B988E34-FE2C-92EA-A449-542D24D50F50}"/>
              </a:ext>
            </a:extLst>
          </p:cNvPr>
          <p:cNvSpPr>
            <a:spLocks noGrp="1"/>
          </p:cNvSpPr>
          <p:nvPr>
            <p:ph type="sldNum" sz="quarter" idx="12"/>
          </p:nvPr>
        </p:nvSpPr>
        <p:spPr/>
        <p:txBody>
          <a:bodyPr/>
          <a:lstStyle/>
          <a:p>
            <a:fld id="{D24E9D6F-55F5-4A9F-B8EC-E2B38236DD2F}" type="slidenum">
              <a:rPr lang="zh-CN" altLang="en-US" smtClean="0"/>
              <a:t>‹#›</a:t>
            </a:fld>
            <a:endParaRPr lang="zh-CN" altLang="en-US"/>
          </a:p>
        </p:txBody>
      </p:sp>
    </p:spTree>
    <p:extLst>
      <p:ext uri="{BB962C8B-B14F-4D97-AF65-F5344CB8AC3E}">
        <p14:creationId xmlns:p14="http://schemas.microsoft.com/office/powerpoint/2010/main" val="34756157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5A1DEE-B44B-FAD3-4CC4-464C871ABD46}"/>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7DD0ECAF-933B-73B1-89BC-7A4ACB13A2B9}"/>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6A2B6C6-8D1E-82E7-95AE-72B3CD3A485C}"/>
              </a:ext>
            </a:extLst>
          </p:cNvPr>
          <p:cNvSpPr>
            <a:spLocks noGrp="1"/>
          </p:cNvSpPr>
          <p:nvPr>
            <p:ph type="dt" sz="half" idx="10"/>
          </p:nvPr>
        </p:nvSpPr>
        <p:spPr/>
        <p:txBody>
          <a:bodyPr/>
          <a:lstStyle/>
          <a:p>
            <a:fld id="{87A670D1-3822-424A-9F0D-C26265496239}" type="datetimeFigureOut">
              <a:rPr lang="zh-CN" altLang="en-US" smtClean="0"/>
              <a:t>2025/12/26</a:t>
            </a:fld>
            <a:endParaRPr lang="zh-CN" altLang="en-US"/>
          </a:p>
        </p:txBody>
      </p:sp>
      <p:sp>
        <p:nvSpPr>
          <p:cNvPr id="5" name="页脚占位符 4">
            <a:extLst>
              <a:ext uri="{FF2B5EF4-FFF2-40B4-BE49-F238E27FC236}">
                <a16:creationId xmlns:a16="http://schemas.microsoft.com/office/drawing/2014/main" id="{1623E46E-2204-049A-1B36-BB714DC5DB3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D0BD3F1-2F09-9628-9BFA-7B78C10067E5}"/>
              </a:ext>
            </a:extLst>
          </p:cNvPr>
          <p:cNvSpPr>
            <a:spLocks noGrp="1"/>
          </p:cNvSpPr>
          <p:nvPr>
            <p:ph type="sldNum" sz="quarter" idx="12"/>
          </p:nvPr>
        </p:nvSpPr>
        <p:spPr/>
        <p:txBody>
          <a:bodyPr/>
          <a:lstStyle/>
          <a:p>
            <a:fld id="{D24E9D6F-55F5-4A9F-B8EC-E2B38236DD2F}" type="slidenum">
              <a:rPr lang="zh-CN" altLang="en-US" smtClean="0"/>
              <a:t>‹#›</a:t>
            </a:fld>
            <a:endParaRPr lang="zh-CN" altLang="en-US"/>
          </a:p>
        </p:txBody>
      </p:sp>
    </p:spTree>
    <p:extLst>
      <p:ext uri="{BB962C8B-B14F-4D97-AF65-F5344CB8AC3E}">
        <p14:creationId xmlns:p14="http://schemas.microsoft.com/office/powerpoint/2010/main" val="27731345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3A2C1A36-027A-DEF6-9129-2FC81E29B2A3}"/>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796554A9-EB58-F5A5-7FA1-71BEE44D9C68}"/>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D4F725C-C0C5-C11E-90EC-953437E4BAB1}"/>
              </a:ext>
            </a:extLst>
          </p:cNvPr>
          <p:cNvSpPr>
            <a:spLocks noGrp="1"/>
          </p:cNvSpPr>
          <p:nvPr>
            <p:ph type="dt" sz="half" idx="10"/>
          </p:nvPr>
        </p:nvSpPr>
        <p:spPr/>
        <p:txBody>
          <a:bodyPr/>
          <a:lstStyle/>
          <a:p>
            <a:fld id="{87A670D1-3822-424A-9F0D-C26265496239}" type="datetimeFigureOut">
              <a:rPr lang="zh-CN" altLang="en-US" smtClean="0"/>
              <a:t>2025/12/26</a:t>
            </a:fld>
            <a:endParaRPr lang="zh-CN" altLang="en-US"/>
          </a:p>
        </p:txBody>
      </p:sp>
      <p:sp>
        <p:nvSpPr>
          <p:cNvPr id="5" name="页脚占位符 4">
            <a:extLst>
              <a:ext uri="{FF2B5EF4-FFF2-40B4-BE49-F238E27FC236}">
                <a16:creationId xmlns:a16="http://schemas.microsoft.com/office/drawing/2014/main" id="{F6A435F5-81A7-6F47-6597-9471EB4D577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D669736-EE8F-B7DB-D811-605F020AB395}"/>
              </a:ext>
            </a:extLst>
          </p:cNvPr>
          <p:cNvSpPr>
            <a:spLocks noGrp="1"/>
          </p:cNvSpPr>
          <p:nvPr>
            <p:ph type="sldNum" sz="quarter" idx="12"/>
          </p:nvPr>
        </p:nvSpPr>
        <p:spPr/>
        <p:txBody>
          <a:bodyPr/>
          <a:lstStyle/>
          <a:p>
            <a:fld id="{D24E9D6F-55F5-4A9F-B8EC-E2B38236DD2F}" type="slidenum">
              <a:rPr lang="zh-CN" altLang="en-US" smtClean="0"/>
              <a:t>‹#›</a:t>
            </a:fld>
            <a:endParaRPr lang="zh-CN" altLang="en-US"/>
          </a:p>
        </p:txBody>
      </p:sp>
    </p:spTree>
    <p:extLst>
      <p:ext uri="{BB962C8B-B14F-4D97-AF65-F5344CB8AC3E}">
        <p14:creationId xmlns:p14="http://schemas.microsoft.com/office/powerpoint/2010/main" val="27640410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FE08233-2464-FC03-ED06-2245E8B4EF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B4450919-3409-3E61-A650-B3C168481D0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26B3742-DB2C-3C57-3975-14192857AC4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7A670D1-3822-424A-9F0D-C26265496239}" type="datetimeFigureOut">
              <a:rPr lang="zh-CN" altLang="en-US" smtClean="0"/>
              <a:t>2025/12/26</a:t>
            </a:fld>
            <a:endParaRPr lang="zh-CN" altLang="en-US"/>
          </a:p>
        </p:txBody>
      </p:sp>
      <p:sp>
        <p:nvSpPr>
          <p:cNvPr id="5" name="页脚占位符 4">
            <a:extLst>
              <a:ext uri="{FF2B5EF4-FFF2-40B4-BE49-F238E27FC236}">
                <a16:creationId xmlns:a16="http://schemas.microsoft.com/office/drawing/2014/main" id="{84462727-455F-B99A-A952-6DDAC4B0370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811B4D6A-A504-884E-904E-7AF71143D5F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24E9D6F-55F5-4A9F-B8EC-E2B38236DD2F}" type="slidenum">
              <a:rPr lang="zh-CN" altLang="en-US" smtClean="0"/>
              <a:t>‹#›</a:t>
            </a:fld>
            <a:endParaRPr lang="zh-CN" altLang="en-US"/>
          </a:p>
        </p:txBody>
      </p:sp>
    </p:spTree>
    <p:extLst>
      <p:ext uri="{BB962C8B-B14F-4D97-AF65-F5344CB8AC3E}">
        <p14:creationId xmlns:p14="http://schemas.microsoft.com/office/powerpoint/2010/main" val="22846000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jp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jpg"/><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jpg"/><Relationship Id="rId7" Type="http://schemas.openxmlformats.org/officeDocument/2006/relationships/image" Target="../media/image5.sv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9.svg"/><Relationship Id="rId5" Type="http://schemas.openxmlformats.org/officeDocument/2006/relationships/image" Target="../media/image3.jpg"/><Relationship Id="rId10" Type="http://schemas.openxmlformats.org/officeDocument/2006/relationships/image" Target="../media/image8.png"/><Relationship Id="rId4" Type="http://schemas.openxmlformats.org/officeDocument/2006/relationships/image" Target="../media/image2.jpg"/><Relationship Id="rId9" Type="http://schemas.openxmlformats.org/officeDocument/2006/relationships/image" Target="../media/image7.svg"/></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3.jpg"/><Relationship Id="rId4" Type="http://schemas.openxmlformats.org/officeDocument/2006/relationships/image" Target="../media/image2.jpg"/></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3.jpg"/><Relationship Id="rId4" Type="http://schemas.openxmlformats.org/officeDocument/2006/relationships/image" Target="../media/image2.jpg"/></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3.jpg"/><Relationship Id="rId4" Type="http://schemas.openxmlformats.org/officeDocument/2006/relationships/image" Target="../media/image2.jpg"/></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3.jpg"/><Relationship Id="rId4" Type="http://schemas.openxmlformats.org/officeDocument/2006/relationships/image" Target="../media/image2.jpg"/></Relationships>
</file>

<file path=ppt/slides/_rels/slide8.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2.jpg"/><Relationship Id="rId7" Type="http://schemas.openxmlformats.org/officeDocument/2006/relationships/image" Target="../media/image12.png"/><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3.jpg"/></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3.jpg"/></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3.jpg"/><Relationship Id="rId4" Type="http://schemas.openxmlformats.org/officeDocument/2006/relationships/image" Target="../media/image2.jpg"/></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3.jpg"/><Relationship Id="rId4" Type="http://schemas.openxmlformats.org/officeDocument/2006/relationships/image" Target="../media/image2.jpg"/></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3.jpg"/><Relationship Id="rId4" Type="http://schemas.openxmlformats.org/officeDocument/2006/relationships/image" Target="../media/image2.jpg"/></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3.jpg"/><Relationship Id="rId4" Type="http://schemas.openxmlformats.org/officeDocument/2006/relationships/image" Target="../media/image2.jpg"/></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6.jpg"/><Relationship Id="rId5" Type="http://schemas.openxmlformats.org/officeDocument/2006/relationships/image" Target="../media/image3.jpg"/><Relationship Id="rId4" Type="http://schemas.openxmlformats.org/officeDocument/2006/relationships/image" Target="../media/image2.jpg"/></Relationships>
</file>

<file path=ppt/slides/_rels/slide1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jpg"/><Relationship Id="rId7" Type="http://schemas.openxmlformats.org/officeDocument/2006/relationships/image" Target="../media/image18.jpe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7.jpeg"/><Relationship Id="rId5" Type="http://schemas.openxmlformats.org/officeDocument/2006/relationships/image" Target="../media/image3.jpg"/><Relationship Id="rId4" Type="http://schemas.openxmlformats.org/officeDocument/2006/relationships/image" Target="../media/image2.jpg"/></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0.jpeg"/><Relationship Id="rId5" Type="http://schemas.openxmlformats.org/officeDocument/2006/relationships/image" Target="../media/image3.jpg"/><Relationship Id="rId4" Type="http://schemas.openxmlformats.org/officeDocument/2006/relationships/image" Target="../media/image2.jpg"/></Relationships>
</file>

<file path=ppt/slides/_rels/slide17.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jpg"/><Relationship Id="rId7" Type="http://schemas.openxmlformats.org/officeDocument/2006/relationships/image" Target="../media/image23.sv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3.jpg"/><Relationship Id="rId4" Type="http://schemas.openxmlformats.org/officeDocument/2006/relationships/image" Target="../media/image2.jpg"/><Relationship Id="rId9" Type="http://schemas.openxmlformats.org/officeDocument/2006/relationships/image" Target="../media/image25.svg"/></Relationships>
</file>

<file path=ppt/slides/_rels/slide1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3.jpg"/><Relationship Id="rId4"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8307B49-6B94-EA37-8964-F17226469FA2}"/>
              </a:ext>
            </a:extLst>
          </p:cNvPr>
          <p:cNvSpPr>
            <a:spLocks noGrp="1"/>
          </p:cNvSpPr>
          <p:nvPr>
            <p:ph type="title"/>
          </p:nvPr>
        </p:nvSpPr>
        <p:spPr/>
        <p:txBody>
          <a:bodyPr/>
          <a:lstStyle/>
          <a:p>
            <a:endParaRPr lang="zh-CN" altLang="en-US"/>
          </a:p>
        </p:txBody>
      </p:sp>
      <p:pic>
        <p:nvPicPr>
          <p:cNvPr id="5" name="内容占位符 4" descr="雪山下的城市&#10;&#10;AI 生成的内容可能不正确。">
            <a:extLst>
              <a:ext uri="{FF2B5EF4-FFF2-40B4-BE49-F238E27FC236}">
                <a16:creationId xmlns:a16="http://schemas.microsoft.com/office/drawing/2014/main" id="{BB3CF155-20F5-8C1A-C205-B47D815D3ABF}"/>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10425" r="5703"/>
          <a:stretch>
            <a:fillRect/>
          </a:stretch>
        </p:blipFill>
        <p:spPr>
          <a:xfrm>
            <a:off x="0" y="0"/>
            <a:ext cx="4007184" cy="6858000"/>
          </a:xfrm>
          <a:effectLst>
            <a:softEdge rad="0"/>
          </a:effectLst>
        </p:spPr>
      </p:pic>
      <p:pic>
        <p:nvPicPr>
          <p:cNvPr id="7" name="图片 6" descr="城市街道与高楼大厦的景色&#10;&#10;AI 生成的内容可能不正确。">
            <a:extLst>
              <a:ext uri="{FF2B5EF4-FFF2-40B4-BE49-F238E27FC236}">
                <a16:creationId xmlns:a16="http://schemas.microsoft.com/office/drawing/2014/main" id="{EEF0EFB0-5DAC-62CE-1406-6ED12278DA0A}"/>
              </a:ext>
            </a:extLst>
          </p:cNvPr>
          <p:cNvPicPr>
            <a:picLocks noChangeAspect="1"/>
          </p:cNvPicPr>
          <p:nvPr/>
        </p:nvPicPr>
        <p:blipFill>
          <a:blip r:embed="rId4">
            <a:extLst>
              <a:ext uri="{28A0092B-C50C-407E-A947-70E740481C1C}">
                <a14:useLocalDpi xmlns:a14="http://schemas.microsoft.com/office/drawing/2010/main" val="0"/>
              </a:ext>
            </a:extLst>
          </a:blip>
          <a:srcRect l="8822" r="-900"/>
          <a:stretch>
            <a:fillRect/>
          </a:stretch>
        </p:blipFill>
        <p:spPr>
          <a:xfrm>
            <a:off x="8305800" y="0"/>
            <a:ext cx="4007184" cy="6858000"/>
          </a:xfrm>
          <a:prstGeom prst="rect">
            <a:avLst/>
          </a:prstGeom>
          <a:effectLst>
            <a:softEdge rad="0"/>
          </a:effectLst>
        </p:spPr>
      </p:pic>
      <p:pic>
        <p:nvPicPr>
          <p:cNvPr id="9" name="图片 8" descr="城市的高楼大厦&#10;&#10;AI 生成的内容可能不正确。">
            <a:extLst>
              <a:ext uri="{FF2B5EF4-FFF2-40B4-BE49-F238E27FC236}">
                <a16:creationId xmlns:a16="http://schemas.microsoft.com/office/drawing/2014/main" id="{17493796-560B-A9B9-EC35-342CE2E03966}"/>
              </a:ext>
            </a:extLst>
          </p:cNvPr>
          <p:cNvPicPr>
            <a:picLocks noChangeAspect="1"/>
          </p:cNvPicPr>
          <p:nvPr/>
        </p:nvPicPr>
        <p:blipFill>
          <a:blip r:embed="rId5">
            <a:extLst>
              <a:ext uri="{28A0092B-C50C-407E-A947-70E740481C1C}">
                <a14:useLocalDpi xmlns:a14="http://schemas.microsoft.com/office/drawing/2010/main" val="0"/>
              </a:ext>
            </a:extLst>
          </a:blip>
          <a:srcRect l="29119" r="29119"/>
          <a:stretch>
            <a:fillRect/>
          </a:stretch>
        </p:blipFill>
        <p:spPr>
          <a:xfrm>
            <a:off x="4007184" y="0"/>
            <a:ext cx="4298616" cy="6858000"/>
          </a:xfrm>
          <a:prstGeom prst="rect">
            <a:avLst/>
          </a:prstGeom>
          <a:effectLst>
            <a:softEdge rad="0"/>
          </a:effectLst>
        </p:spPr>
      </p:pic>
      <p:sp>
        <p:nvSpPr>
          <p:cNvPr id="14" name="矩形: 圆角 13">
            <a:extLst>
              <a:ext uri="{FF2B5EF4-FFF2-40B4-BE49-F238E27FC236}">
                <a16:creationId xmlns:a16="http://schemas.microsoft.com/office/drawing/2014/main" id="{5F0FF9FC-2A80-8775-1EBC-26285230CB6A}"/>
              </a:ext>
            </a:extLst>
          </p:cNvPr>
          <p:cNvSpPr/>
          <p:nvPr/>
        </p:nvSpPr>
        <p:spPr>
          <a:xfrm>
            <a:off x="389466" y="156633"/>
            <a:ext cx="11413067" cy="6544733"/>
          </a:xfrm>
          <a:prstGeom prst="round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D4C5B36E-C085-4D9A-05CE-DFBF0C60F33C}"/>
              </a:ext>
            </a:extLst>
          </p:cNvPr>
          <p:cNvSpPr txBox="1"/>
          <p:nvPr/>
        </p:nvSpPr>
        <p:spPr>
          <a:xfrm>
            <a:off x="1116919" y="1690688"/>
            <a:ext cx="9806786" cy="3046988"/>
          </a:xfrm>
          <a:prstGeom prst="rect">
            <a:avLst/>
          </a:prstGeom>
          <a:noFill/>
        </p:spPr>
        <p:txBody>
          <a:bodyPr wrap="square" rtlCol="0">
            <a:spAutoFit/>
          </a:bodyPr>
          <a:lstStyle/>
          <a:p>
            <a:pPr algn="ctr"/>
            <a:r>
              <a:rPr lang="en-US" altLang="zh-CN" sz="9600" b="1" dirty="0">
                <a:latin typeface="微软雅黑" panose="020B0503020204020204" pitchFamily="34" charset="-122"/>
                <a:ea typeface="微软雅黑" panose="020B0503020204020204" pitchFamily="34" charset="-122"/>
              </a:rPr>
              <a:t>Design Our Smart City</a:t>
            </a:r>
            <a:endParaRPr lang="zh-CN" altLang="en-US" sz="9600" b="1" dirty="0">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5C935051-98ED-E1C2-9223-1A5041B17BD4}"/>
              </a:ext>
            </a:extLst>
          </p:cNvPr>
          <p:cNvSpPr txBox="1"/>
          <p:nvPr/>
        </p:nvSpPr>
        <p:spPr>
          <a:xfrm>
            <a:off x="4614136" y="4976036"/>
            <a:ext cx="2892056" cy="830997"/>
          </a:xfrm>
          <a:prstGeom prst="rect">
            <a:avLst/>
          </a:prstGeom>
          <a:noFill/>
        </p:spPr>
        <p:txBody>
          <a:bodyPr wrap="square" rtlCol="0">
            <a:spAutoFit/>
          </a:bodyPr>
          <a:lstStyle/>
          <a:p>
            <a:pPr algn="ctr"/>
            <a:r>
              <a:rPr lang="zh-CN" altLang="en-US" sz="2400" b="1" dirty="0">
                <a:latin typeface="Microsoft YaHei UI" panose="020B0503020204020204" pitchFamily="34" charset="-122"/>
                <a:ea typeface="Microsoft YaHei UI" panose="020B0503020204020204" pitchFamily="34" charset="-122"/>
              </a:rPr>
              <a:t>莫天皓  吴靖宇</a:t>
            </a:r>
            <a:endParaRPr lang="en-US" altLang="zh-CN" sz="2400" b="1" dirty="0">
              <a:latin typeface="Microsoft YaHei UI" panose="020B0503020204020204" pitchFamily="34" charset="-122"/>
              <a:ea typeface="Microsoft YaHei UI" panose="020B0503020204020204" pitchFamily="34" charset="-122"/>
            </a:endParaRPr>
          </a:p>
          <a:p>
            <a:pPr algn="ctr"/>
            <a:r>
              <a:rPr lang="zh-CN" altLang="en-US" sz="2400" b="1" dirty="0">
                <a:latin typeface="Microsoft YaHei UI" panose="020B0503020204020204" pitchFamily="34" charset="-122"/>
                <a:ea typeface="Microsoft YaHei UI" panose="020B0503020204020204" pitchFamily="34" charset="-122"/>
              </a:rPr>
              <a:t>吴坤昊  苏炳麟</a:t>
            </a:r>
          </a:p>
        </p:txBody>
      </p:sp>
    </p:spTree>
    <p:extLst>
      <p:ext uri="{BB962C8B-B14F-4D97-AF65-F5344CB8AC3E}">
        <p14:creationId xmlns:p14="http://schemas.microsoft.com/office/powerpoint/2010/main" val="20479317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F04F7-B547-48CA-99D5-D1D5463CBD9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3196475-4448-3231-6957-663F9931A50C}"/>
              </a:ext>
            </a:extLst>
          </p:cNvPr>
          <p:cNvSpPr>
            <a:spLocks noGrp="1"/>
          </p:cNvSpPr>
          <p:nvPr>
            <p:ph type="title"/>
          </p:nvPr>
        </p:nvSpPr>
        <p:spPr/>
        <p:txBody>
          <a:bodyPr/>
          <a:lstStyle/>
          <a:p>
            <a:endParaRPr lang="zh-CN" altLang="en-US"/>
          </a:p>
        </p:txBody>
      </p:sp>
      <p:pic>
        <p:nvPicPr>
          <p:cNvPr id="5" name="内容占位符 4" descr="雪山下的城市&#10;&#10;AI 生成的内容可能不正确。">
            <a:extLst>
              <a:ext uri="{FF2B5EF4-FFF2-40B4-BE49-F238E27FC236}">
                <a16:creationId xmlns:a16="http://schemas.microsoft.com/office/drawing/2014/main" id="{D6F4A8F3-2FE6-8EEC-E82A-57C8BC1674CB}"/>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10425" r="5703"/>
          <a:stretch>
            <a:fillRect/>
          </a:stretch>
        </p:blipFill>
        <p:spPr>
          <a:xfrm>
            <a:off x="0" y="0"/>
            <a:ext cx="4007184" cy="6858000"/>
          </a:xfrm>
          <a:effectLst>
            <a:softEdge rad="0"/>
          </a:effectLst>
        </p:spPr>
      </p:pic>
      <p:pic>
        <p:nvPicPr>
          <p:cNvPr id="7" name="图片 6" descr="城市街道与高楼大厦的景色&#10;&#10;AI 生成的内容可能不正确。">
            <a:extLst>
              <a:ext uri="{FF2B5EF4-FFF2-40B4-BE49-F238E27FC236}">
                <a16:creationId xmlns:a16="http://schemas.microsoft.com/office/drawing/2014/main" id="{4E88164A-356B-63DC-91E2-23812016DE30}"/>
              </a:ext>
            </a:extLst>
          </p:cNvPr>
          <p:cNvPicPr>
            <a:picLocks noChangeAspect="1"/>
          </p:cNvPicPr>
          <p:nvPr/>
        </p:nvPicPr>
        <p:blipFill>
          <a:blip r:embed="rId4">
            <a:extLst>
              <a:ext uri="{28A0092B-C50C-407E-A947-70E740481C1C}">
                <a14:useLocalDpi xmlns:a14="http://schemas.microsoft.com/office/drawing/2010/main" val="0"/>
              </a:ext>
            </a:extLst>
          </a:blip>
          <a:srcRect l="8822" r="-900"/>
          <a:stretch>
            <a:fillRect/>
          </a:stretch>
        </p:blipFill>
        <p:spPr>
          <a:xfrm>
            <a:off x="8305800" y="0"/>
            <a:ext cx="4007184" cy="6858000"/>
          </a:xfrm>
          <a:prstGeom prst="rect">
            <a:avLst/>
          </a:prstGeom>
          <a:effectLst>
            <a:softEdge rad="0"/>
          </a:effectLst>
        </p:spPr>
      </p:pic>
      <p:pic>
        <p:nvPicPr>
          <p:cNvPr id="9" name="图片 8" descr="城市的高楼大厦&#10;&#10;AI 生成的内容可能不正确。">
            <a:extLst>
              <a:ext uri="{FF2B5EF4-FFF2-40B4-BE49-F238E27FC236}">
                <a16:creationId xmlns:a16="http://schemas.microsoft.com/office/drawing/2014/main" id="{1B0CB0DE-2079-DD8F-5914-E9521E632DDF}"/>
              </a:ext>
            </a:extLst>
          </p:cNvPr>
          <p:cNvPicPr>
            <a:picLocks noChangeAspect="1"/>
          </p:cNvPicPr>
          <p:nvPr/>
        </p:nvPicPr>
        <p:blipFill>
          <a:blip r:embed="rId5">
            <a:extLst>
              <a:ext uri="{28A0092B-C50C-407E-A947-70E740481C1C}">
                <a14:useLocalDpi xmlns:a14="http://schemas.microsoft.com/office/drawing/2010/main" val="0"/>
              </a:ext>
            </a:extLst>
          </a:blip>
          <a:srcRect l="29119" r="29119"/>
          <a:stretch>
            <a:fillRect/>
          </a:stretch>
        </p:blipFill>
        <p:spPr>
          <a:xfrm>
            <a:off x="4007184" y="0"/>
            <a:ext cx="4298616" cy="6858000"/>
          </a:xfrm>
          <a:prstGeom prst="rect">
            <a:avLst/>
          </a:prstGeom>
          <a:effectLst>
            <a:softEdge rad="0"/>
          </a:effectLst>
        </p:spPr>
      </p:pic>
      <p:sp>
        <p:nvSpPr>
          <p:cNvPr id="14" name="矩形: 圆角 13">
            <a:extLst>
              <a:ext uri="{FF2B5EF4-FFF2-40B4-BE49-F238E27FC236}">
                <a16:creationId xmlns:a16="http://schemas.microsoft.com/office/drawing/2014/main" id="{F01D6045-CB04-7F75-404B-711E9BD1492A}"/>
              </a:ext>
            </a:extLst>
          </p:cNvPr>
          <p:cNvSpPr/>
          <p:nvPr/>
        </p:nvSpPr>
        <p:spPr>
          <a:xfrm>
            <a:off x="389466" y="156633"/>
            <a:ext cx="11413067" cy="6544733"/>
          </a:xfrm>
          <a:prstGeom prst="round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ED91DD67-A2D4-5D7A-D318-9EADC5C29306}"/>
              </a:ext>
            </a:extLst>
          </p:cNvPr>
          <p:cNvSpPr txBox="1"/>
          <p:nvPr/>
        </p:nvSpPr>
        <p:spPr>
          <a:xfrm>
            <a:off x="1458412" y="2105561"/>
            <a:ext cx="2646878" cy="2646878"/>
          </a:xfrm>
          <a:prstGeom prst="rect">
            <a:avLst/>
          </a:prstGeom>
          <a:noFill/>
        </p:spPr>
        <p:txBody>
          <a:bodyPr wrap="none" rtlCol="0">
            <a:spAutoFit/>
          </a:bodyPr>
          <a:lstStyle/>
          <a:p>
            <a:r>
              <a:rPr lang="en-US" altLang="zh-CN" sz="16600" b="1" spc="300" dirty="0">
                <a:gradFill>
                  <a:gsLst>
                    <a:gs pos="0">
                      <a:schemeClr val="accent1"/>
                    </a:gs>
                    <a:gs pos="90000">
                      <a:schemeClr val="accent1">
                        <a:alpha val="0"/>
                      </a:schemeClr>
                    </a:gs>
                  </a:gsLst>
                  <a:lin ang="5400000" scaled="1"/>
                </a:gradFill>
              </a:rPr>
              <a:t>01</a:t>
            </a:r>
            <a:endParaRPr lang="zh-CN" altLang="en-US" sz="16600" b="1" spc="300" dirty="0">
              <a:gradFill>
                <a:gsLst>
                  <a:gs pos="0">
                    <a:schemeClr val="accent1"/>
                  </a:gs>
                  <a:gs pos="90000">
                    <a:schemeClr val="accent1">
                      <a:alpha val="0"/>
                    </a:schemeClr>
                  </a:gs>
                </a:gsLst>
                <a:lin ang="5400000" scaled="1"/>
              </a:gradFill>
            </a:endParaRPr>
          </a:p>
        </p:txBody>
      </p:sp>
      <p:sp>
        <p:nvSpPr>
          <p:cNvPr id="6" name="文本框 5">
            <a:extLst>
              <a:ext uri="{FF2B5EF4-FFF2-40B4-BE49-F238E27FC236}">
                <a16:creationId xmlns:a16="http://schemas.microsoft.com/office/drawing/2014/main" id="{9F2E39E5-3EA7-B6F1-0E12-EE962897108E}"/>
              </a:ext>
            </a:extLst>
          </p:cNvPr>
          <p:cNvSpPr txBox="1"/>
          <p:nvPr/>
        </p:nvSpPr>
        <p:spPr>
          <a:xfrm>
            <a:off x="3831981" y="2741682"/>
            <a:ext cx="5389311" cy="1200329"/>
          </a:xfrm>
          <a:prstGeom prst="rect">
            <a:avLst/>
          </a:prstGeom>
          <a:noFill/>
        </p:spPr>
        <p:txBody>
          <a:bodyPr wrap="square" rtlCol="0">
            <a:spAutoFit/>
          </a:bodyPr>
          <a:lstStyle/>
          <a:p>
            <a:pPr algn="ctr"/>
            <a:r>
              <a:rPr lang="en-US" altLang="zh-CN" sz="3600" b="1" dirty="0">
                <a:latin typeface="微软雅黑" panose="020B0503020204020204" pitchFamily="34" charset="-122"/>
                <a:ea typeface="微软雅黑" panose="020B0503020204020204" pitchFamily="34" charset="-122"/>
              </a:rPr>
              <a:t>How will our city of tomorrow look like?</a:t>
            </a:r>
            <a:endParaRPr lang="zh-CN" altLang="en-US" sz="3600" b="1" dirty="0">
              <a:latin typeface="微软雅黑" panose="020B0503020204020204" pitchFamily="34" charset="-122"/>
              <a:ea typeface="微软雅黑" panose="020B0503020204020204" pitchFamily="34" charset="-122"/>
            </a:endParaRPr>
          </a:p>
        </p:txBody>
      </p:sp>
      <p:sp>
        <p:nvSpPr>
          <p:cNvPr id="8" name="矩形 7">
            <a:extLst>
              <a:ext uri="{FF2B5EF4-FFF2-40B4-BE49-F238E27FC236}">
                <a16:creationId xmlns:a16="http://schemas.microsoft.com/office/drawing/2014/main" id="{8C1E14C3-1C51-6FCF-F5DE-A5CE65DA9458}"/>
              </a:ext>
            </a:extLst>
          </p:cNvPr>
          <p:cNvSpPr/>
          <p:nvPr/>
        </p:nvSpPr>
        <p:spPr>
          <a:xfrm>
            <a:off x="6080721" y="4098645"/>
            <a:ext cx="720000" cy="1016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1077216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491CA4-F0A5-DA0C-D59B-B07D8A93B6A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C9AC4C2-1261-266E-2304-2A3487E0107D}"/>
              </a:ext>
            </a:extLst>
          </p:cNvPr>
          <p:cNvSpPr>
            <a:spLocks noGrp="1"/>
          </p:cNvSpPr>
          <p:nvPr>
            <p:ph type="title"/>
          </p:nvPr>
        </p:nvSpPr>
        <p:spPr/>
        <p:txBody>
          <a:bodyPr/>
          <a:lstStyle/>
          <a:p>
            <a:endParaRPr lang="zh-CN" altLang="en-US"/>
          </a:p>
        </p:txBody>
      </p:sp>
      <p:pic>
        <p:nvPicPr>
          <p:cNvPr id="5" name="内容占位符 4" descr="雪山下的城市&#10;&#10;AI 生成的内容可能不正确。">
            <a:extLst>
              <a:ext uri="{FF2B5EF4-FFF2-40B4-BE49-F238E27FC236}">
                <a16:creationId xmlns:a16="http://schemas.microsoft.com/office/drawing/2014/main" id="{B8FD4E08-BE2A-8F6D-1A61-C9C80C064036}"/>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10425" r="5703"/>
          <a:stretch>
            <a:fillRect/>
          </a:stretch>
        </p:blipFill>
        <p:spPr>
          <a:xfrm>
            <a:off x="0" y="0"/>
            <a:ext cx="4007184" cy="6858000"/>
          </a:xfrm>
          <a:effectLst>
            <a:softEdge rad="0"/>
          </a:effectLst>
        </p:spPr>
      </p:pic>
      <p:pic>
        <p:nvPicPr>
          <p:cNvPr id="7" name="图片 6" descr="城市街道与高楼大厦的景色&#10;&#10;AI 生成的内容可能不正确。">
            <a:extLst>
              <a:ext uri="{FF2B5EF4-FFF2-40B4-BE49-F238E27FC236}">
                <a16:creationId xmlns:a16="http://schemas.microsoft.com/office/drawing/2014/main" id="{535BB746-D924-7019-C330-845282F22FAE}"/>
              </a:ext>
            </a:extLst>
          </p:cNvPr>
          <p:cNvPicPr>
            <a:picLocks noChangeAspect="1"/>
          </p:cNvPicPr>
          <p:nvPr/>
        </p:nvPicPr>
        <p:blipFill>
          <a:blip r:embed="rId4">
            <a:extLst>
              <a:ext uri="{28A0092B-C50C-407E-A947-70E740481C1C}">
                <a14:useLocalDpi xmlns:a14="http://schemas.microsoft.com/office/drawing/2010/main" val="0"/>
              </a:ext>
            </a:extLst>
          </a:blip>
          <a:srcRect l="8822" r="-900"/>
          <a:stretch>
            <a:fillRect/>
          </a:stretch>
        </p:blipFill>
        <p:spPr>
          <a:xfrm>
            <a:off x="8305800" y="0"/>
            <a:ext cx="4007184" cy="6858000"/>
          </a:xfrm>
          <a:prstGeom prst="rect">
            <a:avLst/>
          </a:prstGeom>
          <a:effectLst>
            <a:softEdge rad="0"/>
          </a:effectLst>
        </p:spPr>
      </p:pic>
      <p:pic>
        <p:nvPicPr>
          <p:cNvPr id="9" name="图片 8" descr="城市的高楼大厦&#10;&#10;AI 生成的内容可能不正确。">
            <a:extLst>
              <a:ext uri="{FF2B5EF4-FFF2-40B4-BE49-F238E27FC236}">
                <a16:creationId xmlns:a16="http://schemas.microsoft.com/office/drawing/2014/main" id="{CA9F03A1-4C38-59E9-5A6D-92B40E9BDA68}"/>
              </a:ext>
            </a:extLst>
          </p:cNvPr>
          <p:cNvPicPr>
            <a:picLocks noChangeAspect="1"/>
          </p:cNvPicPr>
          <p:nvPr/>
        </p:nvPicPr>
        <p:blipFill>
          <a:blip r:embed="rId5">
            <a:extLst>
              <a:ext uri="{28A0092B-C50C-407E-A947-70E740481C1C}">
                <a14:useLocalDpi xmlns:a14="http://schemas.microsoft.com/office/drawing/2010/main" val="0"/>
              </a:ext>
            </a:extLst>
          </a:blip>
          <a:srcRect l="29119" r="29119"/>
          <a:stretch>
            <a:fillRect/>
          </a:stretch>
        </p:blipFill>
        <p:spPr>
          <a:xfrm>
            <a:off x="4007184" y="0"/>
            <a:ext cx="4298616" cy="6858000"/>
          </a:xfrm>
          <a:prstGeom prst="rect">
            <a:avLst/>
          </a:prstGeom>
          <a:effectLst>
            <a:softEdge rad="0"/>
          </a:effectLst>
        </p:spPr>
      </p:pic>
      <p:sp>
        <p:nvSpPr>
          <p:cNvPr id="14" name="矩形: 圆角 13">
            <a:extLst>
              <a:ext uri="{FF2B5EF4-FFF2-40B4-BE49-F238E27FC236}">
                <a16:creationId xmlns:a16="http://schemas.microsoft.com/office/drawing/2014/main" id="{DFE6DD0F-440D-D510-8488-C71346CED808}"/>
              </a:ext>
            </a:extLst>
          </p:cNvPr>
          <p:cNvSpPr/>
          <p:nvPr/>
        </p:nvSpPr>
        <p:spPr>
          <a:xfrm>
            <a:off x="389465" y="156633"/>
            <a:ext cx="11413067" cy="6544733"/>
          </a:xfrm>
          <a:prstGeom prst="round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a:extLst>
              <a:ext uri="{FF2B5EF4-FFF2-40B4-BE49-F238E27FC236}">
                <a16:creationId xmlns:a16="http://schemas.microsoft.com/office/drawing/2014/main" id="{445D940D-8735-62F8-B0E0-2D3B8D80CAE8}"/>
              </a:ext>
            </a:extLst>
          </p:cNvPr>
          <p:cNvCxnSpPr/>
          <p:nvPr/>
        </p:nvCxnSpPr>
        <p:spPr>
          <a:xfrm>
            <a:off x="708025" y="844550"/>
            <a:ext cx="10775950"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6" name="文本框 5">
            <a:extLst>
              <a:ext uri="{FF2B5EF4-FFF2-40B4-BE49-F238E27FC236}">
                <a16:creationId xmlns:a16="http://schemas.microsoft.com/office/drawing/2014/main" id="{4E2633D8-10D0-9DEF-7CE2-19747FB4361E}"/>
              </a:ext>
            </a:extLst>
          </p:cNvPr>
          <p:cNvSpPr txBox="1"/>
          <p:nvPr/>
        </p:nvSpPr>
        <p:spPr>
          <a:xfrm>
            <a:off x="1024948" y="321330"/>
            <a:ext cx="7885136"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rPr>
              <a:t>1. How will our city of tomorrow look like?</a:t>
            </a:r>
            <a:endParaRPr lang="zh-CN" altLang="en-US" sz="2800" b="1" dirty="0">
              <a:latin typeface="微软雅黑" panose="020B0503020204020204" pitchFamily="34" charset="-122"/>
              <a:ea typeface="微软雅黑" panose="020B0503020204020204" pitchFamily="34" charset="-122"/>
            </a:endParaRPr>
          </a:p>
        </p:txBody>
      </p:sp>
      <p:sp>
        <p:nvSpPr>
          <p:cNvPr id="8" name="矩形: 圆角 7">
            <a:extLst>
              <a:ext uri="{FF2B5EF4-FFF2-40B4-BE49-F238E27FC236}">
                <a16:creationId xmlns:a16="http://schemas.microsoft.com/office/drawing/2014/main" id="{199E44AB-BB07-3002-2C51-6574C23186B2}"/>
              </a:ext>
            </a:extLst>
          </p:cNvPr>
          <p:cNvSpPr/>
          <p:nvPr/>
        </p:nvSpPr>
        <p:spPr>
          <a:xfrm>
            <a:off x="672366" y="1847321"/>
            <a:ext cx="3213833" cy="1250296"/>
          </a:xfrm>
          <a:prstGeom prst="roundRect">
            <a:avLst/>
          </a:prstGeom>
          <a:solidFill>
            <a:srgbClr val="679DB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2400" b="1" dirty="0">
                <a:latin typeface="微软雅黑" panose="020B0503020204020204" pitchFamily="34" charset="-122"/>
                <a:ea typeface="微软雅黑" panose="020B0503020204020204" pitchFamily="34" charset="-122"/>
              </a:rPr>
              <a:t>Autonomous driving </a:t>
            </a:r>
          </a:p>
        </p:txBody>
      </p:sp>
      <p:sp>
        <p:nvSpPr>
          <p:cNvPr id="10" name="矩形: 圆角 9">
            <a:extLst>
              <a:ext uri="{FF2B5EF4-FFF2-40B4-BE49-F238E27FC236}">
                <a16:creationId xmlns:a16="http://schemas.microsoft.com/office/drawing/2014/main" id="{E86F6C8B-9BEE-192E-019A-40630EE88B1A}"/>
              </a:ext>
            </a:extLst>
          </p:cNvPr>
          <p:cNvSpPr/>
          <p:nvPr/>
        </p:nvSpPr>
        <p:spPr>
          <a:xfrm>
            <a:off x="4469916" y="1847321"/>
            <a:ext cx="3252167" cy="1250296"/>
          </a:xfrm>
          <a:prstGeom prst="roundRect">
            <a:avLst/>
          </a:prstGeom>
          <a:solidFill>
            <a:srgbClr val="74AC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2400" b="1" dirty="0">
                <a:latin typeface="微软雅黑" panose="020B0503020204020204" pitchFamily="34" charset="-122"/>
                <a:ea typeface="微软雅黑" panose="020B0503020204020204" pitchFamily="34" charset="-122"/>
              </a:rPr>
              <a:t>Smart renewable energy management</a:t>
            </a:r>
            <a:endParaRPr lang="en-US" altLang="zh-CN" sz="2400" dirty="0">
              <a:latin typeface="微软雅黑" panose="020B0503020204020204" pitchFamily="34" charset="-122"/>
              <a:ea typeface="微软雅黑" panose="020B0503020204020204" pitchFamily="34" charset="-122"/>
            </a:endParaRPr>
          </a:p>
        </p:txBody>
      </p:sp>
      <p:sp>
        <p:nvSpPr>
          <p:cNvPr id="11" name="矩形: 圆角 10">
            <a:extLst>
              <a:ext uri="{FF2B5EF4-FFF2-40B4-BE49-F238E27FC236}">
                <a16:creationId xmlns:a16="http://schemas.microsoft.com/office/drawing/2014/main" id="{84961187-679A-6EF0-0B7B-EBB113959B95}"/>
              </a:ext>
            </a:extLst>
          </p:cNvPr>
          <p:cNvSpPr/>
          <p:nvPr/>
        </p:nvSpPr>
        <p:spPr>
          <a:xfrm>
            <a:off x="8569794" y="1847321"/>
            <a:ext cx="3112411" cy="1250295"/>
          </a:xfrm>
          <a:prstGeom prst="roundRect">
            <a:avLst/>
          </a:prstGeom>
          <a:solidFill>
            <a:srgbClr val="4386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2400" b="1" dirty="0">
                <a:latin typeface="微软雅黑" panose="020B0503020204020204" pitchFamily="34" charset="-122"/>
                <a:ea typeface="微软雅黑" panose="020B0503020204020204" pitchFamily="34" charset="-122"/>
              </a:rPr>
              <a:t>IoT </a:t>
            </a:r>
          </a:p>
          <a:p>
            <a:r>
              <a:rPr lang="en-US" altLang="zh-CN" sz="2400" b="1" dirty="0">
                <a:latin typeface="微软雅黑" panose="020B0503020204020204" pitchFamily="34" charset="-122"/>
                <a:ea typeface="微软雅黑" panose="020B0503020204020204" pitchFamily="34" charset="-122"/>
              </a:rPr>
              <a:t>Internet of Things</a:t>
            </a:r>
          </a:p>
        </p:txBody>
      </p:sp>
      <p:sp>
        <p:nvSpPr>
          <p:cNvPr id="3" name="文本框 2">
            <a:extLst>
              <a:ext uri="{FF2B5EF4-FFF2-40B4-BE49-F238E27FC236}">
                <a16:creationId xmlns:a16="http://schemas.microsoft.com/office/drawing/2014/main" id="{BD93B40D-B7B6-FF4E-A4C2-206E0B9CFF7D}"/>
              </a:ext>
            </a:extLst>
          </p:cNvPr>
          <p:cNvSpPr txBox="1"/>
          <p:nvPr/>
        </p:nvSpPr>
        <p:spPr>
          <a:xfrm>
            <a:off x="3244499" y="1062365"/>
            <a:ext cx="5325295" cy="523220"/>
          </a:xfrm>
          <a:prstGeom prst="rect">
            <a:avLst/>
          </a:prstGeom>
          <a:noFill/>
        </p:spPr>
        <p:txBody>
          <a:bodyPr wrap="square" rtlCol="0">
            <a:spAutoFit/>
          </a:bodyPr>
          <a:lstStyle/>
          <a:p>
            <a:pPr algn="ctr"/>
            <a:r>
              <a:rPr lang="en-US" altLang="zh-CN" sz="2800" b="1" dirty="0">
                <a:latin typeface="微软雅黑" panose="020B0503020204020204" pitchFamily="34" charset="-122"/>
                <a:ea typeface="微软雅黑" panose="020B0503020204020204" pitchFamily="34" charset="-122"/>
              </a:rPr>
              <a:t>3 key figures in technology</a:t>
            </a:r>
            <a:endParaRPr lang="zh-CN" altLang="en-US" sz="2800" b="1" dirty="0">
              <a:latin typeface="微软雅黑" panose="020B0503020204020204" pitchFamily="34" charset="-122"/>
              <a:ea typeface="微软雅黑" panose="020B0503020204020204" pitchFamily="34" charset="-122"/>
            </a:endParaRPr>
          </a:p>
        </p:txBody>
      </p:sp>
      <p:pic>
        <p:nvPicPr>
          <p:cNvPr id="13" name="图形 12" descr="洗车 纯色填充">
            <a:extLst>
              <a:ext uri="{FF2B5EF4-FFF2-40B4-BE49-F238E27FC236}">
                <a16:creationId xmlns:a16="http://schemas.microsoft.com/office/drawing/2014/main" id="{A39FDF20-D9F5-6CEA-1057-4AE355DE398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72366" y="3381376"/>
            <a:ext cx="3213832" cy="3213832"/>
          </a:xfrm>
          <a:prstGeom prst="rect">
            <a:avLst/>
          </a:prstGeom>
        </p:spPr>
      </p:pic>
      <p:pic>
        <p:nvPicPr>
          <p:cNvPr id="16" name="图形 15" descr="可持续性 纯色填充">
            <a:extLst>
              <a:ext uri="{FF2B5EF4-FFF2-40B4-BE49-F238E27FC236}">
                <a16:creationId xmlns:a16="http://schemas.microsoft.com/office/drawing/2014/main" id="{3796EF12-500F-8894-D436-DA94599E3AD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469915" y="3381376"/>
            <a:ext cx="3264942" cy="3264942"/>
          </a:xfrm>
          <a:prstGeom prst="rect">
            <a:avLst/>
          </a:prstGeom>
        </p:spPr>
      </p:pic>
      <p:pic>
        <p:nvPicPr>
          <p:cNvPr id="18" name="图形 17" descr="物联网 纯色填充">
            <a:extLst>
              <a:ext uri="{FF2B5EF4-FFF2-40B4-BE49-F238E27FC236}">
                <a16:creationId xmlns:a16="http://schemas.microsoft.com/office/drawing/2014/main" id="{5FA3F64C-A116-032F-959E-6A8244B7F7DE}"/>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755757" y="3525068"/>
            <a:ext cx="2926448" cy="2926448"/>
          </a:xfrm>
          <a:prstGeom prst="rect">
            <a:avLst/>
          </a:prstGeom>
        </p:spPr>
      </p:pic>
    </p:spTree>
    <p:extLst>
      <p:ext uri="{BB962C8B-B14F-4D97-AF65-F5344CB8AC3E}">
        <p14:creationId xmlns:p14="http://schemas.microsoft.com/office/powerpoint/2010/main" val="13637400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2B839-CC82-944E-630C-AC79ADAA3AE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0239D1E-E870-6874-3EEB-30724ABB9AF2}"/>
              </a:ext>
            </a:extLst>
          </p:cNvPr>
          <p:cNvSpPr>
            <a:spLocks noGrp="1"/>
          </p:cNvSpPr>
          <p:nvPr>
            <p:ph type="title"/>
          </p:nvPr>
        </p:nvSpPr>
        <p:spPr/>
        <p:txBody>
          <a:bodyPr/>
          <a:lstStyle/>
          <a:p>
            <a:endParaRPr lang="zh-CN" altLang="en-US"/>
          </a:p>
        </p:txBody>
      </p:sp>
      <p:pic>
        <p:nvPicPr>
          <p:cNvPr id="5" name="内容占位符 4" descr="雪山下的城市&#10;&#10;AI 生成的内容可能不正确。">
            <a:extLst>
              <a:ext uri="{FF2B5EF4-FFF2-40B4-BE49-F238E27FC236}">
                <a16:creationId xmlns:a16="http://schemas.microsoft.com/office/drawing/2014/main" id="{BBFCA849-43EC-6CAD-59F9-36FA335AF755}"/>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10425" r="5703"/>
          <a:stretch>
            <a:fillRect/>
          </a:stretch>
        </p:blipFill>
        <p:spPr>
          <a:xfrm>
            <a:off x="0" y="0"/>
            <a:ext cx="4007184" cy="6858000"/>
          </a:xfrm>
          <a:effectLst>
            <a:softEdge rad="0"/>
          </a:effectLst>
        </p:spPr>
      </p:pic>
      <p:pic>
        <p:nvPicPr>
          <p:cNvPr id="7" name="图片 6" descr="城市街道与高楼大厦的景色&#10;&#10;AI 生成的内容可能不正确。">
            <a:extLst>
              <a:ext uri="{FF2B5EF4-FFF2-40B4-BE49-F238E27FC236}">
                <a16:creationId xmlns:a16="http://schemas.microsoft.com/office/drawing/2014/main" id="{E79343CA-A975-CEB2-78DE-534C8DD4CB1C}"/>
              </a:ext>
            </a:extLst>
          </p:cNvPr>
          <p:cNvPicPr>
            <a:picLocks noChangeAspect="1"/>
          </p:cNvPicPr>
          <p:nvPr/>
        </p:nvPicPr>
        <p:blipFill>
          <a:blip r:embed="rId4">
            <a:extLst>
              <a:ext uri="{28A0092B-C50C-407E-A947-70E740481C1C}">
                <a14:useLocalDpi xmlns:a14="http://schemas.microsoft.com/office/drawing/2010/main" val="0"/>
              </a:ext>
            </a:extLst>
          </a:blip>
          <a:srcRect l="8822" r="-900"/>
          <a:stretch>
            <a:fillRect/>
          </a:stretch>
        </p:blipFill>
        <p:spPr>
          <a:xfrm>
            <a:off x="8305800" y="0"/>
            <a:ext cx="4007184" cy="6858000"/>
          </a:xfrm>
          <a:prstGeom prst="rect">
            <a:avLst/>
          </a:prstGeom>
          <a:effectLst>
            <a:softEdge rad="0"/>
          </a:effectLst>
        </p:spPr>
      </p:pic>
      <p:pic>
        <p:nvPicPr>
          <p:cNvPr id="9" name="图片 8" descr="城市的高楼大厦&#10;&#10;AI 生成的内容可能不正确。">
            <a:extLst>
              <a:ext uri="{FF2B5EF4-FFF2-40B4-BE49-F238E27FC236}">
                <a16:creationId xmlns:a16="http://schemas.microsoft.com/office/drawing/2014/main" id="{95F17EC8-1268-0E91-330B-D8AFD7847F06}"/>
              </a:ext>
            </a:extLst>
          </p:cNvPr>
          <p:cNvPicPr>
            <a:picLocks noChangeAspect="1"/>
          </p:cNvPicPr>
          <p:nvPr/>
        </p:nvPicPr>
        <p:blipFill>
          <a:blip r:embed="rId5">
            <a:extLst>
              <a:ext uri="{28A0092B-C50C-407E-A947-70E740481C1C}">
                <a14:useLocalDpi xmlns:a14="http://schemas.microsoft.com/office/drawing/2010/main" val="0"/>
              </a:ext>
            </a:extLst>
          </a:blip>
          <a:srcRect l="29119" r="29119"/>
          <a:stretch>
            <a:fillRect/>
          </a:stretch>
        </p:blipFill>
        <p:spPr>
          <a:xfrm>
            <a:off x="4007184" y="0"/>
            <a:ext cx="4298616" cy="6858000"/>
          </a:xfrm>
          <a:prstGeom prst="rect">
            <a:avLst/>
          </a:prstGeom>
          <a:effectLst>
            <a:softEdge rad="0"/>
          </a:effectLst>
        </p:spPr>
      </p:pic>
      <p:sp>
        <p:nvSpPr>
          <p:cNvPr id="21" name="矩形: 圆角 20">
            <a:extLst>
              <a:ext uri="{FF2B5EF4-FFF2-40B4-BE49-F238E27FC236}">
                <a16:creationId xmlns:a16="http://schemas.microsoft.com/office/drawing/2014/main" id="{9784E20F-7899-89CE-4D66-55ACB515F568}"/>
              </a:ext>
            </a:extLst>
          </p:cNvPr>
          <p:cNvSpPr/>
          <p:nvPr/>
        </p:nvSpPr>
        <p:spPr>
          <a:xfrm>
            <a:off x="389466" y="156633"/>
            <a:ext cx="11413067" cy="6544733"/>
          </a:xfrm>
          <a:prstGeom prst="round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a:extLst>
              <a:ext uri="{FF2B5EF4-FFF2-40B4-BE49-F238E27FC236}">
                <a16:creationId xmlns:a16="http://schemas.microsoft.com/office/drawing/2014/main" id="{5C24B28B-965B-95E8-0E80-4580771DE248}"/>
              </a:ext>
            </a:extLst>
          </p:cNvPr>
          <p:cNvCxnSpPr/>
          <p:nvPr/>
        </p:nvCxnSpPr>
        <p:spPr>
          <a:xfrm>
            <a:off x="708025" y="844550"/>
            <a:ext cx="10775950"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6" name="文本框 5">
            <a:extLst>
              <a:ext uri="{FF2B5EF4-FFF2-40B4-BE49-F238E27FC236}">
                <a16:creationId xmlns:a16="http://schemas.microsoft.com/office/drawing/2014/main" id="{072CA5F4-556D-C75E-BE4B-FE2D3FFCDF12}"/>
              </a:ext>
            </a:extLst>
          </p:cNvPr>
          <p:cNvSpPr txBox="1"/>
          <p:nvPr/>
        </p:nvSpPr>
        <p:spPr>
          <a:xfrm>
            <a:off x="1024948" y="321330"/>
            <a:ext cx="7878047"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rPr>
              <a:t>1. How will our city of tomorrow look like?</a:t>
            </a:r>
            <a:endParaRPr lang="zh-CN" altLang="en-US" sz="2800" b="1" dirty="0">
              <a:latin typeface="微软雅黑" panose="020B0503020204020204" pitchFamily="34" charset="-122"/>
              <a:ea typeface="微软雅黑" panose="020B0503020204020204" pitchFamily="34" charset="-122"/>
            </a:endParaRPr>
          </a:p>
        </p:txBody>
      </p:sp>
      <p:sp>
        <p:nvSpPr>
          <p:cNvPr id="13" name="文本框 12">
            <a:extLst>
              <a:ext uri="{FF2B5EF4-FFF2-40B4-BE49-F238E27FC236}">
                <a16:creationId xmlns:a16="http://schemas.microsoft.com/office/drawing/2014/main" id="{CB5B5FDB-AE74-817A-B8EF-DFE2C5E069DF}"/>
              </a:ext>
            </a:extLst>
          </p:cNvPr>
          <p:cNvSpPr txBox="1"/>
          <p:nvPr/>
        </p:nvSpPr>
        <p:spPr>
          <a:xfrm>
            <a:off x="4278308" y="2244627"/>
            <a:ext cx="6666515" cy="3170099"/>
          </a:xfrm>
          <a:prstGeom prst="rect">
            <a:avLst/>
          </a:prstGeom>
          <a:noFill/>
        </p:spPr>
        <p:txBody>
          <a:bodyPr wrap="square">
            <a:spAutoFit/>
          </a:bodyPr>
          <a:lstStyle/>
          <a:p>
            <a:pPr algn="l">
              <a:spcBef>
                <a:spcPts val="600"/>
              </a:spcBef>
              <a:spcAft>
                <a:spcPts val="600"/>
              </a:spcAft>
            </a:pPr>
            <a:r>
              <a:rPr lang="en-US" altLang="zh-CN" sz="2000" b="1" i="0" dirty="0">
                <a:solidFill>
                  <a:srgbClr val="111133"/>
                </a:solidFill>
                <a:effectLst/>
                <a:latin typeface="微软雅黑" panose="020B0503020204020204" pitchFamily="34" charset="-122"/>
                <a:ea typeface="微软雅黑" panose="020B0503020204020204" pitchFamily="34" charset="-122"/>
              </a:rPr>
              <a:t>1. No steering wheel, more space</a:t>
            </a:r>
            <a:r>
              <a:rPr lang="en-US" altLang="zh-CN" sz="2000" b="0" i="0" dirty="0">
                <a:solidFill>
                  <a:srgbClr val="111133"/>
                </a:solidFill>
                <a:effectLst/>
                <a:latin typeface="微软雅黑" panose="020B0503020204020204" pitchFamily="34" charset="-122"/>
                <a:ea typeface="微软雅黑" panose="020B0503020204020204" pitchFamily="34" charset="-122"/>
              </a:rPr>
              <a:t> – Cars will be fully self-driving with roomy, flexible interiors for relaxing, working, or socializing instead of driving.</a:t>
            </a:r>
          </a:p>
          <a:p>
            <a:pPr algn="l">
              <a:spcBef>
                <a:spcPts val="600"/>
              </a:spcBef>
              <a:spcAft>
                <a:spcPts val="600"/>
              </a:spcAft>
            </a:pPr>
            <a:r>
              <a:rPr lang="en-US" altLang="zh-CN" sz="2000" b="1" i="0" dirty="0">
                <a:solidFill>
                  <a:srgbClr val="111133"/>
                </a:solidFill>
                <a:effectLst/>
                <a:latin typeface="微软雅黑" panose="020B0503020204020204" pitchFamily="34" charset="-122"/>
                <a:ea typeface="微软雅黑" panose="020B0503020204020204" pitchFamily="34" charset="-122"/>
              </a:rPr>
              <a:t>2. Shared, electric, and smart</a:t>
            </a:r>
            <a:r>
              <a:rPr lang="en-US" altLang="zh-CN" sz="2000" b="0" i="0" dirty="0">
                <a:solidFill>
                  <a:srgbClr val="111133"/>
                </a:solidFill>
                <a:effectLst/>
                <a:latin typeface="微软雅黑" panose="020B0503020204020204" pitchFamily="34" charset="-122"/>
                <a:ea typeface="微软雅黑" panose="020B0503020204020204" pitchFamily="34" charset="-122"/>
              </a:rPr>
              <a:t> – Most will be electric, shared (not owned), and connected to city systems to avoid traffic and accidents.</a:t>
            </a:r>
          </a:p>
          <a:p>
            <a:pPr algn="l">
              <a:spcBef>
                <a:spcPts val="600"/>
              </a:spcBef>
              <a:spcAft>
                <a:spcPts val="600"/>
              </a:spcAft>
            </a:pPr>
            <a:r>
              <a:rPr lang="en-US" altLang="zh-CN" sz="2000" b="1" i="0" dirty="0">
                <a:solidFill>
                  <a:srgbClr val="111133"/>
                </a:solidFill>
                <a:effectLst/>
                <a:latin typeface="微软雅黑" panose="020B0503020204020204" pitchFamily="34" charset="-122"/>
                <a:ea typeface="微软雅黑" panose="020B0503020204020204" pitchFamily="34" charset="-122"/>
              </a:rPr>
              <a:t>3. Better cities</a:t>
            </a:r>
            <a:r>
              <a:rPr lang="en-US" altLang="zh-CN" sz="2000" b="0" i="0" dirty="0">
                <a:solidFill>
                  <a:srgbClr val="111133"/>
                </a:solidFill>
                <a:effectLst/>
                <a:latin typeface="微软雅黑" panose="020B0503020204020204" pitchFamily="34" charset="-122"/>
                <a:ea typeface="微软雅黑" panose="020B0503020204020204" pitchFamily="34" charset="-122"/>
              </a:rPr>
              <a:t> – Fewer parked cars mean more parks and sidewalks, quieter streets, and easier, safer travel for everyone—including kids and seniors.</a:t>
            </a:r>
          </a:p>
        </p:txBody>
      </p:sp>
      <p:sp>
        <p:nvSpPr>
          <p:cNvPr id="10" name="文本框 9">
            <a:extLst>
              <a:ext uri="{FF2B5EF4-FFF2-40B4-BE49-F238E27FC236}">
                <a16:creationId xmlns:a16="http://schemas.microsoft.com/office/drawing/2014/main" id="{E7278E6F-6AAA-9647-861B-18B23C3E5833}"/>
              </a:ext>
            </a:extLst>
          </p:cNvPr>
          <p:cNvSpPr txBox="1"/>
          <p:nvPr/>
        </p:nvSpPr>
        <p:spPr>
          <a:xfrm>
            <a:off x="3244499" y="1062365"/>
            <a:ext cx="5325295" cy="523220"/>
          </a:xfrm>
          <a:prstGeom prst="rect">
            <a:avLst/>
          </a:prstGeom>
          <a:noFill/>
        </p:spPr>
        <p:txBody>
          <a:bodyPr wrap="square" rtlCol="0">
            <a:spAutoFit/>
          </a:bodyPr>
          <a:lstStyle/>
          <a:p>
            <a:pPr algn="ctr"/>
            <a:r>
              <a:rPr lang="en-US" altLang="zh-CN" sz="2800" b="1" dirty="0">
                <a:latin typeface="微软雅黑" panose="020B0503020204020204" pitchFamily="34" charset="-122"/>
                <a:ea typeface="微软雅黑" panose="020B0503020204020204" pitchFamily="34" charset="-122"/>
              </a:rPr>
              <a:t>3 key figures in technology</a:t>
            </a:r>
            <a:endParaRPr lang="zh-CN" altLang="en-US" sz="2800" b="1" dirty="0">
              <a:latin typeface="微软雅黑" panose="020B0503020204020204" pitchFamily="34" charset="-122"/>
              <a:ea typeface="微软雅黑" panose="020B0503020204020204" pitchFamily="34" charset="-122"/>
            </a:endParaRPr>
          </a:p>
        </p:txBody>
      </p:sp>
      <p:sp>
        <p:nvSpPr>
          <p:cNvPr id="12" name="矩形: 圆角 11">
            <a:extLst>
              <a:ext uri="{FF2B5EF4-FFF2-40B4-BE49-F238E27FC236}">
                <a16:creationId xmlns:a16="http://schemas.microsoft.com/office/drawing/2014/main" id="{1CE3942D-CA7C-5FD9-F186-B901E0EA7E64}"/>
              </a:ext>
            </a:extLst>
          </p:cNvPr>
          <p:cNvSpPr/>
          <p:nvPr/>
        </p:nvSpPr>
        <p:spPr>
          <a:xfrm>
            <a:off x="672366" y="1847321"/>
            <a:ext cx="3213833" cy="1250296"/>
          </a:xfrm>
          <a:prstGeom prst="roundRect">
            <a:avLst/>
          </a:prstGeom>
          <a:solidFill>
            <a:srgbClr val="679DB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2400" b="1" dirty="0">
                <a:latin typeface="微软雅黑" panose="020B0503020204020204" pitchFamily="34" charset="-122"/>
                <a:ea typeface="微软雅黑" panose="020B0503020204020204" pitchFamily="34" charset="-122"/>
              </a:rPr>
              <a:t>Autonomous driving </a:t>
            </a:r>
          </a:p>
        </p:txBody>
      </p:sp>
      <p:sp>
        <p:nvSpPr>
          <p:cNvPr id="16" name="文本框 15">
            <a:extLst>
              <a:ext uri="{FF2B5EF4-FFF2-40B4-BE49-F238E27FC236}">
                <a16:creationId xmlns:a16="http://schemas.microsoft.com/office/drawing/2014/main" id="{F769FFC8-F4B3-479B-9751-8760F5563EBE}"/>
              </a:ext>
            </a:extLst>
          </p:cNvPr>
          <p:cNvSpPr txBox="1"/>
          <p:nvPr/>
        </p:nvSpPr>
        <p:spPr>
          <a:xfrm>
            <a:off x="771392" y="3586716"/>
            <a:ext cx="3114807" cy="1631216"/>
          </a:xfrm>
          <a:prstGeom prst="rect">
            <a:avLst/>
          </a:prstGeom>
          <a:noFill/>
        </p:spPr>
        <p:txBody>
          <a:bodyPr wrap="square">
            <a:spAutoFit/>
          </a:bodyPr>
          <a:lstStyle/>
          <a:p>
            <a:r>
              <a:rPr lang="en-US" altLang="zh-CN" sz="2000" b="1" dirty="0">
                <a:latin typeface="微软雅黑" panose="020B0503020204020204" pitchFamily="34" charset="-122"/>
                <a:ea typeface="微软雅黑" panose="020B0503020204020204" pitchFamily="34" charset="-122"/>
              </a:rPr>
              <a:t>Self-driving cars, buses and delivery drones become mainstream. Traffic jams can be avoided.</a:t>
            </a:r>
          </a:p>
        </p:txBody>
      </p:sp>
      <p:cxnSp>
        <p:nvCxnSpPr>
          <p:cNvPr id="18" name="直接连接符 17">
            <a:extLst>
              <a:ext uri="{FF2B5EF4-FFF2-40B4-BE49-F238E27FC236}">
                <a16:creationId xmlns:a16="http://schemas.microsoft.com/office/drawing/2014/main" id="{AE420492-9048-D460-1CE6-684505B94651}"/>
              </a:ext>
            </a:extLst>
          </p:cNvPr>
          <p:cNvCxnSpPr>
            <a:cxnSpLocks/>
          </p:cNvCxnSpPr>
          <p:nvPr/>
        </p:nvCxnSpPr>
        <p:spPr>
          <a:xfrm>
            <a:off x="708025" y="3586716"/>
            <a:ext cx="0" cy="1631216"/>
          </a:xfrm>
          <a:prstGeom prst="line">
            <a:avLst/>
          </a:prstGeom>
          <a:ln w="63500">
            <a:solidFill>
              <a:srgbClr val="679DB5"/>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625300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E2056A-8FC7-CABA-8501-C152C3DAF29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BBDC828-74B9-030E-9192-80FAE8F6D067}"/>
              </a:ext>
            </a:extLst>
          </p:cNvPr>
          <p:cNvSpPr>
            <a:spLocks noGrp="1"/>
          </p:cNvSpPr>
          <p:nvPr>
            <p:ph type="title"/>
          </p:nvPr>
        </p:nvSpPr>
        <p:spPr/>
        <p:txBody>
          <a:bodyPr/>
          <a:lstStyle/>
          <a:p>
            <a:endParaRPr lang="zh-CN" altLang="en-US"/>
          </a:p>
        </p:txBody>
      </p:sp>
      <p:pic>
        <p:nvPicPr>
          <p:cNvPr id="5" name="内容占位符 4" descr="雪山下的城市&#10;&#10;AI 生成的内容可能不正确。">
            <a:extLst>
              <a:ext uri="{FF2B5EF4-FFF2-40B4-BE49-F238E27FC236}">
                <a16:creationId xmlns:a16="http://schemas.microsoft.com/office/drawing/2014/main" id="{626ABA63-A443-DCAB-ED0B-1E1DAEAC83E9}"/>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10425" r="5703"/>
          <a:stretch>
            <a:fillRect/>
          </a:stretch>
        </p:blipFill>
        <p:spPr>
          <a:xfrm>
            <a:off x="0" y="0"/>
            <a:ext cx="4007184" cy="6858000"/>
          </a:xfrm>
          <a:effectLst>
            <a:softEdge rad="0"/>
          </a:effectLst>
        </p:spPr>
      </p:pic>
      <p:pic>
        <p:nvPicPr>
          <p:cNvPr id="7" name="图片 6" descr="城市街道与高楼大厦的景色&#10;&#10;AI 生成的内容可能不正确。">
            <a:extLst>
              <a:ext uri="{FF2B5EF4-FFF2-40B4-BE49-F238E27FC236}">
                <a16:creationId xmlns:a16="http://schemas.microsoft.com/office/drawing/2014/main" id="{4C3E393A-3953-68F3-6D23-30A80F359DD8}"/>
              </a:ext>
            </a:extLst>
          </p:cNvPr>
          <p:cNvPicPr>
            <a:picLocks noChangeAspect="1"/>
          </p:cNvPicPr>
          <p:nvPr/>
        </p:nvPicPr>
        <p:blipFill>
          <a:blip r:embed="rId4">
            <a:extLst>
              <a:ext uri="{28A0092B-C50C-407E-A947-70E740481C1C}">
                <a14:useLocalDpi xmlns:a14="http://schemas.microsoft.com/office/drawing/2010/main" val="0"/>
              </a:ext>
            </a:extLst>
          </a:blip>
          <a:srcRect l="8822" r="-900"/>
          <a:stretch>
            <a:fillRect/>
          </a:stretch>
        </p:blipFill>
        <p:spPr>
          <a:xfrm>
            <a:off x="8305800" y="0"/>
            <a:ext cx="4007184" cy="6858000"/>
          </a:xfrm>
          <a:prstGeom prst="rect">
            <a:avLst/>
          </a:prstGeom>
          <a:effectLst>
            <a:softEdge rad="0"/>
          </a:effectLst>
        </p:spPr>
      </p:pic>
      <p:pic>
        <p:nvPicPr>
          <p:cNvPr id="9" name="图片 8" descr="城市的高楼大厦&#10;&#10;AI 生成的内容可能不正确。">
            <a:extLst>
              <a:ext uri="{FF2B5EF4-FFF2-40B4-BE49-F238E27FC236}">
                <a16:creationId xmlns:a16="http://schemas.microsoft.com/office/drawing/2014/main" id="{849DFFCA-DF30-DF59-E7EB-6DAAC9782594}"/>
              </a:ext>
            </a:extLst>
          </p:cNvPr>
          <p:cNvPicPr>
            <a:picLocks noChangeAspect="1"/>
          </p:cNvPicPr>
          <p:nvPr/>
        </p:nvPicPr>
        <p:blipFill>
          <a:blip r:embed="rId5">
            <a:extLst>
              <a:ext uri="{28A0092B-C50C-407E-A947-70E740481C1C}">
                <a14:useLocalDpi xmlns:a14="http://schemas.microsoft.com/office/drawing/2010/main" val="0"/>
              </a:ext>
            </a:extLst>
          </a:blip>
          <a:srcRect l="29119" r="29119"/>
          <a:stretch>
            <a:fillRect/>
          </a:stretch>
        </p:blipFill>
        <p:spPr>
          <a:xfrm>
            <a:off x="4007184" y="0"/>
            <a:ext cx="4298616" cy="6858000"/>
          </a:xfrm>
          <a:prstGeom prst="rect">
            <a:avLst/>
          </a:prstGeom>
          <a:effectLst>
            <a:softEdge rad="0"/>
          </a:effectLst>
        </p:spPr>
      </p:pic>
      <p:sp>
        <p:nvSpPr>
          <p:cNvPr id="14" name="矩形: 圆角 13">
            <a:extLst>
              <a:ext uri="{FF2B5EF4-FFF2-40B4-BE49-F238E27FC236}">
                <a16:creationId xmlns:a16="http://schemas.microsoft.com/office/drawing/2014/main" id="{2C4C7CE0-D4FF-BC9F-3985-4F62BF6BA29B}"/>
              </a:ext>
            </a:extLst>
          </p:cNvPr>
          <p:cNvSpPr/>
          <p:nvPr/>
        </p:nvSpPr>
        <p:spPr>
          <a:xfrm>
            <a:off x="449958" y="156633"/>
            <a:ext cx="11413067" cy="6544733"/>
          </a:xfrm>
          <a:prstGeom prst="round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a:extLst>
              <a:ext uri="{FF2B5EF4-FFF2-40B4-BE49-F238E27FC236}">
                <a16:creationId xmlns:a16="http://schemas.microsoft.com/office/drawing/2014/main" id="{733A7057-E5E4-9855-AB6F-8F15149E48B3}"/>
              </a:ext>
            </a:extLst>
          </p:cNvPr>
          <p:cNvCxnSpPr/>
          <p:nvPr/>
        </p:nvCxnSpPr>
        <p:spPr>
          <a:xfrm>
            <a:off x="708025" y="844550"/>
            <a:ext cx="10775950"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6" name="文本框 5">
            <a:extLst>
              <a:ext uri="{FF2B5EF4-FFF2-40B4-BE49-F238E27FC236}">
                <a16:creationId xmlns:a16="http://schemas.microsoft.com/office/drawing/2014/main" id="{158184A6-9FC1-782E-E979-5BA3F5E6CD43}"/>
              </a:ext>
            </a:extLst>
          </p:cNvPr>
          <p:cNvSpPr txBox="1"/>
          <p:nvPr/>
        </p:nvSpPr>
        <p:spPr>
          <a:xfrm>
            <a:off x="1024948" y="321330"/>
            <a:ext cx="7831185"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rPr>
              <a:t>1. How will our city of tomorrow look like?</a:t>
            </a:r>
            <a:endParaRPr lang="zh-CN" altLang="en-US" sz="2800" b="1" dirty="0">
              <a:latin typeface="微软雅黑" panose="020B0503020204020204" pitchFamily="34" charset="-122"/>
              <a:ea typeface="微软雅黑" panose="020B0503020204020204" pitchFamily="34" charset="-122"/>
            </a:endParaRPr>
          </a:p>
        </p:txBody>
      </p:sp>
      <p:sp>
        <p:nvSpPr>
          <p:cNvPr id="12" name="文本框 11">
            <a:extLst>
              <a:ext uri="{FF2B5EF4-FFF2-40B4-BE49-F238E27FC236}">
                <a16:creationId xmlns:a16="http://schemas.microsoft.com/office/drawing/2014/main" id="{7F233B99-8275-1CAC-1FA1-E32440A2F23F}"/>
              </a:ext>
            </a:extLst>
          </p:cNvPr>
          <p:cNvSpPr txBox="1"/>
          <p:nvPr/>
        </p:nvSpPr>
        <p:spPr>
          <a:xfrm>
            <a:off x="899764" y="1930462"/>
            <a:ext cx="3514846" cy="4154984"/>
          </a:xfrm>
          <a:prstGeom prst="rect">
            <a:avLst/>
          </a:prstGeom>
          <a:noFill/>
        </p:spPr>
        <p:txBody>
          <a:bodyPr wrap="square" rtlCol="0">
            <a:spAutoFit/>
          </a:bodyPr>
          <a:lstStyle/>
          <a:p>
            <a:r>
              <a:rPr lang="en-US" altLang="zh-CN" sz="2400" b="1" dirty="0">
                <a:latin typeface="微软雅黑" panose="020B0503020204020204" pitchFamily="34" charset="-122"/>
                <a:ea typeface="微软雅黑" panose="020B0503020204020204" pitchFamily="34" charset="-122"/>
              </a:rPr>
              <a:t>Energy: </a:t>
            </a:r>
            <a:r>
              <a:rPr lang="en-US" altLang="zh-CN" sz="2400" dirty="0">
                <a:latin typeface="微软雅黑" panose="020B0503020204020204" pitchFamily="34" charset="-122"/>
                <a:ea typeface="微软雅黑" panose="020B0503020204020204" pitchFamily="34" charset="-122"/>
              </a:rPr>
              <a:t>Buildings have solar panels.. AI turns off idle devices automatically to save electricity.</a:t>
            </a:r>
            <a:endParaRPr lang="zh-CN" altLang="zh-CN" sz="2400" dirty="0">
              <a:latin typeface="微软雅黑" panose="020B0503020204020204" pitchFamily="34" charset="-122"/>
              <a:ea typeface="微软雅黑" panose="020B0503020204020204" pitchFamily="34" charset="-122"/>
            </a:endParaRPr>
          </a:p>
          <a:p>
            <a:r>
              <a:rPr lang="en-US" altLang="zh-CN" sz="2400" b="1" dirty="0">
                <a:latin typeface="微软雅黑" panose="020B0503020204020204" pitchFamily="34" charset="-122"/>
                <a:ea typeface="微软雅黑" panose="020B0503020204020204" pitchFamily="34" charset="-122"/>
              </a:rPr>
              <a:t>Water: </a:t>
            </a:r>
            <a:r>
              <a:rPr lang="en-US" altLang="zh-CN" sz="2400" dirty="0">
                <a:latin typeface="微软雅黑" panose="020B0503020204020204" pitchFamily="34" charset="-122"/>
                <a:ea typeface="微软雅黑" panose="020B0503020204020204" pitchFamily="34" charset="-122"/>
              </a:rPr>
              <a:t>Rainwater collection systems store water. Smart home water systems remind people to save water.</a:t>
            </a:r>
            <a:endParaRPr lang="zh-CN" altLang="zh-CN" sz="2400" dirty="0">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3A7EB90A-9F2C-850D-CF9A-76E133130F0D}"/>
              </a:ext>
            </a:extLst>
          </p:cNvPr>
          <p:cNvSpPr txBox="1"/>
          <p:nvPr/>
        </p:nvSpPr>
        <p:spPr>
          <a:xfrm>
            <a:off x="8222257" y="1847321"/>
            <a:ext cx="3190963" cy="3785652"/>
          </a:xfrm>
          <a:prstGeom prst="rect">
            <a:avLst/>
          </a:prstGeom>
          <a:noFill/>
        </p:spPr>
        <p:txBody>
          <a:bodyPr wrap="square">
            <a:spAutoFit/>
          </a:bodyPr>
          <a:lstStyle/>
          <a:p>
            <a:r>
              <a:rPr lang="en-US" altLang="zh-CN" sz="2400" b="1" dirty="0">
                <a:latin typeface="微软雅黑" panose="020B0503020204020204" pitchFamily="34" charset="-122"/>
                <a:ea typeface="微软雅黑" panose="020B0503020204020204" pitchFamily="34" charset="-122"/>
              </a:rPr>
              <a:t>Waste: </a:t>
            </a:r>
            <a:r>
              <a:rPr lang="en-US" altLang="zh-CN" sz="2400" dirty="0">
                <a:latin typeface="微软雅黑" panose="020B0503020204020204" pitchFamily="34" charset="-122"/>
                <a:ea typeface="微软雅黑" panose="020B0503020204020204" pitchFamily="34" charset="-122"/>
              </a:rPr>
              <a:t>Smart bins sort waste automatically. Pipeline waste systems transport waste directly to treatment plants to reduce transportation pollution.</a:t>
            </a:r>
            <a:endParaRPr lang="zh-CN" altLang="zh-CN" sz="2400" dirty="0">
              <a:latin typeface="微软雅黑" panose="020B0503020204020204" pitchFamily="34" charset="-122"/>
              <a:ea typeface="微软雅黑" panose="020B0503020204020204" pitchFamily="34" charset="-122"/>
            </a:endParaRPr>
          </a:p>
        </p:txBody>
      </p:sp>
      <p:sp>
        <p:nvSpPr>
          <p:cNvPr id="8" name="矩形: 圆角 7">
            <a:extLst>
              <a:ext uri="{FF2B5EF4-FFF2-40B4-BE49-F238E27FC236}">
                <a16:creationId xmlns:a16="http://schemas.microsoft.com/office/drawing/2014/main" id="{EA3B9AB8-6C45-06A0-C785-70CE820FF26E}"/>
              </a:ext>
            </a:extLst>
          </p:cNvPr>
          <p:cNvSpPr/>
          <p:nvPr/>
        </p:nvSpPr>
        <p:spPr>
          <a:xfrm>
            <a:off x="4586306" y="1930462"/>
            <a:ext cx="3213833" cy="1250296"/>
          </a:xfrm>
          <a:prstGeom prst="roundRect">
            <a:avLst/>
          </a:prstGeom>
          <a:solidFill>
            <a:srgbClr val="74AC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2400" b="1" dirty="0">
                <a:latin typeface="微软雅黑" panose="020B0503020204020204" pitchFamily="34" charset="-122"/>
                <a:ea typeface="微软雅黑" panose="020B0503020204020204" pitchFamily="34" charset="-122"/>
              </a:rPr>
              <a:t>Smart renewable energy </a:t>
            </a:r>
          </a:p>
        </p:txBody>
      </p:sp>
      <p:sp>
        <p:nvSpPr>
          <p:cNvPr id="11" name="文本框 10">
            <a:extLst>
              <a:ext uri="{FF2B5EF4-FFF2-40B4-BE49-F238E27FC236}">
                <a16:creationId xmlns:a16="http://schemas.microsoft.com/office/drawing/2014/main" id="{9BE31EB2-A7AD-9E15-12BF-B872C8FD98F7}"/>
              </a:ext>
            </a:extLst>
          </p:cNvPr>
          <p:cNvSpPr txBox="1"/>
          <p:nvPr/>
        </p:nvSpPr>
        <p:spPr>
          <a:xfrm>
            <a:off x="4685332" y="3669857"/>
            <a:ext cx="3129498" cy="1631216"/>
          </a:xfrm>
          <a:prstGeom prst="rect">
            <a:avLst/>
          </a:prstGeom>
          <a:noFill/>
        </p:spPr>
        <p:txBody>
          <a:bodyPr wrap="square">
            <a:spAutoFit/>
          </a:bodyPr>
          <a:lstStyle/>
          <a:p>
            <a:r>
              <a:rPr lang="en-US" altLang="zh-CN" sz="2000" b="1" dirty="0">
                <a:latin typeface="微软雅黑" panose="020B0503020204020204" pitchFamily="34" charset="-122"/>
                <a:ea typeface="微软雅黑" panose="020B0503020204020204" pitchFamily="34" charset="-122"/>
              </a:rPr>
              <a:t>Solar/wind energy systems + AI control to manage energy supply and automatically.</a:t>
            </a:r>
          </a:p>
        </p:txBody>
      </p:sp>
      <p:cxnSp>
        <p:nvCxnSpPr>
          <p:cNvPr id="13" name="直接连接符 12">
            <a:extLst>
              <a:ext uri="{FF2B5EF4-FFF2-40B4-BE49-F238E27FC236}">
                <a16:creationId xmlns:a16="http://schemas.microsoft.com/office/drawing/2014/main" id="{879D9592-4FF0-9D6B-651E-D67E8E9EF546}"/>
              </a:ext>
            </a:extLst>
          </p:cNvPr>
          <p:cNvCxnSpPr>
            <a:cxnSpLocks/>
          </p:cNvCxnSpPr>
          <p:nvPr/>
        </p:nvCxnSpPr>
        <p:spPr>
          <a:xfrm>
            <a:off x="4621965" y="3669857"/>
            <a:ext cx="0" cy="1631216"/>
          </a:xfrm>
          <a:prstGeom prst="line">
            <a:avLst/>
          </a:prstGeom>
          <a:ln w="63500">
            <a:solidFill>
              <a:srgbClr val="74ACC6"/>
            </a:solidFill>
          </a:ln>
        </p:spPr>
        <p:style>
          <a:lnRef idx="2">
            <a:schemeClr val="accent1"/>
          </a:lnRef>
          <a:fillRef idx="0">
            <a:schemeClr val="accent1"/>
          </a:fillRef>
          <a:effectRef idx="1">
            <a:schemeClr val="accent1"/>
          </a:effectRef>
          <a:fontRef idx="minor">
            <a:schemeClr val="tx1"/>
          </a:fontRef>
        </p:style>
      </p:cxnSp>
      <p:sp>
        <p:nvSpPr>
          <p:cNvPr id="17" name="文本框 16">
            <a:extLst>
              <a:ext uri="{FF2B5EF4-FFF2-40B4-BE49-F238E27FC236}">
                <a16:creationId xmlns:a16="http://schemas.microsoft.com/office/drawing/2014/main" id="{BF960EE8-8F9A-2887-54E8-69B0BA256C0C}"/>
              </a:ext>
            </a:extLst>
          </p:cNvPr>
          <p:cNvSpPr txBox="1"/>
          <p:nvPr/>
        </p:nvSpPr>
        <p:spPr>
          <a:xfrm>
            <a:off x="3244499" y="1062365"/>
            <a:ext cx="5325295" cy="523220"/>
          </a:xfrm>
          <a:prstGeom prst="rect">
            <a:avLst/>
          </a:prstGeom>
          <a:noFill/>
        </p:spPr>
        <p:txBody>
          <a:bodyPr wrap="square" rtlCol="0">
            <a:spAutoFit/>
          </a:bodyPr>
          <a:lstStyle/>
          <a:p>
            <a:pPr algn="ctr"/>
            <a:r>
              <a:rPr lang="en-US" altLang="zh-CN" sz="2800" b="1" dirty="0">
                <a:latin typeface="微软雅黑" panose="020B0503020204020204" pitchFamily="34" charset="-122"/>
                <a:ea typeface="微软雅黑" panose="020B0503020204020204" pitchFamily="34" charset="-122"/>
              </a:rPr>
              <a:t>3 key figures in technology</a:t>
            </a:r>
            <a:endParaRPr lang="zh-CN" altLang="en-US" sz="28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5892265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5" grpId="0"/>
      <p:bldP spid="1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16D25-465E-1D96-48B7-456128260B4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B51D190-6FD2-CE13-FAF0-C7EED18B4B7B}"/>
              </a:ext>
            </a:extLst>
          </p:cNvPr>
          <p:cNvSpPr>
            <a:spLocks noGrp="1"/>
          </p:cNvSpPr>
          <p:nvPr>
            <p:ph type="title"/>
          </p:nvPr>
        </p:nvSpPr>
        <p:spPr/>
        <p:txBody>
          <a:bodyPr/>
          <a:lstStyle/>
          <a:p>
            <a:endParaRPr lang="zh-CN" altLang="en-US"/>
          </a:p>
        </p:txBody>
      </p:sp>
      <p:pic>
        <p:nvPicPr>
          <p:cNvPr id="5" name="内容占位符 4" descr="雪山下的城市&#10;&#10;AI 生成的内容可能不正确。">
            <a:extLst>
              <a:ext uri="{FF2B5EF4-FFF2-40B4-BE49-F238E27FC236}">
                <a16:creationId xmlns:a16="http://schemas.microsoft.com/office/drawing/2014/main" id="{FF623B6E-8A62-1545-B800-DFE3A3240695}"/>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10425" r="5703"/>
          <a:stretch>
            <a:fillRect/>
          </a:stretch>
        </p:blipFill>
        <p:spPr>
          <a:xfrm>
            <a:off x="0" y="0"/>
            <a:ext cx="4007184" cy="6858000"/>
          </a:xfrm>
          <a:effectLst>
            <a:softEdge rad="0"/>
          </a:effectLst>
        </p:spPr>
      </p:pic>
      <p:pic>
        <p:nvPicPr>
          <p:cNvPr id="7" name="图片 6" descr="城市街道与高楼大厦的景色&#10;&#10;AI 生成的内容可能不正确。">
            <a:extLst>
              <a:ext uri="{FF2B5EF4-FFF2-40B4-BE49-F238E27FC236}">
                <a16:creationId xmlns:a16="http://schemas.microsoft.com/office/drawing/2014/main" id="{43D21D1D-C4E7-478B-ADEF-1369D1AB265B}"/>
              </a:ext>
            </a:extLst>
          </p:cNvPr>
          <p:cNvPicPr>
            <a:picLocks noChangeAspect="1"/>
          </p:cNvPicPr>
          <p:nvPr/>
        </p:nvPicPr>
        <p:blipFill>
          <a:blip r:embed="rId4">
            <a:extLst>
              <a:ext uri="{28A0092B-C50C-407E-A947-70E740481C1C}">
                <a14:useLocalDpi xmlns:a14="http://schemas.microsoft.com/office/drawing/2010/main" val="0"/>
              </a:ext>
            </a:extLst>
          </a:blip>
          <a:srcRect l="8822" r="-900"/>
          <a:stretch>
            <a:fillRect/>
          </a:stretch>
        </p:blipFill>
        <p:spPr>
          <a:xfrm>
            <a:off x="8305800" y="0"/>
            <a:ext cx="4007184" cy="6858000"/>
          </a:xfrm>
          <a:prstGeom prst="rect">
            <a:avLst/>
          </a:prstGeom>
          <a:effectLst>
            <a:softEdge rad="0"/>
          </a:effectLst>
        </p:spPr>
      </p:pic>
      <p:pic>
        <p:nvPicPr>
          <p:cNvPr id="9" name="图片 8" descr="城市的高楼大厦&#10;&#10;AI 生成的内容可能不正确。">
            <a:extLst>
              <a:ext uri="{FF2B5EF4-FFF2-40B4-BE49-F238E27FC236}">
                <a16:creationId xmlns:a16="http://schemas.microsoft.com/office/drawing/2014/main" id="{CCB03141-B7F7-9EAC-C15E-D74C63FD8A50}"/>
              </a:ext>
            </a:extLst>
          </p:cNvPr>
          <p:cNvPicPr>
            <a:picLocks noChangeAspect="1"/>
          </p:cNvPicPr>
          <p:nvPr/>
        </p:nvPicPr>
        <p:blipFill>
          <a:blip r:embed="rId5">
            <a:extLst>
              <a:ext uri="{28A0092B-C50C-407E-A947-70E740481C1C}">
                <a14:useLocalDpi xmlns:a14="http://schemas.microsoft.com/office/drawing/2010/main" val="0"/>
              </a:ext>
            </a:extLst>
          </a:blip>
          <a:srcRect l="29119" r="29119"/>
          <a:stretch>
            <a:fillRect/>
          </a:stretch>
        </p:blipFill>
        <p:spPr>
          <a:xfrm>
            <a:off x="4007184" y="0"/>
            <a:ext cx="4298616" cy="6858000"/>
          </a:xfrm>
          <a:prstGeom prst="rect">
            <a:avLst/>
          </a:prstGeom>
          <a:effectLst>
            <a:softEdge rad="0"/>
          </a:effectLst>
        </p:spPr>
      </p:pic>
      <p:sp>
        <p:nvSpPr>
          <p:cNvPr id="14" name="矩形: 圆角 13">
            <a:extLst>
              <a:ext uri="{FF2B5EF4-FFF2-40B4-BE49-F238E27FC236}">
                <a16:creationId xmlns:a16="http://schemas.microsoft.com/office/drawing/2014/main" id="{D6FF8FEB-06D9-B994-5BE6-E528195F4B82}"/>
              </a:ext>
            </a:extLst>
          </p:cNvPr>
          <p:cNvSpPr/>
          <p:nvPr/>
        </p:nvSpPr>
        <p:spPr>
          <a:xfrm>
            <a:off x="449958" y="156633"/>
            <a:ext cx="11413067" cy="6544733"/>
          </a:xfrm>
          <a:prstGeom prst="round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a:extLst>
              <a:ext uri="{FF2B5EF4-FFF2-40B4-BE49-F238E27FC236}">
                <a16:creationId xmlns:a16="http://schemas.microsoft.com/office/drawing/2014/main" id="{EBF009D4-EBB7-A28A-02B7-FD983F87AC4D}"/>
              </a:ext>
            </a:extLst>
          </p:cNvPr>
          <p:cNvCxnSpPr/>
          <p:nvPr/>
        </p:nvCxnSpPr>
        <p:spPr>
          <a:xfrm>
            <a:off x="708025" y="844550"/>
            <a:ext cx="10775950"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6" name="文本框 5">
            <a:extLst>
              <a:ext uri="{FF2B5EF4-FFF2-40B4-BE49-F238E27FC236}">
                <a16:creationId xmlns:a16="http://schemas.microsoft.com/office/drawing/2014/main" id="{615AB46D-469C-3B12-B2D9-12FC1FF3AAF6}"/>
              </a:ext>
            </a:extLst>
          </p:cNvPr>
          <p:cNvSpPr txBox="1"/>
          <p:nvPr/>
        </p:nvSpPr>
        <p:spPr>
          <a:xfrm>
            <a:off x="1024948" y="321330"/>
            <a:ext cx="7983585"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rPr>
              <a:t>1. How will our city of tomorrow look like?</a:t>
            </a:r>
            <a:endParaRPr lang="zh-CN" altLang="en-US" sz="2800" b="1" dirty="0">
              <a:latin typeface="微软雅黑" panose="020B0503020204020204" pitchFamily="34" charset="-122"/>
              <a:ea typeface="微软雅黑" panose="020B0503020204020204" pitchFamily="34" charset="-122"/>
            </a:endParaRPr>
          </a:p>
        </p:txBody>
      </p:sp>
      <p:sp>
        <p:nvSpPr>
          <p:cNvPr id="12" name="文本框 11">
            <a:extLst>
              <a:ext uri="{FF2B5EF4-FFF2-40B4-BE49-F238E27FC236}">
                <a16:creationId xmlns:a16="http://schemas.microsoft.com/office/drawing/2014/main" id="{19DC9797-87AF-23DE-9924-507CD5B8D3F1}"/>
              </a:ext>
            </a:extLst>
          </p:cNvPr>
          <p:cNvSpPr txBox="1"/>
          <p:nvPr/>
        </p:nvSpPr>
        <p:spPr>
          <a:xfrm>
            <a:off x="666528" y="1847319"/>
            <a:ext cx="7903266" cy="3600986"/>
          </a:xfrm>
          <a:prstGeom prst="rect">
            <a:avLst/>
          </a:prstGeom>
          <a:noFill/>
        </p:spPr>
        <p:txBody>
          <a:bodyPr wrap="square" rtlCol="0">
            <a:spAutoFit/>
          </a:bodyPr>
          <a:lstStyle/>
          <a:p>
            <a:r>
              <a:rPr lang="en-US" altLang="zh-CN" sz="2400" b="1" dirty="0">
                <a:latin typeface="微软雅黑" panose="020B0503020204020204" pitchFamily="34" charset="-122"/>
                <a:ea typeface="微软雅黑" panose="020B0503020204020204" pitchFamily="34" charset="-122"/>
              </a:rPr>
              <a:t>How can people interact with the infrastructure and services?</a:t>
            </a:r>
          </a:p>
          <a:p>
            <a:pPr marL="457200" indent="-457200">
              <a:buAutoNum type="arabicPeriod"/>
            </a:pPr>
            <a:r>
              <a:rPr lang="en-US" altLang="zh-CN" sz="2000" b="1" dirty="0">
                <a:latin typeface="微软雅黑" panose="020B0503020204020204" pitchFamily="34" charset="-122"/>
                <a:ea typeface="微软雅黑" panose="020B0503020204020204" pitchFamily="34" charset="-122"/>
              </a:rPr>
              <a:t>Unified smart terminal : </a:t>
            </a:r>
          </a:p>
          <a:p>
            <a:r>
              <a:rPr lang="en-US" altLang="zh-CN" sz="2000" dirty="0">
                <a:latin typeface="微软雅黑" panose="020B0503020204020204" pitchFamily="34" charset="-122"/>
                <a:ea typeface="微软雅黑" panose="020B0503020204020204" pitchFamily="34" charset="-122"/>
              </a:rPr>
              <a:t>One click to book buses, reserve public services, or check energy usage on phone Apps or smart watches.</a:t>
            </a:r>
          </a:p>
          <a:p>
            <a:r>
              <a:rPr lang="en-US" altLang="zh-CN" sz="2000" b="1" dirty="0">
                <a:latin typeface="微软雅黑" panose="020B0503020204020204" pitchFamily="34" charset="-122"/>
                <a:ea typeface="微软雅黑" panose="020B0503020204020204" pitchFamily="34" charset="-122"/>
              </a:rPr>
              <a:t>2. Contactless services: </a:t>
            </a:r>
          </a:p>
          <a:p>
            <a:r>
              <a:rPr lang="en-US" altLang="zh-CN" sz="2000" dirty="0">
                <a:latin typeface="微软雅黑" panose="020B0503020204020204" pitchFamily="34" charset="-122"/>
                <a:ea typeface="微软雅黑" panose="020B0503020204020204" pitchFamily="34" charset="-122"/>
              </a:rPr>
              <a:t>Use face recognition or biometrics to enter subways or use public facilities—no physical cards needed.</a:t>
            </a:r>
          </a:p>
          <a:p>
            <a:r>
              <a:rPr lang="en-US" altLang="zh-CN" sz="2000" b="1" dirty="0">
                <a:latin typeface="微软雅黑" panose="020B0503020204020204" pitchFamily="34" charset="-122"/>
                <a:ea typeface="微软雅黑" panose="020B0503020204020204" pitchFamily="34" charset="-122"/>
              </a:rPr>
              <a:t>3. Personalized services:</a:t>
            </a:r>
          </a:p>
          <a:p>
            <a:r>
              <a:rPr lang="en-US" altLang="zh-CN" sz="2000" dirty="0">
                <a:latin typeface="微软雅黑" panose="020B0503020204020204" pitchFamily="34" charset="-122"/>
                <a:ea typeface="微软雅黑" panose="020B0503020204020204" pitchFamily="34" charset="-122"/>
              </a:rPr>
              <a:t> AI recommends travel routes or adjusts nearby public lighting/temperature based on personal habits.</a:t>
            </a:r>
          </a:p>
        </p:txBody>
      </p:sp>
      <p:sp>
        <p:nvSpPr>
          <p:cNvPr id="8" name="矩形: 圆角 7">
            <a:extLst>
              <a:ext uri="{FF2B5EF4-FFF2-40B4-BE49-F238E27FC236}">
                <a16:creationId xmlns:a16="http://schemas.microsoft.com/office/drawing/2014/main" id="{4C5070AB-64CA-7389-ED71-D0B71199C3F1}"/>
              </a:ext>
            </a:extLst>
          </p:cNvPr>
          <p:cNvSpPr/>
          <p:nvPr/>
        </p:nvSpPr>
        <p:spPr>
          <a:xfrm>
            <a:off x="8569794" y="1847321"/>
            <a:ext cx="3112411" cy="1250295"/>
          </a:xfrm>
          <a:prstGeom prst="roundRect">
            <a:avLst/>
          </a:prstGeom>
          <a:solidFill>
            <a:srgbClr val="4386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2400" b="1" dirty="0">
                <a:latin typeface="微软雅黑" panose="020B0503020204020204" pitchFamily="34" charset="-122"/>
                <a:ea typeface="微软雅黑" panose="020B0503020204020204" pitchFamily="34" charset="-122"/>
              </a:rPr>
              <a:t>IoT </a:t>
            </a:r>
          </a:p>
          <a:p>
            <a:r>
              <a:rPr lang="en-US" altLang="zh-CN" sz="2400" b="1" dirty="0">
                <a:latin typeface="微软雅黑" panose="020B0503020204020204" pitchFamily="34" charset="-122"/>
                <a:ea typeface="微软雅黑" panose="020B0503020204020204" pitchFamily="34" charset="-122"/>
              </a:rPr>
              <a:t>Internet of Things</a:t>
            </a:r>
          </a:p>
        </p:txBody>
      </p:sp>
      <p:sp>
        <p:nvSpPr>
          <p:cNvPr id="10" name="文本框 9">
            <a:extLst>
              <a:ext uri="{FF2B5EF4-FFF2-40B4-BE49-F238E27FC236}">
                <a16:creationId xmlns:a16="http://schemas.microsoft.com/office/drawing/2014/main" id="{09BD7B9B-51FD-7DF8-CC24-CE4C315735E8}"/>
              </a:ext>
            </a:extLst>
          </p:cNvPr>
          <p:cNvSpPr txBox="1"/>
          <p:nvPr/>
        </p:nvSpPr>
        <p:spPr>
          <a:xfrm>
            <a:off x="8724984" y="3558977"/>
            <a:ext cx="3129498" cy="1631216"/>
          </a:xfrm>
          <a:prstGeom prst="rect">
            <a:avLst/>
          </a:prstGeom>
          <a:noFill/>
        </p:spPr>
        <p:txBody>
          <a:bodyPr wrap="square">
            <a:spAutoFit/>
          </a:bodyPr>
          <a:lstStyle/>
          <a:p>
            <a:r>
              <a:rPr lang="en-US" altLang="zh-CN" sz="2000" b="1" dirty="0">
                <a:latin typeface="微软雅黑" panose="020B0503020204020204" pitchFamily="34" charset="-122"/>
                <a:ea typeface="微软雅黑" panose="020B0503020204020204" pitchFamily="34" charset="-122"/>
              </a:rPr>
              <a:t>All infrastructure (like street lamps, buses, water pipes) is connected to share real-time data.</a:t>
            </a:r>
          </a:p>
        </p:txBody>
      </p:sp>
      <p:cxnSp>
        <p:nvCxnSpPr>
          <p:cNvPr id="13" name="直接连接符 12">
            <a:extLst>
              <a:ext uri="{FF2B5EF4-FFF2-40B4-BE49-F238E27FC236}">
                <a16:creationId xmlns:a16="http://schemas.microsoft.com/office/drawing/2014/main" id="{143FBECD-F299-EE9C-E82C-8D3B775E9D8D}"/>
              </a:ext>
            </a:extLst>
          </p:cNvPr>
          <p:cNvCxnSpPr>
            <a:cxnSpLocks/>
          </p:cNvCxnSpPr>
          <p:nvPr/>
        </p:nvCxnSpPr>
        <p:spPr>
          <a:xfrm>
            <a:off x="8661617" y="3558977"/>
            <a:ext cx="0" cy="1631216"/>
          </a:xfrm>
          <a:prstGeom prst="line">
            <a:avLst/>
          </a:prstGeom>
          <a:ln w="63500">
            <a:solidFill>
              <a:srgbClr val="4386BA"/>
            </a:solidFill>
          </a:ln>
        </p:spPr>
        <p:style>
          <a:lnRef idx="2">
            <a:schemeClr val="accent1"/>
          </a:lnRef>
          <a:fillRef idx="0">
            <a:schemeClr val="accent1"/>
          </a:fillRef>
          <a:effectRef idx="1">
            <a:schemeClr val="accent1"/>
          </a:effectRef>
          <a:fontRef idx="minor">
            <a:schemeClr val="tx1"/>
          </a:fontRef>
        </p:style>
      </p:cxnSp>
      <p:sp>
        <p:nvSpPr>
          <p:cNvPr id="15" name="文本框 14">
            <a:extLst>
              <a:ext uri="{FF2B5EF4-FFF2-40B4-BE49-F238E27FC236}">
                <a16:creationId xmlns:a16="http://schemas.microsoft.com/office/drawing/2014/main" id="{4703E379-E1AA-D543-F3C1-D776284ABA5A}"/>
              </a:ext>
            </a:extLst>
          </p:cNvPr>
          <p:cNvSpPr txBox="1"/>
          <p:nvPr/>
        </p:nvSpPr>
        <p:spPr>
          <a:xfrm>
            <a:off x="3244499" y="1062365"/>
            <a:ext cx="5325295" cy="523220"/>
          </a:xfrm>
          <a:prstGeom prst="rect">
            <a:avLst/>
          </a:prstGeom>
          <a:noFill/>
        </p:spPr>
        <p:txBody>
          <a:bodyPr wrap="square" rtlCol="0">
            <a:spAutoFit/>
          </a:bodyPr>
          <a:lstStyle/>
          <a:p>
            <a:pPr algn="ctr"/>
            <a:r>
              <a:rPr lang="en-US" altLang="zh-CN" sz="2800" b="1" dirty="0">
                <a:latin typeface="微软雅黑" panose="020B0503020204020204" pitchFamily="34" charset="-122"/>
                <a:ea typeface="微软雅黑" panose="020B0503020204020204" pitchFamily="34" charset="-122"/>
              </a:rPr>
              <a:t>3 key figures in technology</a:t>
            </a:r>
            <a:endParaRPr lang="zh-CN" altLang="en-US" sz="28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1747296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C697B-4176-476E-F3D3-C2E377CED0E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C4E052E-2101-2F29-4D7A-D2F4D0060952}"/>
              </a:ext>
            </a:extLst>
          </p:cNvPr>
          <p:cNvSpPr>
            <a:spLocks noGrp="1"/>
          </p:cNvSpPr>
          <p:nvPr>
            <p:ph type="title"/>
          </p:nvPr>
        </p:nvSpPr>
        <p:spPr/>
        <p:txBody>
          <a:bodyPr/>
          <a:lstStyle/>
          <a:p>
            <a:endParaRPr lang="zh-CN" altLang="en-US"/>
          </a:p>
        </p:txBody>
      </p:sp>
      <p:pic>
        <p:nvPicPr>
          <p:cNvPr id="5" name="内容占位符 4" descr="雪山下的城市&#10;&#10;AI 生成的内容可能不正确。">
            <a:extLst>
              <a:ext uri="{FF2B5EF4-FFF2-40B4-BE49-F238E27FC236}">
                <a16:creationId xmlns:a16="http://schemas.microsoft.com/office/drawing/2014/main" id="{B529F66A-F5A7-6DF6-B928-1308517ACE96}"/>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10425" r="5703"/>
          <a:stretch>
            <a:fillRect/>
          </a:stretch>
        </p:blipFill>
        <p:spPr>
          <a:xfrm>
            <a:off x="0" y="0"/>
            <a:ext cx="4007184" cy="6858000"/>
          </a:xfrm>
          <a:effectLst>
            <a:softEdge rad="0"/>
          </a:effectLst>
        </p:spPr>
      </p:pic>
      <p:pic>
        <p:nvPicPr>
          <p:cNvPr id="7" name="图片 6" descr="城市街道与高楼大厦的景色&#10;&#10;AI 生成的内容可能不正确。">
            <a:extLst>
              <a:ext uri="{FF2B5EF4-FFF2-40B4-BE49-F238E27FC236}">
                <a16:creationId xmlns:a16="http://schemas.microsoft.com/office/drawing/2014/main" id="{64879659-5085-AF1E-54C5-3E8391BF1274}"/>
              </a:ext>
            </a:extLst>
          </p:cNvPr>
          <p:cNvPicPr>
            <a:picLocks noChangeAspect="1"/>
          </p:cNvPicPr>
          <p:nvPr/>
        </p:nvPicPr>
        <p:blipFill>
          <a:blip r:embed="rId4">
            <a:extLst>
              <a:ext uri="{28A0092B-C50C-407E-A947-70E740481C1C}">
                <a14:useLocalDpi xmlns:a14="http://schemas.microsoft.com/office/drawing/2010/main" val="0"/>
              </a:ext>
            </a:extLst>
          </a:blip>
          <a:srcRect l="8822" r="-900"/>
          <a:stretch>
            <a:fillRect/>
          </a:stretch>
        </p:blipFill>
        <p:spPr>
          <a:xfrm>
            <a:off x="8305800" y="0"/>
            <a:ext cx="4007184" cy="6858000"/>
          </a:xfrm>
          <a:prstGeom prst="rect">
            <a:avLst/>
          </a:prstGeom>
          <a:effectLst>
            <a:softEdge rad="0"/>
          </a:effectLst>
        </p:spPr>
      </p:pic>
      <p:pic>
        <p:nvPicPr>
          <p:cNvPr id="9" name="图片 8" descr="城市的高楼大厦&#10;&#10;AI 生成的内容可能不正确。">
            <a:extLst>
              <a:ext uri="{FF2B5EF4-FFF2-40B4-BE49-F238E27FC236}">
                <a16:creationId xmlns:a16="http://schemas.microsoft.com/office/drawing/2014/main" id="{D17346DC-BB65-CD33-804A-1C5429DE8A02}"/>
              </a:ext>
            </a:extLst>
          </p:cNvPr>
          <p:cNvPicPr>
            <a:picLocks noChangeAspect="1"/>
          </p:cNvPicPr>
          <p:nvPr/>
        </p:nvPicPr>
        <p:blipFill>
          <a:blip r:embed="rId5">
            <a:extLst>
              <a:ext uri="{28A0092B-C50C-407E-A947-70E740481C1C}">
                <a14:useLocalDpi xmlns:a14="http://schemas.microsoft.com/office/drawing/2010/main" val="0"/>
              </a:ext>
            </a:extLst>
          </a:blip>
          <a:srcRect l="29119" r="29119"/>
          <a:stretch>
            <a:fillRect/>
          </a:stretch>
        </p:blipFill>
        <p:spPr>
          <a:xfrm>
            <a:off x="4007184" y="0"/>
            <a:ext cx="4298616" cy="6858000"/>
          </a:xfrm>
          <a:prstGeom prst="rect">
            <a:avLst/>
          </a:prstGeom>
          <a:effectLst>
            <a:softEdge rad="0"/>
          </a:effectLst>
        </p:spPr>
      </p:pic>
      <p:sp>
        <p:nvSpPr>
          <p:cNvPr id="14" name="矩形: 圆角 13">
            <a:extLst>
              <a:ext uri="{FF2B5EF4-FFF2-40B4-BE49-F238E27FC236}">
                <a16:creationId xmlns:a16="http://schemas.microsoft.com/office/drawing/2014/main" id="{32885E2B-D67F-94F3-C5AF-0E6F49964CAB}"/>
              </a:ext>
            </a:extLst>
          </p:cNvPr>
          <p:cNvSpPr/>
          <p:nvPr/>
        </p:nvSpPr>
        <p:spPr>
          <a:xfrm>
            <a:off x="389466" y="156633"/>
            <a:ext cx="11413067" cy="6544733"/>
          </a:xfrm>
          <a:prstGeom prst="round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D13B3771-2627-8443-39CE-FE7E76DFCBFD}"/>
              </a:ext>
            </a:extLst>
          </p:cNvPr>
          <p:cNvSpPr txBox="1"/>
          <p:nvPr/>
        </p:nvSpPr>
        <p:spPr>
          <a:xfrm>
            <a:off x="1458412" y="2105561"/>
            <a:ext cx="2624436" cy="2646878"/>
          </a:xfrm>
          <a:prstGeom prst="rect">
            <a:avLst/>
          </a:prstGeom>
          <a:noFill/>
        </p:spPr>
        <p:txBody>
          <a:bodyPr wrap="none" rtlCol="0">
            <a:spAutoFit/>
          </a:bodyPr>
          <a:lstStyle/>
          <a:p>
            <a:r>
              <a:rPr lang="en-US" altLang="zh-CN" sz="16600" b="1" spc="300" dirty="0">
                <a:gradFill>
                  <a:gsLst>
                    <a:gs pos="0">
                      <a:schemeClr val="accent1"/>
                    </a:gs>
                    <a:gs pos="90000">
                      <a:schemeClr val="accent1">
                        <a:alpha val="0"/>
                      </a:schemeClr>
                    </a:gs>
                  </a:gsLst>
                  <a:lin ang="5400000" scaled="1"/>
                </a:gradFill>
              </a:rPr>
              <a:t>02</a:t>
            </a:r>
            <a:endParaRPr lang="zh-CN" altLang="en-US" sz="16600" b="1" spc="300" dirty="0">
              <a:gradFill>
                <a:gsLst>
                  <a:gs pos="0">
                    <a:schemeClr val="accent1"/>
                  </a:gs>
                  <a:gs pos="90000">
                    <a:schemeClr val="accent1">
                      <a:alpha val="0"/>
                    </a:schemeClr>
                  </a:gs>
                </a:gsLst>
                <a:lin ang="5400000" scaled="1"/>
              </a:gradFill>
            </a:endParaRPr>
          </a:p>
        </p:txBody>
      </p:sp>
      <p:sp>
        <p:nvSpPr>
          <p:cNvPr id="6" name="文本框 5">
            <a:extLst>
              <a:ext uri="{FF2B5EF4-FFF2-40B4-BE49-F238E27FC236}">
                <a16:creationId xmlns:a16="http://schemas.microsoft.com/office/drawing/2014/main" id="{72A52EAD-355E-A61A-6D21-19840A59518F}"/>
              </a:ext>
            </a:extLst>
          </p:cNvPr>
          <p:cNvSpPr txBox="1"/>
          <p:nvPr/>
        </p:nvSpPr>
        <p:spPr>
          <a:xfrm>
            <a:off x="3924034" y="2741682"/>
            <a:ext cx="5422483" cy="1200329"/>
          </a:xfrm>
          <a:prstGeom prst="rect">
            <a:avLst/>
          </a:prstGeom>
          <a:noFill/>
        </p:spPr>
        <p:txBody>
          <a:bodyPr wrap="square" rtlCol="0">
            <a:spAutoFit/>
          </a:bodyPr>
          <a:lstStyle/>
          <a:p>
            <a:pPr algn="ctr"/>
            <a:r>
              <a:rPr lang="en-US" altLang="zh-CN" sz="3600" b="1" dirty="0">
                <a:latin typeface="微软雅黑" panose="020B0503020204020204" pitchFamily="34" charset="-122"/>
                <a:ea typeface="微软雅黑" panose="020B0503020204020204" pitchFamily="34" charset="-122"/>
              </a:rPr>
              <a:t> What possible challenges will we face?</a:t>
            </a:r>
            <a:endParaRPr lang="zh-CN" altLang="en-US" sz="3600" b="1" dirty="0">
              <a:latin typeface="微软雅黑" panose="020B0503020204020204" pitchFamily="34" charset="-122"/>
              <a:ea typeface="微软雅黑" panose="020B0503020204020204" pitchFamily="34" charset="-122"/>
            </a:endParaRPr>
          </a:p>
        </p:txBody>
      </p:sp>
      <p:sp>
        <p:nvSpPr>
          <p:cNvPr id="8" name="矩形 7">
            <a:extLst>
              <a:ext uri="{FF2B5EF4-FFF2-40B4-BE49-F238E27FC236}">
                <a16:creationId xmlns:a16="http://schemas.microsoft.com/office/drawing/2014/main" id="{ADFB5A66-EF28-E796-1637-4F7CF7DC1198}"/>
              </a:ext>
            </a:extLst>
          </p:cNvPr>
          <p:cNvSpPr/>
          <p:nvPr/>
        </p:nvSpPr>
        <p:spPr>
          <a:xfrm>
            <a:off x="6080721" y="4098645"/>
            <a:ext cx="720000" cy="1016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425831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50888-EA0A-7480-9F17-3444DC11F60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604E76C-C51F-60DE-A9D9-AFA320604094}"/>
              </a:ext>
            </a:extLst>
          </p:cNvPr>
          <p:cNvSpPr>
            <a:spLocks noGrp="1"/>
          </p:cNvSpPr>
          <p:nvPr>
            <p:ph type="title"/>
          </p:nvPr>
        </p:nvSpPr>
        <p:spPr/>
        <p:txBody>
          <a:bodyPr/>
          <a:lstStyle/>
          <a:p>
            <a:endParaRPr lang="zh-CN" altLang="en-US"/>
          </a:p>
        </p:txBody>
      </p:sp>
      <p:pic>
        <p:nvPicPr>
          <p:cNvPr id="5" name="内容占位符 4" descr="雪山下的城市&#10;&#10;AI 生成的内容可能不正确。">
            <a:extLst>
              <a:ext uri="{FF2B5EF4-FFF2-40B4-BE49-F238E27FC236}">
                <a16:creationId xmlns:a16="http://schemas.microsoft.com/office/drawing/2014/main" id="{7C7E7ACF-7CB9-84C8-28C4-0659AB9AD0BE}"/>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0425" r="5703"/>
          <a:stretch>
            <a:fillRect/>
          </a:stretch>
        </p:blipFill>
        <p:spPr>
          <a:xfrm>
            <a:off x="0" y="0"/>
            <a:ext cx="4007184" cy="6858000"/>
          </a:xfrm>
          <a:effectLst>
            <a:softEdge rad="0"/>
          </a:effectLst>
        </p:spPr>
      </p:pic>
      <p:pic>
        <p:nvPicPr>
          <p:cNvPr id="7" name="图片 6" descr="城市街道与高楼大厦的景色&#10;&#10;AI 生成的内容可能不正确。">
            <a:extLst>
              <a:ext uri="{FF2B5EF4-FFF2-40B4-BE49-F238E27FC236}">
                <a16:creationId xmlns:a16="http://schemas.microsoft.com/office/drawing/2014/main" id="{F960574B-C405-88ED-13F2-8E6844AA669F}"/>
              </a:ext>
            </a:extLst>
          </p:cNvPr>
          <p:cNvPicPr>
            <a:picLocks noChangeAspect="1"/>
          </p:cNvPicPr>
          <p:nvPr/>
        </p:nvPicPr>
        <p:blipFill>
          <a:blip r:embed="rId3">
            <a:extLst>
              <a:ext uri="{28A0092B-C50C-407E-A947-70E740481C1C}">
                <a14:useLocalDpi xmlns:a14="http://schemas.microsoft.com/office/drawing/2010/main" val="0"/>
              </a:ext>
            </a:extLst>
          </a:blip>
          <a:srcRect l="8822" r="-900"/>
          <a:stretch>
            <a:fillRect/>
          </a:stretch>
        </p:blipFill>
        <p:spPr>
          <a:xfrm>
            <a:off x="8305800" y="0"/>
            <a:ext cx="4007184" cy="6858000"/>
          </a:xfrm>
          <a:prstGeom prst="rect">
            <a:avLst/>
          </a:prstGeom>
          <a:effectLst>
            <a:softEdge rad="0"/>
          </a:effectLst>
        </p:spPr>
      </p:pic>
      <p:pic>
        <p:nvPicPr>
          <p:cNvPr id="9" name="图片 8" descr="城市的高楼大厦&#10;&#10;AI 生成的内容可能不正确。">
            <a:extLst>
              <a:ext uri="{FF2B5EF4-FFF2-40B4-BE49-F238E27FC236}">
                <a16:creationId xmlns:a16="http://schemas.microsoft.com/office/drawing/2014/main" id="{AC37F0C6-5070-F7F7-1F23-51689F29C3FC}"/>
              </a:ext>
            </a:extLst>
          </p:cNvPr>
          <p:cNvPicPr>
            <a:picLocks noChangeAspect="1"/>
          </p:cNvPicPr>
          <p:nvPr/>
        </p:nvPicPr>
        <p:blipFill>
          <a:blip r:embed="rId4">
            <a:extLst>
              <a:ext uri="{28A0092B-C50C-407E-A947-70E740481C1C}">
                <a14:useLocalDpi xmlns:a14="http://schemas.microsoft.com/office/drawing/2010/main" val="0"/>
              </a:ext>
            </a:extLst>
          </a:blip>
          <a:srcRect l="29119" r="29119"/>
          <a:stretch>
            <a:fillRect/>
          </a:stretch>
        </p:blipFill>
        <p:spPr>
          <a:xfrm>
            <a:off x="4007184" y="0"/>
            <a:ext cx="4298616" cy="6858000"/>
          </a:xfrm>
          <a:prstGeom prst="rect">
            <a:avLst/>
          </a:prstGeom>
          <a:effectLst>
            <a:softEdge rad="0"/>
          </a:effectLst>
        </p:spPr>
      </p:pic>
      <p:sp>
        <p:nvSpPr>
          <p:cNvPr id="14" name="矩形: 圆角 13">
            <a:extLst>
              <a:ext uri="{FF2B5EF4-FFF2-40B4-BE49-F238E27FC236}">
                <a16:creationId xmlns:a16="http://schemas.microsoft.com/office/drawing/2014/main" id="{0FD31029-B5F4-36D1-6B14-3FB9BE8B0434}"/>
              </a:ext>
            </a:extLst>
          </p:cNvPr>
          <p:cNvSpPr/>
          <p:nvPr/>
        </p:nvSpPr>
        <p:spPr>
          <a:xfrm>
            <a:off x="449958" y="156633"/>
            <a:ext cx="11413067" cy="6544733"/>
          </a:xfrm>
          <a:prstGeom prst="round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a:extLst>
              <a:ext uri="{FF2B5EF4-FFF2-40B4-BE49-F238E27FC236}">
                <a16:creationId xmlns:a16="http://schemas.microsoft.com/office/drawing/2014/main" id="{F10AF1FD-0995-09B2-C887-77404E746CFC}"/>
              </a:ext>
            </a:extLst>
          </p:cNvPr>
          <p:cNvCxnSpPr/>
          <p:nvPr/>
        </p:nvCxnSpPr>
        <p:spPr>
          <a:xfrm>
            <a:off x="708025" y="844550"/>
            <a:ext cx="10775950"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6" name="文本框 5">
            <a:extLst>
              <a:ext uri="{FF2B5EF4-FFF2-40B4-BE49-F238E27FC236}">
                <a16:creationId xmlns:a16="http://schemas.microsoft.com/office/drawing/2014/main" id="{66334793-4EB5-45D3-AAD5-00457718756A}"/>
              </a:ext>
            </a:extLst>
          </p:cNvPr>
          <p:cNvSpPr txBox="1"/>
          <p:nvPr/>
        </p:nvSpPr>
        <p:spPr>
          <a:xfrm>
            <a:off x="1024948" y="321330"/>
            <a:ext cx="7992052"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rPr>
              <a:t> 2. What possible challenges will we face?</a:t>
            </a:r>
            <a:endParaRPr lang="zh-CN" altLang="en-US" sz="2800" b="1" dirty="0">
              <a:latin typeface="微软雅黑" panose="020B0503020204020204" pitchFamily="34" charset="-122"/>
              <a:ea typeface="微软雅黑" panose="020B0503020204020204" pitchFamily="34" charset="-122"/>
            </a:endParaRPr>
          </a:p>
        </p:txBody>
      </p:sp>
      <p:sp>
        <p:nvSpPr>
          <p:cNvPr id="12" name="文本框 11">
            <a:extLst>
              <a:ext uri="{FF2B5EF4-FFF2-40B4-BE49-F238E27FC236}">
                <a16:creationId xmlns:a16="http://schemas.microsoft.com/office/drawing/2014/main" id="{D8C3FB17-3659-CAEA-47A6-73B4E754492A}"/>
              </a:ext>
            </a:extLst>
          </p:cNvPr>
          <p:cNvSpPr txBox="1"/>
          <p:nvPr/>
        </p:nvSpPr>
        <p:spPr>
          <a:xfrm>
            <a:off x="2873245" y="1062365"/>
            <a:ext cx="6443133"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rPr>
              <a:t>Obstacles to building a smart city</a:t>
            </a:r>
          </a:p>
        </p:txBody>
      </p:sp>
      <p:sp>
        <p:nvSpPr>
          <p:cNvPr id="10" name="矩形: 圆角 9">
            <a:extLst>
              <a:ext uri="{FF2B5EF4-FFF2-40B4-BE49-F238E27FC236}">
                <a16:creationId xmlns:a16="http://schemas.microsoft.com/office/drawing/2014/main" id="{5C501532-5A02-4046-182D-9259737F7859}"/>
              </a:ext>
            </a:extLst>
          </p:cNvPr>
          <p:cNvSpPr/>
          <p:nvPr/>
        </p:nvSpPr>
        <p:spPr>
          <a:xfrm>
            <a:off x="713954" y="1690687"/>
            <a:ext cx="5323398" cy="4486739"/>
          </a:xfrm>
          <a:prstGeom prst="roundRect">
            <a:avLst/>
          </a:prstGeom>
          <a:solidFill>
            <a:srgbClr val="679DB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2400" b="1" dirty="0">
                <a:latin typeface="微软雅黑" panose="020B0503020204020204" pitchFamily="34" charset="-122"/>
                <a:ea typeface="微软雅黑" panose="020B0503020204020204" pitchFamily="34" charset="-122"/>
              </a:rPr>
              <a:t>Cost</a:t>
            </a:r>
          </a:p>
          <a:p>
            <a:r>
              <a:rPr lang="en-US" altLang="zh-CN" sz="2000" dirty="0">
                <a:latin typeface="微软雅黑" panose="020B0503020204020204" pitchFamily="34" charset="-122"/>
                <a:ea typeface="微软雅黑" panose="020B0503020204020204" pitchFamily="34" charset="-122"/>
              </a:rPr>
              <a:t>the cost barrier, in addition to the high cost of construction and maintenance, data cleaning, interface adaptation and other preparatory work will  increase the project cost and cycle.</a:t>
            </a:r>
          </a:p>
          <a:p>
            <a:endParaRPr lang="en-US" altLang="zh-CN" sz="2000" dirty="0">
              <a:latin typeface="微软雅黑" panose="020B0503020204020204" pitchFamily="34" charset="-122"/>
              <a:ea typeface="微软雅黑" panose="020B0503020204020204" pitchFamily="34" charset="-122"/>
            </a:endParaRPr>
          </a:p>
          <a:p>
            <a:endParaRPr lang="en-US" altLang="zh-CN" sz="2000" dirty="0">
              <a:latin typeface="微软雅黑" panose="020B0503020204020204" pitchFamily="34" charset="-122"/>
              <a:ea typeface="微软雅黑" panose="020B0503020204020204" pitchFamily="34" charset="-122"/>
            </a:endParaRPr>
          </a:p>
          <a:p>
            <a:endParaRPr lang="en-US" altLang="zh-CN" sz="2000" dirty="0">
              <a:latin typeface="微软雅黑" panose="020B0503020204020204" pitchFamily="34" charset="-122"/>
              <a:ea typeface="微软雅黑" panose="020B0503020204020204" pitchFamily="34" charset="-122"/>
            </a:endParaRPr>
          </a:p>
          <a:p>
            <a:endParaRPr lang="en-US" altLang="zh-CN" sz="2000" dirty="0">
              <a:latin typeface="微软雅黑" panose="020B0503020204020204" pitchFamily="34" charset="-122"/>
              <a:ea typeface="微软雅黑" panose="020B0503020204020204" pitchFamily="34" charset="-122"/>
            </a:endParaRPr>
          </a:p>
          <a:p>
            <a:endParaRPr lang="en-US" altLang="zh-CN" sz="2000" dirty="0">
              <a:latin typeface="微软雅黑" panose="020B0503020204020204" pitchFamily="34" charset="-122"/>
              <a:ea typeface="微软雅黑" panose="020B0503020204020204" pitchFamily="34" charset="-122"/>
            </a:endParaRPr>
          </a:p>
        </p:txBody>
      </p:sp>
      <p:sp>
        <p:nvSpPr>
          <p:cNvPr id="13" name="矩形: 圆角 12">
            <a:extLst>
              <a:ext uri="{FF2B5EF4-FFF2-40B4-BE49-F238E27FC236}">
                <a16:creationId xmlns:a16="http://schemas.microsoft.com/office/drawing/2014/main" id="{4888C6A5-D4FF-C738-1F80-48E8F0E79D31}"/>
              </a:ext>
            </a:extLst>
          </p:cNvPr>
          <p:cNvSpPr/>
          <p:nvPr/>
        </p:nvSpPr>
        <p:spPr>
          <a:xfrm>
            <a:off x="6161598" y="1690687"/>
            <a:ext cx="5464033" cy="4486737"/>
          </a:xfrm>
          <a:prstGeom prst="roundRect">
            <a:avLst/>
          </a:prstGeom>
          <a:solidFill>
            <a:srgbClr val="4386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2400" b="1" dirty="0">
                <a:latin typeface="微软雅黑" panose="020B0503020204020204" pitchFamily="34" charset="-122"/>
                <a:ea typeface="微软雅黑" panose="020B0503020204020204" pitchFamily="34" charset="-122"/>
              </a:rPr>
              <a:t>Data security</a:t>
            </a:r>
          </a:p>
          <a:p>
            <a:r>
              <a:rPr lang="en-US" altLang="zh-CN" sz="2000" dirty="0">
                <a:latin typeface="微软雅黑" panose="020B0503020204020204" pitchFamily="34" charset="-122"/>
                <a:ea typeface="微软雅黑" panose="020B0503020204020204" pitchFamily="34" charset="-122"/>
              </a:rPr>
              <a:t>At present, the laws and regulations on data confirmation and privacy protection are not perfect, which  may lead to the reluctance of departments to open data for fear of liability risks, which seriously hinders the project.</a:t>
            </a:r>
          </a:p>
          <a:p>
            <a:endParaRPr lang="en-US" altLang="zh-CN" sz="2000" dirty="0">
              <a:latin typeface="微软雅黑" panose="020B0503020204020204" pitchFamily="34" charset="-122"/>
              <a:ea typeface="微软雅黑" panose="020B0503020204020204" pitchFamily="34" charset="-122"/>
            </a:endParaRPr>
          </a:p>
          <a:p>
            <a:endParaRPr lang="en-US" altLang="zh-CN" sz="2000" dirty="0">
              <a:latin typeface="微软雅黑" panose="020B0503020204020204" pitchFamily="34" charset="-122"/>
              <a:ea typeface="微软雅黑" panose="020B0503020204020204" pitchFamily="34" charset="-122"/>
            </a:endParaRPr>
          </a:p>
          <a:p>
            <a:endParaRPr lang="en-US" altLang="zh-CN" sz="2000" dirty="0">
              <a:latin typeface="微软雅黑" panose="020B0503020204020204" pitchFamily="34" charset="-122"/>
              <a:ea typeface="微软雅黑" panose="020B0503020204020204" pitchFamily="34" charset="-122"/>
            </a:endParaRPr>
          </a:p>
          <a:p>
            <a:endParaRPr lang="en-US" altLang="zh-CN" sz="2000" dirty="0">
              <a:latin typeface="微软雅黑" panose="020B0503020204020204" pitchFamily="34" charset="-122"/>
              <a:ea typeface="微软雅黑" panose="020B0503020204020204" pitchFamily="34" charset="-122"/>
            </a:endParaRPr>
          </a:p>
        </p:txBody>
      </p:sp>
      <p:pic>
        <p:nvPicPr>
          <p:cNvPr id="8" name="图形 7" descr="美元 纯色填充">
            <a:extLst>
              <a:ext uri="{FF2B5EF4-FFF2-40B4-BE49-F238E27FC236}">
                <a16:creationId xmlns:a16="http://schemas.microsoft.com/office/drawing/2014/main" id="{B3FC1ACD-DB74-4A89-79EE-FA98E76A4E3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369189" y="4536375"/>
            <a:ext cx="1700118" cy="1406864"/>
          </a:xfrm>
          <a:prstGeom prst="rect">
            <a:avLst/>
          </a:prstGeom>
        </p:spPr>
      </p:pic>
      <p:pic>
        <p:nvPicPr>
          <p:cNvPr id="15" name="图形 14" descr="数据库 纯色填充">
            <a:extLst>
              <a:ext uri="{FF2B5EF4-FFF2-40B4-BE49-F238E27FC236}">
                <a16:creationId xmlns:a16="http://schemas.microsoft.com/office/drawing/2014/main" id="{E0948A8A-E930-507A-C1D0-34765B35F31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368264" y="4591071"/>
            <a:ext cx="1297472" cy="1297472"/>
          </a:xfrm>
          <a:prstGeom prst="rect">
            <a:avLst/>
          </a:prstGeom>
        </p:spPr>
      </p:pic>
    </p:spTree>
    <p:extLst>
      <p:ext uri="{BB962C8B-B14F-4D97-AF65-F5344CB8AC3E}">
        <p14:creationId xmlns:p14="http://schemas.microsoft.com/office/powerpoint/2010/main" val="1090755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51D5A5-D8B8-39CE-4FEC-2BE53D0A006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895F9AF-12C6-F40C-DCAA-615FD7B6AC9B}"/>
              </a:ext>
            </a:extLst>
          </p:cNvPr>
          <p:cNvSpPr>
            <a:spLocks noGrp="1"/>
          </p:cNvSpPr>
          <p:nvPr>
            <p:ph type="title"/>
          </p:nvPr>
        </p:nvSpPr>
        <p:spPr/>
        <p:txBody>
          <a:bodyPr/>
          <a:lstStyle/>
          <a:p>
            <a:endParaRPr lang="zh-CN" altLang="en-US"/>
          </a:p>
        </p:txBody>
      </p:sp>
      <p:pic>
        <p:nvPicPr>
          <p:cNvPr id="5" name="内容占位符 4" descr="雪山下的城市&#10;&#10;AI 生成的内容可能不正确。">
            <a:extLst>
              <a:ext uri="{FF2B5EF4-FFF2-40B4-BE49-F238E27FC236}">
                <a16:creationId xmlns:a16="http://schemas.microsoft.com/office/drawing/2014/main" id="{D4731EE7-E9E3-4FB7-CF28-E79DFA98104E}"/>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0425" r="5703"/>
          <a:stretch>
            <a:fillRect/>
          </a:stretch>
        </p:blipFill>
        <p:spPr>
          <a:xfrm>
            <a:off x="0" y="0"/>
            <a:ext cx="4007184" cy="6858000"/>
          </a:xfrm>
          <a:effectLst>
            <a:softEdge rad="0"/>
          </a:effectLst>
        </p:spPr>
      </p:pic>
      <p:pic>
        <p:nvPicPr>
          <p:cNvPr id="7" name="图片 6" descr="城市街道与高楼大厦的景色&#10;&#10;AI 生成的内容可能不正确。">
            <a:extLst>
              <a:ext uri="{FF2B5EF4-FFF2-40B4-BE49-F238E27FC236}">
                <a16:creationId xmlns:a16="http://schemas.microsoft.com/office/drawing/2014/main" id="{C9704614-356C-2361-B670-8215476C8DAC}"/>
              </a:ext>
            </a:extLst>
          </p:cNvPr>
          <p:cNvPicPr>
            <a:picLocks noChangeAspect="1"/>
          </p:cNvPicPr>
          <p:nvPr/>
        </p:nvPicPr>
        <p:blipFill>
          <a:blip r:embed="rId3">
            <a:extLst>
              <a:ext uri="{28A0092B-C50C-407E-A947-70E740481C1C}">
                <a14:useLocalDpi xmlns:a14="http://schemas.microsoft.com/office/drawing/2010/main" val="0"/>
              </a:ext>
            </a:extLst>
          </a:blip>
          <a:srcRect l="8822" r="-900"/>
          <a:stretch>
            <a:fillRect/>
          </a:stretch>
        </p:blipFill>
        <p:spPr>
          <a:xfrm>
            <a:off x="8305800" y="0"/>
            <a:ext cx="4007184" cy="6858000"/>
          </a:xfrm>
          <a:prstGeom prst="rect">
            <a:avLst/>
          </a:prstGeom>
          <a:effectLst>
            <a:softEdge rad="0"/>
          </a:effectLst>
        </p:spPr>
      </p:pic>
      <p:pic>
        <p:nvPicPr>
          <p:cNvPr id="9" name="图片 8" descr="城市的高楼大厦&#10;&#10;AI 生成的内容可能不正确。">
            <a:extLst>
              <a:ext uri="{FF2B5EF4-FFF2-40B4-BE49-F238E27FC236}">
                <a16:creationId xmlns:a16="http://schemas.microsoft.com/office/drawing/2014/main" id="{E85B7718-96D9-7C7F-7221-E2166E4E0CA1}"/>
              </a:ext>
            </a:extLst>
          </p:cNvPr>
          <p:cNvPicPr>
            <a:picLocks noChangeAspect="1"/>
          </p:cNvPicPr>
          <p:nvPr/>
        </p:nvPicPr>
        <p:blipFill>
          <a:blip r:embed="rId4">
            <a:extLst>
              <a:ext uri="{28A0092B-C50C-407E-A947-70E740481C1C}">
                <a14:useLocalDpi xmlns:a14="http://schemas.microsoft.com/office/drawing/2010/main" val="0"/>
              </a:ext>
            </a:extLst>
          </a:blip>
          <a:srcRect l="29119" r="29119"/>
          <a:stretch>
            <a:fillRect/>
          </a:stretch>
        </p:blipFill>
        <p:spPr>
          <a:xfrm>
            <a:off x="4007184" y="0"/>
            <a:ext cx="4298616" cy="6858000"/>
          </a:xfrm>
          <a:prstGeom prst="rect">
            <a:avLst/>
          </a:prstGeom>
          <a:effectLst>
            <a:softEdge rad="0"/>
          </a:effectLst>
        </p:spPr>
      </p:pic>
      <p:sp>
        <p:nvSpPr>
          <p:cNvPr id="14" name="矩形: 圆角 13">
            <a:extLst>
              <a:ext uri="{FF2B5EF4-FFF2-40B4-BE49-F238E27FC236}">
                <a16:creationId xmlns:a16="http://schemas.microsoft.com/office/drawing/2014/main" id="{F3F35E0C-F85A-746B-4F56-B2E877EB86EE}"/>
              </a:ext>
            </a:extLst>
          </p:cNvPr>
          <p:cNvSpPr/>
          <p:nvPr/>
        </p:nvSpPr>
        <p:spPr>
          <a:xfrm>
            <a:off x="449958" y="156633"/>
            <a:ext cx="11413067" cy="6544733"/>
          </a:xfrm>
          <a:prstGeom prst="round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a:extLst>
              <a:ext uri="{FF2B5EF4-FFF2-40B4-BE49-F238E27FC236}">
                <a16:creationId xmlns:a16="http://schemas.microsoft.com/office/drawing/2014/main" id="{A9EABF59-369A-C0CB-A7CF-FA26E14F4F18}"/>
              </a:ext>
            </a:extLst>
          </p:cNvPr>
          <p:cNvCxnSpPr/>
          <p:nvPr/>
        </p:nvCxnSpPr>
        <p:spPr>
          <a:xfrm>
            <a:off x="708025" y="844550"/>
            <a:ext cx="10775950"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6" name="文本框 5">
            <a:extLst>
              <a:ext uri="{FF2B5EF4-FFF2-40B4-BE49-F238E27FC236}">
                <a16:creationId xmlns:a16="http://schemas.microsoft.com/office/drawing/2014/main" id="{497756AD-47BE-182E-4A7D-4F02F656DF6C}"/>
              </a:ext>
            </a:extLst>
          </p:cNvPr>
          <p:cNvSpPr txBox="1"/>
          <p:nvPr/>
        </p:nvSpPr>
        <p:spPr>
          <a:xfrm>
            <a:off x="1024948" y="321330"/>
            <a:ext cx="7992052"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rPr>
              <a:t> 2. What possible challenges will we face?</a:t>
            </a:r>
            <a:endParaRPr lang="zh-CN" altLang="en-US" sz="2800" b="1" dirty="0">
              <a:latin typeface="微软雅黑" panose="020B0503020204020204" pitchFamily="34" charset="-122"/>
              <a:ea typeface="微软雅黑" panose="020B0503020204020204" pitchFamily="34" charset="-122"/>
            </a:endParaRPr>
          </a:p>
        </p:txBody>
      </p:sp>
      <p:sp>
        <p:nvSpPr>
          <p:cNvPr id="12" name="文本框 11">
            <a:extLst>
              <a:ext uri="{FF2B5EF4-FFF2-40B4-BE49-F238E27FC236}">
                <a16:creationId xmlns:a16="http://schemas.microsoft.com/office/drawing/2014/main" id="{49238836-57A7-8149-E481-7B786DBAF684}"/>
              </a:ext>
            </a:extLst>
          </p:cNvPr>
          <p:cNvSpPr txBox="1"/>
          <p:nvPr/>
        </p:nvSpPr>
        <p:spPr>
          <a:xfrm>
            <a:off x="2873245" y="1062365"/>
            <a:ext cx="6443133"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rPr>
              <a:t>Obstacles to building a smart city</a:t>
            </a:r>
          </a:p>
        </p:txBody>
      </p:sp>
      <p:sp>
        <p:nvSpPr>
          <p:cNvPr id="10" name="矩形: 圆角 9">
            <a:extLst>
              <a:ext uri="{FF2B5EF4-FFF2-40B4-BE49-F238E27FC236}">
                <a16:creationId xmlns:a16="http://schemas.microsoft.com/office/drawing/2014/main" id="{5A88F20F-E115-C2B4-1437-3A3CCE74ECDC}"/>
              </a:ext>
            </a:extLst>
          </p:cNvPr>
          <p:cNvSpPr/>
          <p:nvPr/>
        </p:nvSpPr>
        <p:spPr>
          <a:xfrm>
            <a:off x="713954" y="1690687"/>
            <a:ext cx="10770021" cy="4802181"/>
          </a:xfrm>
          <a:prstGeom prst="roundRect">
            <a:avLst/>
          </a:prstGeom>
          <a:solidFill>
            <a:srgbClr val="74AC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2400" b="1" dirty="0">
                <a:latin typeface="微软雅黑" panose="020B0503020204020204" pitchFamily="34" charset="-122"/>
                <a:ea typeface="微软雅黑" panose="020B0503020204020204" pitchFamily="34" charset="-122"/>
              </a:rPr>
              <a:t>Algorithmic bias</a:t>
            </a:r>
          </a:p>
          <a:p>
            <a:r>
              <a:rPr lang="en-US" altLang="zh-CN" sz="2000" dirty="0">
                <a:latin typeface="微软雅黑" panose="020B0503020204020204" pitchFamily="34" charset="-122"/>
                <a:ea typeface="微软雅黑" panose="020B0503020204020204" pitchFamily="34" charset="-122"/>
              </a:rPr>
              <a:t>The black box of the algorithm is easy to lead to decision-making deviation. At the same time, the algorithm optimization may also harm the interests of some groups. 1. Because of the training data problem of Chicago crime prediction system, the deployment density of police force in minority communities increased by 45% abnormally.</a:t>
            </a:r>
          </a:p>
          <a:p>
            <a:r>
              <a:rPr lang="en-US" altLang="zh-CN" sz="2000" dirty="0">
                <a:latin typeface="微软雅黑" panose="020B0503020204020204" pitchFamily="34" charset="-122"/>
                <a:ea typeface="微软雅黑" panose="020B0503020204020204" pitchFamily="34" charset="-122"/>
              </a:rPr>
              <a:t>2. The allocation of AI for affordable housing in a city misjudged the priority of the new subway area because it relied on the old land price data</a:t>
            </a:r>
          </a:p>
          <a:p>
            <a:r>
              <a:rPr lang="en-US" altLang="zh-CN" sz="2000" dirty="0">
                <a:latin typeface="微软雅黑" panose="020B0503020204020204" pitchFamily="34" charset="-122"/>
                <a:ea typeface="微软雅黑" panose="020B0503020204020204" pitchFamily="34" charset="-122"/>
              </a:rPr>
              <a:t>3. The take-away delivery route optimization algorithm increases the average daily riding distance of riders by 23 kilometers and the incidence of work-related injuries by 17%.</a:t>
            </a:r>
          </a:p>
          <a:p>
            <a:endParaRPr lang="en-US" altLang="zh-CN" sz="2000" dirty="0">
              <a:latin typeface="微软雅黑" panose="020B0503020204020204" pitchFamily="34" charset="-122"/>
              <a:ea typeface="微软雅黑" panose="020B0503020204020204" pitchFamily="34" charset="-122"/>
            </a:endParaRPr>
          </a:p>
          <a:p>
            <a:endParaRPr lang="en-US" altLang="zh-CN" sz="2000" dirty="0">
              <a:latin typeface="微软雅黑" panose="020B0503020204020204" pitchFamily="34" charset="-122"/>
              <a:ea typeface="微软雅黑" panose="020B0503020204020204" pitchFamily="34" charset="-122"/>
            </a:endParaRPr>
          </a:p>
        </p:txBody>
      </p:sp>
      <p:pic>
        <p:nvPicPr>
          <p:cNvPr id="8" name="图形 7" descr="Cmd 终端 纯色填充">
            <a:extLst>
              <a:ext uri="{FF2B5EF4-FFF2-40B4-BE49-F238E27FC236}">
                <a16:creationId xmlns:a16="http://schemas.microsoft.com/office/drawing/2014/main" id="{6AC81E58-4EA8-FCE1-CFCC-6889A5928D2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53576" y="5382317"/>
            <a:ext cx="914400" cy="914400"/>
          </a:xfrm>
          <a:prstGeom prst="rect">
            <a:avLst/>
          </a:prstGeom>
        </p:spPr>
      </p:pic>
    </p:spTree>
    <p:extLst>
      <p:ext uri="{BB962C8B-B14F-4D97-AF65-F5344CB8AC3E}">
        <p14:creationId xmlns:p14="http://schemas.microsoft.com/office/powerpoint/2010/main" val="23892093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38019-1960-2936-B66B-A6F36C5ECAF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CDC089D-1C1C-75C3-5C5B-6225A5548EA6}"/>
              </a:ext>
            </a:extLst>
          </p:cNvPr>
          <p:cNvSpPr>
            <a:spLocks noGrp="1"/>
          </p:cNvSpPr>
          <p:nvPr>
            <p:ph type="title"/>
          </p:nvPr>
        </p:nvSpPr>
        <p:spPr/>
        <p:txBody>
          <a:bodyPr/>
          <a:lstStyle/>
          <a:p>
            <a:endParaRPr lang="zh-CN" altLang="en-US"/>
          </a:p>
        </p:txBody>
      </p:sp>
      <p:pic>
        <p:nvPicPr>
          <p:cNvPr id="5" name="内容占位符 4" descr="雪山下的城市&#10;&#10;AI 生成的内容可能不正确。">
            <a:extLst>
              <a:ext uri="{FF2B5EF4-FFF2-40B4-BE49-F238E27FC236}">
                <a16:creationId xmlns:a16="http://schemas.microsoft.com/office/drawing/2014/main" id="{9289473E-01D4-0B00-ACDA-F25AA74D3C14}"/>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10425" r="5703"/>
          <a:stretch>
            <a:fillRect/>
          </a:stretch>
        </p:blipFill>
        <p:spPr>
          <a:xfrm>
            <a:off x="0" y="0"/>
            <a:ext cx="4007184" cy="6858000"/>
          </a:xfrm>
          <a:effectLst>
            <a:softEdge rad="0"/>
          </a:effectLst>
        </p:spPr>
      </p:pic>
      <p:pic>
        <p:nvPicPr>
          <p:cNvPr id="7" name="图片 6" descr="城市街道与高楼大厦的景色&#10;&#10;AI 生成的内容可能不正确。">
            <a:extLst>
              <a:ext uri="{FF2B5EF4-FFF2-40B4-BE49-F238E27FC236}">
                <a16:creationId xmlns:a16="http://schemas.microsoft.com/office/drawing/2014/main" id="{0A87614F-BD37-E484-55CA-487828654BC8}"/>
              </a:ext>
            </a:extLst>
          </p:cNvPr>
          <p:cNvPicPr>
            <a:picLocks noChangeAspect="1"/>
          </p:cNvPicPr>
          <p:nvPr/>
        </p:nvPicPr>
        <p:blipFill>
          <a:blip r:embed="rId4">
            <a:extLst>
              <a:ext uri="{28A0092B-C50C-407E-A947-70E740481C1C}">
                <a14:useLocalDpi xmlns:a14="http://schemas.microsoft.com/office/drawing/2010/main" val="0"/>
              </a:ext>
            </a:extLst>
          </a:blip>
          <a:srcRect l="8822" r="-900"/>
          <a:stretch>
            <a:fillRect/>
          </a:stretch>
        </p:blipFill>
        <p:spPr>
          <a:xfrm>
            <a:off x="8305800" y="0"/>
            <a:ext cx="4007184" cy="6858000"/>
          </a:xfrm>
          <a:prstGeom prst="rect">
            <a:avLst/>
          </a:prstGeom>
          <a:effectLst>
            <a:softEdge rad="0"/>
          </a:effectLst>
        </p:spPr>
      </p:pic>
      <p:pic>
        <p:nvPicPr>
          <p:cNvPr id="9" name="图片 8" descr="城市的高楼大厦&#10;&#10;AI 生成的内容可能不正确。">
            <a:extLst>
              <a:ext uri="{FF2B5EF4-FFF2-40B4-BE49-F238E27FC236}">
                <a16:creationId xmlns:a16="http://schemas.microsoft.com/office/drawing/2014/main" id="{22098DAF-3275-46A0-15F0-F6EEFAAD3F11}"/>
              </a:ext>
            </a:extLst>
          </p:cNvPr>
          <p:cNvPicPr>
            <a:picLocks noChangeAspect="1"/>
          </p:cNvPicPr>
          <p:nvPr/>
        </p:nvPicPr>
        <p:blipFill>
          <a:blip r:embed="rId5">
            <a:extLst>
              <a:ext uri="{28A0092B-C50C-407E-A947-70E740481C1C}">
                <a14:useLocalDpi xmlns:a14="http://schemas.microsoft.com/office/drawing/2010/main" val="0"/>
              </a:ext>
            </a:extLst>
          </a:blip>
          <a:srcRect l="29119" r="29119"/>
          <a:stretch>
            <a:fillRect/>
          </a:stretch>
        </p:blipFill>
        <p:spPr>
          <a:xfrm>
            <a:off x="4007184" y="0"/>
            <a:ext cx="4298616" cy="6858000"/>
          </a:xfrm>
          <a:prstGeom prst="rect">
            <a:avLst/>
          </a:prstGeom>
          <a:effectLst>
            <a:softEdge rad="0"/>
          </a:effectLst>
        </p:spPr>
      </p:pic>
      <p:sp>
        <p:nvSpPr>
          <p:cNvPr id="14" name="矩形: 圆角 13">
            <a:extLst>
              <a:ext uri="{FF2B5EF4-FFF2-40B4-BE49-F238E27FC236}">
                <a16:creationId xmlns:a16="http://schemas.microsoft.com/office/drawing/2014/main" id="{4E16620D-B455-B7E5-6811-1F48C1EF0B70}"/>
              </a:ext>
            </a:extLst>
          </p:cNvPr>
          <p:cNvSpPr/>
          <p:nvPr/>
        </p:nvSpPr>
        <p:spPr>
          <a:xfrm>
            <a:off x="389466" y="156633"/>
            <a:ext cx="11413067" cy="6544733"/>
          </a:xfrm>
          <a:prstGeom prst="round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8B64E079-6820-B664-0CD9-FD6176A6FC4F}"/>
              </a:ext>
            </a:extLst>
          </p:cNvPr>
          <p:cNvSpPr txBox="1"/>
          <p:nvPr/>
        </p:nvSpPr>
        <p:spPr>
          <a:xfrm>
            <a:off x="1458412" y="2105561"/>
            <a:ext cx="2624436" cy="2646878"/>
          </a:xfrm>
          <a:prstGeom prst="rect">
            <a:avLst/>
          </a:prstGeom>
          <a:noFill/>
        </p:spPr>
        <p:txBody>
          <a:bodyPr wrap="none" rtlCol="0">
            <a:spAutoFit/>
          </a:bodyPr>
          <a:lstStyle/>
          <a:p>
            <a:r>
              <a:rPr lang="en-US" altLang="zh-CN" sz="16600" b="1" spc="300" dirty="0">
                <a:gradFill>
                  <a:gsLst>
                    <a:gs pos="0">
                      <a:schemeClr val="accent1"/>
                    </a:gs>
                    <a:gs pos="90000">
                      <a:schemeClr val="accent1">
                        <a:alpha val="0"/>
                      </a:schemeClr>
                    </a:gs>
                  </a:gsLst>
                  <a:lin ang="5400000" scaled="1"/>
                </a:gradFill>
              </a:rPr>
              <a:t>03</a:t>
            </a:r>
            <a:endParaRPr lang="zh-CN" altLang="en-US" sz="16600" b="1" spc="300" dirty="0">
              <a:gradFill>
                <a:gsLst>
                  <a:gs pos="0">
                    <a:schemeClr val="accent1"/>
                  </a:gs>
                  <a:gs pos="90000">
                    <a:schemeClr val="accent1">
                      <a:alpha val="0"/>
                    </a:schemeClr>
                  </a:gs>
                </a:gsLst>
                <a:lin ang="5400000" scaled="1"/>
              </a:gradFill>
            </a:endParaRPr>
          </a:p>
        </p:txBody>
      </p:sp>
      <p:sp>
        <p:nvSpPr>
          <p:cNvPr id="6" name="文本框 5">
            <a:extLst>
              <a:ext uri="{FF2B5EF4-FFF2-40B4-BE49-F238E27FC236}">
                <a16:creationId xmlns:a16="http://schemas.microsoft.com/office/drawing/2014/main" id="{9EE2C4E6-7863-7AC6-9E74-3823E3C8E835}"/>
              </a:ext>
            </a:extLst>
          </p:cNvPr>
          <p:cNvSpPr txBox="1"/>
          <p:nvPr/>
        </p:nvSpPr>
        <p:spPr>
          <a:xfrm>
            <a:off x="3831981" y="2741682"/>
            <a:ext cx="5389311" cy="1200329"/>
          </a:xfrm>
          <a:prstGeom prst="rect">
            <a:avLst/>
          </a:prstGeom>
          <a:noFill/>
        </p:spPr>
        <p:txBody>
          <a:bodyPr wrap="square" rtlCol="0">
            <a:spAutoFit/>
          </a:bodyPr>
          <a:lstStyle/>
          <a:p>
            <a:pPr algn="ctr"/>
            <a:r>
              <a:rPr lang="en-US" altLang="zh-CN" sz="3600" b="1" dirty="0">
                <a:latin typeface="微软雅黑" panose="020B0503020204020204" pitchFamily="34" charset="-122"/>
                <a:ea typeface="微软雅黑" panose="020B0503020204020204" pitchFamily="34" charset="-122"/>
              </a:rPr>
              <a:t> How to solve the challenges?</a:t>
            </a:r>
            <a:endParaRPr lang="zh-CN" altLang="en-US" sz="3600" b="1" dirty="0">
              <a:latin typeface="微软雅黑" panose="020B0503020204020204" pitchFamily="34" charset="-122"/>
              <a:ea typeface="微软雅黑" panose="020B0503020204020204" pitchFamily="34" charset="-122"/>
            </a:endParaRPr>
          </a:p>
        </p:txBody>
      </p:sp>
      <p:sp>
        <p:nvSpPr>
          <p:cNvPr id="8" name="矩形 7">
            <a:extLst>
              <a:ext uri="{FF2B5EF4-FFF2-40B4-BE49-F238E27FC236}">
                <a16:creationId xmlns:a16="http://schemas.microsoft.com/office/drawing/2014/main" id="{25764AFD-09EA-4624-9975-4011EE13AFA7}"/>
              </a:ext>
            </a:extLst>
          </p:cNvPr>
          <p:cNvSpPr/>
          <p:nvPr/>
        </p:nvSpPr>
        <p:spPr>
          <a:xfrm>
            <a:off x="6080721" y="4098645"/>
            <a:ext cx="720000" cy="1016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8938903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F78A9-02DE-A6DE-2359-82A28D7190A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B596E10-B511-DECF-ED58-0C35FDE0AA43}"/>
              </a:ext>
            </a:extLst>
          </p:cNvPr>
          <p:cNvSpPr>
            <a:spLocks noGrp="1"/>
          </p:cNvSpPr>
          <p:nvPr>
            <p:ph type="title"/>
          </p:nvPr>
        </p:nvSpPr>
        <p:spPr/>
        <p:txBody>
          <a:bodyPr/>
          <a:lstStyle/>
          <a:p>
            <a:endParaRPr lang="zh-CN" altLang="en-US"/>
          </a:p>
        </p:txBody>
      </p:sp>
      <p:pic>
        <p:nvPicPr>
          <p:cNvPr id="5" name="内容占位符 4" descr="雪山下的城市&#10;&#10;AI 生成的内容可能不正确。">
            <a:extLst>
              <a:ext uri="{FF2B5EF4-FFF2-40B4-BE49-F238E27FC236}">
                <a16:creationId xmlns:a16="http://schemas.microsoft.com/office/drawing/2014/main" id="{BA690AE4-BB24-7598-C1BC-2375182ECBEE}"/>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10425" r="5703"/>
          <a:stretch>
            <a:fillRect/>
          </a:stretch>
        </p:blipFill>
        <p:spPr>
          <a:xfrm>
            <a:off x="0" y="0"/>
            <a:ext cx="4007184" cy="6858000"/>
          </a:xfrm>
          <a:effectLst>
            <a:softEdge rad="0"/>
          </a:effectLst>
        </p:spPr>
      </p:pic>
      <p:pic>
        <p:nvPicPr>
          <p:cNvPr id="7" name="图片 6" descr="城市街道与高楼大厦的景色&#10;&#10;AI 生成的内容可能不正确。">
            <a:extLst>
              <a:ext uri="{FF2B5EF4-FFF2-40B4-BE49-F238E27FC236}">
                <a16:creationId xmlns:a16="http://schemas.microsoft.com/office/drawing/2014/main" id="{F8CBF885-E98C-EB24-54BE-87A8B3281EE2}"/>
              </a:ext>
            </a:extLst>
          </p:cNvPr>
          <p:cNvPicPr>
            <a:picLocks noChangeAspect="1"/>
          </p:cNvPicPr>
          <p:nvPr/>
        </p:nvPicPr>
        <p:blipFill>
          <a:blip r:embed="rId4">
            <a:extLst>
              <a:ext uri="{28A0092B-C50C-407E-A947-70E740481C1C}">
                <a14:useLocalDpi xmlns:a14="http://schemas.microsoft.com/office/drawing/2010/main" val="0"/>
              </a:ext>
            </a:extLst>
          </a:blip>
          <a:srcRect l="8822" r="-900"/>
          <a:stretch>
            <a:fillRect/>
          </a:stretch>
        </p:blipFill>
        <p:spPr>
          <a:xfrm>
            <a:off x="8305800" y="0"/>
            <a:ext cx="4007184" cy="6858000"/>
          </a:xfrm>
          <a:prstGeom prst="rect">
            <a:avLst/>
          </a:prstGeom>
          <a:effectLst>
            <a:softEdge rad="0"/>
          </a:effectLst>
        </p:spPr>
      </p:pic>
      <p:pic>
        <p:nvPicPr>
          <p:cNvPr id="9" name="图片 8" descr="城市的高楼大厦&#10;&#10;AI 生成的内容可能不正确。">
            <a:extLst>
              <a:ext uri="{FF2B5EF4-FFF2-40B4-BE49-F238E27FC236}">
                <a16:creationId xmlns:a16="http://schemas.microsoft.com/office/drawing/2014/main" id="{ED4A6074-386F-B318-907C-47EE07879280}"/>
              </a:ext>
            </a:extLst>
          </p:cNvPr>
          <p:cNvPicPr>
            <a:picLocks noChangeAspect="1"/>
          </p:cNvPicPr>
          <p:nvPr/>
        </p:nvPicPr>
        <p:blipFill>
          <a:blip r:embed="rId5">
            <a:extLst>
              <a:ext uri="{28A0092B-C50C-407E-A947-70E740481C1C}">
                <a14:useLocalDpi xmlns:a14="http://schemas.microsoft.com/office/drawing/2010/main" val="0"/>
              </a:ext>
            </a:extLst>
          </a:blip>
          <a:srcRect l="29119" r="29119"/>
          <a:stretch>
            <a:fillRect/>
          </a:stretch>
        </p:blipFill>
        <p:spPr>
          <a:xfrm>
            <a:off x="4007184" y="0"/>
            <a:ext cx="4298616" cy="6858000"/>
          </a:xfrm>
          <a:prstGeom prst="rect">
            <a:avLst/>
          </a:prstGeom>
          <a:effectLst>
            <a:softEdge rad="0"/>
          </a:effectLst>
        </p:spPr>
      </p:pic>
      <p:sp>
        <p:nvSpPr>
          <p:cNvPr id="14" name="矩形: 圆角 13">
            <a:extLst>
              <a:ext uri="{FF2B5EF4-FFF2-40B4-BE49-F238E27FC236}">
                <a16:creationId xmlns:a16="http://schemas.microsoft.com/office/drawing/2014/main" id="{88AAA332-9412-3549-BF0F-592DA1E2C264}"/>
              </a:ext>
            </a:extLst>
          </p:cNvPr>
          <p:cNvSpPr/>
          <p:nvPr/>
        </p:nvSpPr>
        <p:spPr>
          <a:xfrm>
            <a:off x="449958" y="156633"/>
            <a:ext cx="11413067" cy="6544733"/>
          </a:xfrm>
          <a:prstGeom prst="round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a:extLst>
              <a:ext uri="{FF2B5EF4-FFF2-40B4-BE49-F238E27FC236}">
                <a16:creationId xmlns:a16="http://schemas.microsoft.com/office/drawing/2014/main" id="{E3C4FBA9-274F-DCE0-DFF6-32C5B0394188}"/>
              </a:ext>
            </a:extLst>
          </p:cNvPr>
          <p:cNvCxnSpPr/>
          <p:nvPr/>
        </p:nvCxnSpPr>
        <p:spPr>
          <a:xfrm>
            <a:off x="708025" y="844550"/>
            <a:ext cx="10775950"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6" name="文本框 5">
            <a:extLst>
              <a:ext uri="{FF2B5EF4-FFF2-40B4-BE49-F238E27FC236}">
                <a16:creationId xmlns:a16="http://schemas.microsoft.com/office/drawing/2014/main" id="{CFA3DDA8-381F-2BAD-EB33-3B22472FEEB9}"/>
              </a:ext>
            </a:extLst>
          </p:cNvPr>
          <p:cNvSpPr txBox="1"/>
          <p:nvPr/>
        </p:nvSpPr>
        <p:spPr>
          <a:xfrm>
            <a:off x="1024948" y="321330"/>
            <a:ext cx="5899363"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rPr>
              <a:t> 3. How to solve the challenges?</a:t>
            </a:r>
            <a:endParaRPr lang="zh-CN" altLang="en-US" sz="2800" b="1" dirty="0">
              <a:latin typeface="微软雅黑" panose="020B0503020204020204" pitchFamily="34" charset="-122"/>
              <a:ea typeface="微软雅黑" panose="020B0503020204020204" pitchFamily="34" charset="-122"/>
            </a:endParaRPr>
          </a:p>
        </p:txBody>
      </p:sp>
      <p:sp>
        <p:nvSpPr>
          <p:cNvPr id="12" name="文本框 11">
            <a:extLst>
              <a:ext uri="{FF2B5EF4-FFF2-40B4-BE49-F238E27FC236}">
                <a16:creationId xmlns:a16="http://schemas.microsoft.com/office/drawing/2014/main" id="{46B5D4EC-D597-9518-E199-D2B3073DAF50}"/>
              </a:ext>
            </a:extLst>
          </p:cNvPr>
          <p:cNvSpPr txBox="1"/>
          <p:nvPr/>
        </p:nvSpPr>
        <p:spPr>
          <a:xfrm>
            <a:off x="1914429" y="1062365"/>
            <a:ext cx="8247229"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rPr>
              <a:t>Take data  security and privacy for example</a:t>
            </a:r>
          </a:p>
        </p:txBody>
      </p:sp>
      <p:sp>
        <p:nvSpPr>
          <p:cNvPr id="8" name="文本框 7">
            <a:extLst>
              <a:ext uri="{FF2B5EF4-FFF2-40B4-BE49-F238E27FC236}">
                <a16:creationId xmlns:a16="http://schemas.microsoft.com/office/drawing/2014/main" id="{7401EAC8-47FA-81C9-B72B-6D049BC53894}"/>
              </a:ext>
            </a:extLst>
          </p:cNvPr>
          <p:cNvSpPr txBox="1"/>
          <p:nvPr/>
        </p:nvSpPr>
        <p:spPr>
          <a:xfrm>
            <a:off x="2392373" y="1734483"/>
            <a:ext cx="7407253" cy="1436162"/>
          </a:xfrm>
          <a:prstGeom prst="rect">
            <a:avLst/>
          </a:prstGeom>
          <a:noFill/>
        </p:spPr>
        <p:txBody>
          <a:bodyPr wrap="square">
            <a:spAutoFit/>
          </a:bodyPr>
          <a:lstStyle/>
          <a:p>
            <a:pPr algn="ctr">
              <a:lnSpc>
                <a:spcPct val="115000"/>
              </a:lnSpc>
              <a:spcAft>
                <a:spcPts val="800"/>
              </a:spcAft>
              <a:buNone/>
            </a:pPr>
            <a:r>
              <a:rPr lang="en-US" altLang="zh-CN" sz="2400" b="1" kern="100" dirty="0">
                <a:effectLst/>
                <a:latin typeface="微软雅黑" panose="020B0503020204020204" pitchFamily="34" charset="-122"/>
                <a:ea typeface="微软雅黑" panose="020B0503020204020204" pitchFamily="34" charset="-122"/>
                <a:cs typeface="Times New Roman" panose="02020603050405020304" pitchFamily="18" charset="0"/>
              </a:rPr>
              <a:t>Core technology:</a:t>
            </a:r>
          </a:p>
          <a:p>
            <a:pPr algn="ctr">
              <a:lnSpc>
                <a:spcPct val="115000"/>
              </a:lnSpc>
              <a:spcAft>
                <a:spcPts val="800"/>
              </a:spcAft>
              <a:buNone/>
            </a:pPr>
            <a:r>
              <a:rPr lang="en-US" altLang="zh-CN" sz="2400" b="1" kern="100" dirty="0">
                <a:effectLst/>
                <a:latin typeface="微软雅黑" panose="020B0503020204020204" pitchFamily="34" charset="-122"/>
                <a:ea typeface="微软雅黑" panose="020B0503020204020204" pitchFamily="34" charset="-122"/>
                <a:cs typeface="Times New Roman" panose="02020603050405020304" pitchFamily="18" charset="0"/>
              </a:rPr>
              <a:t>Decentralized privacy computing (federated learning) + dynamic data encryption protocol</a:t>
            </a:r>
            <a:endParaRPr lang="zh-CN" altLang="zh-CN" sz="2400" b="1" kern="100" dirty="0">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 name="矩形: 圆角 10">
            <a:extLst>
              <a:ext uri="{FF2B5EF4-FFF2-40B4-BE49-F238E27FC236}">
                <a16:creationId xmlns:a16="http://schemas.microsoft.com/office/drawing/2014/main" id="{4E77DBF9-FC8C-A95D-9F76-F10DD615C29F}"/>
              </a:ext>
            </a:extLst>
          </p:cNvPr>
          <p:cNvSpPr/>
          <p:nvPr/>
        </p:nvSpPr>
        <p:spPr>
          <a:xfrm>
            <a:off x="708025" y="3577820"/>
            <a:ext cx="3153998" cy="2700242"/>
          </a:xfrm>
          <a:prstGeom prst="roundRect">
            <a:avLst/>
          </a:prstGeom>
          <a:solidFill>
            <a:srgbClr val="679DB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2000" dirty="0">
                <a:latin typeface="微软雅黑" panose="020B0503020204020204" pitchFamily="34" charset="-122"/>
                <a:ea typeface="微软雅黑" panose="020B0503020204020204" pitchFamily="34" charset="-122"/>
              </a:rPr>
              <a:t>Urban data collection devices only gather desensitized and de-identified data, removing personal identifiers like names and ID numbers.</a:t>
            </a:r>
          </a:p>
        </p:txBody>
      </p:sp>
      <p:sp>
        <p:nvSpPr>
          <p:cNvPr id="15" name="矩形: 圆角 14">
            <a:extLst>
              <a:ext uri="{FF2B5EF4-FFF2-40B4-BE49-F238E27FC236}">
                <a16:creationId xmlns:a16="http://schemas.microsoft.com/office/drawing/2014/main" id="{7926880F-CDD0-A22A-3808-A69BABAA834F}"/>
              </a:ext>
            </a:extLst>
          </p:cNvPr>
          <p:cNvSpPr/>
          <p:nvPr/>
        </p:nvSpPr>
        <p:spPr>
          <a:xfrm>
            <a:off x="4449122" y="3565773"/>
            <a:ext cx="3293754" cy="2700242"/>
          </a:xfrm>
          <a:prstGeom prst="roundRect">
            <a:avLst/>
          </a:prstGeom>
          <a:solidFill>
            <a:srgbClr val="74AC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2000" dirty="0">
                <a:latin typeface="微软雅黑" panose="020B0503020204020204" pitchFamily="34" charset="-122"/>
                <a:ea typeface="微软雅黑" panose="020B0503020204020204" pitchFamily="34" charset="-122"/>
              </a:rPr>
              <a:t>Each device/ completes data model training locally, and only shares the results, no raw data is transmitted, achieving "data usable but not visible“.</a:t>
            </a:r>
            <a:endParaRPr lang="zh-CN" altLang="zh-CN" sz="2000" dirty="0">
              <a:latin typeface="微软雅黑" panose="020B0503020204020204" pitchFamily="34" charset="-122"/>
              <a:ea typeface="微软雅黑" panose="020B0503020204020204" pitchFamily="34" charset="-122"/>
            </a:endParaRPr>
          </a:p>
        </p:txBody>
      </p:sp>
      <p:sp>
        <p:nvSpPr>
          <p:cNvPr id="16" name="矩形: 圆角 15">
            <a:extLst>
              <a:ext uri="{FF2B5EF4-FFF2-40B4-BE49-F238E27FC236}">
                <a16:creationId xmlns:a16="http://schemas.microsoft.com/office/drawing/2014/main" id="{00EDEFB2-360F-055D-C6F4-9A088202A840}"/>
              </a:ext>
            </a:extLst>
          </p:cNvPr>
          <p:cNvSpPr/>
          <p:nvPr/>
        </p:nvSpPr>
        <p:spPr>
          <a:xfrm>
            <a:off x="8305801" y="3577820"/>
            <a:ext cx="3412064" cy="2700242"/>
          </a:xfrm>
          <a:prstGeom prst="roundRect">
            <a:avLst/>
          </a:prstGeom>
          <a:solidFill>
            <a:srgbClr val="4386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2000" dirty="0">
                <a:latin typeface="微软雅黑" panose="020B0503020204020204" pitchFamily="34" charset="-122"/>
                <a:ea typeface="微软雅黑" panose="020B0503020204020204" pitchFamily="34" charset="-122"/>
              </a:rPr>
              <a:t>Residents can check the usage of their data via mobile devices. And data is automatically matched with encryption strength based on its sensitivity level.</a:t>
            </a:r>
            <a:endParaRPr lang="zh-CN" altLang="zh-CN"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084396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8" grpId="0"/>
      <p:bldP spid="11" grpId="0" animBg="1"/>
      <p:bldP spid="15" grpId="0" animBg="1"/>
      <p:bldP spid="1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4F0E90-069D-1475-0E65-E806DB464E4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40A0D84-F863-F7E7-8211-424F715ACA47}"/>
              </a:ext>
            </a:extLst>
          </p:cNvPr>
          <p:cNvSpPr>
            <a:spLocks noGrp="1"/>
          </p:cNvSpPr>
          <p:nvPr>
            <p:ph type="title"/>
          </p:nvPr>
        </p:nvSpPr>
        <p:spPr/>
        <p:txBody>
          <a:bodyPr/>
          <a:lstStyle/>
          <a:p>
            <a:endParaRPr lang="zh-CN" altLang="en-US"/>
          </a:p>
        </p:txBody>
      </p:sp>
      <p:pic>
        <p:nvPicPr>
          <p:cNvPr id="5" name="内容占位符 4" descr="雪山下的城市&#10;&#10;AI 生成的内容可能不正确。">
            <a:extLst>
              <a:ext uri="{FF2B5EF4-FFF2-40B4-BE49-F238E27FC236}">
                <a16:creationId xmlns:a16="http://schemas.microsoft.com/office/drawing/2014/main" id="{32A2BA1E-ABB4-54A4-97BB-0E06061DD8F2}"/>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10425" r="5703"/>
          <a:stretch>
            <a:fillRect/>
          </a:stretch>
        </p:blipFill>
        <p:spPr>
          <a:xfrm>
            <a:off x="0" y="0"/>
            <a:ext cx="4007184" cy="6858000"/>
          </a:xfrm>
          <a:effectLst>
            <a:softEdge rad="0"/>
          </a:effectLst>
        </p:spPr>
      </p:pic>
      <p:pic>
        <p:nvPicPr>
          <p:cNvPr id="7" name="图片 6" descr="城市街道与高楼大厦的景色&#10;&#10;AI 生成的内容可能不正确。">
            <a:extLst>
              <a:ext uri="{FF2B5EF4-FFF2-40B4-BE49-F238E27FC236}">
                <a16:creationId xmlns:a16="http://schemas.microsoft.com/office/drawing/2014/main" id="{7D4662C2-FD76-9042-4815-F9A507FCAAD2}"/>
              </a:ext>
            </a:extLst>
          </p:cNvPr>
          <p:cNvPicPr>
            <a:picLocks noChangeAspect="1"/>
          </p:cNvPicPr>
          <p:nvPr/>
        </p:nvPicPr>
        <p:blipFill>
          <a:blip r:embed="rId4">
            <a:extLst>
              <a:ext uri="{28A0092B-C50C-407E-A947-70E740481C1C}">
                <a14:useLocalDpi xmlns:a14="http://schemas.microsoft.com/office/drawing/2010/main" val="0"/>
              </a:ext>
            </a:extLst>
          </a:blip>
          <a:srcRect l="8822" r="-900"/>
          <a:stretch>
            <a:fillRect/>
          </a:stretch>
        </p:blipFill>
        <p:spPr>
          <a:xfrm>
            <a:off x="8305800" y="0"/>
            <a:ext cx="4007184" cy="6858000"/>
          </a:xfrm>
          <a:prstGeom prst="rect">
            <a:avLst/>
          </a:prstGeom>
          <a:effectLst>
            <a:softEdge rad="0"/>
          </a:effectLst>
        </p:spPr>
      </p:pic>
      <p:pic>
        <p:nvPicPr>
          <p:cNvPr id="9" name="图片 8" descr="城市的高楼大厦&#10;&#10;AI 生成的内容可能不正确。">
            <a:extLst>
              <a:ext uri="{FF2B5EF4-FFF2-40B4-BE49-F238E27FC236}">
                <a16:creationId xmlns:a16="http://schemas.microsoft.com/office/drawing/2014/main" id="{6BAC2F94-532B-7DC2-D8DA-FD7AD701A496}"/>
              </a:ext>
            </a:extLst>
          </p:cNvPr>
          <p:cNvPicPr>
            <a:picLocks noChangeAspect="1"/>
          </p:cNvPicPr>
          <p:nvPr/>
        </p:nvPicPr>
        <p:blipFill>
          <a:blip r:embed="rId5">
            <a:extLst>
              <a:ext uri="{28A0092B-C50C-407E-A947-70E740481C1C}">
                <a14:useLocalDpi xmlns:a14="http://schemas.microsoft.com/office/drawing/2010/main" val="0"/>
              </a:ext>
            </a:extLst>
          </a:blip>
          <a:srcRect l="29119" r="29119"/>
          <a:stretch>
            <a:fillRect/>
          </a:stretch>
        </p:blipFill>
        <p:spPr>
          <a:xfrm>
            <a:off x="4007184" y="0"/>
            <a:ext cx="4298616" cy="6858000"/>
          </a:xfrm>
          <a:prstGeom prst="rect">
            <a:avLst/>
          </a:prstGeom>
          <a:effectLst>
            <a:softEdge rad="0"/>
          </a:effectLst>
        </p:spPr>
      </p:pic>
      <p:sp>
        <p:nvSpPr>
          <p:cNvPr id="14" name="矩形: 圆角 13">
            <a:extLst>
              <a:ext uri="{FF2B5EF4-FFF2-40B4-BE49-F238E27FC236}">
                <a16:creationId xmlns:a16="http://schemas.microsoft.com/office/drawing/2014/main" id="{2ACA3122-02D0-6387-BFD7-2ECE7664F8C2}"/>
              </a:ext>
            </a:extLst>
          </p:cNvPr>
          <p:cNvSpPr/>
          <p:nvPr/>
        </p:nvSpPr>
        <p:spPr>
          <a:xfrm>
            <a:off x="449958" y="156633"/>
            <a:ext cx="11413067" cy="6544733"/>
          </a:xfrm>
          <a:prstGeom prst="round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a:extLst>
              <a:ext uri="{FF2B5EF4-FFF2-40B4-BE49-F238E27FC236}">
                <a16:creationId xmlns:a16="http://schemas.microsoft.com/office/drawing/2014/main" id="{B4AE32F0-8FA1-A349-636E-DC600166C7B5}"/>
              </a:ext>
            </a:extLst>
          </p:cNvPr>
          <p:cNvCxnSpPr/>
          <p:nvPr/>
        </p:nvCxnSpPr>
        <p:spPr>
          <a:xfrm>
            <a:off x="708025" y="844550"/>
            <a:ext cx="10775950"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6" name="文本框 5">
            <a:extLst>
              <a:ext uri="{FF2B5EF4-FFF2-40B4-BE49-F238E27FC236}">
                <a16:creationId xmlns:a16="http://schemas.microsoft.com/office/drawing/2014/main" id="{7739596D-841C-6742-F481-DD5618EC65D6}"/>
              </a:ext>
            </a:extLst>
          </p:cNvPr>
          <p:cNvSpPr txBox="1"/>
          <p:nvPr/>
        </p:nvSpPr>
        <p:spPr>
          <a:xfrm>
            <a:off x="1024948" y="321330"/>
            <a:ext cx="5899363"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rPr>
              <a:t> 3. How to solve the challenges?</a:t>
            </a:r>
            <a:endParaRPr lang="zh-CN" altLang="en-US" sz="2800" b="1" dirty="0">
              <a:latin typeface="微软雅黑" panose="020B0503020204020204" pitchFamily="34" charset="-122"/>
              <a:ea typeface="微软雅黑" panose="020B0503020204020204" pitchFamily="34" charset="-122"/>
            </a:endParaRPr>
          </a:p>
        </p:txBody>
      </p:sp>
      <p:sp>
        <p:nvSpPr>
          <p:cNvPr id="3" name="矩形: 圆角 2">
            <a:extLst>
              <a:ext uri="{FF2B5EF4-FFF2-40B4-BE49-F238E27FC236}">
                <a16:creationId xmlns:a16="http://schemas.microsoft.com/office/drawing/2014/main" id="{F6EB5401-2B9C-BDBA-3649-9B0E59934A2F}"/>
              </a:ext>
            </a:extLst>
          </p:cNvPr>
          <p:cNvSpPr/>
          <p:nvPr/>
        </p:nvSpPr>
        <p:spPr>
          <a:xfrm>
            <a:off x="672366" y="1053042"/>
            <a:ext cx="5323398" cy="5304797"/>
          </a:xfrm>
          <a:prstGeom prst="roundRect">
            <a:avLst/>
          </a:prstGeom>
          <a:solidFill>
            <a:srgbClr val="679DB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2400" b="1" dirty="0">
                <a:latin typeface="微软雅黑" panose="020B0503020204020204" pitchFamily="34" charset="-122"/>
                <a:ea typeface="微软雅黑" panose="020B0503020204020204" pitchFamily="34" charset="-122"/>
              </a:rPr>
              <a:t>Expected benefits:</a:t>
            </a:r>
            <a:endParaRPr lang="zh-CN" altLang="zh-CN" sz="2400" b="1"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1. Protect residents' privacy and reduce the risk of personal information misuse;</a:t>
            </a:r>
            <a:endParaRPr lang="zh-CN"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2. Realize the optimization effect of data on urban services (e.g., traffic dispatching, resource allocation) while avoiding security risks of centralized raw data storage;</a:t>
            </a:r>
            <a:endParaRPr lang="zh-CN"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3. Enhance residents' trust in smart city systems and promote technology popularization.</a:t>
            </a:r>
          </a:p>
          <a:p>
            <a:endParaRPr lang="en-US" altLang="zh-CN" sz="2000" dirty="0">
              <a:latin typeface="微软雅黑" panose="020B0503020204020204" pitchFamily="34" charset="-122"/>
              <a:ea typeface="微软雅黑" panose="020B0503020204020204" pitchFamily="34" charset="-122"/>
            </a:endParaRPr>
          </a:p>
          <a:p>
            <a:endParaRPr lang="en-US" altLang="zh-CN" sz="2000" dirty="0">
              <a:latin typeface="微软雅黑" panose="020B0503020204020204" pitchFamily="34" charset="-122"/>
              <a:ea typeface="微软雅黑" panose="020B0503020204020204" pitchFamily="34" charset="-122"/>
            </a:endParaRPr>
          </a:p>
          <a:p>
            <a:endParaRPr lang="en-US" altLang="zh-CN" sz="2000" dirty="0">
              <a:latin typeface="微软雅黑" panose="020B0503020204020204" pitchFamily="34" charset="-122"/>
              <a:ea typeface="微软雅黑" panose="020B0503020204020204" pitchFamily="34" charset="-122"/>
            </a:endParaRPr>
          </a:p>
        </p:txBody>
      </p:sp>
      <p:sp>
        <p:nvSpPr>
          <p:cNvPr id="10" name="矩形: 圆角 9">
            <a:extLst>
              <a:ext uri="{FF2B5EF4-FFF2-40B4-BE49-F238E27FC236}">
                <a16:creationId xmlns:a16="http://schemas.microsoft.com/office/drawing/2014/main" id="{36640BD1-9A2D-D4A1-A4D0-276FCE0B598A}"/>
              </a:ext>
            </a:extLst>
          </p:cNvPr>
          <p:cNvSpPr/>
          <p:nvPr/>
        </p:nvSpPr>
        <p:spPr>
          <a:xfrm>
            <a:off x="6218172" y="1001183"/>
            <a:ext cx="5464033" cy="5356656"/>
          </a:xfrm>
          <a:prstGeom prst="roundRect">
            <a:avLst/>
          </a:prstGeom>
          <a:solidFill>
            <a:srgbClr val="4386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2400" b="1" dirty="0">
                <a:latin typeface="微软雅黑" panose="020B0503020204020204" pitchFamily="34" charset="-122"/>
                <a:ea typeface="微软雅黑" panose="020B0503020204020204" pitchFamily="34" charset="-122"/>
              </a:rPr>
              <a:t>Potential drawbacks:</a:t>
            </a:r>
            <a:endParaRPr lang="zh-CN" altLang="zh-CN" sz="2400" b="1"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1. The technical costs of decentralized computing and dynamic encryption are relatively high, leading to large initial construction investment;</a:t>
            </a:r>
            <a:endParaRPr lang="zh-CN"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2. The model training efficiency of federated learning is slightly lower than that of centralized training, requiring algorithm optimization to balance efficiency and privacy;</a:t>
            </a:r>
            <a:endParaRPr lang="zh-CN"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3. Some elderly residents may struggle to operate the authorization system, requiring supporting simplified interfaces or manual assistance services.</a:t>
            </a:r>
            <a:endParaRPr lang="zh-CN" altLang="zh-CN"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349702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03237-EBF8-7E01-AA4D-7244B48C2DC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A6F9C07-C31D-0D51-F5F8-7A03F6FF723D}"/>
              </a:ext>
            </a:extLst>
          </p:cNvPr>
          <p:cNvSpPr>
            <a:spLocks noGrp="1"/>
          </p:cNvSpPr>
          <p:nvPr>
            <p:ph type="title"/>
          </p:nvPr>
        </p:nvSpPr>
        <p:spPr/>
        <p:txBody>
          <a:bodyPr/>
          <a:lstStyle/>
          <a:p>
            <a:endParaRPr lang="zh-CN" altLang="en-US"/>
          </a:p>
        </p:txBody>
      </p:sp>
      <p:pic>
        <p:nvPicPr>
          <p:cNvPr id="5" name="内容占位符 4" descr="雪山下的城市&#10;&#10;AI 生成的内容可能不正确。">
            <a:extLst>
              <a:ext uri="{FF2B5EF4-FFF2-40B4-BE49-F238E27FC236}">
                <a16:creationId xmlns:a16="http://schemas.microsoft.com/office/drawing/2014/main" id="{D6C7EAB7-6C66-A73F-C2AB-597D0A36C440}"/>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10425" r="5703"/>
          <a:stretch>
            <a:fillRect/>
          </a:stretch>
        </p:blipFill>
        <p:spPr>
          <a:xfrm>
            <a:off x="0" y="0"/>
            <a:ext cx="4007184" cy="6858000"/>
          </a:xfrm>
          <a:effectLst>
            <a:softEdge rad="0"/>
          </a:effectLst>
        </p:spPr>
      </p:pic>
      <p:pic>
        <p:nvPicPr>
          <p:cNvPr id="7" name="图片 6" descr="城市街道与高楼大厦的景色&#10;&#10;AI 生成的内容可能不正确。">
            <a:extLst>
              <a:ext uri="{FF2B5EF4-FFF2-40B4-BE49-F238E27FC236}">
                <a16:creationId xmlns:a16="http://schemas.microsoft.com/office/drawing/2014/main" id="{96F23A34-381D-42EC-4809-E2E9F98347D0}"/>
              </a:ext>
            </a:extLst>
          </p:cNvPr>
          <p:cNvPicPr>
            <a:picLocks noChangeAspect="1"/>
          </p:cNvPicPr>
          <p:nvPr/>
        </p:nvPicPr>
        <p:blipFill>
          <a:blip r:embed="rId4">
            <a:extLst>
              <a:ext uri="{28A0092B-C50C-407E-A947-70E740481C1C}">
                <a14:useLocalDpi xmlns:a14="http://schemas.microsoft.com/office/drawing/2010/main" val="0"/>
              </a:ext>
            </a:extLst>
          </a:blip>
          <a:srcRect l="8822" r="-900"/>
          <a:stretch>
            <a:fillRect/>
          </a:stretch>
        </p:blipFill>
        <p:spPr>
          <a:xfrm>
            <a:off x="8305800" y="0"/>
            <a:ext cx="4007184" cy="6858000"/>
          </a:xfrm>
          <a:prstGeom prst="rect">
            <a:avLst/>
          </a:prstGeom>
          <a:effectLst>
            <a:softEdge rad="0"/>
          </a:effectLst>
        </p:spPr>
      </p:pic>
      <p:pic>
        <p:nvPicPr>
          <p:cNvPr id="9" name="图片 8" descr="城市的高楼大厦&#10;&#10;AI 生成的内容可能不正确。">
            <a:extLst>
              <a:ext uri="{FF2B5EF4-FFF2-40B4-BE49-F238E27FC236}">
                <a16:creationId xmlns:a16="http://schemas.microsoft.com/office/drawing/2014/main" id="{25F5E789-DB2F-8ED1-DEC7-A5C65804BACA}"/>
              </a:ext>
            </a:extLst>
          </p:cNvPr>
          <p:cNvPicPr>
            <a:picLocks noChangeAspect="1"/>
          </p:cNvPicPr>
          <p:nvPr/>
        </p:nvPicPr>
        <p:blipFill>
          <a:blip r:embed="rId5">
            <a:extLst>
              <a:ext uri="{28A0092B-C50C-407E-A947-70E740481C1C}">
                <a14:useLocalDpi xmlns:a14="http://schemas.microsoft.com/office/drawing/2010/main" val="0"/>
              </a:ext>
            </a:extLst>
          </a:blip>
          <a:srcRect l="29119" r="29119"/>
          <a:stretch>
            <a:fillRect/>
          </a:stretch>
        </p:blipFill>
        <p:spPr>
          <a:xfrm>
            <a:off x="4007184" y="0"/>
            <a:ext cx="4298616" cy="6858000"/>
          </a:xfrm>
          <a:prstGeom prst="rect">
            <a:avLst/>
          </a:prstGeom>
          <a:effectLst>
            <a:softEdge rad="0"/>
          </a:effectLst>
        </p:spPr>
      </p:pic>
      <p:sp>
        <p:nvSpPr>
          <p:cNvPr id="14" name="矩形: 圆角 13">
            <a:extLst>
              <a:ext uri="{FF2B5EF4-FFF2-40B4-BE49-F238E27FC236}">
                <a16:creationId xmlns:a16="http://schemas.microsoft.com/office/drawing/2014/main" id="{86D25FBE-9DCA-9C67-0E27-71C8AE5B8372}"/>
              </a:ext>
            </a:extLst>
          </p:cNvPr>
          <p:cNvSpPr/>
          <p:nvPr/>
        </p:nvSpPr>
        <p:spPr>
          <a:xfrm>
            <a:off x="389466" y="156633"/>
            <a:ext cx="11413067" cy="6544733"/>
          </a:xfrm>
          <a:prstGeom prst="round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44A1754E-94FD-F2B6-D8FC-655A188914FA}"/>
              </a:ext>
            </a:extLst>
          </p:cNvPr>
          <p:cNvSpPr txBox="1"/>
          <p:nvPr/>
        </p:nvSpPr>
        <p:spPr>
          <a:xfrm>
            <a:off x="1458412" y="2105561"/>
            <a:ext cx="2624436" cy="2646878"/>
          </a:xfrm>
          <a:prstGeom prst="rect">
            <a:avLst/>
          </a:prstGeom>
          <a:noFill/>
        </p:spPr>
        <p:txBody>
          <a:bodyPr wrap="none" rtlCol="0">
            <a:spAutoFit/>
          </a:bodyPr>
          <a:lstStyle/>
          <a:p>
            <a:r>
              <a:rPr lang="en-US" altLang="zh-CN" sz="16600" b="1" spc="300" dirty="0">
                <a:gradFill>
                  <a:gsLst>
                    <a:gs pos="0">
                      <a:schemeClr val="accent1"/>
                    </a:gs>
                    <a:gs pos="90000">
                      <a:schemeClr val="accent1">
                        <a:alpha val="0"/>
                      </a:schemeClr>
                    </a:gs>
                  </a:gsLst>
                  <a:lin ang="5400000" scaled="1"/>
                </a:gradFill>
              </a:rPr>
              <a:t>04</a:t>
            </a:r>
            <a:endParaRPr lang="zh-CN" altLang="en-US" sz="16600" b="1" spc="300" dirty="0">
              <a:gradFill>
                <a:gsLst>
                  <a:gs pos="0">
                    <a:schemeClr val="accent1"/>
                  </a:gs>
                  <a:gs pos="90000">
                    <a:schemeClr val="accent1">
                      <a:alpha val="0"/>
                    </a:schemeClr>
                  </a:gs>
                </a:gsLst>
                <a:lin ang="5400000" scaled="1"/>
              </a:gradFill>
            </a:endParaRPr>
          </a:p>
        </p:txBody>
      </p:sp>
      <p:sp>
        <p:nvSpPr>
          <p:cNvPr id="6" name="文本框 5">
            <a:extLst>
              <a:ext uri="{FF2B5EF4-FFF2-40B4-BE49-F238E27FC236}">
                <a16:creationId xmlns:a16="http://schemas.microsoft.com/office/drawing/2014/main" id="{74AFFBF6-26CF-9873-BF93-0D98DA91A680}"/>
              </a:ext>
            </a:extLst>
          </p:cNvPr>
          <p:cNvSpPr txBox="1"/>
          <p:nvPr/>
        </p:nvSpPr>
        <p:spPr>
          <a:xfrm>
            <a:off x="3924035" y="3050832"/>
            <a:ext cx="5389311" cy="646331"/>
          </a:xfrm>
          <a:prstGeom prst="rect">
            <a:avLst/>
          </a:prstGeom>
          <a:noFill/>
        </p:spPr>
        <p:txBody>
          <a:bodyPr wrap="square" rtlCol="0">
            <a:spAutoFit/>
          </a:bodyPr>
          <a:lstStyle/>
          <a:p>
            <a:pPr algn="ctr"/>
            <a:r>
              <a:rPr lang="en-US" altLang="zh-CN" sz="3600" b="1" dirty="0">
                <a:latin typeface="微软雅黑" panose="020B0503020204020204" pitchFamily="34" charset="-122"/>
                <a:ea typeface="微软雅黑" panose="020B0503020204020204" pitchFamily="34" charset="-122"/>
              </a:rPr>
              <a:t>An existing example</a:t>
            </a:r>
            <a:endParaRPr lang="zh-CN" altLang="en-US" sz="3600" b="1" dirty="0">
              <a:latin typeface="微软雅黑" panose="020B0503020204020204" pitchFamily="34" charset="-122"/>
              <a:ea typeface="微软雅黑" panose="020B0503020204020204" pitchFamily="34" charset="-122"/>
            </a:endParaRPr>
          </a:p>
        </p:txBody>
      </p:sp>
      <p:sp>
        <p:nvSpPr>
          <p:cNvPr id="8" name="矩形 7">
            <a:extLst>
              <a:ext uri="{FF2B5EF4-FFF2-40B4-BE49-F238E27FC236}">
                <a16:creationId xmlns:a16="http://schemas.microsoft.com/office/drawing/2014/main" id="{D239D401-2B5E-20CD-B460-F1BD8066CC8B}"/>
              </a:ext>
            </a:extLst>
          </p:cNvPr>
          <p:cNvSpPr/>
          <p:nvPr/>
        </p:nvSpPr>
        <p:spPr>
          <a:xfrm>
            <a:off x="6080721" y="4098645"/>
            <a:ext cx="720000" cy="1016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111577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5AC6D-6774-39BC-E11F-1E13C7B4EB9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9C72D13-EA50-2DC7-7AF5-409EBD0FA40D}"/>
              </a:ext>
            </a:extLst>
          </p:cNvPr>
          <p:cNvSpPr>
            <a:spLocks noGrp="1"/>
          </p:cNvSpPr>
          <p:nvPr>
            <p:ph type="title"/>
          </p:nvPr>
        </p:nvSpPr>
        <p:spPr/>
        <p:txBody>
          <a:bodyPr/>
          <a:lstStyle/>
          <a:p>
            <a:endParaRPr lang="zh-CN" altLang="en-US"/>
          </a:p>
        </p:txBody>
      </p:sp>
      <p:pic>
        <p:nvPicPr>
          <p:cNvPr id="5" name="内容占位符 4" descr="雪山下的城市&#10;&#10;AI 生成的内容可能不正确。">
            <a:extLst>
              <a:ext uri="{FF2B5EF4-FFF2-40B4-BE49-F238E27FC236}">
                <a16:creationId xmlns:a16="http://schemas.microsoft.com/office/drawing/2014/main" id="{23E3DB4A-A3D9-3819-581D-3E8DA82F4C5D}"/>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10425" r="5703"/>
          <a:stretch>
            <a:fillRect/>
          </a:stretch>
        </p:blipFill>
        <p:spPr>
          <a:xfrm>
            <a:off x="0" y="0"/>
            <a:ext cx="4007184" cy="6858000"/>
          </a:xfrm>
          <a:effectLst>
            <a:softEdge rad="0"/>
          </a:effectLst>
        </p:spPr>
      </p:pic>
      <p:pic>
        <p:nvPicPr>
          <p:cNvPr id="7" name="图片 6" descr="城市街道与高楼大厦的景色&#10;&#10;AI 生成的内容可能不正确。">
            <a:extLst>
              <a:ext uri="{FF2B5EF4-FFF2-40B4-BE49-F238E27FC236}">
                <a16:creationId xmlns:a16="http://schemas.microsoft.com/office/drawing/2014/main" id="{1D7E2972-8801-F026-66F3-692057F9D15C}"/>
              </a:ext>
            </a:extLst>
          </p:cNvPr>
          <p:cNvPicPr>
            <a:picLocks noChangeAspect="1"/>
          </p:cNvPicPr>
          <p:nvPr/>
        </p:nvPicPr>
        <p:blipFill>
          <a:blip r:embed="rId4">
            <a:extLst>
              <a:ext uri="{28A0092B-C50C-407E-A947-70E740481C1C}">
                <a14:useLocalDpi xmlns:a14="http://schemas.microsoft.com/office/drawing/2010/main" val="0"/>
              </a:ext>
            </a:extLst>
          </a:blip>
          <a:srcRect l="8822" r="-900"/>
          <a:stretch>
            <a:fillRect/>
          </a:stretch>
        </p:blipFill>
        <p:spPr>
          <a:xfrm>
            <a:off x="8305800" y="0"/>
            <a:ext cx="4007184" cy="6858000"/>
          </a:xfrm>
          <a:prstGeom prst="rect">
            <a:avLst/>
          </a:prstGeom>
          <a:effectLst>
            <a:softEdge rad="0"/>
          </a:effectLst>
        </p:spPr>
      </p:pic>
      <p:pic>
        <p:nvPicPr>
          <p:cNvPr id="9" name="图片 8" descr="城市的高楼大厦&#10;&#10;AI 生成的内容可能不正确。">
            <a:extLst>
              <a:ext uri="{FF2B5EF4-FFF2-40B4-BE49-F238E27FC236}">
                <a16:creationId xmlns:a16="http://schemas.microsoft.com/office/drawing/2014/main" id="{3668A7AC-DF57-70C9-C1A6-9D0F0A81B5A7}"/>
              </a:ext>
            </a:extLst>
          </p:cNvPr>
          <p:cNvPicPr>
            <a:picLocks noChangeAspect="1"/>
          </p:cNvPicPr>
          <p:nvPr/>
        </p:nvPicPr>
        <p:blipFill>
          <a:blip r:embed="rId5">
            <a:extLst>
              <a:ext uri="{28A0092B-C50C-407E-A947-70E740481C1C}">
                <a14:useLocalDpi xmlns:a14="http://schemas.microsoft.com/office/drawing/2010/main" val="0"/>
              </a:ext>
            </a:extLst>
          </a:blip>
          <a:srcRect l="29119" r="29119"/>
          <a:stretch>
            <a:fillRect/>
          </a:stretch>
        </p:blipFill>
        <p:spPr>
          <a:xfrm>
            <a:off x="4007184" y="0"/>
            <a:ext cx="4298616" cy="6858000"/>
          </a:xfrm>
          <a:prstGeom prst="rect">
            <a:avLst/>
          </a:prstGeom>
          <a:effectLst>
            <a:softEdge rad="0"/>
          </a:effectLst>
        </p:spPr>
      </p:pic>
      <p:sp>
        <p:nvSpPr>
          <p:cNvPr id="14" name="矩形: 圆角 13">
            <a:extLst>
              <a:ext uri="{FF2B5EF4-FFF2-40B4-BE49-F238E27FC236}">
                <a16:creationId xmlns:a16="http://schemas.microsoft.com/office/drawing/2014/main" id="{2602C5D7-9368-0F0E-8225-1C647C93F6C4}"/>
              </a:ext>
            </a:extLst>
          </p:cNvPr>
          <p:cNvSpPr/>
          <p:nvPr/>
        </p:nvSpPr>
        <p:spPr>
          <a:xfrm>
            <a:off x="389466" y="156633"/>
            <a:ext cx="11413067" cy="6544733"/>
          </a:xfrm>
          <a:prstGeom prst="round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4" name="直接连接符 3">
            <a:extLst>
              <a:ext uri="{FF2B5EF4-FFF2-40B4-BE49-F238E27FC236}">
                <a16:creationId xmlns:a16="http://schemas.microsoft.com/office/drawing/2014/main" id="{3FC1B610-C74D-53D9-06D6-1573A4398840}"/>
              </a:ext>
            </a:extLst>
          </p:cNvPr>
          <p:cNvCxnSpPr/>
          <p:nvPr/>
        </p:nvCxnSpPr>
        <p:spPr>
          <a:xfrm>
            <a:off x="708025" y="844550"/>
            <a:ext cx="10775950"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6" name="文本框 5">
            <a:extLst>
              <a:ext uri="{FF2B5EF4-FFF2-40B4-BE49-F238E27FC236}">
                <a16:creationId xmlns:a16="http://schemas.microsoft.com/office/drawing/2014/main" id="{6085415B-B8DB-4D47-D1B9-B94F5287D272}"/>
              </a:ext>
            </a:extLst>
          </p:cNvPr>
          <p:cNvSpPr txBox="1"/>
          <p:nvPr/>
        </p:nvSpPr>
        <p:spPr>
          <a:xfrm>
            <a:off x="1024948" y="321330"/>
            <a:ext cx="5899363"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rPr>
              <a:t> 4. An example —— Barcelona</a:t>
            </a:r>
            <a:endParaRPr lang="zh-CN" altLang="en-US" sz="2800" b="1" dirty="0">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17DE9E44-87B4-0AFA-44B5-BE9347813AB4}"/>
              </a:ext>
            </a:extLst>
          </p:cNvPr>
          <p:cNvSpPr txBox="1"/>
          <p:nvPr/>
        </p:nvSpPr>
        <p:spPr>
          <a:xfrm>
            <a:off x="1056844" y="1311085"/>
            <a:ext cx="5736718" cy="2677656"/>
          </a:xfrm>
          <a:prstGeom prst="rect">
            <a:avLst/>
          </a:prstGeom>
          <a:noFill/>
        </p:spPr>
        <p:txBody>
          <a:bodyPr wrap="square">
            <a:spAutoFit/>
          </a:bodyPr>
          <a:lstStyle/>
          <a:p>
            <a:r>
              <a:rPr lang="en-US" altLang="zh-CN" sz="2400" b="1" i="0" dirty="0">
                <a:solidFill>
                  <a:srgbClr val="111133"/>
                </a:solidFill>
                <a:effectLst/>
                <a:latin typeface="Microsoft YaHei UI" panose="020B0503020204020204" pitchFamily="34" charset="-122"/>
                <a:ea typeface="Microsoft YaHei UI" panose="020B0503020204020204" pitchFamily="34" charset="-122"/>
              </a:rPr>
              <a:t>Starting in 2011, </a:t>
            </a:r>
            <a:r>
              <a:rPr lang="en-US" altLang="zh-CN" sz="2400" b="1" dirty="0">
                <a:solidFill>
                  <a:srgbClr val="111133"/>
                </a:solidFill>
                <a:latin typeface="Microsoft YaHei UI" panose="020B0503020204020204" pitchFamily="34" charset="-122"/>
                <a:ea typeface="Microsoft YaHei UI" panose="020B0503020204020204" pitchFamily="34" charset="-122"/>
              </a:rPr>
              <a:t>Barcelona</a:t>
            </a:r>
            <a:r>
              <a:rPr lang="en-US" altLang="zh-CN" sz="2400" b="1" i="0" dirty="0">
                <a:solidFill>
                  <a:srgbClr val="111133"/>
                </a:solidFill>
                <a:effectLst/>
                <a:latin typeface="Microsoft YaHei UI" panose="020B0503020204020204" pitchFamily="34" charset="-122"/>
                <a:ea typeface="Microsoft YaHei UI" panose="020B0503020204020204" pitchFamily="34" charset="-122"/>
              </a:rPr>
              <a:t> launched one of the world’s first comprehensive smart city strategies, focusing not just on technology, but on improving citizens’ quality of life, saving public money, and protecting the environment.</a:t>
            </a:r>
            <a:endParaRPr lang="zh-CN" altLang="en-US" sz="2400" b="1" dirty="0">
              <a:latin typeface="Microsoft YaHei UI" panose="020B0503020204020204" pitchFamily="34" charset="-122"/>
              <a:ea typeface="Microsoft YaHei UI" panose="020B0503020204020204" pitchFamily="34" charset="-122"/>
            </a:endParaRPr>
          </a:p>
        </p:txBody>
      </p:sp>
      <p:grpSp>
        <p:nvGrpSpPr>
          <p:cNvPr id="21" name="组合 20">
            <a:extLst>
              <a:ext uri="{FF2B5EF4-FFF2-40B4-BE49-F238E27FC236}">
                <a16:creationId xmlns:a16="http://schemas.microsoft.com/office/drawing/2014/main" id="{66A3548B-6980-4E8E-56A4-1EB6B6E3FF10}"/>
              </a:ext>
            </a:extLst>
          </p:cNvPr>
          <p:cNvGrpSpPr/>
          <p:nvPr/>
        </p:nvGrpSpPr>
        <p:grpSpPr>
          <a:xfrm>
            <a:off x="1056844" y="4421030"/>
            <a:ext cx="4603871" cy="1997269"/>
            <a:chOff x="5531486" y="4000046"/>
            <a:chExt cx="4603871" cy="1997269"/>
          </a:xfrm>
        </p:grpSpPr>
        <p:sp>
          <p:nvSpPr>
            <p:cNvPr id="11" name="文本框 10">
              <a:extLst>
                <a:ext uri="{FF2B5EF4-FFF2-40B4-BE49-F238E27FC236}">
                  <a16:creationId xmlns:a16="http://schemas.microsoft.com/office/drawing/2014/main" id="{72B36BAA-9846-ED0A-0AC5-3585F0064CA5}"/>
                </a:ext>
              </a:extLst>
            </p:cNvPr>
            <p:cNvSpPr txBox="1"/>
            <p:nvPr/>
          </p:nvSpPr>
          <p:spPr>
            <a:xfrm>
              <a:off x="5531486" y="4037503"/>
              <a:ext cx="4603871" cy="1884618"/>
            </a:xfrm>
            <a:prstGeom prst="rect">
              <a:avLst/>
            </a:prstGeom>
            <a:noFill/>
          </p:spPr>
          <p:txBody>
            <a:bodyPr wrap="square">
              <a:spAutoFit/>
            </a:bodyPr>
            <a:lstStyle/>
            <a:p>
              <a:pPr>
                <a:lnSpc>
                  <a:spcPct val="150000"/>
                </a:lnSpc>
              </a:pPr>
              <a:r>
                <a:rPr lang="en-US" altLang="zh-CN" sz="2000" b="1" i="0" dirty="0">
                  <a:effectLst/>
                  <a:latin typeface="Microsoft YaHei UI" panose="020B0503020204020204" pitchFamily="34" charset="-122"/>
                  <a:ea typeface="Microsoft YaHei UI" panose="020B0503020204020204" pitchFamily="34" charset="-122"/>
                </a:rPr>
                <a:t>“Smart doesn’t mean high-tech—it means solving real problems with smart solutions.”</a:t>
              </a:r>
              <a:br>
                <a:rPr lang="en-US" altLang="zh-CN" sz="2000" b="1" dirty="0">
                  <a:latin typeface="Microsoft YaHei UI" panose="020B0503020204020204" pitchFamily="34" charset="-122"/>
                  <a:ea typeface="Microsoft YaHei UI" panose="020B0503020204020204" pitchFamily="34" charset="-122"/>
                </a:rPr>
              </a:br>
              <a:r>
                <a:rPr lang="en-US" altLang="zh-CN" sz="2000" b="1" dirty="0">
                  <a:latin typeface="Microsoft YaHei UI" panose="020B0503020204020204" pitchFamily="34" charset="-122"/>
                  <a:ea typeface="Microsoft YaHei UI" panose="020B0503020204020204" pitchFamily="34" charset="-122"/>
                </a:rPr>
                <a:t>              </a:t>
              </a:r>
              <a:r>
                <a:rPr lang="en-US" altLang="zh-CN" sz="2000" b="1" i="0" dirty="0">
                  <a:effectLst/>
                  <a:latin typeface="Microsoft YaHei UI" panose="020B0503020204020204" pitchFamily="34" charset="-122"/>
                  <a:ea typeface="Microsoft YaHei UI" panose="020B0503020204020204" pitchFamily="34" charset="-122"/>
                </a:rPr>
                <a:t>— Barcelona City Council</a:t>
              </a:r>
              <a:endParaRPr lang="zh-CN" altLang="en-US" sz="2000" b="1" dirty="0">
                <a:latin typeface="Microsoft YaHei UI" panose="020B0503020204020204" pitchFamily="34" charset="-122"/>
                <a:ea typeface="Microsoft YaHei UI" panose="020B0503020204020204" pitchFamily="34" charset="-122"/>
              </a:endParaRPr>
            </a:p>
          </p:txBody>
        </p:sp>
        <p:cxnSp>
          <p:nvCxnSpPr>
            <p:cNvPr id="12" name="直接连接符 11">
              <a:extLst>
                <a:ext uri="{FF2B5EF4-FFF2-40B4-BE49-F238E27FC236}">
                  <a16:creationId xmlns:a16="http://schemas.microsoft.com/office/drawing/2014/main" id="{9E749159-C22B-1938-9FEB-81B26A3B4779}"/>
                </a:ext>
              </a:extLst>
            </p:cNvPr>
            <p:cNvCxnSpPr>
              <a:cxnSpLocks/>
            </p:cNvCxnSpPr>
            <p:nvPr/>
          </p:nvCxnSpPr>
          <p:spPr>
            <a:xfrm flipH="1">
              <a:off x="5531487" y="4000046"/>
              <a:ext cx="4464267" cy="0"/>
            </a:xfrm>
            <a:prstGeom prst="line">
              <a:avLst/>
            </a:prstGeom>
            <a:ln w="63500">
              <a:solidFill>
                <a:srgbClr val="74ACC6"/>
              </a:solidFill>
            </a:ln>
          </p:spPr>
          <p:style>
            <a:lnRef idx="2">
              <a:schemeClr val="accent1"/>
            </a:lnRef>
            <a:fillRef idx="0">
              <a:schemeClr val="accent1"/>
            </a:fillRef>
            <a:effectRef idx="1">
              <a:schemeClr val="accent1"/>
            </a:effectRef>
            <a:fontRef idx="minor">
              <a:schemeClr val="tx1"/>
            </a:fontRef>
          </p:style>
        </p:cxnSp>
        <p:cxnSp>
          <p:nvCxnSpPr>
            <p:cNvPr id="18" name="直接连接符 17">
              <a:extLst>
                <a:ext uri="{FF2B5EF4-FFF2-40B4-BE49-F238E27FC236}">
                  <a16:creationId xmlns:a16="http://schemas.microsoft.com/office/drawing/2014/main" id="{983421E5-4779-9148-D9F9-DE0301828941}"/>
                </a:ext>
              </a:extLst>
            </p:cNvPr>
            <p:cNvCxnSpPr>
              <a:cxnSpLocks/>
            </p:cNvCxnSpPr>
            <p:nvPr/>
          </p:nvCxnSpPr>
          <p:spPr>
            <a:xfrm flipH="1">
              <a:off x="5574445" y="5997315"/>
              <a:ext cx="4470170" cy="0"/>
            </a:xfrm>
            <a:prstGeom prst="line">
              <a:avLst/>
            </a:prstGeom>
            <a:ln w="63500">
              <a:solidFill>
                <a:srgbClr val="74ACC6"/>
              </a:solidFill>
            </a:ln>
          </p:spPr>
          <p:style>
            <a:lnRef idx="2">
              <a:schemeClr val="accent1"/>
            </a:lnRef>
            <a:fillRef idx="0">
              <a:schemeClr val="accent1"/>
            </a:fillRef>
            <a:effectRef idx="1">
              <a:schemeClr val="accent1"/>
            </a:effectRef>
            <a:fontRef idx="minor">
              <a:schemeClr val="tx1"/>
            </a:fontRef>
          </p:style>
        </p:cxnSp>
      </p:grpSp>
      <p:pic>
        <p:nvPicPr>
          <p:cNvPr id="20" name="图片 19" descr="图片包含 游戏机&#10;&#10;AI 生成的内容可能不正确。">
            <a:extLst>
              <a:ext uri="{FF2B5EF4-FFF2-40B4-BE49-F238E27FC236}">
                <a16:creationId xmlns:a16="http://schemas.microsoft.com/office/drawing/2014/main" id="{C9B224DE-B26D-6B0D-76CB-5B58B7F1983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176168" y="964213"/>
            <a:ext cx="3991936" cy="5322582"/>
          </a:xfrm>
          <a:prstGeom prst="rect">
            <a:avLst/>
          </a:prstGeom>
        </p:spPr>
      </p:pic>
    </p:spTree>
    <p:extLst>
      <p:ext uri="{BB962C8B-B14F-4D97-AF65-F5344CB8AC3E}">
        <p14:creationId xmlns:p14="http://schemas.microsoft.com/office/powerpoint/2010/main" val="9796107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456B9F-E17E-4476-4171-511301BA790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EDD0C55-59F3-ABD0-05B2-2339CC4846EE}"/>
              </a:ext>
            </a:extLst>
          </p:cNvPr>
          <p:cNvSpPr>
            <a:spLocks noGrp="1"/>
          </p:cNvSpPr>
          <p:nvPr>
            <p:ph type="title"/>
          </p:nvPr>
        </p:nvSpPr>
        <p:spPr/>
        <p:txBody>
          <a:bodyPr/>
          <a:lstStyle/>
          <a:p>
            <a:endParaRPr lang="zh-CN" altLang="en-US"/>
          </a:p>
        </p:txBody>
      </p:sp>
      <p:pic>
        <p:nvPicPr>
          <p:cNvPr id="5" name="内容占位符 4" descr="雪山下的城市&#10;&#10;AI 生成的内容可能不正确。">
            <a:extLst>
              <a:ext uri="{FF2B5EF4-FFF2-40B4-BE49-F238E27FC236}">
                <a16:creationId xmlns:a16="http://schemas.microsoft.com/office/drawing/2014/main" id="{62F841D9-37FD-DF28-36A2-2F67810ED5C7}"/>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10425" r="5703"/>
          <a:stretch>
            <a:fillRect/>
          </a:stretch>
        </p:blipFill>
        <p:spPr>
          <a:xfrm>
            <a:off x="0" y="0"/>
            <a:ext cx="4007184" cy="6858000"/>
          </a:xfrm>
          <a:effectLst>
            <a:softEdge rad="0"/>
          </a:effectLst>
        </p:spPr>
      </p:pic>
      <p:pic>
        <p:nvPicPr>
          <p:cNvPr id="7" name="图片 6" descr="城市街道与高楼大厦的景色&#10;&#10;AI 生成的内容可能不正确。">
            <a:extLst>
              <a:ext uri="{FF2B5EF4-FFF2-40B4-BE49-F238E27FC236}">
                <a16:creationId xmlns:a16="http://schemas.microsoft.com/office/drawing/2014/main" id="{31DAD550-9913-F65A-B488-C63B28180D01}"/>
              </a:ext>
            </a:extLst>
          </p:cNvPr>
          <p:cNvPicPr>
            <a:picLocks noChangeAspect="1"/>
          </p:cNvPicPr>
          <p:nvPr/>
        </p:nvPicPr>
        <p:blipFill>
          <a:blip r:embed="rId4">
            <a:extLst>
              <a:ext uri="{28A0092B-C50C-407E-A947-70E740481C1C}">
                <a14:useLocalDpi xmlns:a14="http://schemas.microsoft.com/office/drawing/2010/main" val="0"/>
              </a:ext>
            </a:extLst>
          </a:blip>
          <a:srcRect l="8822" r="-900"/>
          <a:stretch>
            <a:fillRect/>
          </a:stretch>
        </p:blipFill>
        <p:spPr>
          <a:xfrm>
            <a:off x="8305800" y="0"/>
            <a:ext cx="4007184" cy="6858000"/>
          </a:xfrm>
          <a:prstGeom prst="rect">
            <a:avLst/>
          </a:prstGeom>
          <a:effectLst>
            <a:softEdge rad="0"/>
          </a:effectLst>
        </p:spPr>
      </p:pic>
      <p:pic>
        <p:nvPicPr>
          <p:cNvPr id="9" name="图片 8" descr="城市的高楼大厦&#10;&#10;AI 生成的内容可能不正确。">
            <a:extLst>
              <a:ext uri="{FF2B5EF4-FFF2-40B4-BE49-F238E27FC236}">
                <a16:creationId xmlns:a16="http://schemas.microsoft.com/office/drawing/2014/main" id="{98FC887D-03D2-DEA1-E246-AAC737F2FCD1}"/>
              </a:ext>
            </a:extLst>
          </p:cNvPr>
          <p:cNvPicPr>
            <a:picLocks noChangeAspect="1"/>
          </p:cNvPicPr>
          <p:nvPr/>
        </p:nvPicPr>
        <p:blipFill>
          <a:blip r:embed="rId5">
            <a:extLst>
              <a:ext uri="{28A0092B-C50C-407E-A947-70E740481C1C}">
                <a14:useLocalDpi xmlns:a14="http://schemas.microsoft.com/office/drawing/2010/main" val="0"/>
              </a:ext>
            </a:extLst>
          </a:blip>
          <a:srcRect l="29119" r="29119"/>
          <a:stretch>
            <a:fillRect/>
          </a:stretch>
        </p:blipFill>
        <p:spPr>
          <a:xfrm>
            <a:off x="4007184" y="0"/>
            <a:ext cx="4298616" cy="6858000"/>
          </a:xfrm>
          <a:prstGeom prst="rect">
            <a:avLst/>
          </a:prstGeom>
          <a:effectLst>
            <a:softEdge rad="0"/>
          </a:effectLst>
        </p:spPr>
      </p:pic>
      <p:sp>
        <p:nvSpPr>
          <p:cNvPr id="14" name="矩形: 圆角 13">
            <a:extLst>
              <a:ext uri="{FF2B5EF4-FFF2-40B4-BE49-F238E27FC236}">
                <a16:creationId xmlns:a16="http://schemas.microsoft.com/office/drawing/2014/main" id="{9DC21375-50E0-FD34-4E2D-AE8E21E21F36}"/>
              </a:ext>
            </a:extLst>
          </p:cNvPr>
          <p:cNvSpPr/>
          <p:nvPr/>
        </p:nvSpPr>
        <p:spPr>
          <a:xfrm>
            <a:off x="387610" y="156633"/>
            <a:ext cx="11413067" cy="6544733"/>
          </a:xfrm>
          <a:prstGeom prst="round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4" name="直接连接符 3">
            <a:extLst>
              <a:ext uri="{FF2B5EF4-FFF2-40B4-BE49-F238E27FC236}">
                <a16:creationId xmlns:a16="http://schemas.microsoft.com/office/drawing/2014/main" id="{068425BB-B90F-DBC0-883D-0A9DD3DD9310}"/>
              </a:ext>
            </a:extLst>
          </p:cNvPr>
          <p:cNvCxnSpPr/>
          <p:nvPr/>
        </p:nvCxnSpPr>
        <p:spPr>
          <a:xfrm>
            <a:off x="708025" y="844550"/>
            <a:ext cx="10775950"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6" name="文本框 5">
            <a:extLst>
              <a:ext uri="{FF2B5EF4-FFF2-40B4-BE49-F238E27FC236}">
                <a16:creationId xmlns:a16="http://schemas.microsoft.com/office/drawing/2014/main" id="{A5867442-4DB4-2994-505D-D99A26DF0D0F}"/>
              </a:ext>
            </a:extLst>
          </p:cNvPr>
          <p:cNvSpPr txBox="1"/>
          <p:nvPr/>
        </p:nvSpPr>
        <p:spPr>
          <a:xfrm>
            <a:off x="1024948" y="321330"/>
            <a:ext cx="5899363"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rPr>
              <a:t> 4. An example —— Barcelona</a:t>
            </a:r>
            <a:endParaRPr lang="zh-CN" altLang="en-US" sz="2800" b="1" dirty="0">
              <a:latin typeface="微软雅黑" panose="020B0503020204020204" pitchFamily="34" charset="-122"/>
              <a:ea typeface="微软雅黑" panose="020B0503020204020204" pitchFamily="34" charset="-122"/>
            </a:endParaRPr>
          </a:p>
        </p:txBody>
      </p:sp>
      <p:sp>
        <p:nvSpPr>
          <p:cNvPr id="3" name="矩形: 圆角 2">
            <a:extLst>
              <a:ext uri="{FF2B5EF4-FFF2-40B4-BE49-F238E27FC236}">
                <a16:creationId xmlns:a16="http://schemas.microsoft.com/office/drawing/2014/main" id="{44E45ACF-5DE4-5F9C-8DA4-CB5D1F087697}"/>
              </a:ext>
            </a:extLst>
          </p:cNvPr>
          <p:cNvSpPr/>
          <p:nvPr/>
        </p:nvSpPr>
        <p:spPr>
          <a:xfrm>
            <a:off x="571793" y="1109335"/>
            <a:ext cx="3485786" cy="5383540"/>
          </a:xfrm>
          <a:prstGeom prst="roundRect">
            <a:avLst/>
          </a:prstGeom>
          <a:solidFill>
            <a:srgbClr val="679DB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2400" b="1" dirty="0">
                <a:latin typeface="微软雅黑" panose="020B0503020204020204" pitchFamily="34" charset="-122"/>
                <a:ea typeface="微软雅黑" panose="020B0503020204020204" pitchFamily="34" charset="-122"/>
              </a:rPr>
              <a:t>Smart Waste Management</a:t>
            </a:r>
            <a:endParaRPr lang="en-US" altLang="zh-CN" sz="2000" b="1" dirty="0">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l"/>
            </a:pPr>
            <a:r>
              <a:rPr lang="en-US" altLang="zh-CN" dirty="0">
                <a:latin typeface="微软雅黑" panose="020B0503020204020204" pitchFamily="34" charset="-122"/>
                <a:ea typeface="微软雅黑" panose="020B0503020204020204" pitchFamily="34" charset="-122"/>
              </a:rPr>
              <a:t>Underground smart bins compress trash and send alerts when full.</a:t>
            </a:r>
          </a:p>
          <a:p>
            <a:pPr marL="285750" indent="-285750">
              <a:buFont typeface="Wingdings" panose="05000000000000000000" pitchFamily="2" charset="2"/>
              <a:buChar char="l"/>
            </a:pPr>
            <a:r>
              <a:rPr lang="en-US" altLang="zh-CN" dirty="0">
                <a:latin typeface="微软雅黑" panose="020B0503020204020204" pitchFamily="34" charset="-122"/>
                <a:ea typeface="微软雅黑" panose="020B0503020204020204" pitchFamily="34" charset="-122"/>
              </a:rPr>
              <a:t>Garbage trucks only go where needed, cutting fuel use by up to 50%.</a:t>
            </a:r>
          </a:p>
          <a:p>
            <a:pPr marL="285750" indent="-285750">
              <a:buFont typeface="Wingdings" panose="05000000000000000000" pitchFamily="2" charset="2"/>
              <a:buChar char="l"/>
            </a:pPr>
            <a:endParaRPr lang="en-US" altLang="zh-CN" sz="2000" dirty="0">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l"/>
            </a:pPr>
            <a:endParaRPr lang="en-US" altLang="zh-CN" sz="2000" dirty="0">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l"/>
            </a:pPr>
            <a:endParaRPr lang="en-US" altLang="zh-CN" sz="2000" dirty="0">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l"/>
            </a:pPr>
            <a:endParaRPr lang="en-US" altLang="zh-CN" sz="2000" dirty="0">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l"/>
            </a:pPr>
            <a:endParaRPr lang="en-US" altLang="zh-CN" sz="2000" dirty="0">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l"/>
            </a:pPr>
            <a:endParaRPr lang="en-US" altLang="zh-CN" dirty="0">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l"/>
            </a:pPr>
            <a:endParaRPr lang="en-US" altLang="zh-CN" dirty="0">
              <a:latin typeface="微软雅黑" panose="020B0503020204020204" pitchFamily="34" charset="-122"/>
              <a:ea typeface="微软雅黑" panose="020B0503020204020204" pitchFamily="34" charset="-122"/>
            </a:endParaRPr>
          </a:p>
        </p:txBody>
      </p:sp>
      <p:sp>
        <p:nvSpPr>
          <p:cNvPr id="10" name="矩形: 圆角 9">
            <a:extLst>
              <a:ext uri="{FF2B5EF4-FFF2-40B4-BE49-F238E27FC236}">
                <a16:creationId xmlns:a16="http://schemas.microsoft.com/office/drawing/2014/main" id="{985BDF67-CE82-3B84-36B7-8A23A297610B}"/>
              </a:ext>
            </a:extLst>
          </p:cNvPr>
          <p:cNvSpPr/>
          <p:nvPr/>
        </p:nvSpPr>
        <p:spPr>
          <a:xfrm>
            <a:off x="4187754" y="1109335"/>
            <a:ext cx="3726502" cy="5383539"/>
          </a:xfrm>
          <a:prstGeom prst="roundRect">
            <a:avLst/>
          </a:prstGeom>
          <a:solidFill>
            <a:srgbClr val="74AC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2400" b="1" dirty="0">
                <a:latin typeface="Microsoft YaHei UI" panose="020B0503020204020204" pitchFamily="34" charset="-122"/>
                <a:ea typeface="Microsoft YaHei UI" panose="020B0503020204020204" pitchFamily="34" charset="-122"/>
              </a:rPr>
              <a:t>Open Data &amp; </a:t>
            </a:r>
          </a:p>
          <a:p>
            <a:r>
              <a:rPr lang="en-US" altLang="zh-CN" sz="2400" b="1" dirty="0">
                <a:latin typeface="Microsoft YaHei UI" panose="020B0503020204020204" pitchFamily="34" charset="-122"/>
                <a:ea typeface="Microsoft YaHei UI" panose="020B0503020204020204" pitchFamily="34" charset="-122"/>
              </a:rPr>
              <a:t>Citizen Apps</a:t>
            </a:r>
          </a:p>
          <a:p>
            <a:pPr marL="285750" indent="-285750">
              <a:buFont typeface="Wingdings" panose="05000000000000000000" pitchFamily="2" charset="2"/>
              <a:buChar char="l"/>
            </a:pPr>
            <a:r>
              <a:rPr lang="en-US" altLang="zh-CN" dirty="0">
                <a:latin typeface="Microsoft YaHei UI" panose="020B0503020204020204" pitchFamily="34" charset="-122"/>
                <a:ea typeface="Microsoft YaHei UI" panose="020B0503020204020204" pitchFamily="34" charset="-122"/>
              </a:rPr>
              <a:t>Open data portal (opendata.barcelona.cat) for access to city data.</a:t>
            </a:r>
          </a:p>
          <a:p>
            <a:pPr marL="285750" indent="-285750">
              <a:buFont typeface="Wingdings" panose="05000000000000000000" pitchFamily="2" charset="2"/>
              <a:buChar char="l"/>
            </a:pPr>
            <a:r>
              <a:rPr lang="en-US" altLang="zh-CN" dirty="0">
                <a:latin typeface="Microsoft YaHei UI" panose="020B0503020204020204" pitchFamily="34" charset="-122"/>
                <a:ea typeface="Microsoft YaHei UI" panose="020B0503020204020204" pitchFamily="34" charset="-122"/>
              </a:rPr>
              <a:t>Apps like “Barcelona Transport” and “</a:t>
            </a:r>
            <a:r>
              <a:rPr lang="en-US" altLang="zh-CN" dirty="0" err="1">
                <a:latin typeface="Microsoft YaHei UI" panose="020B0503020204020204" pitchFamily="34" charset="-122"/>
                <a:ea typeface="Microsoft YaHei UI" panose="020B0503020204020204" pitchFamily="34" charset="-122"/>
              </a:rPr>
              <a:t>Decidim</a:t>
            </a:r>
            <a:r>
              <a:rPr lang="en-US" altLang="zh-CN" dirty="0">
                <a:latin typeface="Microsoft YaHei UI" panose="020B0503020204020204" pitchFamily="34" charset="-122"/>
                <a:ea typeface="Microsoft YaHei UI" panose="020B0503020204020204" pitchFamily="34" charset="-122"/>
              </a:rPr>
              <a:t> Barcelona” foster citizen engagement.</a:t>
            </a:r>
          </a:p>
          <a:p>
            <a:endParaRPr lang="en-US" altLang="zh-CN" b="1" dirty="0">
              <a:latin typeface="Microsoft YaHei UI" panose="020B0503020204020204" pitchFamily="34" charset="-122"/>
              <a:ea typeface="Microsoft YaHei UI" panose="020B0503020204020204" pitchFamily="34" charset="-122"/>
            </a:endParaRPr>
          </a:p>
          <a:p>
            <a:endParaRPr lang="en-US" altLang="zh-CN" b="1" dirty="0">
              <a:latin typeface="Microsoft YaHei UI" panose="020B0503020204020204" pitchFamily="34" charset="-122"/>
              <a:ea typeface="Microsoft YaHei UI" panose="020B0503020204020204" pitchFamily="34" charset="-122"/>
            </a:endParaRPr>
          </a:p>
          <a:p>
            <a:endParaRPr lang="en-US" altLang="zh-CN" b="1" dirty="0">
              <a:latin typeface="Microsoft YaHei UI" panose="020B0503020204020204" pitchFamily="34" charset="-122"/>
              <a:ea typeface="Microsoft YaHei UI" panose="020B0503020204020204" pitchFamily="34" charset="-122"/>
            </a:endParaRPr>
          </a:p>
          <a:p>
            <a:endParaRPr lang="en-US" altLang="zh-CN" b="1" dirty="0">
              <a:latin typeface="Microsoft YaHei UI" panose="020B0503020204020204" pitchFamily="34" charset="-122"/>
              <a:ea typeface="Microsoft YaHei UI" panose="020B0503020204020204" pitchFamily="34" charset="-122"/>
            </a:endParaRPr>
          </a:p>
          <a:p>
            <a:endParaRPr lang="en-US" altLang="zh-CN" sz="2400" b="1" dirty="0">
              <a:latin typeface="Microsoft YaHei UI" panose="020B0503020204020204" pitchFamily="34" charset="-122"/>
              <a:ea typeface="Microsoft YaHei UI" panose="020B0503020204020204" pitchFamily="34" charset="-122"/>
            </a:endParaRPr>
          </a:p>
          <a:p>
            <a:endParaRPr lang="en-US" altLang="zh-CN" sz="2400" dirty="0">
              <a:latin typeface="Microsoft YaHei UI" panose="020B0503020204020204" pitchFamily="34" charset="-122"/>
              <a:ea typeface="Microsoft YaHei UI" panose="020B0503020204020204" pitchFamily="34" charset="-122"/>
            </a:endParaRPr>
          </a:p>
        </p:txBody>
      </p:sp>
      <p:sp>
        <p:nvSpPr>
          <p:cNvPr id="13" name="矩形: 圆角 12">
            <a:extLst>
              <a:ext uri="{FF2B5EF4-FFF2-40B4-BE49-F238E27FC236}">
                <a16:creationId xmlns:a16="http://schemas.microsoft.com/office/drawing/2014/main" id="{908BD094-7985-4E72-EB27-392D531DA55A}"/>
              </a:ext>
            </a:extLst>
          </p:cNvPr>
          <p:cNvSpPr/>
          <p:nvPr/>
        </p:nvSpPr>
        <p:spPr>
          <a:xfrm>
            <a:off x="8105036" y="1103836"/>
            <a:ext cx="3538815" cy="5383536"/>
          </a:xfrm>
          <a:prstGeom prst="roundRect">
            <a:avLst/>
          </a:prstGeom>
          <a:solidFill>
            <a:srgbClr val="4386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2400" b="1" dirty="0">
                <a:latin typeface="微软雅黑" panose="020B0503020204020204" pitchFamily="34" charset="-122"/>
                <a:ea typeface="微软雅黑" panose="020B0503020204020204" pitchFamily="34" charset="-122"/>
              </a:rPr>
              <a:t>Efficient and Adaptive Street Lighting</a:t>
            </a:r>
          </a:p>
          <a:p>
            <a:pPr marL="342900" indent="-342900">
              <a:buFont typeface="Wingdings" panose="05000000000000000000" pitchFamily="2" charset="2"/>
              <a:buChar char="l"/>
            </a:pPr>
            <a:r>
              <a:rPr lang="en-US" altLang="zh-CN" dirty="0">
                <a:latin typeface="微软雅黑" panose="020B0503020204020204" pitchFamily="34" charset="-122"/>
                <a:ea typeface="微软雅黑" panose="020B0503020204020204" pitchFamily="34" charset="-122"/>
              </a:rPr>
              <a:t>Over 100,000 LED streetlights with sensors.</a:t>
            </a:r>
          </a:p>
          <a:p>
            <a:pPr marL="342900" indent="-342900">
              <a:buFont typeface="Wingdings" panose="05000000000000000000" pitchFamily="2" charset="2"/>
              <a:buChar char="l"/>
            </a:pPr>
            <a:r>
              <a:rPr lang="en-US" altLang="zh-CN" dirty="0">
                <a:latin typeface="微软雅黑" panose="020B0503020204020204" pitchFamily="34" charset="-122"/>
                <a:ea typeface="微软雅黑" panose="020B0503020204020204" pitchFamily="34" charset="-122"/>
              </a:rPr>
              <a:t>Dim automatically when no one is around.</a:t>
            </a:r>
          </a:p>
          <a:p>
            <a:pPr marL="342900" indent="-342900">
              <a:buFont typeface="Wingdings" panose="05000000000000000000" pitchFamily="2" charset="2"/>
              <a:buChar char="l"/>
            </a:pPr>
            <a:r>
              <a:rPr lang="en-US" altLang="zh-CN" dirty="0">
                <a:latin typeface="微软雅黑" panose="020B0503020204020204" pitchFamily="34" charset="-122"/>
                <a:ea typeface="微软雅黑" panose="020B0503020204020204" pitchFamily="34" charset="-122"/>
              </a:rPr>
              <a:t>Saves 30% in energy costs—€37 million saved since 2012.</a:t>
            </a:r>
          </a:p>
          <a:p>
            <a:pPr marL="342900" indent="-342900">
              <a:buFont typeface="Wingdings" panose="05000000000000000000" pitchFamily="2" charset="2"/>
              <a:buChar char="l"/>
            </a:pPr>
            <a:endParaRPr lang="en-US" altLang="zh-CN"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l"/>
            </a:pPr>
            <a:endParaRPr lang="en-US" altLang="zh-CN"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l"/>
            </a:pPr>
            <a:endParaRPr lang="en-US" altLang="zh-CN" dirty="0">
              <a:latin typeface="微软雅黑" panose="020B0503020204020204" pitchFamily="34" charset="-122"/>
              <a:ea typeface="微软雅黑" panose="020B0503020204020204" pitchFamily="34" charset="-122"/>
            </a:endParaRPr>
          </a:p>
          <a:p>
            <a:endParaRPr lang="en-US" altLang="zh-CN" sz="2000" dirty="0">
              <a:latin typeface="微软雅黑" panose="020B0503020204020204" pitchFamily="34" charset="-122"/>
              <a:ea typeface="微软雅黑" panose="020B0503020204020204" pitchFamily="34" charset="-122"/>
            </a:endParaRPr>
          </a:p>
          <a:p>
            <a:endParaRPr lang="en-US" altLang="zh-CN" sz="2400" b="1" dirty="0">
              <a:latin typeface="微软雅黑" panose="020B0503020204020204" pitchFamily="34" charset="-122"/>
              <a:ea typeface="微软雅黑" panose="020B0503020204020204" pitchFamily="34" charset="-122"/>
            </a:endParaRPr>
          </a:p>
        </p:txBody>
      </p:sp>
      <p:pic>
        <p:nvPicPr>
          <p:cNvPr id="1026" name="Picture 2" descr="Interview: Wie Barcelona eine offene „Smart City“ im Dienste des ...">
            <a:extLst>
              <a:ext uri="{FF2B5EF4-FFF2-40B4-BE49-F238E27FC236}">
                <a16:creationId xmlns:a16="http://schemas.microsoft.com/office/drawing/2014/main" id="{60795F5C-F374-E246-9340-B790F1C2D91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69343" y="4292794"/>
            <a:ext cx="3290043" cy="184955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Picture background">
            <a:extLst>
              <a:ext uri="{FF2B5EF4-FFF2-40B4-BE49-F238E27FC236}">
                <a16:creationId xmlns:a16="http://schemas.microsoft.com/office/drawing/2014/main" id="{000CBE8E-817B-1B6A-BB79-278AB046D743}"/>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b="10915"/>
          <a:stretch>
            <a:fillRect/>
          </a:stretch>
        </p:blipFill>
        <p:spPr bwMode="auto">
          <a:xfrm>
            <a:off x="674443" y="4552673"/>
            <a:ext cx="3220406" cy="1325563"/>
          </a:xfrm>
          <a:prstGeom prst="rect">
            <a:avLst/>
          </a:prstGeom>
          <a:noFill/>
          <a:extLst>
            <a:ext uri="{909E8E84-426E-40DD-AFC4-6F175D3DCCD1}">
              <a14:hiddenFill xmlns:a14="http://schemas.microsoft.com/office/drawing/2010/main">
                <a:solidFill>
                  <a:srgbClr val="FFFFFF"/>
                </a:solidFill>
              </a14:hiddenFill>
            </a:ext>
          </a:extLst>
        </p:spPr>
      </p:pic>
      <p:pic>
        <p:nvPicPr>
          <p:cNvPr id="33" name="图片 32" descr="城市街道与高楼大厦的路上有许多人&#10;&#10;AI 生成的内容可能不正确。">
            <a:extLst>
              <a:ext uri="{FF2B5EF4-FFF2-40B4-BE49-F238E27FC236}">
                <a16:creationId xmlns:a16="http://schemas.microsoft.com/office/drawing/2014/main" id="{B7F029C8-8BE2-BC66-D537-1B9CA1793F00}"/>
              </a:ext>
            </a:extLst>
          </p:cNvPr>
          <p:cNvPicPr>
            <a:picLocks noChangeAspect="1"/>
          </p:cNvPicPr>
          <p:nvPr/>
        </p:nvPicPr>
        <p:blipFill>
          <a:blip r:embed="rId8"/>
          <a:srcRect t="45191" b="8444"/>
          <a:stretch>
            <a:fillRect/>
          </a:stretch>
        </p:blipFill>
        <p:spPr>
          <a:xfrm>
            <a:off x="8653414" y="4614198"/>
            <a:ext cx="2554842" cy="1777914"/>
          </a:xfrm>
          <a:prstGeom prst="rect">
            <a:avLst/>
          </a:prstGeom>
        </p:spPr>
      </p:pic>
    </p:spTree>
    <p:extLst>
      <p:ext uri="{BB962C8B-B14F-4D97-AF65-F5344CB8AC3E}">
        <p14:creationId xmlns:p14="http://schemas.microsoft.com/office/powerpoint/2010/main" val="21709954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0" grpId="0" animBg="1"/>
      <p:bldP spid="1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5CFE7B-9020-62EC-9ECC-173E7CBE589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8084AE2-894B-209B-8D08-B7D286A83F3C}"/>
              </a:ext>
            </a:extLst>
          </p:cNvPr>
          <p:cNvSpPr>
            <a:spLocks noGrp="1"/>
          </p:cNvSpPr>
          <p:nvPr>
            <p:ph type="title"/>
          </p:nvPr>
        </p:nvSpPr>
        <p:spPr/>
        <p:txBody>
          <a:bodyPr/>
          <a:lstStyle/>
          <a:p>
            <a:endParaRPr lang="zh-CN" altLang="en-US"/>
          </a:p>
        </p:txBody>
      </p:sp>
      <p:pic>
        <p:nvPicPr>
          <p:cNvPr id="5" name="内容占位符 4" descr="雪山下的城市&#10;&#10;AI 生成的内容可能不正确。">
            <a:extLst>
              <a:ext uri="{FF2B5EF4-FFF2-40B4-BE49-F238E27FC236}">
                <a16:creationId xmlns:a16="http://schemas.microsoft.com/office/drawing/2014/main" id="{AB25F536-C806-62F6-3A8E-74BA194BBD40}"/>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10425" r="5703"/>
          <a:stretch>
            <a:fillRect/>
          </a:stretch>
        </p:blipFill>
        <p:spPr>
          <a:xfrm>
            <a:off x="0" y="0"/>
            <a:ext cx="4007184" cy="6858000"/>
          </a:xfrm>
          <a:effectLst>
            <a:softEdge rad="0"/>
          </a:effectLst>
        </p:spPr>
      </p:pic>
      <p:pic>
        <p:nvPicPr>
          <p:cNvPr id="7" name="图片 6" descr="城市街道与高楼大厦的景色&#10;&#10;AI 生成的内容可能不正确。">
            <a:extLst>
              <a:ext uri="{FF2B5EF4-FFF2-40B4-BE49-F238E27FC236}">
                <a16:creationId xmlns:a16="http://schemas.microsoft.com/office/drawing/2014/main" id="{E21E4674-21E2-BE60-3EE2-1EFD205E11D1}"/>
              </a:ext>
            </a:extLst>
          </p:cNvPr>
          <p:cNvPicPr>
            <a:picLocks noChangeAspect="1"/>
          </p:cNvPicPr>
          <p:nvPr/>
        </p:nvPicPr>
        <p:blipFill>
          <a:blip r:embed="rId4">
            <a:extLst>
              <a:ext uri="{28A0092B-C50C-407E-A947-70E740481C1C}">
                <a14:useLocalDpi xmlns:a14="http://schemas.microsoft.com/office/drawing/2010/main" val="0"/>
              </a:ext>
            </a:extLst>
          </a:blip>
          <a:srcRect l="8822" r="-900"/>
          <a:stretch>
            <a:fillRect/>
          </a:stretch>
        </p:blipFill>
        <p:spPr>
          <a:xfrm>
            <a:off x="8305800" y="0"/>
            <a:ext cx="4007184" cy="6858000"/>
          </a:xfrm>
          <a:prstGeom prst="rect">
            <a:avLst/>
          </a:prstGeom>
          <a:effectLst>
            <a:softEdge rad="0"/>
          </a:effectLst>
        </p:spPr>
      </p:pic>
      <p:pic>
        <p:nvPicPr>
          <p:cNvPr id="9" name="图片 8" descr="城市的高楼大厦&#10;&#10;AI 生成的内容可能不正确。">
            <a:extLst>
              <a:ext uri="{FF2B5EF4-FFF2-40B4-BE49-F238E27FC236}">
                <a16:creationId xmlns:a16="http://schemas.microsoft.com/office/drawing/2014/main" id="{DD7382E1-499A-ADBB-34EA-B60025683169}"/>
              </a:ext>
            </a:extLst>
          </p:cNvPr>
          <p:cNvPicPr>
            <a:picLocks noChangeAspect="1"/>
          </p:cNvPicPr>
          <p:nvPr/>
        </p:nvPicPr>
        <p:blipFill>
          <a:blip r:embed="rId5">
            <a:extLst>
              <a:ext uri="{28A0092B-C50C-407E-A947-70E740481C1C}">
                <a14:useLocalDpi xmlns:a14="http://schemas.microsoft.com/office/drawing/2010/main" val="0"/>
              </a:ext>
            </a:extLst>
          </a:blip>
          <a:srcRect l="29119" r="29119"/>
          <a:stretch>
            <a:fillRect/>
          </a:stretch>
        </p:blipFill>
        <p:spPr>
          <a:xfrm>
            <a:off x="4007184" y="0"/>
            <a:ext cx="4298616" cy="6858000"/>
          </a:xfrm>
          <a:prstGeom prst="rect">
            <a:avLst/>
          </a:prstGeom>
          <a:effectLst>
            <a:softEdge rad="0"/>
          </a:effectLst>
        </p:spPr>
      </p:pic>
      <p:sp>
        <p:nvSpPr>
          <p:cNvPr id="14" name="矩形: 圆角 13">
            <a:extLst>
              <a:ext uri="{FF2B5EF4-FFF2-40B4-BE49-F238E27FC236}">
                <a16:creationId xmlns:a16="http://schemas.microsoft.com/office/drawing/2014/main" id="{02175E9B-178C-D032-3F5D-FFF13A8EAB00}"/>
              </a:ext>
            </a:extLst>
          </p:cNvPr>
          <p:cNvSpPr/>
          <p:nvPr/>
        </p:nvSpPr>
        <p:spPr>
          <a:xfrm>
            <a:off x="389466" y="156633"/>
            <a:ext cx="11413067" cy="6544733"/>
          </a:xfrm>
          <a:prstGeom prst="round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4" name="直接连接符 3">
            <a:extLst>
              <a:ext uri="{FF2B5EF4-FFF2-40B4-BE49-F238E27FC236}">
                <a16:creationId xmlns:a16="http://schemas.microsoft.com/office/drawing/2014/main" id="{D0718B97-DD25-891E-DE3A-95CFB8A872C9}"/>
              </a:ext>
            </a:extLst>
          </p:cNvPr>
          <p:cNvCxnSpPr/>
          <p:nvPr/>
        </p:nvCxnSpPr>
        <p:spPr>
          <a:xfrm>
            <a:off x="708025" y="844550"/>
            <a:ext cx="10775950"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6" name="文本框 5">
            <a:extLst>
              <a:ext uri="{FF2B5EF4-FFF2-40B4-BE49-F238E27FC236}">
                <a16:creationId xmlns:a16="http://schemas.microsoft.com/office/drawing/2014/main" id="{A7DB5567-2A9B-8B25-3805-4451F4195D3B}"/>
              </a:ext>
            </a:extLst>
          </p:cNvPr>
          <p:cNvSpPr txBox="1"/>
          <p:nvPr/>
        </p:nvSpPr>
        <p:spPr>
          <a:xfrm>
            <a:off x="1024948" y="321330"/>
            <a:ext cx="5899363"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rPr>
              <a:t> 4. An example —— Barcelona</a:t>
            </a:r>
            <a:endParaRPr lang="zh-CN" altLang="en-US" sz="2800" b="1" dirty="0">
              <a:latin typeface="微软雅黑" panose="020B0503020204020204" pitchFamily="34" charset="-122"/>
              <a:ea typeface="微软雅黑" panose="020B0503020204020204" pitchFamily="34" charset="-122"/>
            </a:endParaRPr>
          </a:p>
        </p:txBody>
      </p:sp>
      <p:cxnSp>
        <p:nvCxnSpPr>
          <p:cNvPr id="3" name="直接连接符 2">
            <a:extLst>
              <a:ext uri="{FF2B5EF4-FFF2-40B4-BE49-F238E27FC236}">
                <a16:creationId xmlns:a16="http://schemas.microsoft.com/office/drawing/2014/main" id="{31FB42E0-623E-A2B0-6394-20D817FE3A7D}"/>
              </a:ext>
            </a:extLst>
          </p:cNvPr>
          <p:cNvCxnSpPr>
            <a:cxnSpLocks/>
          </p:cNvCxnSpPr>
          <p:nvPr/>
        </p:nvCxnSpPr>
        <p:spPr>
          <a:xfrm flipH="1">
            <a:off x="1143593" y="1250709"/>
            <a:ext cx="4149024" cy="0"/>
          </a:xfrm>
          <a:prstGeom prst="line">
            <a:avLst/>
          </a:prstGeom>
          <a:ln w="63500">
            <a:solidFill>
              <a:srgbClr val="74ACC6"/>
            </a:solidFill>
          </a:ln>
        </p:spPr>
        <p:style>
          <a:lnRef idx="2">
            <a:schemeClr val="accent1"/>
          </a:lnRef>
          <a:fillRef idx="0">
            <a:schemeClr val="accent1"/>
          </a:fillRef>
          <a:effectRef idx="1">
            <a:schemeClr val="accent1"/>
          </a:effectRef>
          <a:fontRef idx="minor">
            <a:schemeClr val="tx1"/>
          </a:fontRef>
        </p:style>
      </p:cxnSp>
      <p:sp>
        <p:nvSpPr>
          <p:cNvPr id="20" name="文本框 19">
            <a:extLst>
              <a:ext uri="{FF2B5EF4-FFF2-40B4-BE49-F238E27FC236}">
                <a16:creationId xmlns:a16="http://schemas.microsoft.com/office/drawing/2014/main" id="{633EF989-4CA5-7F70-323D-756318211631}"/>
              </a:ext>
            </a:extLst>
          </p:cNvPr>
          <p:cNvSpPr txBox="1"/>
          <p:nvPr/>
        </p:nvSpPr>
        <p:spPr>
          <a:xfrm>
            <a:off x="1143593" y="1323975"/>
            <a:ext cx="4416449" cy="2462213"/>
          </a:xfrm>
          <a:prstGeom prst="rect">
            <a:avLst/>
          </a:prstGeom>
          <a:noFill/>
        </p:spPr>
        <p:txBody>
          <a:bodyPr wrap="square">
            <a:spAutoFit/>
          </a:bodyPr>
          <a:lstStyle/>
          <a:p>
            <a:pPr algn="l">
              <a:spcBef>
                <a:spcPts val="600"/>
              </a:spcBef>
              <a:spcAft>
                <a:spcPts val="600"/>
              </a:spcAft>
            </a:pPr>
            <a:r>
              <a:rPr lang="en-US" altLang="zh-CN" sz="2400" b="1" i="0" dirty="0">
                <a:solidFill>
                  <a:srgbClr val="111133"/>
                </a:solidFill>
                <a:effectLst/>
                <a:latin typeface="微软雅黑" panose="020B0503020204020204" pitchFamily="34" charset="-122"/>
                <a:ea typeface="微软雅黑" panose="020B0503020204020204" pitchFamily="34" charset="-122"/>
              </a:rPr>
              <a:t>Lessons learned</a:t>
            </a:r>
          </a:p>
          <a:p>
            <a:pPr algn="l">
              <a:spcBef>
                <a:spcPts val="600"/>
              </a:spcBef>
              <a:spcAft>
                <a:spcPts val="600"/>
              </a:spcAft>
              <a:buFont typeface="Arial" panose="020B0604020202020204" pitchFamily="34" charset="0"/>
              <a:buChar char="•"/>
            </a:pPr>
            <a:r>
              <a:rPr lang="en-US" altLang="zh-CN" sz="2000" b="1" i="0" dirty="0">
                <a:solidFill>
                  <a:srgbClr val="111133"/>
                </a:solidFill>
                <a:effectLst/>
                <a:latin typeface="微软雅黑" panose="020B0503020204020204" pitchFamily="34" charset="-122"/>
                <a:ea typeface="微软雅黑" panose="020B0503020204020204" pitchFamily="34" charset="-122"/>
              </a:rPr>
              <a:t>People first, technology second.</a:t>
            </a:r>
          </a:p>
          <a:p>
            <a:pPr algn="l">
              <a:spcBef>
                <a:spcPts val="600"/>
              </a:spcBef>
              <a:spcAft>
                <a:spcPts val="600"/>
              </a:spcAft>
              <a:buFont typeface="Arial" panose="020B0604020202020204" pitchFamily="34" charset="0"/>
              <a:buChar char="•"/>
            </a:pPr>
            <a:r>
              <a:rPr lang="en-US" altLang="zh-CN" sz="2000" b="1" i="0" dirty="0">
                <a:solidFill>
                  <a:srgbClr val="111133"/>
                </a:solidFill>
                <a:effectLst/>
                <a:latin typeface="微软雅黑" panose="020B0503020204020204" pitchFamily="34" charset="-122"/>
                <a:ea typeface="微软雅黑" panose="020B0503020204020204" pitchFamily="34" charset="-122"/>
              </a:rPr>
              <a:t>Public data belongs to the public—not private companies.</a:t>
            </a:r>
          </a:p>
          <a:p>
            <a:pPr algn="l">
              <a:spcBef>
                <a:spcPts val="600"/>
              </a:spcBef>
              <a:spcAft>
                <a:spcPts val="600"/>
              </a:spcAft>
              <a:buFont typeface="Arial" panose="020B0604020202020204" pitchFamily="34" charset="0"/>
              <a:buChar char="•"/>
            </a:pPr>
            <a:r>
              <a:rPr lang="en-US" altLang="zh-CN" sz="2000" b="1" i="0" dirty="0">
                <a:solidFill>
                  <a:srgbClr val="111133"/>
                </a:solidFill>
                <a:effectLst/>
                <a:latin typeface="微软雅黑" panose="020B0503020204020204" pitchFamily="34" charset="-122"/>
                <a:ea typeface="微软雅黑" panose="020B0503020204020204" pitchFamily="34" charset="-122"/>
              </a:rPr>
              <a:t>Sustainability and equity are core principles.</a:t>
            </a:r>
          </a:p>
        </p:txBody>
      </p:sp>
      <p:cxnSp>
        <p:nvCxnSpPr>
          <p:cNvPr id="22" name="直接连接符 21">
            <a:extLst>
              <a:ext uri="{FF2B5EF4-FFF2-40B4-BE49-F238E27FC236}">
                <a16:creationId xmlns:a16="http://schemas.microsoft.com/office/drawing/2014/main" id="{F3F04CCA-A043-AC13-683D-A8932F67A6B0}"/>
              </a:ext>
            </a:extLst>
          </p:cNvPr>
          <p:cNvCxnSpPr>
            <a:cxnSpLocks/>
          </p:cNvCxnSpPr>
          <p:nvPr/>
        </p:nvCxnSpPr>
        <p:spPr>
          <a:xfrm flipH="1">
            <a:off x="1143593" y="3864011"/>
            <a:ext cx="4149024" cy="0"/>
          </a:xfrm>
          <a:prstGeom prst="line">
            <a:avLst/>
          </a:prstGeom>
          <a:ln w="63500">
            <a:solidFill>
              <a:srgbClr val="74ACC6"/>
            </a:solidFill>
          </a:ln>
        </p:spPr>
        <p:style>
          <a:lnRef idx="2">
            <a:schemeClr val="accent1"/>
          </a:lnRef>
          <a:fillRef idx="0">
            <a:schemeClr val="accent1"/>
          </a:fillRef>
          <a:effectRef idx="1">
            <a:schemeClr val="accent1"/>
          </a:effectRef>
          <a:fontRef idx="minor">
            <a:schemeClr val="tx1"/>
          </a:fontRef>
        </p:style>
      </p:cxnSp>
      <p:sp>
        <p:nvSpPr>
          <p:cNvPr id="27" name="文本框 26">
            <a:extLst>
              <a:ext uri="{FF2B5EF4-FFF2-40B4-BE49-F238E27FC236}">
                <a16:creationId xmlns:a16="http://schemas.microsoft.com/office/drawing/2014/main" id="{B67E5906-3A70-E6D6-72CF-D82F9ACC9B30}"/>
              </a:ext>
            </a:extLst>
          </p:cNvPr>
          <p:cNvSpPr txBox="1"/>
          <p:nvPr/>
        </p:nvSpPr>
        <p:spPr>
          <a:xfrm>
            <a:off x="6924311" y="3471018"/>
            <a:ext cx="4104010" cy="3077766"/>
          </a:xfrm>
          <a:prstGeom prst="rect">
            <a:avLst/>
          </a:prstGeom>
          <a:noFill/>
        </p:spPr>
        <p:txBody>
          <a:bodyPr wrap="square">
            <a:spAutoFit/>
          </a:bodyPr>
          <a:lstStyle/>
          <a:p>
            <a:pPr algn="l">
              <a:spcBef>
                <a:spcPts val="600"/>
              </a:spcBef>
              <a:spcAft>
                <a:spcPts val="600"/>
              </a:spcAft>
            </a:pPr>
            <a:r>
              <a:rPr lang="en-US" altLang="zh-CN" sz="2400" b="1" i="0" dirty="0">
                <a:solidFill>
                  <a:srgbClr val="111133"/>
                </a:solidFill>
                <a:effectLst/>
                <a:latin typeface="微软雅黑" panose="020B0503020204020204" pitchFamily="34" charset="-122"/>
                <a:ea typeface="微软雅黑" panose="020B0503020204020204" pitchFamily="34" charset="-122"/>
              </a:rPr>
              <a:t>Challenges faced</a:t>
            </a:r>
          </a:p>
          <a:p>
            <a:pPr algn="l">
              <a:spcBef>
                <a:spcPts val="600"/>
              </a:spcBef>
              <a:spcAft>
                <a:spcPts val="600"/>
              </a:spcAft>
              <a:buFont typeface="Arial" panose="020B0604020202020204" pitchFamily="34" charset="0"/>
              <a:buChar char="•"/>
            </a:pPr>
            <a:r>
              <a:rPr lang="en-US" altLang="zh-CN" sz="2000" b="1" i="0" dirty="0">
                <a:solidFill>
                  <a:srgbClr val="111133"/>
                </a:solidFill>
                <a:effectLst/>
                <a:latin typeface="微软雅黑" panose="020B0503020204020204" pitchFamily="34" charset="-122"/>
                <a:ea typeface="微软雅黑" panose="020B0503020204020204" pitchFamily="34" charset="-122"/>
              </a:rPr>
              <a:t>Concerns about surveillance from sensors.</a:t>
            </a:r>
          </a:p>
          <a:p>
            <a:pPr algn="l">
              <a:spcBef>
                <a:spcPts val="600"/>
              </a:spcBef>
              <a:spcAft>
                <a:spcPts val="600"/>
              </a:spcAft>
              <a:buFont typeface="Arial" panose="020B0604020202020204" pitchFamily="34" charset="0"/>
              <a:buChar char="•"/>
            </a:pPr>
            <a:r>
              <a:rPr lang="en-US" altLang="zh-CN" sz="2000" b="1" i="0" dirty="0">
                <a:solidFill>
                  <a:srgbClr val="111133"/>
                </a:solidFill>
                <a:effectLst/>
                <a:latin typeface="微软雅黑" panose="020B0503020204020204" pitchFamily="34" charset="-122"/>
                <a:ea typeface="微软雅黑" panose="020B0503020204020204" pitchFamily="34" charset="-122"/>
              </a:rPr>
              <a:t>Balancing old infrastructure maintenance with new tech integration.</a:t>
            </a:r>
          </a:p>
          <a:p>
            <a:pPr algn="l">
              <a:spcBef>
                <a:spcPts val="600"/>
              </a:spcBef>
              <a:spcAft>
                <a:spcPts val="600"/>
              </a:spcAft>
              <a:buFont typeface="Arial" panose="020B0604020202020204" pitchFamily="34" charset="0"/>
              <a:buChar char="•"/>
            </a:pPr>
            <a:r>
              <a:rPr lang="en-US" altLang="zh-CN" sz="2000" b="1" i="0" dirty="0">
                <a:solidFill>
                  <a:srgbClr val="111133"/>
                </a:solidFill>
                <a:effectLst/>
                <a:latin typeface="微软雅黑" panose="020B0503020204020204" pitchFamily="34" charset="-122"/>
                <a:ea typeface="微软雅黑" panose="020B0503020204020204" pitchFamily="34" charset="-122"/>
              </a:rPr>
              <a:t>Ensuring digital services are accessible to elderly residents.</a:t>
            </a:r>
          </a:p>
        </p:txBody>
      </p:sp>
      <p:cxnSp>
        <p:nvCxnSpPr>
          <p:cNvPr id="28" name="直接连接符 27">
            <a:extLst>
              <a:ext uri="{FF2B5EF4-FFF2-40B4-BE49-F238E27FC236}">
                <a16:creationId xmlns:a16="http://schemas.microsoft.com/office/drawing/2014/main" id="{0936EDAA-FBD3-D109-D20E-CD8BAD1BC0D0}"/>
              </a:ext>
            </a:extLst>
          </p:cNvPr>
          <p:cNvCxnSpPr>
            <a:cxnSpLocks/>
          </p:cNvCxnSpPr>
          <p:nvPr/>
        </p:nvCxnSpPr>
        <p:spPr>
          <a:xfrm flipH="1">
            <a:off x="6924311" y="3471738"/>
            <a:ext cx="4104010" cy="0"/>
          </a:xfrm>
          <a:prstGeom prst="line">
            <a:avLst/>
          </a:prstGeom>
          <a:ln w="63500">
            <a:solidFill>
              <a:srgbClr val="4386BA"/>
            </a:solidFill>
          </a:ln>
        </p:spPr>
        <p:style>
          <a:lnRef idx="2">
            <a:schemeClr val="accent1"/>
          </a:lnRef>
          <a:fillRef idx="0">
            <a:schemeClr val="accent1"/>
          </a:fillRef>
          <a:effectRef idx="1">
            <a:schemeClr val="accent1"/>
          </a:effectRef>
          <a:fontRef idx="minor">
            <a:schemeClr val="tx1"/>
          </a:fontRef>
        </p:style>
      </p:cxnSp>
      <p:cxnSp>
        <p:nvCxnSpPr>
          <p:cNvPr id="29" name="直接连接符 28">
            <a:extLst>
              <a:ext uri="{FF2B5EF4-FFF2-40B4-BE49-F238E27FC236}">
                <a16:creationId xmlns:a16="http://schemas.microsoft.com/office/drawing/2014/main" id="{F762D1EE-4CEB-55AA-073C-8C5DC64D782B}"/>
              </a:ext>
            </a:extLst>
          </p:cNvPr>
          <p:cNvCxnSpPr>
            <a:cxnSpLocks/>
          </p:cNvCxnSpPr>
          <p:nvPr/>
        </p:nvCxnSpPr>
        <p:spPr>
          <a:xfrm flipH="1">
            <a:off x="6974802" y="6543345"/>
            <a:ext cx="4149024" cy="0"/>
          </a:xfrm>
          <a:prstGeom prst="line">
            <a:avLst/>
          </a:prstGeom>
          <a:ln w="63500">
            <a:solidFill>
              <a:srgbClr val="4386BA"/>
            </a:solidFill>
          </a:ln>
        </p:spPr>
        <p:style>
          <a:lnRef idx="2">
            <a:schemeClr val="accent1"/>
          </a:lnRef>
          <a:fillRef idx="0">
            <a:schemeClr val="accent1"/>
          </a:fillRef>
          <a:effectRef idx="1">
            <a:schemeClr val="accent1"/>
          </a:effectRef>
          <a:fontRef idx="minor">
            <a:schemeClr val="tx1"/>
          </a:fontRef>
        </p:style>
      </p:cxnSp>
      <p:pic>
        <p:nvPicPr>
          <p:cNvPr id="2050" name="Picture 2" descr="Picture background">
            <a:extLst>
              <a:ext uri="{FF2B5EF4-FFF2-40B4-BE49-F238E27FC236}">
                <a16:creationId xmlns:a16="http://schemas.microsoft.com/office/drawing/2014/main" id="{526594CE-9F0F-7DFA-0C54-ACC13DBD0BB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43593" y="3975121"/>
            <a:ext cx="4646001" cy="2610956"/>
          </a:xfrm>
          <a:prstGeom prst="rect">
            <a:avLst/>
          </a:prstGeom>
          <a:noFill/>
          <a:extLst>
            <a:ext uri="{909E8E84-426E-40DD-AFC4-6F175D3DCCD1}">
              <a14:hiddenFill xmlns:a14="http://schemas.microsoft.com/office/drawing/2010/main">
                <a:solidFill>
                  <a:srgbClr val="FFFFFF"/>
                </a:solidFill>
              </a14:hiddenFill>
            </a:ext>
          </a:extLst>
        </p:spPr>
      </p:pic>
      <p:pic>
        <p:nvPicPr>
          <p:cNvPr id="35" name="图片 34" descr="城市的夜景&#10;&#10;AI 生成的内容可能不正确。">
            <a:extLst>
              <a:ext uri="{FF2B5EF4-FFF2-40B4-BE49-F238E27FC236}">
                <a16:creationId xmlns:a16="http://schemas.microsoft.com/office/drawing/2014/main" id="{347F48AD-BFF7-9C9C-DB6C-FE5ADE6B4493}"/>
              </a:ext>
            </a:extLst>
          </p:cNvPr>
          <p:cNvPicPr>
            <a:picLocks noChangeAspect="1"/>
          </p:cNvPicPr>
          <p:nvPr/>
        </p:nvPicPr>
        <p:blipFill>
          <a:blip r:embed="rId7"/>
          <a:srcRect t="30575" b="16847"/>
          <a:stretch>
            <a:fillRect/>
          </a:stretch>
        </p:blipFill>
        <p:spPr>
          <a:xfrm>
            <a:off x="6974802" y="882697"/>
            <a:ext cx="3765903" cy="2462212"/>
          </a:xfrm>
          <a:prstGeom prst="rect">
            <a:avLst/>
          </a:prstGeom>
        </p:spPr>
      </p:pic>
    </p:spTree>
    <p:extLst>
      <p:ext uri="{BB962C8B-B14F-4D97-AF65-F5344CB8AC3E}">
        <p14:creationId xmlns:p14="http://schemas.microsoft.com/office/powerpoint/2010/main" val="40937161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5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40D9D-5408-A778-9626-17FE2837BC4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12454CE-C3BB-0023-E00C-42C7FD380FEC}"/>
              </a:ext>
            </a:extLst>
          </p:cNvPr>
          <p:cNvSpPr>
            <a:spLocks noGrp="1"/>
          </p:cNvSpPr>
          <p:nvPr>
            <p:ph type="title"/>
          </p:nvPr>
        </p:nvSpPr>
        <p:spPr/>
        <p:txBody>
          <a:bodyPr/>
          <a:lstStyle/>
          <a:p>
            <a:endParaRPr lang="zh-CN" altLang="en-US"/>
          </a:p>
        </p:txBody>
      </p:sp>
      <p:pic>
        <p:nvPicPr>
          <p:cNvPr id="5" name="内容占位符 4" descr="雪山下的城市&#10;&#10;AI 生成的内容可能不正确。">
            <a:extLst>
              <a:ext uri="{FF2B5EF4-FFF2-40B4-BE49-F238E27FC236}">
                <a16:creationId xmlns:a16="http://schemas.microsoft.com/office/drawing/2014/main" id="{A485D742-F1B2-7DD2-A6AF-095B074FF5E6}"/>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10425" r="5703"/>
          <a:stretch>
            <a:fillRect/>
          </a:stretch>
        </p:blipFill>
        <p:spPr>
          <a:xfrm>
            <a:off x="0" y="0"/>
            <a:ext cx="4007184" cy="6858000"/>
          </a:xfrm>
          <a:effectLst>
            <a:softEdge rad="0"/>
          </a:effectLst>
        </p:spPr>
      </p:pic>
      <p:pic>
        <p:nvPicPr>
          <p:cNvPr id="7" name="图片 6" descr="城市街道与高楼大厦的景色&#10;&#10;AI 生成的内容可能不正确。">
            <a:extLst>
              <a:ext uri="{FF2B5EF4-FFF2-40B4-BE49-F238E27FC236}">
                <a16:creationId xmlns:a16="http://schemas.microsoft.com/office/drawing/2014/main" id="{5F8F37B6-89F6-1123-FBD8-94F95524CA5D}"/>
              </a:ext>
            </a:extLst>
          </p:cNvPr>
          <p:cNvPicPr>
            <a:picLocks noChangeAspect="1"/>
          </p:cNvPicPr>
          <p:nvPr/>
        </p:nvPicPr>
        <p:blipFill>
          <a:blip r:embed="rId4">
            <a:extLst>
              <a:ext uri="{28A0092B-C50C-407E-A947-70E740481C1C}">
                <a14:useLocalDpi xmlns:a14="http://schemas.microsoft.com/office/drawing/2010/main" val="0"/>
              </a:ext>
            </a:extLst>
          </a:blip>
          <a:srcRect l="8822" r="-900"/>
          <a:stretch>
            <a:fillRect/>
          </a:stretch>
        </p:blipFill>
        <p:spPr>
          <a:xfrm>
            <a:off x="8305800" y="0"/>
            <a:ext cx="4007184" cy="6858000"/>
          </a:xfrm>
          <a:prstGeom prst="rect">
            <a:avLst/>
          </a:prstGeom>
          <a:effectLst>
            <a:softEdge rad="0"/>
          </a:effectLst>
        </p:spPr>
      </p:pic>
      <p:pic>
        <p:nvPicPr>
          <p:cNvPr id="9" name="图片 8" descr="城市的高楼大厦&#10;&#10;AI 生成的内容可能不正确。">
            <a:extLst>
              <a:ext uri="{FF2B5EF4-FFF2-40B4-BE49-F238E27FC236}">
                <a16:creationId xmlns:a16="http://schemas.microsoft.com/office/drawing/2014/main" id="{979403DA-12CE-F01E-06BE-46D6CD053595}"/>
              </a:ext>
            </a:extLst>
          </p:cNvPr>
          <p:cNvPicPr>
            <a:picLocks noChangeAspect="1"/>
          </p:cNvPicPr>
          <p:nvPr/>
        </p:nvPicPr>
        <p:blipFill>
          <a:blip r:embed="rId5">
            <a:extLst>
              <a:ext uri="{28A0092B-C50C-407E-A947-70E740481C1C}">
                <a14:useLocalDpi xmlns:a14="http://schemas.microsoft.com/office/drawing/2010/main" val="0"/>
              </a:ext>
            </a:extLst>
          </a:blip>
          <a:srcRect l="29119" r="29119"/>
          <a:stretch>
            <a:fillRect/>
          </a:stretch>
        </p:blipFill>
        <p:spPr>
          <a:xfrm>
            <a:off x="4007184" y="0"/>
            <a:ext cx="4298616" cy="6858000"/>
          </a:xfrm>
          <a:prstGeom prst="rect">
            <a:avLst/>
          </a:prstGeom>
          <a:effectLst>
            <a:softEdge rad="0"/>
          </a:effectLst>
        </p:spPr>
      </p:pic>
      <p:sp>
        <p:nvSpPr>
          <p:cNvPr id="14" name="矩形: 圆角 13">
            <a:extLst>
              <a:ext uri="{FF2B5EF4-FFF2-40B4-BE49-F238E27FC236}">
                <a16:creationId xmlns:a16="http://schemas.microsoft.com/office/drawing/2014/main" id="{AB5E96D1-F037-C6EA-21E5-69B16A3405FA}"/>
              </a:ext>
            </a:extLst>
          </p:cNvPr>
          <p:cNvSpPr/>
          <p:nvPr/>
        </p:nvSpPr>
        <p:spPr>
          <a:xfrm>
            <a:off x="343102" y="156633"/>
            <a:ext cx="11413067" cy="6544733"/>
          </a:xfrm>
          <a:prstGeom prst="round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4" name="直接连接符 3">
            <a:extLst>
              <a:ext uri="{FF2B5EF4-FFF2-40B4-BE49-F238E27FC236}">
                <a16:creationId xmlns:a16="http://schemas.microsoft.com/office/drawing/2014/main" id="{AD3F25D0-E69E-746C-0EB6-D559A3DA8388}"/>
              </a:ext>
            </a:extLst>
          </p:cNvPr>
          <p:cNvCxnSpPr/>
          <p:nvPr/>
        </p:nvCxnSpPr>
        <p:spPr>
          <a:xfrm>
            <a:off x="708025" y="844550"/>
            <a:ext cx="10775950"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6" name="文本框 5">
            <a:extLst>
              <a:ext uri="{FF2B5EF4-FFF2-40B4-BE49-F238E27FC236}">
                <a16:creationId xmlns:a16="http://schemas.microsoft.com/office/drawing/2014/main" id="{21328219-C51A-9FB7-418A-72182CE4B634}"/>
              </a:ext>
            </a:extLst>
          </p:cNvPr>
          <p:cNvSpPr txBox="1"/>
          <p:nvPr/>
        </p:nvSpPr>
        <p:spPr>
          <a:xfrm>
            <a:off x="1024948" y="321330"/>
            <a:ext cx="5899363"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rPr>
              <a:t> 4. An example —— Barcelona</a:t>
            </a:r>
            <a:endParaRPr lang="zh-CN" altLang="en-US" sz="2800" b="1" dirty="0">
              <a:latin typeface="微软雅黑" panose="020B0503020204020204" pitchFamily="34" charset="-122"/>
              <a:ea typeface="微软雅黑" panose="020B0503020204020204" pitchFamily="34" charset="-122"/>
            </a:endParaRPr>
          </a:p>
        </p:txBody>
      </p:sp>
      <p:sp>
        <p:nvSpPr>
          <p:cNvPr id="10" name="文本框 9">
            <a:extLst>
              <a:ext uri="{FF2B5EF4-FFF2-40B4-BE49-F238E27FC236}">
                <a16:creationId xmlns:a16="http://schemas.microsoft.com/office/drawing/2014/main" id="{7E7D2E6A-22A9-43F8-E3D0-30FE3B2EA498}"/>
              </a:ext>
            </a:extLst>
          </p:cNvPr>
          <p:cNvSpPr txBox="1"/>
          <p:nvPr/>
        </p:nvSpPr>
        <p:spPr>
          <a:xfrm>
            <a:off x="2215426" y="1972464"/>
            <a:ext cx="7505444" cy="1200329"/>
          </a:xfrm>
          <a:prstGeom prst="rect">
            <a:avLst/>
          </a:prstGeom>
          <a:noFill/>
        </p:spPr>
        <p:txBody>
          <a:bodyPr wrap="square">
            <a:spAutoFit/>
          </a:bodyPr>
          <a:lstStyle/>
          <a:p>
            <a:pPr algn="ctr">
              <a:spcBef>
                <a:spcPts val="600"/>
              </a:spcBef>
              <a:spcAft>
                <a:spcPts val="600"/>
              </a:spcAft>
            </a:pPr>
            <a:r>
              <a:rPr lang="en-US" altLang="zh-CN" sz="2400" b="1" i="0" dirty="0">
                <a:solidFill>
                  <a:srgbClr val="111133"/>
                </a:solidFill>
                <a:effectLst/>
                <a:latin typeface="Microsoft YaHei UI" panose="020B0503020204020204" pitchFamily="34" charset="-122"/>
                <a:ea typeface="Microsoft YaHei UI" panose="020B0503020204020204" pitchFamily="34" charset="-122"/>
              </a:rPr>
              <a:t>Barcelona teaches us that the smartest cities aren’t those with the most robots but those that put people at the heart of innovation.</a:t>
            </a:r>
          </a:p>
        </p:txBody>
      </p:sp>
      <p:pic>
        <p:nvPicPr>
          <p:cNvPr id="8" name="图形 7" descr="组 纯色填充">
            <a:extLst>
              <a:ext uri="{FF2B5EF4-FFF2-40B4-BE49-F238E27FC236}">
                <a16:creationId xmlns:a16="http://schemas.microsoft.com/office/drawing/2014/main" id="{424629F4-8C3B-5EE2-558B-7FC73A70D2A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521248" y="3429000"/>
            <a:ext cx="2584450" cy="2584450"/>
          </a:xfrm>
          <a:prstGeom prst="rect">
            <a:avLst/>
          </a:prstGeom>
        </p:spPr>
      </p:pic>
      <p:pic>
        <p:nvPicPr>
          <p:cNvPr id="12" name="图形 11" descr="机器人 纯色填充">
            <a:extLst>
              <a:ext uri="{FF2B5EF4-FFF2-40B4-BE49-F238E27FC236}">
                <a16:creationId xmlns:a16="http://schemas.microsoft.com/office/drawing/2014/main" id="{ADC8C2E7-6E96-B766-12B6-D03F5050487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803683" y="3798614"/>
            <a:ext cx="1845219" cy="1845219"/>
          </a:xfrm>
          <a:prstGeom prst="rect">
            <a:avLst/>
          </a:prstGeom>
        </p:spPr>
      </p:pic>
      <p:sp>
        <p:nvSpPr>
          <p:cNvPr id="13" name="矩形 12">
            <a:extLst>
              <a:ext uri="{FF2B5EF4-FFF2-40B4-BE49-F238E27FC236}">
                <a16:creationId xmlns:a16="http://schemas.microsoft.com/office/drawing/2014/main" id="{70417C02-1613-43EF-DEE8-24EBBC974F0E}"/>
              </a:ext>
            </a:extLst>
          </p:cNvPr>
          <p:cNvSpPr/>
          <p:nvPr/>
        </p:nvSpPr>
        <p:spPr>
          <a:xfrm>
            <a:off x="5491242" y="3936394"/>
            <a:ext cx="1039067" cy="1569660"/>
          </a:xfrm>
          <a:prstGeom prst="rect">
            <a:avLst/>
          </a:prstGeom>
          <a:noFill/>
        </p:spPr>
        <p:txBody>
          <a:bodyPr wrap="none" lIns="91440" tIns="45720" rIns="91440" bIns="45720">
            <a:spAutoFit/>
          </a:bodyPr>
          <a:lstStyle/>
          <a:p>
            <a:pPr algn="ctr"/>
            <a:r>
              <a:rPr lang="en-US" altLang="zh-CN" sz="9600" b="1" dirty="0">
                <a:ln w="0"/>
                <a:solidFill>
                  <a:srgbClr val="4392CB"/>
                </a:solidFill>
                <a:effectLst>
                  <a:outerShdw blurRad="38100" dist="19050" dir="2700000" algn="tl" rotWithShape="0">
                    <a:schemeClr val="dk1">
                      <a:alpha val="40000"/>
                    </a:schemeClr>
                  </a:outerShdw>
                </a:effectLst>
              </a:rPr>
              <a:t>&gt;</a:t>
            </a:r>
            <a:endParaRPr lang="zh-CN" altLang="en-US" sz="9600" b="1" cap="none" spc="0" dirty="0">
              <a:ln w="0"/>
              <a:solidFill>
                <a:srgbClr val="4392CB"/>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8055320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978DE-9B3A-A817-4024-DD14CE4A3AE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65544BE-2D7E-DE6B-DF3E-101289729FA2}"/>
              </a:ext>
            </a:extLst>
          </p:cNvPr>
          <p:cNvSpPr>
            <a:spLocks noGrp="1"/>
          </p:cNvSpPr>
          <p:nvPr>
            <p:ph type="title"/>
          </p:nvPr>
        </p:nvSpPr>
        <p:spPr/>
        <p:txBody>
          <a:bodyPr/>
          <a:lstStyle/>
          <a:p>
            <a:endParaRPr lang="zh-CN" altLang="en-US"/>
          </a:p>
        </p:txBody>
      </p:sp>
      <p:pic>
        <p:nvPicPr>
          <p:cNvPr id="5" name="内容占位符 4" descr="雪山下的城市&#10;&#10;AI 生成的内容可能不正确。">
            <a:extLst>
              <a:ext uri="{FF2B5EF4-FFF2-40B4-BE49-F238E27FC236}">
                <a16:creationId xmlns:a16="http://schemas.microsoft.com/office/drawing/2014/main" id="{A4ED9663-1156-ACA1-FC2A-32740B02FFA3}"/>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10425" r="5703"/>
          <a:stretch>
            <a:fillRect/>
          </a:stretch>
        </p:blipFill>
        <p:spPr>
          <a:xfrm>
            <a:off x="0" y="0"/>
            <a:ext cx="4007184" cy="6858000"/>
          </a:xfrm>
          <a:effectLst>
            <a:softEdge rad="0"/>
          </a:effectLst>
        </p:spPr>
      </p:pic>
      <p:pic>
        <p:nvPicPr>
          <p:cNvPr id="7" name="图片 6" descr="城市街道与高楼大厦的景色&#10;&#10;AI 生成的内容可能不正确。">
            <a:extLst>
              <a:ext uri="{FF2B5EF4-FFF2-40B4-BE49-F238E27FC236}">
                <a16:creationId xmlns:a16="http://schemas.microsoft.com/office/drawing/2014/main" id="{19DD17A8-B567-DC7C-0E09-52604D08F0D3}"/>
              </a:ext>
            </a:extLst>
          </p:cNvPr>
          <p:cNvPicPr>
            <a:picLocks noChangeAspect="1"/>
          </p:cNvPicPr>
          <p:nvPr/>
        </p:nvPicPr>
        <p:blipFill>
          <a:blip r:embed="rId4">
            <a:extLst>
              <a:ext uri="{28A0092B-C50C-407E-A947-70E740481C1C}">
                <a14:useLocalDpi xmlns:a14="http://schemas.microsoft.com/office/drawing/2010/main" val="0"/>
              </a:ext>
            </a:extLst>
          </a:blip>
          <a:srcRect l="8822" r="-900"/>
          <a:stretch>
            <a:fillRect/>
          </a:stretch>
        </p:blipFill>
        <p:spPr>
          <a:xfrm>
            <a:off x="8305800" y="0"/>
            <a:ext cx="4007184" cy="6858000"/>
          </a:xfrm>
          <a:prstGeom prst="rect">
            <a:avLst/>
          </a:prstGeom>
          <a:effectLst>
            <a:softEdge rad="0"/>
          </a:effectLst>
        </p:spPr>
      </p:pic>
      <p:pic>
        <p:nvPicPr>
          <p:cNvPr id="9" name="图片 8" descr="城市的高楼大厦&#10;&#10;AI 生成的内容可能不正确。">
            <a:extLst>
              <a:ext uri="{FF2B5EF4-FFF2-40B4-BE49-F238E27FC236}">
                <a16:creationId xmlns:a16="http://schemas.microsoft.com/office/drawing/2014/main" id="{DF123235-A2D5-A69B-3F6F-E1413A38972A}"/>
              </a:ext>
            </a:extLst>
          </p:cNvPr>
          <p:cNvPicPr>
            <a:picLocks noChangeAspect="1"/>
          </p:cNvPicPr>
          <p:nvPr/>
        </p:nvPicPr>
        <p:blipFill>
          <a:blip r:embed="rId5">
            <a:extLst>
              <a:ext uri="{28A0092B-C50C-407E-A947-70E740481C1C}">
                <a14:useLocalDpi xmlns:a14="http://schemas.microsoft.com/office/drawing/2010/main" val="0"/>
              </a:ext>
            </a:extLst>
          </a:blip>
          <a:srcRect l="29119" r="29119"/>
          <a:stretch>
            <a:fillRect/>
          </a:stretch>
        </p:blipFill>
        <p:spPr>
          <a:xfrm>
            <a:off x="4007184" y="0"/>
            <a:ext cx="4298616" cy="6858000"/>
          </a:xfrm>
          <a:prstGeom prst="rect">
            <a:avLst/>
          </a:prstGeom>
          <a:effectLst>
            <a:softEdge rad="0"/>
          </a:effectLst>
        </p:spPr>
      </p:pic>
      <p:sp>
        <p:nvSpPr>
          <p:cNvPr id="14" name="矩形: 圆角 13">
            <a:extLst>
              <a:ext uri="{FF2B5EF4-FFF2-40B4-BE49-F238E27FC236}">
                <a16:creationId xmlns:a16="http://schemas.microsoft.com/office/drawing/2014/main" id="{6533E02B-D38F-EDCA-79C2-8B4F792E5D8E}"/>
              </a:ext>
            </a:extLst>
          </p:cNvPr>
          <p:cNvSpPr/>
          <p:nvPr/>
        </p:nvSpPr>
        <p:spPr>
          <a:xfrm>
            <a:off x="389466" y="156633"/>
            <a:ext cx="11413067" cy="6544733"/>
          </a:xfrm>
          <a:prstGeom prst="round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461FEDFC-FF2A-92F6-59A8-353F0054ECBA}"/>
              </a:ext>
            </a:extLst>
          </p:cNvPr>
          <p:cNvSpPr txBox="1"/>
          <p:nvPr/>
        </p:nvSpPr>
        <p:spPr>
          <a:xfrm>
            <a:off x="1116919" y="1690688"/>
            <a:ext cx="9806786" cy="3046988"/>
          </a:xfrm>
          <a:prstGeom prst="rect">
            <a:avLst/>
          </a:prstGeom>
          <a:noFill/>
        </p:spPr>
        <p:txBody>
          <a:bodyPr wrap="square" rtlCol="0">
            <a:spAutoFit/>
          </a:bodyPr>
          <a:lstStyle/>
          <a:p>
            <a:pPr algn="ctr"/>
            <a:r>
              <a:rPr lang="en-US" altLang="zh-CN" sz="9600" b="1" dirty="0">
                <a:latin typeface="微软雅黑" panose="020B0503020204020204" pitchFamily="34" charset="-122"/>
                <a:ea typeface="微软雅黑" panose="020B0503020204020204" pitchFamily="34" charset="-122"/>
              </a:rPr>
              <a:t>Thanks for your listening!</a:t>
            </a:r>
            <a:endParaRPr lang="zh-CN" altLang="en-US" sz="96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9192030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1425</TotalTime>
  <Words>1196</Words>
  <Application>Microsoft Office PowerPoint</Application>
  <PresentationFormat>宽屏</PresentationFormat>
  <Paragraphs>137</Paragraphs>
  <Slides>18</Slides>
  <Notes>16</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18</vt:i4>
      </vt:variant>
    </vt:vector>
  </HeadingPairs>
  <TitlesOfParts>
    <vt:vector size="25" baseType="lpstr">
      <vt:lpstr>微软雅黑</vt:lpstr>
      <vt:lpstr>等线 Light</vt:lpstr>
      <vt:lpstr>Arial</vt:lpstr>
      <vt:lpstr>Microsoft YaHei UI</vt:lpstr>
      <vt:lpstr>Wingdings</vt:lpstr>
      <vt:lpstr>等线</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9319727@qq.com</dc:creator>
  <cp:lastModifiedBy>9319727@qq.com</cp:lastModifiedBy>
  <cp:revision>19</cp:revision>
  <dcterms:created xsi:type="dcterms:W3CDTF">2025-12-09T06:38:48Z</dcterms:created>
  <dcterms:modified xsi:type="dcterms:W3CDTF">2025-12-26T04:56:56Z</dcterms:modified>
</cp:coreProperties>
</file>